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77" r:id="rId14"/>
    <p:sldId id="266" r:id="rId15"/>
    <p:sldId id="267" r:id="rId16"/>
    <p:sldId id="268" r:id="rId17"/>
    <p:sldId id="269" r:id="rId18"/>
    <p:sldId id="274" r:id="rId19"/>
    <p:sldId id="275" r:id="rId20"/>
    <p:sldId id="270" r:id="rId21"/>
    <p:sldId id="276" r:id="rId22"/>
    <p:sldId id="273" r:id="rId23"/>
    <p:sldId id="271" r:id="rId24"/>
    <p:sldId id="272" r:id="rId25"/>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4.png"/><Relationship Id="rId1" Type="http://schemas.openxmlformats.org/officeDocument/2006/relationships/image" Target="../media/image13.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xml"/><Relationship Id="rId2" Type="http://schemas.openxmlformats.org/officeDocument/2006/relationships/image" Target="../media/image16.png"/><Relationship Id="rId1"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7.png"/><Relationship Id="rId1" Type="http://schemas.openxmlformats.org/officeDocument/2006/relationships/image" Target="../media/image16.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19.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4472C4"/>
          </a:solidFill>
        </p:spPr>
        <p:txBody>
          <a:bodyPr wrap="square" rtlCol="0" anchor="ctr"/>
          <a:lstStyle/>
          <a:p>
            <a:pPr marL="0" indent="0">
              <a:buNone/>
            </a:pPr>
            <a:endParaRPr lang="en-US" dirty="0"/>
          </a:p>
        </p:txBody>
      </p:sp>
      <p:sp>
        <p:nvSpPr>
          <p:cNvPr id="3" name="Text 1"/>
          <p:cNvSpPr/>
          <p:nvPr/>
        </p:nvSpPr>
        <p:spPr>
          <a:xfrm>
            <a:off x="0" y="5041999"/>
            <a:ext cx="9144000" cy="101501"/>
          </a:xfrm>
          <a:prstGeom prst="rect">
            <a:avLst/>
          </a:prstGeom>
          <a:solidFill>
            <a:srgbClr val="44546A"/>
          </a:solidFill>
        </p:spPr>
        <p:txBody>
          <a:bodyPr wrap="square" rtlCol="0" anchor="ctr"/>
          <a:lstStyle/>
          <a:p>
            <a:pPr marL="0" indent="0">
              <a:buNone/>
            </a:pPr>
            <a:endParaRPr lang="en-US" dirty="0"/>
          </a:p>
        </p:txBody>
      </p:sp>
      <p:sp>
        <p:nvSpPr>
          <p:cNvPr id="4" name="Text 2"/>
          <p:cNvSpPr/>
          <p:nvPr/>
        </p:nvSpPr>
        <p:spPr>
          <a:xfrm>
            <a:off x="0" y="101501"/>
            <a:ext cx="2793950" cy="4940201"/>
          </a:xfrm>
          <a:prstGeom prst="rect">
            <a:avLst/>
          </a:prstGeom>
          <a:solidFill>
            <a:srgbClr val="44546A"/>
          </a:solidFill>
        </p:spPr>
        <p:txBody>
          <a:bodyPr wrap="square" rtlCol="0" anchor="ctr"/>
          <a:lstStyle/>
          <a:p>
            <a:pPr marL="0" indent="0">
              <a:buNone/>
            </a:pPr>
            <a:endParaRPr lang="en-US" dirty="0"/>
          </a:p>
        </p:txBody>
      </p:sp>
      <p:sp>
        <p:nvSpPr>
          <p:cNvPr id="5" name="Text 3"/>
          <p:cNvSpPr/>
          <p:nvPr/>
        </p:nvSpPr>
        <p:spPr>
          <a:xfrm>
            <a:off x="253901" y="1749623"/>
            <a:ext cx="2793950" cy="234851"/>
          </a:xfrm>
          <a:prstGeom prst="roundRect">
            <a:avLst>
              <a:gd name="adj" fmla="val 21631"/>
            </a:avLst>
          </a:prstGeom>
          <a:solidFill>
            <a:srgbClr val="4472C4"/>
          </a:solidFill>
        </p:spPr>
        <p:txBody>
          <a:bodyPr wrap="square" rtlCol="0" anchor="ctr"/>
          <a:lstStyle/>
          <a:p>
            <a:pPr marL="0" indent="0">
              <a:buNone/>
            </a:pPr>
            <a:endParaRPr lang="en-US" dirty="0"/>
          </a:p>
        </p:txBody>
      </p:sp>
      <p:sp>
        <p:nvSpPr>
          <p:cNvPr id="6" name="Text 4"/>
          <p:cNvSpPr/>
          <p:nvPr/>
        </p:nvSpPr>
        <p:spPr>
          <a:xfrm>
            <a:off x="253901" y="1749623"/>
            <a:ext cx="2849829" cy="234851"/>
          </a:xfrm>
          <a:prstGeom prst="rect">
            <a:avLst/>
          </a:prstGeom>
          <a:noFill/>
        </p:spPr>
        <p:txBody>
          <a:bodyPr wrap="square" lIns="101600" tIns="50800" rIns="101600" bIns="50800" rtlCol="0" anchor="t"/>
          <a:lstStyle/>
          <a:p>
            <a:pPr marL="0" indent="0" algn="l">
              <a:buNone/>
            </a:pPr>
            <a:r>
              <a:rPr lang="en-US" sz="900" b="1" dirty="0">
                <a:solidFill>
                  <a:srgbClr val="FFFFFF"/>
                </a:solidFill>
                <a:latin typeface="Arial" panose="020B0604020202090204" pitchFamily="34" charset="0"/>
                <a:ea typeface="Arial" panose="020B0604020202090204" pitchFamily="34" charset="-122"/>
                <a:cs typeface="Arial" panose="020B0604020202090204" pitchFamily="34" charset="-120"/>
              </a:rPr>
              <a:t>STYLE-CONTROLLED</a:t>
            </a:r>
            <a:endParaRPr lang="en-US" sz="900" dirty="0"/>
          </a:p>
        </p:txBody>
      </p:sp>
      <p:sp>
        <p:nvSpPr>
          <p:cNvPr id="7" name="Text 5"/>
          <p:cNvSpPr/>
          <p:nvPr/>
        </p:nvSpPr>
        <p:spPr>
          <a:xfrm>
            <a:off x="253901" y="2136874"/>
            <a:ext cx="2849829" cy="142875"/>
          </a:xfrm>
          <a:prstGeom prst="rect">
            <a:avLst/>
          </a:prstGeom>
          <a:noFill/>
        </p:spPr>
        <p:txBody>
          <a:bodyPr wrap="square" lIns="0" tIns="0" rIns="0" bIns="0" rtlCol="0" anchor="t"/>
          <a:lstStyle/>
          <a:p>
            <a:pPr marL="0" indent="0" algn="l">
              <a:spcBef>
                <a:spcPts val="600"/>
              </a:spcBef>
              <a:spcAft>
                <a:spcPts val="200"/>
              </a:spcAft>
              <a:buNone/>
            </a:pPr>
            <a:r>
              <a:rPr lang="en-US" sz="1000" b="1" dirty="0">
                <a:solidFill>
                  <a:srgbClr val="E7E6E6"/>
                </a:solidFill>
                <a:latin typeface="Arial" panose="020B0604020202090204" pitchFamily="34" charset="0"/>
                <a:ea typeface="Arial" panose="020B0604020202090204" pitchFamily="34" charset="-122"/>
                <a:cs typeface="Arial" panose="020B0604020202090204" pitchFamily="34" charset="-120"/>
              </a:rPr>
              <a:t>Study</a:t>
            </a:r>
            <a:endParaRPr lang="en-US" sz="1000" dirty="0"/>
          </a:p>
        </p:txBody>
      </p:sp>
      <p:sp>
        <p:nvSpPr>
          <p:cNvPr id="8" name="Text 6"/>
          <p:cNvSpPr/>
          <p:nvPr/>
        </p:nvSpPr>
        <p:spPr>
          <a:xfrm>
            <a:off x="253901" y="2305050"/>
            <a:ext cx="2849829" cy="152400"/>
          </a:xfrm>
          <a:prstGeom prst="rect">
            <a:avLst/>
          </a:prstGeom>
          <a:noFill/>
        </p:spPr>
        <p:txBody>
          <a:bodyPr wrap="square" lIns="0" tIns="0" rIns="0" bIns="0" rtlCol="0" anchor="t"/>
          <a:lstStyle/>
          <a:p>
            <a:pPr marL="0" indent="0" algn="l">
              <a:spcAft>
                <a:spcPts val="800"/>
              </a:spcAft>
              <a:buNone/>
            </a:pPr>
            <a:r>
              <a:rPr lang="en-US" sz="1100" dirty="0">
                <a:solidFill>
                  <a:srgbClr val="FFFFFF"/>
                </a:solidFill>
                <a:latin typeface="Arial" panose="020B0604020202090204" pitchFamily="34" charset="0"/>
                <a:ea typeface="Arial" panose="020B0604020202090204" pitchFamily="34" charset="-122"/>
                <a:cs typeface="Arial" panose="020B0604020202090204" pitchFamily="34" charset="-120"/>
              </a:rPr>
              <a:t>NSF NCEMS Proposals</a:t>
            </a:r>
            <a:endParaRPr lang="en-US" sz="1100" dirty="0"/>
          </a:p>
        </p:txBody>
      </p:sp>
      <p:sp>
        <p:nvSpPr>
          <p:cNvPr id="9" name="Text 7"/>
          <p:cNvSpPr/>
          <p:nvPr/>
        </p:nvSpPr>
        <p:spPr>
          <a:xfrm>
            <a:off x="253901" y="2635151"/>
            <a:ext cx="2849829" cy="142875"/>
          </a:xfrm>
          <a:prstGeom prst="rect">
            <a:avLst/>
          </a:prstGeom>
          <a:noFill/>
        </p:spPr>
        <p:txBody>
          <a:bodyPr wrap="square" lIns="0" tIns="0" rIns="0" bIns="0" rtlCol="0" anchor="t"/>
          <a:lstStyle/>
          <a:p>
            <a:pPr marL="0" indent="0" algn="l">
              <a:spcBef>
                <a:spcPts val="600"/>
              </a:spcBef>
              <a:spcAft>
                <a:spcPts val="200"/>
              </a:spcAft>
              <a:buNone/>
            </a:pPr>
            <a:r>
              <a:rPr lang="en-US" sz="1000" b="1" dirty="0">
                <a:solidFill>
                  <a:srgbClr val="E7E6E6"/>
                </a:solidFill>
                <a:latin typeface="Arial" panose="020B0604020202090204" pitchFamily="34" charset="0"/>
                <a:ea typeface="Arial" panose="020B0604020202090204" pitchFamily="34" charset="-122"/>
                <a:cs typeface="Arial" panose="020B0604020202090204" pitchFamily="34" charset="-120"/>
              </a:rPr>
              <a:t>Proposals</a:t>
            </a:r>
            <a:endParaRPr lang="en-US" sz="1000" dirty="0"/>
          </a:p>
        </p:txBody>
      </p:sp>
      <p:sp>
        <p:nvSpPr>
          <p:cNvPr id="10" name="Text 8"/>
          <p:cNvSpPr/>
          <p:nvPr/>
        </p:nvSpPr>
        <p:spPr>
          <a:xfrm>
            <a:off x="253901" y="2803327"/>
            <a:ext cx="2849829" cy="152400"/>
          </a:xfrm>
          <a:prstGeom prst="rect">
            <a:avLst/>
          </a:prstGeom>
          <a:noFill/>
        </p:spPr>
        <p:txBody>
          <a:bodyPr wrap="square" lIns="0" tIns="0" rIns="0" bIns="0" rtlCol="0" anchor="t"/>
          <a:lstStyle/>
          <a:p>
            <a:pPr marL="0" indent="0" algn="l">
              <a:spcAft>
                <a:spcPts val="800"/>
              </a:spcAft>
              <a:buNone/>
            </a:pPr>
            <a:r>
              <a:rPr lang="en-US" sz="1100" dirty="0">
                <a:solidFill>
                  <a:srgbClr val="FFFFFF"/>
                </a:solidFill>
                <a:latin typeface="Arial" panose="020B0604020202090204" pitchFamily="34" charset="0"/>
                <a:ea typeface="Arial" panose="020B0604020202090204" pitchFamily="34" charset="-122"/>
                <a:cs typeface="Arial" panose="020B0604020202090204" pitchFamily="34" charset="-120"/>
              </a:rPr>
              <a:t>23 Human + 69 AI</a:t>
            </a:r>
            <a:endParaRPr lang="en-US" sz="1100" dirty="0"/>
          </a:p>
        </p:txBody>
      </p:sp>
      <p:sp>
        <p:nvSpPr>
          <p:cNvPr id="11" name="Text 9"/>
          <p:cNvSpPr/>
          <p:nvPr/>
        </p:nvSpPr>
        <p:spPr>
          <a:xfrm>
            <a:off x="253901" y="3133427"/>
            <a:ext cx="2849829" cy="142875"/>
          </a:xfrm>
          <a:prstGeom prst="rect">
            <a:avLst/>
          </a:prstGeom>
          <a:noFill/>
        </p:spPr>
        <p:txBody>
          <a:bodyPr wrap="square" lIns="0" tIns="0" rIns="0" bIns="0" rtlCol="0" anchor="t"/>
          <a:lstStyle/>
          <a:p>
            <a:pPr marL="0" indent="0" algn="l">
              <a:spcBef>
                <a:spcPts val="600"/>
              </a:spcBef>
              <a:spcAft>
                <a:spcPts val="200"/>
              </a:spcAft>
              <a:buNone/>
            </a:pPr>
            <a:r>
              <a:rPr lang="en-US" sz="1000" b="1" dirty="0">
                <a:solidFill>
                  <a:srgbClr val="E7E6E6"/>
                </a:solidFill>
                <a:latin typeface="Arial" panose="020B0604020202090204" pitchFamily="34" charset="0"/>
                <a:ea typeface="Arial" panose="020B0604020202090204" pitchFamily="34" charset="-122"/>
                <a:cs typeface="Arial" panose="020B0604020202090204" pitchFamily="34" charset="-120"/>
              </a:rPr>
              <a:t>Models Tested</a:t>
            </a:r>
            <a:endParaRPr lang="en-US" sz="1000" dirty="0"/>
          </a:p>
        </p:txBody>
      </p:sp>
      <p:sp>
        <p:nvSpPr>
          <p:cNvPr id="12" name="Text 10"/>
          <p:cNvSpPr/>
          <p:nvPr/>
        </p:nvSpPr>
        <p:spPr>
          <a:xfrm>
            <a:off x="253901" y="3301603"/>
            <a:ext cx="2849829" cy="457200"/>
          </a:xfrm>
          <a:prstGeom prst="rect">
            <a:avLst/>
          </a:prstGeom>
          <a:noFill/>
        </p:spPr>
        <p:txBody>
          <a:bodyPr wrap="square" lIns="0" tIns="0" rIns="0" bIns="0" rtlCol="0" anchor="t"/>
          <a:lstStyle/>
          <a:p>
            <a:pPr marL="0" indent="0" algn="l">
              <a:spcAft>
                <a:spcPts val="800"/>
              </a:spcAft>
              <a:buNone/>
            </a:pPr>
            <a:r>
              <a:rPr lang="en-US" sz="1100" dirty="0">
                <a:solidFill>
                  <a:srgbClr val="FFFFFF"/>
                </a:solidFill>
                <a:latin typeface="Arial" panose="020B0604020202090204" pitchFamily="34" charset="0"/>
                <a:ea typeface="Arial" panose="020B0604020202090204" pitchFamily="34" charset="-122"/>
                <a:cs typeface="Arial" panose="020B0604020202090204" pitchFamily="34" charset="-120"/>
              </a:rPr>
              <a:t>Claude Opus 4.5</a:t>
            </a:r>
            <a:endParaRPr lang="en-US" sz="1100" dirty="0"/>
          </a:p>
          <a:p>
            <a:pPr marL="0" indent="0" algn="l">
              <a:spcAft>
                <a:spcPts val="800"/>
              </a:spcAft>
              <a:buNone/>
            </a:pPr>
            <a:r>
              <a:rPr lang="en-US" sz="1100" dirty="0">
                <a:solidFill>
                  <a:srgbClr val="FFFFFF"/>
                </a:solidFill>
                <a:latin typeface="Arial" panose="020B0604020202090204" pitchFamily="34" charset="0"/>
                <a:ea typeface="Arial" panose="020B0604020202090204" pitchFamily="34" charset="-122"/>
                <a:cs typeface="Arial" panose="020B0604020202090204" pitchFamily="34" charset="-120"/>
              </a:rPr>
              <a:t>Gemini 3 Pro</a:t>
            </a:r>
            <a:endParaRPr lang="en-US" sz="1100" dirty="0"/>
          </a:p>
          <a:p>
            <a:pPr marL="0" indent="0" algn="l">
              <a:spcAft>
                <a:spcPts val="800"/>
              </a:spcAft>
              <a:buNone/>
            </a:pPr>
            <a:r>
              <a:rPr lang="en-US" sz="1100" dirty="0">
                <a:solidFill>
                  <a:srgbClr val="FFFFFF"/>
                </a:solidFill>
                <a:latin typeface="Arial" panose="020B0604020202090204" pitchFamily="34" charset="0"/>
                <a:ea typeface="Arial" panose="020B0604020202090204" pitchFamily="34" charset="-122"/>
                <a:cs typeface="Arial" panose="020B0604020202090204" pitchFamily="34" charset="-120"/>
              </a:rPr>
              <a:t>GPT-5.2</a:t>
            </a:r>
            <a:endParaRPr lang="en-US" sz="1100" dirty="0"/>
          </a:p>
        </p:txBody>
      </p:sp>
      <p:sp>
        <p:nvSpPr>
          <p:cNvPr id="13" name="Text 11"/>
          <p:cNvSpPr/>
          <p:nvPr/>
        </p:nvSpPr>
        <p:spPr>
          <a:xfrm>
            <a:off x="253901" y="4240034"/>
            <a:ext cx="2849829" cy="142875"/>
          </a:xfrm>
          <a:prstGeom prst="rect">
            <a:avLst/>
          </a:prstGeom>
          <a:noFill/>
        </p:spPr>
        <p:txBody>
          <a:bodyPr wrap="square" lIns="0" tIns="0" rIns="0" bIns="0" rtlCol="0" anchor="t"/>
          <a:lstStyle/>
          <a:p>
            <a:pPr marL="0" indent="0" algn="l">
              <a:spcBef>
                <a:spcPts val="600"/>
              </a:spcBef>
              <a:spcAft>
                <a:spcPts val="200"/>
              </a:spcAft>
              <a:buNone/>
            </a:pPr>
            <a:r>
              <a:rPr lang="en-US" sz="1000" b="1" dirty="0">
                <a:solidFill>
                  <a:srgbClr val="E7E6E6"/>
                </a:solidFill>
                <a:latin typeface="Arial" panose="020B0604020202090204" pitchFamily="34" charset="0"/>
                <a:ea typeface="Arial" panose="020B0604020202090204" pitchFamily="34" charset="-122"/>
                <a:cs typeface="Arial" panose="020B0604020202090204" pitchFamily="34" charset="-120"/>
              </a:rPr>
              <a:t>Date</a:t>
            </a:r>
            <a:endParaRPr lang="en-US" sz="1000" dirty="0"/>
          </a:p>
        </p:txBody>
      </p:sp>
      <p:sp>
        <p:nvSpPr>
          <p:cNvPr id="14" name="Text 12"/>
          <p:cNvSpPr/>
          <p:nvPr/>
        </p:nvSpPr>
        <p:spPr>
          <a:xfrm>
            <a:off x="253901" y="4408210"/>
            <a:ext cx="2849829" cy="152400"/>
          </a:xfrm>
          <a:prstGeom prst="rect">
            <a:avLst/>
          </a:prstGeom>
          <a:noFill/>
        </p:spPr>
        <p:txBody>
          <a:bodyPr wrap="square" lIns="0" tIns="0" rIns="0" bIns="0" rtlCol="0" anchor="t"/>
          <a:lstStyle/>
          <a:p>
            <a:pPr marL="0" indent="0" algn="l">
              <a:spcAft>
                <a:spcPts val="800"/>
              </a:spcAft>
              <a:buNone/>
            </a:pPr>
            <a:r>
              <a:rPr lang="en-US" sz="1100" dirty="0">
                <a:solidFill>
                  <a:srgbClr val="FFFFFF"/>
                </a:solidFill>
                <a:latin typeface="Arial" panose="020B0604020202090204" pitchFamily="34" charset="0"/>
                <a:ea typeface="Arial" panose="020B0604020202090204" pitchFamily="34" charset="-122"/>
                <a:cs typeface="Arial" panose="020B0604020202090204" pitchFamily="34" charset="-120"/>
              </a:rPr>
              <a:t>March 2026</a:t>
            </a:r>
            <a:endParaRPr lang="en-US" sz="1100" dirty="0"/>
          </a:p>
        </p:txBody>
      </p:sp>
      <p:sp>
        <p:nvSpPr>
          <p:cNvPr id="15" name="Text 13"/>
          <p:cNvSpPr/>
          <p:nvPr/>
        </p:nvSpPr>
        <p:spPr>
          <a:xfrm>
            <a:off x="2768501" y="507950"/>
            <a:ext cx="25301" cy="4127450"/>
          </a:xfrm>
          <a:prstGeom prst="rect">
            <a:avLst/>
          </a:prstGeom>
          <a:solidFill>
            <a:srgbClr val="4472C4"/>
          </a:solidFill>
        </p:spPr>
        <p:txBody>
          <a:bodyPr wrap="square" rtlCol="0" anchor="ctr"/>
          <a:lstStyle/>
          <a:p>
            <a:pPr marL="0" indent="0">
              <a:buNone/>
            </a:pPr>
            <a:endParaRPr lang="en-US" dirty="0"/>
          </a:p>
        </p:txBody>
      </p:sp>
      <p:sp>
        <p:nvSpPr>
          <p:cNvPr id="16" name="Text 14"/>
          <p:cNvSpPr/>
          <p:nvPr/>
        </p:nvSpPr>
        <p:spPr>
          <a:xfrm>
            <a:off x="3174950" y="1688157"/>
            <a:ext cx="5570169" cy="792361"/>
          </a:xfrm>
          <a:prstGeom prst="rect">
            <a:avLst/>
          </a:prstGeom>
          <a:noFill/>
        </p:spPr>
        <p:txBody>
          <a:bodyPr wrap="square" lIns="0" tIns="0" rIns="0" bIns="0" rtlCol="0" anchor="t"/>
          <a:lstStyle/>
          <a:p>
            <a:pPr marL="0" indent="0" algn="l">
              <a:lnSpc>
                <a:spcPts val="3120"/>
              </a:lnSpc>
              <a:spcAft>
                <a:spcPts val="800"/>
              </a:spcAft>
              <a:buNone/>
            </a:pPr>
            <a:r>
              <a:rPr lang="en-US" sz="2600" b="1" dirty="0">
                <a:solidFill>
                  <a:srgbClr val="44546A"/>
                </a:solidFill>
                <a:latin typeface="Arial" panose="020B0604020202090204" pitchFamily="34" charset="0"/>
                <a:ea typeface="Arial" panose="020B0604020202090204" pitchFamily="34" charset="-122"/>
                <a:cs typeface="Arial" panose="020B0604020202090204" pitchFamily="34" charset="-120"/>
              </a:rPr>
              <a:t>Style-Controlled Comparison of AI vs. Human Research Proposals</a:t>
            </a:r>
            <a:endParaRPr lang="en-US" sz="2600" dirty="0"/>
          </a:p>
        </p:txBody>
      </p:sp>
      <p:sp>
        <p:nvSpPr>
          <p:cNvPr id="17" name="Text 15"/>
          <p:cNvSpPr/>
          <p:nvPr/>
        </p:nvSpPr>
        <p:spPr>
          <a:xfrm>
            <a:off x="3174950" y="2582019"/>
            <a:ext cx="5570169" cy="400050"/>
          </a:xfrm>
          <a:prstGeom prst="rect">
            <a:avLst/>
          </a:prstGeom>
          <a:noFill/>
        </p:spPr>
        <p:txBody>
          <a:bodyPr wrap="square" lIns="0" tIns="0" rIns="0" bIns="0" rtlCol="0" anchor="t"/>
          <a:lstStyle/>
          <a:p>
            <a:pPr marL="0" indent="0" algn="l">
              <a:spcAft>
                <a:spcPts val="600"/>
              </a:spcAft>
              <a:buNone/>
            </a:pPr>
            <a:r>
              <a:rPr lang="en-US" sz="1300" dirty="0">
                <a:solidFill>
                  <a:srgbClr val="4472C4"/>
                </a:solidFill>
                <a:latin typeface="Arial" panose="020B0604020202090204" pitchFamily="34" charset="0"/>
                <a:ea typeface="Arial" panose="020B0604020202090204" pitchFamily="34" charset="-122"/>
                <a:cs typeface="Arial" panose="020B0604020202090204" pitchFamily="34" charset="-120"/>
              </a:rPr>
              <a:t>Rephrased-Proposal Analysis: Diversity, Novelty, Thematic Content, and Quality</a:t>
            </a:r>
            <a:endParaRPr lang="en-US" sz="1300" dirty="0"/>
          </a:p>
        </p:txBody>
      </p:sp>
      <p:sp>
        <p:nvSpPr>
          <p:cNvPr id="18" name="Text 16"/>
          <p:cNvSpPr/>
          <p:nvPr/>
        </p:nvSpPr>
        <p:spPr>
          <a:xfrm>
            <a:off x="3174950" y="3058269"/>
            <a:ext cx="5570169" cy="142875"/>
          </a:xfrm>
          <a:prstGeom prst="rect">
            <a:avLst/>
          </a:prstGeom>
          <a:noFill/>
        </p:spPr>
        <p:txBody>
          <a:bodyPr wrap="square" lIns="0" tIns="0" rIns="0" bIns="0" rtlCol="0" anchor="t"/>
          <a:lstStyle/>
          <a:p>
            <a:pPr marL="0" indent="0" algn="l">
              <a:buNone/>
            </a:pPr>
            <a:r>
              <a:rPr lang="en-US" sz="1000" dirty="0">
                <a:solidFill>
                  <a:srgbClr val="888888"/>
                </a:solidFill>
                <a:latin typeface="Arial" panose="020B0604020202090204" pitchFamily="34" charset="0"/>
                <a:ea typeface="Arial" panose="020B0604020202090204" pitchFamily="34" charset="-122"/>
                <a:cs typeface="Arial" panose="020B0604020202090204" pitchFamily="34" charset="-120"/>
              </a:rPr>
              <a:t>Embedding-Based Analysis Using BioLinkBERT · Rephrased via Gemini Flash</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4472C4"/>
          </a:solidFill>
        </p:spPr>
        <p:txBody>
          <a:bodyPr wrap="square" rtlCol="0" anchor="ctr"/>
          <a:lstStyle/>
          <a:p>
            <a:pPr marL="0" indent="0">
              <a:buNone/>
            </a:pPr>
            <a:endParaRPr lang="en-US" dirty="0"/>
          </a:p>
        </p:txBody>
      </p:sp>
      <p:sp>
        <p:nvSpPr>
          <p:cNvPr id="3" name="Text 1"/>
          <p:cNvSpPr/>
          <p:nvPr/>
        </p:nvSpPr>
        <p:spPr>
          <a:xfrm>
            <a:off x="0" y="5067300"/>
            <a:ext cx="9144000" cy="76200"/>
          </a:xfrm>
          <a:prstGeom prst="rect">
            <a:avLst/>
          </a:prstGeom>
          <a:solidFill>
            <a:srgbClr val="44546A"/>
          </a:solidFill>
        </p:spPr>
        <p:txBody>
          <a:bodyPr wrap="square" rtlCol="0" anchor="ctr"/>
          <a:lstStyle/>
          <a:p>
            <a:pPr marL="0" indent="0">
              <a:buNone/>
            </a:pPr>
            <a:endParaRPr lang="en-US" dirty="0"/>
          </a:p>
        </p:txBody>
      </p:sp>
      <p:sp>
        <p:nvSpPr>
          <p:cNvPr id="4" name="Text 2"/>
          <p:cNvSpPr/>
          <p:nvPr/>
        </p:nvSpPr>
        <p:spPr>
          <a:xfrm>
            <a:off x="7620000" y="76200"/>
            <a:ext cx="1524000" cy="355550"/>
          </a:xfrm>
          <a:prstGeom prst="rect">
            <a:avLst/>
          </a:prstGeom>
          <a:solidFill>
            <a:srgbClr val="44546A"/>
          </a:solidFill>
        </p:spPr>
        <p:txBody>
          <a:bodyPr wrap="square" rtlCol="0" anchor="ctr"/>
          <a:lstStyle/>
          <a:p>
            <a:pPr marL="0" indent="0">
              <a:buNone/>
            </a:pPr>
            <a:endParaRPr lang="en-US" dirty="0"/>
          </a:p>
        </p:txBody>
      </p:sp>
      <p:sp>
        <p:nvSpPr>
          <p:cNvPr id="5" name="Text 3"/>
          <p:cNvSpPr/>
          <p:nvPr/>
        </p:nvSpPr>
        <p:spPr>
          <a:xfrm>
            <a:off x="8031659" y="187226"/>
            <a:ext cx="714545" cy="133350"/>
          </a:xfrm>
          <a:prstGeom prst="rect">
            <a:avLst/>
          </a:prstGeom>
          <a:noFill/>
        </p:spPr>
        <p:txBody>
          <a:bodyPr wrap="square" lIns="0" tIns="0" rIns="0" bIns="0" rtlCol="0" anchor="t"/>
          <a:lstStyle/>
          <a:p>
            <a:pPr marL="0" indent="0" algn="l">
              <a:buNone/>
            </a:pPr>
            <a:r>
              <a:rPr lang="en-US" sz="900" b="1" dirty="0">
                <a:solidFill>
                  <a:srgbClr val="FFFFFF"/>
                </a:solidFill>
                <a:latin typeface="Arial" panose="020B0604020202090204" pitchFamily="34" charset="0"/>
                <a:ea typeface="Arial" panose="020B0604020202090204" pitchFamily="34" charset="-122"/>
                <a:cs typeface="Arial" panose="020B0604020202090204" pitchFamily="34" charset="-120"/>
              </a:rPr>
              <a:t>MOTIVATION</a:t>
            </a:r>
            <a:endParaRPr lang="en-US" sz="900" dirty="0"/>
          </a:p>
        </p:txBody>
      </p:sp>
      <p:sp>
        <p:nvSpPr>
          <p:cNvPr id="6" name="Text 4"/>
          <p:cNvSpPr/>
          <p:nvPr/>
        </p:nvSpPr>
        <p:spPr>
          <a:xfrm>
            <a:off x="304800" y="177701"/>
            <a:ext cx="7254139" cy="295275"/>
          </a:xfrm>
          <a:prstGeom prst="rect">
            <a:avLst/>
          </a:prstGeom>
          <a:noFill/>
        </p:spPr>
        <p:txBody>
          <a:bodyPr wrap="square" lIns="0" tIns="0" rIns="0" bIns="0" rtlCol="0" anchor="t"/>
          <a:lstStyle/>
          <a:p>
            <a:pPr marL="0" indent="0" algn="l">
              <a:buNone/>
            </a:pPr>
            <a:r>
              <a:rPr lang="en-US" sz="2000" b="1" dirty="0">
                <a:solidFill>
                  <a:srgbClr val="44546A"/>
                </a:solidFill>
                <a:latin typeface="Arial" panose="020B0604020202090204" pitchFamily="34" charset="0"/>
                <a:ea typeface="Arial" panose="020B0604020202090204" pitchFamily="34" charset="-122"/>
                <a:cs typeface="Arial" panose="020B0604020202090204" pitchFamily="34" charset="-120"/>
              </a:rPr>
              <a:t>Why a Style-Controlled Analysis?</a:t>
            </a:r>
            <a:endParaRPr lang="en-US" sz="2000" dirty="0"/>
          </a:p>
        </p:txBody>
      </p:sp>
      <p:sp>
        <p:nvSpPr>
          <p:cNvPr id="7" name="Text 5"/>
          <p:cNvSpPr/>
          <p:nvPr/>
        </p:nvSpPr>
        <p:spPr>
          <a:xfrm>
            <a:off x="304800" y="498277"/>
            <a:ext cx="7254139" cy="152400"/>
          </a:xfrm>
          <a:prstGeom prst="rect">
            <a:avLst/>
          </a:prstGeom>
          <a:noFill/>
        </p:spPr>
        <p:txBody>
          <a:bodyPr wrap="square" lIns="0" tIns="0" rIns="0" bIns="0" rtlCol="0" anchor="t"/>
          <a:lstStyle/>
          <a:p>
            <a:pPr marL="0" indent="0" algn="l">
              <a:spcBef>
                <a:spcPts val="200"/>
              </a:spcBef>
              <a:buNone/>
            </a:pPr>
            <a:r>
              <a:rPr lang="en-US" sz="1100" dirty="0">
                <a:solidFill>
                  <a:srgbClr val="4472C4"/>
                </a:solidFill>
                <a:latin typeface="Arial" panose="020B0604020202090204" pitchFamily="34" charset="0"/>
                <a:ea typeface="Arial" panose="020B0604020202090204" pitchFamily="34" charset="-122"/>
                <a:cs typeface="Arial" panose="020B0604020202090204" pitchFamily="34" charset="-120"/>
              </a:rPr>
              <a:t>The style confound problem and how rephrasing addresses it</a:t>
            </a:r>
            <a:endParaRPr lang="en-US" sz="1100" dirty="0"/>
          </a:p>
        </p:txBody>
      </p:sp>
      <p:sp>
        <p:nvSpPr>
          <p:cNvPr id="8" name="Text 6"/>
          <p:cNvSpPr/>
          <p:nvPr/>
        </p:nvSpPr>
        <p:spPr>
          <a:xfrm>
            <a:off x="304800" y="711101"/>
            <a:ext cx="8534400" cy="25301"/>
          </a:xfrm>
          <a:prstGeom prst="rect">
            <a:avLst/>
          </a:prstGeom>
          <a:solidFill>
            <a:srgbClr val="4472C4"/>
          </a:solidFill>
        </p:spPr>
        <p:txBody>
          <a:bodyPr wrap="square" rtlCol="0" anchor="ctr"/>
          <a:lstStyle/>
          <a:p>
            <a:pPr marL="0" indent="0">
              <a:buNone/>
            </a:pPr>
            <a:endParaRPr lang="en-US" dirty="0"/>
          </a:p>
        </p:txBody>
      </p:sp>
      <p:sp>
        <p:nvSpPr>
          <p:cNvPr id="9" name="Text 7"/>
          <p:cNvSpPr/>
          <p:nvPr/>
        </p:nvSpPr>
        <p:spPr>
          <a:xfrm>
            <a:off x="304800" y="838200"/>
            <a:ext cx="8534400" cy="1657350"/>
          </a:xfrm>
          <a:prstGeom prst="roundRect">
            <a:avLst>
              <a:gd name="adj" fmla="val 4598"/>
            </a:avLst>
          </a:prstGeom>
          <a:solidFill>
            <a:srgbClr val="FFF4F4"/>
          </a:solidFill>
          <a:ln w="19050">
            <a:solidFill>
              <a:srgbClr val="C00000"/>
            </a:solidFill>
          </a:ln>
        </p:spPr>
        <p:txBody>
          <a:bodyPr wrap="square" rtlCol="0" anchor="ctr"/>
          <a:lstStyle/>
          <a:p>
            <a:pPr marL="0" indent="0">
              <a:buNone/>
            </a:pPr>
            <a:endParaRPr lang="en-US" dirty="0"/>
          </a:p>
        </p:txBody>
      </p:sp>
      <p:sp>
        <p:nvSpPr>
          <p:cNvPr id="10" name="Text 8"/>
          <p:cNvSpPr/>
          <p:nvPr/>
        </p:nvSpPr>
        <p:spPr>
          <a:xfrm>
            <a:off x="527000" y="1162050"/>
            <a:ext cx="8251799" cy="171450"/>
          </a:xfrm>
          <a:prstGeom prst="rect">
            <a:avLst/>
          </a:prstGeom>
          <a:noFill/>
        </p:spPr>
        <p:txBody>
          <a:bodyPr wrap="square" lIns="0" tIns="0" rIns="0" bIns="0" rtlCol="0" anchor="t"/>
          <a:lstStyle/>
          <a:p>
            <a:pPr marL="0" indent="0" algn="l">
              <a:spcBef>
                <a:spcPts val="1200"/>
              </a:spcBef>
              <a:spcAft>
                <a:spcPts val="1200"/>
              </a:spcAft>
              <a:buNone/>
            </a:pPr>
            <a:r>
              <a:rPr lang="en-US" sz="1200" dirty="0">
                <a:solidFill>
                  <a:srgbClr val="000000"/>
                </a:solidFill>
                <a:latin typeface="Arial" panose="020B0604020202090204" pitchFamily="34" charset="0"/>
                <a:ea typeface="Arial" panose="020B0604020202090204" pitchFamily="34" charset="-122"/>
                <a:cs typeface="Arial" panose="020B0604020202090204" pitchFamily="34" charset="-120"/>
              </a:rPr>
              <a:t>The Problem:</a:t>
            </a:r>
            <a:endParaRPr lang="en-US" sz="1200" dirty="0"/>
          </a:p>
        </p:txBody>
      </p:sp>
      <p:sp>
        <p:nvSpPr>
          <p:cNvPr id="11" name="Text 9"/>
          <p:cNvSpPr/>
          <p:nvPr/>
        </p:nvSpPr>
        <p:spPr>
          <a:xfrm>
            <a:off x="527000" y="1485900"/>
            <a:ext cx="8251799" cy="685800"/>
          </a:xfrm>
          <a:prstGeom prst="rect">
            <a:avLst/>
          </a:prstGeom>
          <a:noFill/>
        </p:spPr>
        <p:txBody>
          <a:bodyPr wrap="square" lIns="0" tIns="0" rIns="0" bIns="0" rtlCol="0" anchor="t"/>
          <a:lstStyle/>
          <a:p>
            <a:pPr marL="0" indent="0" algn="l">
              <a:spcBef>
                <a:spcPts val="1200"/>
              </a:spcBef>
              <a:spcAft>
                <a:spcPts val="1200"/>
              </a:spcAft>
              <a:buNone/>
            </a:pPr>
            <a:r>
              <a:rPr lang="en-US" sz="1200" dirty="0">
                <a:solidFill>
                  <a:srgbClr val="000000"/>
                </a:solidFill>
                <a:latin typeface="Arial" panose="020B0604020202090204" pitchFamily="34" charset="0"/>
                <a:ea typeface="Arial" panose="020B0604020202090204" pitchFamily="34" charset="-122"/>
                <a:cs typeface="Arial" panose="020B0604020202090204" pitchFamily="34" charset="-120"/>
              </a:rPr>
              <a:t>AI and human proposals differ dramatically in writing style — sentence length, vocabulary, hedging, formatting, punctuation. BioLinkBERT embeddings capture both semantic content and stylistic signals. Observed diversity, novelty, and clustering differences in the baseline analysis could be partly or fully stylistic artifacts rather than genuine conceptual differences.</a:t>
            </a:r>
            <a:endParaRPr lang="en-US" sz="1200" dirty="0"/>
          </a:p>
        </p:txBody>
      </p:sp>
      <p:sp>
        <p:nvSpPr>
          <p:cNvPr id="12" name="Text 10"/>
          <p:cNvSpPr/>
          <p:nvPr/>
        </p:nvSpPr>
        <p:spPr>
          <a:xfrm>
            <a:off x="304800" y="2647950"/>
            <a:ext cx="4191000" cy="999976"/>
          </a:xfrm>
          <a:prstGeom prst="roundRect">
            <a:avLst>
              <a:gd name="adj" fmla="val 7620"/>
            </a:avLst>
          </a:prstGeom>
          <a:solidFill>
            <a:srgbClr val="EEF2FA"/>
          </a:solidFill>
          <a:ln w="9525">
            <a:solidFill>
              <a:srgbClr val="4472C4"/>
            </a:solidFill>
          </a:ln>
        </p:spPr>
        <p:txBody>
          <a:bodyPr wrap="square" rtlCol="0" anchor="ctr"/>
          <a:lstStyle/>
          <a:p>
            <a:pPr marL="0" indent="0">
              <a:buNone/>
            </a:pPr>
            <a:endParaRPr lang="en-US" dirty="0"/>
          </a:p>
        </p:txBody>
      </p:sp>
      <p:sp>
        <p:nvSpPr>
          <p:cNvPr id="13" name="Text 11"/>
          <p:cNvSpPr/>
          <p:nvPr/>
        </p:nvSpPr>
        <p:spPr>
          <a:xfrm>
            <a:off x="466725" y="2784425"/>
            <a:ext cx="3944493" cy="142875"/>
          </a:xfrm>
          <a:prstGeom prst="rect">
            <a:avLst/>
          </a:prstGeom>
          <a:noFill/>
        </p:spPr>
        <p:txBody>
          <a:bodyPr wrap="square" lIns="0" tIns="0" rIns="0" bIns="0" rtlCol="0" anchor="t"/>
          <a:lstStyle/>
          <a:p>
            <a:pPr marL="0" indent="0" algn="l">
              <a:spcAft>
                <a:spcPts val="400"/>
              </a:spcAft>
              <a:buNone/>
            </a:pPr>
            <a:r>
              <a:rPr lang="en-US" sz="1000" b="1" dirty="0">
                <a:solidFill>
                  <a:srgbClr val="4472C4"/>
                </a:solidFill>
                <a:latin typeface="Arial" panose="020B0604020202090204" pitchFamily="34" charset="0"/>
                <a:ea typeface="Arial" panose="020B0604020202090204" pitchFamily="34" charset="-122"/>
                <a:cs typeface="Arial" panose="020B0604020202090204" pitchFamily="34" charset="-120"/>
              </a:rPr>
              <a:t>The Solution: Standardized Rephrasing</a:t>
            </a:r>
            <a:endParaRPr lang="en-US" sz="1000" dirty="0"/>
          </a:p>
        </p:txBody>
      </p:sp>
      <p:sp>
        <p:nvSpPr>
          <p:cNvPr id="14" name="Text 12"/>
          <p:cNvSpPr/>
          <p:nvPr/>
        </p:nvSpPr>
        <p:spPr>
          <a:xfrm>
            <a:off x="466725" y="2978051"/>
            <a:ext cx="3944493" cy="533400"/>
          </a:xfrm>
          <a:prstGeom prst="rect">
            <a:avLst/>
          </a:prstGeom>
          <a:noFill/>
        </p:spPr>
        <p:txBody>
          <a:bodyPr wrap="square" lIns="0" tIns="0" rIns="0" bIns="0" rtlCol="0" anchor="t"/>
          <a:lstStyle/>
          <a:p>
            <a:pPr marL="0" indent="0" algn="l">
              <a:buNone/>
            </a:pPr>
            <a:r>
              <a:rPr lang="en-US" sz="950" dirty="0">
                <a:solidFill>
                  <a:srgbClr val="333333"/>
                </a:solidFill>
                <a:latin typeface="Arial" panose="020B0604020202090204" pitchFamily="34" charset="0"/>
                <a:ea typeface="Arial" panose="020B0604020202090204" pitchFamily="34" charset="-122"/>
                <a:cs typeface="Arial" panose="020B0604020202090204" pitchFamily="34" charset="-120"/>
              </a:rPr>
              <a:t>Each proposal is rewritten into a fixed 5-section template using a two-step AI pipeline (Gemini Flash), neutralizing stylistic fingerprints while preserving scientific content. All 92 proposals emerge with identical structure, register, and formatting.</a:t>
            </a:r>
            <a:endParaRPr lang="en-US" sz="950" dirty="0"/>
          </a:p>
        </p:txBody>
      </p:sp>
      <p:sp>
        <p:nvSpPr>
          <p:cNvPr id="15" name="Text 13"/>
          <p:cNvSpPr/>
          <p:nvPr/>
        </p:nvSpPr>
        <p:spPr>
          <a:xfrm>
            <a:off x="4648200" y="2647950"/>
            <a:ext cx="4191000" cy="999976"/>
          </a:xfrm>
          <a:prstGeom prst="roundRect">
            <a:avLst>
              <a:gd name="adj" fmla="val 7620"/>
            </a:avLst>
          </a:prstGeom>
          <a:solidFill>
            <a:srgbClr val="EEF2FA"/>
          </a:solidFill>
          <a:ln w="9525">
            <a:solidFill>
              <a:srgbClr val="4472C4"/>
            </a:solidFill>
          </a:ln>
        </p:spPr>
        <p:txBody>
          <a:bodyPr wrap="square" rtlCol="0" anchor="ctr"/>
          <a:lstStyle/>
          <a:p>
            <a:pPr marL="0" indent="0">
              <a:buNone/>
            </a:pPr>
            <a:endParaRPr lang="en-US" dirty="0"/>
          </a:p>
        </p:txBody>
      </p:sp>
      <p:sp>
        <p:nvSpPr>
          <p:cNvPr id="16" name="Text 14"/>
          <p:cNvSpPr/>
          <p:nvPr/>
        </p:nvSpPr>
        <p:spPr>
          <a:xfrm>
            <a:off x="4810125" y="2784425"/>
            <a:ext cx="3944493" cy="142875"/>
          </a:xfrm>
          <a:prstGeom prst="rect">
            <a:avLst/>
          </a:prstGeom>
          <a:noFill/>
        </p:spPr>
        <p:txBody>
          <a:bodyPr wrap="square" lIns="0" tIns="0" rIns="0" bIns="0" rtlCol="0" anchor="t"/>
          <a:lstStyle/>
          <a:p>
            <a:pPr marL="0" indent="0" algn="l">
              <a:spcAft>
                <a:spcPts val="400"/>
              </a:spcAft>
              <a:buNone/>
            </a:pPr>
            <a:r>
              <a:rPr lang="en-US" sz="1000" b="1" dirty="0">
                <a:solidFill>
                  <a:srgbClr val="4472C4"/>
                </a:solidFill>
                <a:latin typeface="Arial" panose="020B0604020202090204" pitchFamily="34" charset="0"/>
                <a:ea typeface="Arial" panose="020B0604020202090204" pitchFamily="34" charset="-122"/>
                <a:cs typeface="Arial" panose="020B0604020202090204" pitchFamily="34" charset="-120"/>
              </a:rPr>
              <a:t>What This Enables</a:t>
            </a:r>
            <a:endParaRPr lang="en-US" sz="1000" dirty="0"/>
          </a:p>
        </p:txBody>
      </p:sp>
      <p:sp>
        <p:nvSpPr>
          <p:cNvPr id="17" name="Text 15"/>
          <p:cNvSpPr/>
          <p:nvPr/>
        </p:nvSpPr>
        <p:spPr>
          <a:xfrm>
            <a:off x="4810125" y="2978051"/>
            <a:ext cx="3944493" cy="533400"/>
          </a:xfrm>
          <a:prstGeom prst="rect">
            <a:avLst/>
          </a:prstGeom>
          <a:noFill/>
        </p:spPr>
        <p:txBody>
          <a:bodyPr wrap="square" lIns="0" tIns="0" rIns="0" bIns="0" rtlCol="0" anchor="t"/>
          <a:lstStyle/>
          <a:p>
            <a:pPr marL="0" indent="0" algn="l">
              <a:buNone/>
            </a:pPr>
            <a:r>
              <a:rPr lang="en-US" sz="950" dirty="0">
                <a:solidFill>
                  <a:srgbClr val="333333"/>
                </a:solidFill>
                <a:latin typeface="Arial" panose="020B0604020202090204" pitchFamily="34" charset="0"/>
                <a:ea typeface="Arial" panose="020B0604020202090204" pitchFamily="34" charset="-122"/>
                <a:cs typeface="Arial" panose="020B0604020202090204" pitchFamily="34" charset="-120"/>
              </a:rPr>
              <a:t>Comparing embedding distances on rephrased proposals tests whether Human vs. AI differences persist after style equalization. Residual differences are semantic — in what ideas are proposed — rather than how they are written.</a:t>
            </a:r>
            <a:endParaRPr lang="en-US" sz="950" dirty="0"/>
          </a:p>
        </p:txBody>
      </p:sp>
      <p:sp>
        <p:nvSpPr>
          <p:cNvPr id="18" name="Text 16"/>
          <p:cNvSpPr/>
          <p:nvPr/>
        </p:nvSpPr>
        <p:spPr>
          <a:xfrm>
            <a:off x="304800" y="3800326"/>
            <a:ext cx="4191000" cy="999976"/>
          </a:xfrm>
          <a:prstGeom prst="roundRect">
            <a:avLst>
              <a:gd name="adj" fmla="val 7620"/>
            </a:avLst>
          </a:prstGeom>
          <a:solidFill>
            <a:srgbClr val="EEF6E8"/>
          </a:solidFill>
          <a:ln w="9525">
            <a:solidFill>
              <a:srgbClr val="70AD47"/>
            </a:solidFill>
          </a:ln>
        </p:spPr>
        <p:txBody>
          <a:bodyPr wrap="square" rtlCol="0" anchor="ctr"/>
          <a:lstStyle/>
          <a:p>
            <a:pPr marL="0" indent="0">
              <a:buNone/>
            </a:pPr>
            <a:endParaRPr lang="en-US" dirty="0"/>
          </a:p>
        </p:txBody>
      </p:sp>
      <p:sp>
        <p:nvSpPr>
          <p:cNvPr id="19" name="Text 17"/>
          <p:cNvSpPr/>
          <p:nvPr/>
        </p:nvSpPr>
        <p:spPr>
          <a:xfrm>
            <a:off x="466725" y="3936802"/>
            <a:ext cx="3944493" cy="142875"/>
          </a:xfrm>
          <a:prstGeom prst="rect">
            <a:avLst/>
          </a:prstGeom>
          <a:noFill/>
        </p:spPr>
        <p:txBody>
          <a:bodyPr wrap="square" lIns="0" tIns="0" rIns="0" bIns="0" rtlCol="0" anchor="t"/>
          <a:lstStyle/>
          <a:p>
            <a:pPr marL="0" indent="0" algn="l">
              <a:spcAft>
                <a:spcPts val="400"/>
              </a:spcAft>
              <a:buNone/>
            </a:pPr>
            <a:r>
              <a:rPr lang="en-US" sz="1000" b="1" dirty="0">
                <a:solidFill>
                  <a:srgbClr val="385C1F"/>
                </a:solidFill>
                <a:latin typeface="Arial" panose="020B0604020202090204" pitchFamily="34" charset="0"/>
                <a:ea typeface="Arial" panose="020B0604020202090204" pitchFamily="34" charset="-122"/>
                <a:cs typeface="Arial" panose="020B0604020202090204" pitchFamily="34" charset="-120"/>
              </a:rPr>
              <a:t>Key Change in Findings</a:t>
            </a:r>
            <a:endParaRPr lang="en-US" sz="1000" dirty="0"/>
          </a:p>
        </p:txBody>
      </p:sp>
      <p:sp>
        <p:nvSpPr>
          <p:cNvPr id="20" name="Text 18"/>
          <p:cNvSpPr/>
          <p:nvPr/>
        </p:nvSpPr>
        <p:spPr>
          <a:xfrm>
            <a:off x="466725" y="4130427"/>
            <a:ext cx="3944493" cy="533400"/>
          </a:xfrm>
          <a:prstGeom prst="rect">
            <a:avLst/>
          </a:prstGeom>
          <a:noFill/>
        </p:spPr>
        <p:txBody>
          <a:bodyPr wrap="square" lIns="0" tIns="0" rIns="0" bIns="0" rtlCol="0" anchor="t"/>
          <a:lstStyle/>
          <a:p>
            <a:pPr marL="0" indent="0" algn="l">
              <a:buNone/>
            </a:pPr>
            <a:r>
              <a:rPr lang="en-US" sz="950" dirty="0">
                <a:solidFill>
                  <a:srgbClr val="333333"/>
                </a:solidFill>
                <a:latin typeface="Arial" panose="020B0604020202090204" pitchFamily="34" charset="0"/>
                <a:ea typeface="Arial" panose="020B0604020202090204" pitchFamily="34" charset="-122"/>
                <a:cs typeface="Arial" panose="020B0604020202090204" pitchFamily="34" charset="-120"/>
              </a:rPr>
              <a:t>Baseline style-only AUROC = 1.000 (perfect separation). Rephrased style AUROC = 0.772. Novelty gap (baseline: significant) becomes non-significant after rephrasing. Diversity pattern reverses: humans become more diverse than pooled AI.</a:t>
            </a:r>
            <a:endParaRPr lang="en-US" sz="950" dirty="0"/>
          </a:p>
        </p:txBody>
      </p:sp>
      <p:sp>
        <p:nvSpPr>
          <p:cNvPr id="21" name="Text 19"/>
          <p:cNvSpPr/>
          <p:nvPr/>
        </p:nvSpPr>
        <p:spPr>
          <a:xfrm>
            <a:off x="4648200" y="3800326"/>
            <a:ext cx="4191000" cy="999976"/>
          </a:xfrm>
          <a:prstGeom prst="roundRect">
            <a:avLst>
              <a:gd name="adj" fmla="val 7620"/>
            </a:avLst>
          </a:prstGeom>
          <a:solidFill>
            <a:srgbClr val="EEF6E8"/>
          </a:solidFill>
          <a:ln w="9525">
            <a:solidFill>
              <a:srgbClr val="70AD47"/>
            </a:solidFill>
          </a:ln>
        </p:spPr>
        <p:txBody>
          <a:bodyPr wrap="square" rtlCol="0" anchor="ctr"/>
          <a:lstStyle/>
          <a:p>
            <a:pPr marL="0" indent="0">
              <a:buNone/>
            </a:pPr>
            <a:endParaRPr lang="en-US" dirty="0"/>
          </a:p>
        </p:txBody>
      </p:sp>
      <p:sp>
        <p:nvSpPr>
          <p:cNvPr id="22" name="Text 20"/>
          <p:cNvSpPr/>
          <p:nvPr/>
        </p:nvSpPr>
        <p:spPr>
          <a:xfrm>
            <a:off x="4810125" y="3936802"/>
            <a:ext cx="3944493" cy="142875"/>
          </a:xfrm>
          <a:prstGeom prst="rect">
            <a:avLst/>
          </a:prstGeom>
          <a:noFill/>
        </p:spPr>
        <p:txBody>
          <a:bodyPr wrap="square" lIns="0" tIns="0" rIns="0" bIns="0" rtlCol="0" anchor="t"/>
          <a:lstStyle/>
          <a:p>
            <a:pPr marL="0" indent="0" algn="l">
              <a:spcAft>
                <a:spcPts val="400"/>
              </a:spcAft>
              <a:buNone/>
            </a:pPr>
            <a:r>
              <a:rPr lang="en-US" sz="1000" b="1" dirty="0">
                <a:solidFill>
                  <a:srgbClr val="385C1F"/>
                </a:solidFill>
                <a:latin typeface="Arial" panose="020B0604020202090204" pitchFamily="34" charset="0"/>
                <a:ea typeface="Arial" panose="020B0604020202090204" pitchFamily="34" charset="-122"/>
                <a:cs typeface="Arial" panose="020B0604020202090204" pitchFamily="34" charset="-120"/>
              </a:rPr>
              <a:t>Analyses Preserved</a:t>
            </a:r>
            <a:endParaRPr lang="en-US" sz="1000" dirty="0"/>
          </a:p>
        </p:txBody>
      </p:sp>
      <p:sp>
        <p:nvSpPr>
          <p:cNvPr id="23" name="Text 21"/>
          <p:cNvSpPr/>
          <p:nvPr/>
        </p:nvSpPr>
        <p:spPr>
          <a:xfrm>
            <a:off x="4810125" y="4130427"/>
            <a:ext cx="3944493" cy="533400"/>
          </a:xfrm>
          <a:prstGeom prst="rect">
            <a:avLst/>
          </a:prstGeom>
          <a:noFill/>
        </p:spPr>
        <p:txBody>
          <a:bodyPr wrap="square" lIns="0" tIns="0" rIns="0" bIns="0" rtlCol="0" anchor="t"/>
          <a:lstStyle/>
          <a:p>
            <a:pPr marL="0" indent="0" algn="l">
              <a:buNone/>
            </a:pPr>
            <a:r>
              <a:rPr lang="en-US" sz="950" dirty="0">
                <a:solidFill>
                  <a:srgbClr val="333333"/>
                </a:solidFill>
                <a:latin typeface="Arial" panose="020B0604020202090204" pitchFamily="34" charset="0"/>
                <a:ea typeface="Arial" panose="020B0604020202090204" pitchFamily="34" charset="-122"/>
                <a:cs typeface="Arial" panose="020B0604020202090204" pitchFamily="34" charset="-120"/>
              </a:rPr>
              <a:t>All four analysis types (Diversity, Novelty, Thematic/Cluster, Quality) are run identically on rephrased proposals, enabling direct comparison with the baseline. Statistical framework is unchanged: BioLinkBERT + non-parametric tests + bootstrap CIs.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4472C4"/>
          </a:solidFill>
        </p:spPr>
        <p:txBody>
          <a:bodyPr wrap="square" rtlCol="0" anchor="ctr"/>
          <a:lstStyle/>
          <a:p>
            <a:pPr marL="0" indent="0">
              <a:buNone/>
            </a:pPr>
            <a:endParaRPr lang="en-US" dirty="0"/>
          </a:p>
        </p:txBody>
      </p:sp>
      <p:sp>
        <p:nvSpPr>
          <p:cNvPr id="3" name="Text 1"/>
          <p:cNvSpPr/>
          <p:nvPr/>
        </p:nvSpPr>
        <p:spPr>
          <a:xfrm>
            <a:off x="0" y="5067300"/>
            <a:ext cx="9144000" cy="76200"/>
          </a:xfrm>
          <a:prstGeom prst="rect">
            <a:avLst/>
          </a:prstGeom>
          <a:solidFill>
            <a:srgbClr val="44546A"/>
          </a:solidFill>
        </p:spPr>
        <p:txBody>
          <a:bodyPr wrap="square" rtlCol="0" anchor="ctr"/>
          <a:lstStyle/>
          <a:p>
            <a:pPr marL="0" indent="0">
              <a:buNone/>
            </a:pPr>
            <a:endParaRPr lang="en-US" dirty="0"/>
          </a:p>
        </p:txBody>
      </p:sp>
      <p:sp>
        <p:nvSpPr>
          <p:cNvPr id="4" name="Text 2"/>
          <p:cNvSpPr/>
          <p:nvPr/>
        </p:nvSpPr>
        <p:spPr>
          <a:xfrm>
            <a:off x="7366099" y="76200"/>
            <a:ext cx="1777901" cy="355550"/>
          </a:xfrm>
          <a:prstGeom prst="rect">
            <a:avLst/>
          </a:prstGeom>
          <a:solidFill>
            <a:srgbClr val="44546A"/>
          </a:solidFill>
        </p:spPr>
        <p:txBody>
          <a:bodyPr wrap="square" rtlCol="0" anchor="ctr"/>
          <a:lstStyle/>
          <a:p>
            <a:pPr marL="0" indent="0">
              <a:buNone/>
            </a:pPr>
            <a:endParaRPr lang="en-US" dirty="0"/>
          </a:p>
        </p:txBody>
      </p:sp>
      <p:sp>
        <p:nvSpPr>
          <p:cNvPr id="5" name="Text 3"/>
          <p:cNvSpPr/>
          <p:nvPr/>
        </p:nvSpPr>
        <p:spPr>
          <a:xfrm>
            <a:off x="7661077" y="187226"/>
            <a:ext cx="1211553" cy="133350"/>
          </a:xfrm>
          <a:prstGeom prst="rect">
            <a:avLst/>
          </a:prstGeom>
          <a:noFill/>
        </p:spPr>
        <p:txBody>
          <a:bodyPr wrap="square" lIns="0" tIns="0" rIns="0" bIns="0" rtlCol="0" anchor="t"/>
          <a:lstStyle/>
          <a:p>
            <a:pPr marL="0" indent="0" algn="l">
              <a:buNone/>
            </a:pPr>
            <a:r>
              <a:rPr lang="en-US" sz="900" b="1" dirty="0">
                <a:solidFill>
                  <a:srgbClr val="FFFFFF"/>
                </a:solidFill>
                <a:latin typeface="Arial" panose="020B0604020202090204" pitchFamily="34" charset="0"/>
                <a:ea typeface="Arial" panose="020B0604020202090204" pitchFamily="34" charset="-122"/>
                <a:cs typeface="Arial" panose="020B0604020202090204" pitchFamily="34" charset="-120"/>
              </a:rPr>
              <a:t>REPHRASE PIPELINE</a:t>
            </a:r>
            <a:endParaRPr lang="en-US" sz="900" dirty="0"/>
          </a:p>
        </p:txBody>
      </p:sp>
      <p:sp>
        <p:nvSpPr>
          <p:cNvPr id="6" name="Text 4"/>
          <p:cNvSpPr/>
          <p:nvPr/>
        </p:nvSpPr>
        <p:spPr>
          <a:xfrm>
            <a:off x="304800" y="177701"/>
            <a:ext cx="7124649" cy="295275"/>
          </a:xfrm>
          <a:prstGeom prst="rect">
            <a:avLst/>
          </a:prstGeom>
          <a:noFill/>
        </p:spPr>
        <p:txBody>
          <a:bodyPr wrap="square" lIns="0" tIns="0" rIns="0" bIns="0" rtlCol="0" anchor="t"/>
          <a:lstStyle/>
          <a:p>
            <a:pPr marL="0" indent="0" algn="l">
              <a:buNone/>
            </a:pPr>
            <a:r>
              <a:rPr lang="en-US" sz="2000" b="1" dirty="0">
                <a:solidFill>
                  <a:srgbClr val="44546A"/>
                </a:solidFill>
                <a:latin typeface="Arial" panose="020B0604020202090204" pitchFamily="34" charset="0"/>
                <a:ea typeface="Arial" panose="020B0604020202090204" pitchFamily="34" charset="-122"/>
                <a:cs typeface="Arial" panose="020B0604020202090204" pitchFamily="34" charset="-120"/>
              </a:rPr>
              <a:t>Proposal Rephrasing: Two-Step AI Pipeline</a:t>
            </a:r>
            <a:endParaRPr lang="en-US" sz="2000" dirty="0"/>
          </a:p>
        </p:txBody>
      </p:sp>
      <p:sp>
        <p:nvSpPr>
          <p:cNvPr id="7" name="Text 5"/>
          <p:cNvSpPr/>
          <p:nvPr/>
        </p:nvSpPr>
        <p:spPr>
          <a:xfrm>
            <a:off x="304800" y="498277"/>
            <a:ext cx="7124649" cy="152400"/>
          </a:xfrm>
          <a:prstGeom prst="rect">
            <a:avLst/>
          </a:prstGeom>
          <a:noFill/>
        </p:spPr>
        <p:txBody>
          <a:bodyPr wrap="square" lIns="0" tIns="0" rIns="0" bIns="0" rtlCol="0" anchor="t"/>
          <a:lstStyle/>
          <a:p>
            <a:pPr marL="0" indent="0" algn="l">
              <a:spcBef>
                <a:spcPts val="200"/>
              </a:spcBef>
              <a:buNone/>
            </a:pPr>
            <a:r>
              <a:rPr lang="en-US" sz="1100" dirty="0">
                <a:solidFill>
                  <a:srgbClr val="4472C4"/>
                </a:solidFill>
                <a:latin typeface="Arial" panose="020B0604020202090204" pitchFamily="34" charset="0"/>
                <a:ea typeface="Arial" panose="020B0604020202090204" pitchFamily="34" charset="-122"/>
                <a:cs typeface="Arial" panose="020B0604020202090204" pitchFamily="34" charset="-120"/>
              </a:rPr>
              <a:t>Gemini Flash extracts semantic facts then fills a fixed template, aiming to remove all stylistic fingerprints</a:t>
            </a:r>
            <a:endParaRPr lang="en-US" sz="1100" dirty="0"/>
          </a:p>
        </p:txBody>
      </p:sp>
      <p:sp>
        <p:nvSpPr>
          <p:cNvPr id="8" name="Text 6"/>
          <p:cNvSpPr/>
          <p:nvPr/>
        </p:nvSpPr>
        <p:spPr>
          <a:xfrm>
            <a:off x="304800" y="711101"/>
            <a:ext cx="8534400" cy="25301"/>
          </a:xfrm>
          <a:prstGeom prst="rect">
            <a:avLst/>
          </a:prstGeom>
          <a:solidFill>
            <a:srgbClr val="4472C4"/>
          </a:solidFill>
        </p:spPr>
        <p:txBody>
          <a:bodyPr wrap="square" rtlCol="0" anchor="ctr"/>
          <a:lstStyle/>
          <a:p>
            <a:pPr marL="0" indent="0">
              <a:buNone/>
            </a:pPr>
            <a:endParaRPr lang="en-US" dirty="0"/>
          </a:p>
        </p:txBody>
      </p:sp>
      <p:sp>
        <p:nvSpPr>
          <p:cNvPr id="9" name="Text 7"/>
          <p:cNvSpPr/>
          <p:nvPr/>
        </p:nvSpPr>
        <p:spPr>
          <a:xfrm>
            <a:off x="304800" y="838200"/>
            <a:ext cx="1631156" cy="1695301"/>
          </a:xfrm>
          <a:prstGeom prst="roundRect">
            <a:avLst>
              <a:gd name="adj" fmla="val 4672"/>
            </a:avLst>
          </a:prstGeom>
          <a:solidFill>
            <a:srgbClr val="E7E6E6"/>
          </a:solidFill>
        </p:spPr>
        <p:txBody>
          <a:bodyPr wrap="square" rtlCol="0" anchor="ctr"/>
          <a:lstStyle/>
          <a:p>
            <a:pPr marL="0" indent="0">
              <a:buNone/>
            </a:pPr>
            <a:endParaRPr lang="en-US" dirty="0"/>
          </a:p>
        </p:txBody>
      </p:sp>
      <p:sp>
        <p:nvSpPr>
          <p:cNvPr id="10" name="Shape 8"/>
          <p:cNvSpPr/>
          <p:nvPr/>
        </p:nvSpPr>
        <p:spPr>
          <a:xfrm>
            <a:off x="328613" y="838200"/>
            <a:ext cx="0" cy="1695301"/>
          </a:xfrm>
          <a:prstGeom prst="line">
            <a:avLst/>
          </a:prstGeom>
          <a:noFill/>
          <a:ln w="47625">
            <a:solidFill>
              <a:srgbClr val="A5A5A5"/>
            </a:solidFill>
            <a:prstDash val="solid"/>
          </a:ln>
        </p:spPr>
      </p:sp>
      <p:sp>
        <p:nvSpPr>
          <p:cNvPr id="11" name="Text 9"/>
          <p:cNvSpPr/>
          <p:nvPr/>
        </p:nvSpPr>
        <p:spPr>
          <a:xfrm>
            <a:off x="504825" y="965150"/>
            <a:ext cx="1304306" cy="114300"/>
          </a:xfrm>
          <a:prstGeom prst="rect">
            <a:avLst/>
          </a:prstGeom>
          <a:noFill/>
        </p:spPr>
        <p:txBody>
          <a:bodyPr wrap="square" lIns="0" tIns="0" rIns="0" bIns="0" rtlCol="0" anchor="t"/>
          <a:lstStyle/>
          <a:p>
            <a:pPr marL="0" indent="0" algn="l">
              <a:spcAft>
                <a:spcPts val="300"/>
              </a:spcAft>
              <a:buNone/>
            </a:pPr>
            <a:r>
              <a:rPr lang="en-US" sz="800" b="1" dirty="0">
                <a:solidFill>
                  <a:srgbClr val="666666"/>
                </a:solidFill>
                <a:latin typeface="Arial" panose="020B0604020202090204" pitchFamily="34" charset="0"/>
                <a:ea typeface="Arial" panose="020B0604020202090204" pitchFamily="34" charset="-122"/>
                <a:cs typeface="Arial" panose="020B0604020202090204" pitchFamily="34" charset="-120"/>
              </a:rPr>
              <a:t>INPUT</a:t>
            </a:r>
            <a:endParaRPr lang="en-US" sz="800" dirty="0"/>
          </a:p>
        </p:txBody>
      </p:sp>
      <p:sp>
        <p:nvSpPr>
          <p:cNvPr id="12" name="Text 10"/>
          <p:cNvSpPr/>
          <p:nvPr/>
        </p:nvSpPr>
        <p:spPr>
          <a:xfrm>
            <a:off x="504825" y="1117550"/>
            <a:ext cx="1304306" cy="152400"/>
          </a:xfrm>
          <a:prstGeom prst="rect">
            <a:avLst/>
          </a:prstGeom>
          <a:noFill/>
        </p:spPr>
        <p:txBody>
          <a:bodyPr wrap="square" lIns="0" tIns="0" rIns="0" bIns="0" rtlCol="0" anchor="t"/>
          <a:lstStyle/>
          <a:p>
            <a:pPr marL="0" indent="0" algn="l">
              <a:spcAft>
                <a:spcPts val="400"/>
              </a:spcAft>
              <a:buNone/>
            </a:pPr>
            <a:r>
              <a:rPr lang="en-US" sz="1100" b="1" dirty="0">
                <a:solidFill>
                  <a:srgbClr val="44546A"/>
                </a:solidFill>
                <a:latin typeface="Arial" panose="020B0604020202090204" pitchFamily="34" charset="0"/>
                <a:ea typeface="Arial" panose="020B0604020202090204" pitchFamily="34" charset="-122"/>
                <a:cs typeface="Arial" panose="020B0604020202090204" pitchFamily="34" charset="-120"/>
              </a:rPr>
              <a:t>Original Proposal</a:t>
            </a:r>
            <a:endParaRPr lang="en-US" sz="1100" dirty="0"/>
          </a:p>
        </p:txBody>
      </p:sp>
      <p:sp>
        <p:nvSpPr>
          <p:cNvPr id="13" name="Text 11"/>
          <p:cNvSpPr/>
          <p:nvPr/>
        </p:nvSpPr>
        <p:spPr>
          <a:xfrm>
            <a:off x="504825" y="1320701"/>
            <a:ext cx="1304306" cy="66675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Full text (AI: 6 fields; Human: abstract + full draft). Variable length, structure, and style per author group.</a:t>
            </a:r>
            <a:endParaRPr lang="en-US" sz="900" dirty="0"/>
          </a:p>
        </p:txBody>
      </p:sp>
      <p:sp>
        <p:nvSpPr>
          <p:cNvPr id="14" name="Text 12"/>
          <p:cNvSpPr/>
          <p:nvPr/>
        </p:nvSpPr>
        <p:spPr>
          <a:xfrm>
            <a:off x="2062758" y="1566714"/>
            <a:ext cx="207365" cy="238125"/>
          </a:xfrm>
          <a:prstGeom prst="rect">
            <a:avLst/>
          </a:prstGeom>
          <a:noFill/>
        </p:spPr>
        <p:txBody>
          <a:bodyPr wrap="square" lIns="0" tIns="0" rIns="0" bIns="0" rtlCol="0" anchor="t"/>
          <a:lstStyle/>
          <a:p>
            <a:pPr marL="0" indent="0" algn="l">
              <a:buNone/>
            </a:pPr>
            <a:r>
              <a:rPr lang="en-US" sz="1600" b="1" dirty="0">
                <a:solidFill>
                  <a:srgbClr val="4472C4"/>
                </a:solidFill>
                <a:latin typeface="Arial" panose="020B0604020202090204" pitchFamily="34" charset="0"/>
                <a:ea typeface="Arial" panose="020B0604020202090204" pitchFamily="34" charset="-122"/>
                <a:cs typeface="Arial" panose="020B0604020202090204" pitchFamily="34" charset="-120"/>
              </a:rPr>
              <a:t>→</a:t>
            </a:r>
            <a:endParaRPr lang="en-US" sz="1600" dirty="0"/>
          </a:p>
        </p:txBody>
      </p:sp>
      <p:sp>
        <p:nvSpPr>
          <p:cNvPr id="15" name="Text 13"/>
          <p:cNvSpPr/>
          <p:nvPr/>
        </p:nvSpPr>
        <p:spPr>
          <a:xfrm>
            <a:off x="2392859" y="838200"/>
            <a:ext cx="1950690" cy="1695301"/>
          </a:xfrm>
          <a:prstGeom prst="roundRect">
            <a:avLst>
              <a:gd name="adj" fmla="val 4495"/>
            </a:avLst>
          </a:prstGeom>
          <a:solidFill>
            <a:srgbClr val="EEF2FA"/>
          </a:solidFill>
        </p:spPr>
        <p:txBody>
          <a:bodyPr wrap="square" rtlCol="0" anchor="ctr"/>
          <a:lstStyle/>
          <a:p>
            <a:pPr marL="0" indent="0">
              <a:buNone/>
            </a:pPr>
            <a:endParaRPr lang="en-US" dirty="0"/>
          </a:p>
        </p:txBody>
      </p:sp>
      <p:sp>
        <p:nvSpPr>
          <p:cNvPr id="16" name="Shape 14"/>
          <p:cNvSpPr/>
          <p:nvPr/>
        </p:nvSpPr>
        <p:spPr>
          <a:xfrm>
            <a:off x="2416671" y="838200"/>
            <a:ext cx="0" cy="1695301"/>
          </a:xfrm>
          <a:prstGeom prst="line">
            <a:avLst/>
          </a:prstGeom>
          <a:noFill/>
          <a:ln w="47625">
            <a:solidFill>
              <a:srgbClr val="4472C4"/>
            </a:solidFill>
            <a:prstDash val="solid"/>
          </a:ln>
        </p:spPr>
      </p:sp>
      <p:sp>
        <p:nvSpPr>
          <p:cNvPr id="17" name="Text 15"/>
          <p:cNvSpPr/>
          <p:nvPr/>
        </p:nvSpPr>
        <p:spPr>
          <a:xfrm>
            <a:off x="2592884" y="965150"/>
            <a:ext cx="1630231" cy="114300"/>
          </a:xfrm>
          <a:prstGeom prst="rect">
            <a:avLst/>
          </a:prstGeom>
          <a:noFill/>
        </p:spPr>
        <p:txBody>
          <a:bodyPr wrap="square" lIns="0" tIns="0" rIns="0" bIns="0" rtlCol="0" anchor="t"/>
          <a:lstStyle/>
          <a:p>
            <a:pPr marL="0" indent="0" algn="l">
              <a:spcAft>
                <a:spcPts val="300"/>
              </a:spcAft>
              <a:buNone/>
            </a:pPr>
            <a:r>
              <a:rPr lang="en-US" sz="800" b="1" dirty="0">
                <a:solidFill>
                  <a:srgbClr val="4472C4"/>
                </a:solidFill>
                <a:latin typeface="Arial" panose="020B0604020202090204" pitchFamily="34" charset="0"/>
                <a:ea typeface="Arial" panose="020B0604020202090204" pitchFamily="34" charset="-122"/>
                <a:cs typeface="Arial" panose="020B0604020202090204" pitchFamily="34" charset="-120"/>
              </a:rPr>
              <a:t>STEP 1: SUMMARIZE</a:t>
            </a:r>
            <a:endParaRPr lang="en-US" sz="800" dirty="0"/>
          </a:p>
        </p:txBody>
      </p:sp>
      <p:sp>
        <p:nvSpPr>
          <p:cNvPr id="18" name="Text 16"/>
          <p:cNvSpPr/>
          <p:nvPr/>
        </p:nvSpPr>
        <p:spPr>
          <a:xfrm>
            <a:off x="2592884" y="1117550"/>
            <a:ext cx="1630231" cy="152400"/>
          </a:xfrm>
          <a:prstGeom prst="rect">
            <a:avLst/>
          </a:prstGeom>
          <a:noFill/>
        </p:spPr>
        <p:txBody>
          <a:bodyPr wrap="square" lIns="0" tIns="0" rIns="0" bIns="0" rtlCol="0" anchor="t"/>
          <a:lstStyle/>
          <a:p>
            <a:pPr marL="0" indent="0" algn="l">
              <a:spcAft>
                <a:spcPts val="400"/>
              </a:spcAft>
              <a:buNone/>
            </a:pPr>
            <a:r>
              <a:rPr lang="en-US" sz="1100" b="1" dirty="0">
                <a:solidFill>
                  <a:srgbClr val="4472C4"/>
                </a:solidFill>
                <a:latin typeface="Arial" panose="020B0604020202090204" pitchFamily="34" charset="0"/>
                <a:ea typeface="Arial" panose="020B0604020202090204" pitchFamily="34" charset="-122"/>
                <a:cs typeface="Arial" panose="020B0604020202090204" pitchFamily="34" charset="-120"/>
              </a:rPr>
              <a:t>Extract Semantic Facts</a:t>
            </a:r>
            <a:endParaRPr lang="en-US" sz="1100" dirty="0"/>
          </a:p>
        </p:txBody>
      </p:sp>
      <p:sp>
        <p:nvSpPr>
          <p:cNvPr id="19" name="Text 17"/>
          <p:cNvSpPr/>
          <p:nvPr/>
        </p:nvSpPr>
        <p:spPr>
          <a:xfrm>
            <a:off x="2592884" y="1320701"/>
            <a:ext cx="1630231" cy="93345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15 structured fact categories extracted as plain declarative statements. Strips sentence rhythms, punctuation habits, vocabulary, hedging, and rhetorical framing. Output is style-free numbered fact list.</a:t>
            </a:r>
            <a:endParaRPr lang="en-US" sz="900" dirty="0"/>
          </a:p>
        </p:txBody>
      </p:sp>
      <p:sp>
        <p:nvSpPr>
          <p:cNvPr id="20" name="Text 18"/>
          <p:cNvSpPr/>
          <p:nvPr/>
        </p:nvSpPr>
        <p:spPr>
          <a:xfrm>
            <a:off x="4470350" y="1566714"/>
            <a:ext cx="207365" cy="238125"/>
          </a:xfrm>
          <a:prstGeom prst="rect">
            <a:avLst/>
          </a:prstGeom>
          <a:noFill/>
        </p:spPr>
        <p:txBody>
          <a:bodyPr wrap="square" lIns="0" tIns="0" rIns="0" bIns="0" rtlCol="0" anchor="t"/>
          <a:lstStyle/>
          <a:p>
            <a:pPr marL="0" indent="0" algn="l">
              <a:buNone/>
            </a:pPr>
            <a:r>
              <a:rPr lang="en-US" sz="1600" b="1" dirty="0">
                <a:solidFill>
                  <a:srgbClr val="4472C4"/>
                </a:solidFill>
                <a:latin typeface="Arial" panose="020B0604020202090204" pitchFamily="34" charset="0"/>
                <a:ea typeface="Arial" panose="020B0604020202090204" pitchFamily="34" charset="-122"/>
                <a:cs typeface="Arial" panose="020B0604020202090204" pitchFamily="34" charset="-120"/>
              </a:rPr>
              <a:t>→</a:t>
            </a:r>
            <a:endParaRPr lang="en-US" sz="1600" dirty="0"/>
          </a:p>
        </p:txBody>
      </p:sp>
      <p:sp>
        <p:nvSpPr>
          <p:cNvPr id="21" name="Text 19"/>
          <p:cNvSpPr/>
          <p:nvPr/>
        </p:nvSpPr>
        <p:spPr>
          <a:xfrm>
            <a:off x="4800451" y="838200"/>
            <a:ext cx="1950690" cy="1695301"/>
          </a:xfrm>
          <a:prstGeom prst="roundRect">
            <a:avLst>
              <a:gd name="adj" fmla="val 4495"/>
            </a:avLst>
          </a:prstGeom>
          <a:solidFill>
            <a:srgbClr val="FEF4EC"/>
          </a:solidFill>
        </p:spPr>
        <p:txBody>
          <a:bodyPr wrap="square" rtlCol="0" anchor="ctr"/>
          <a:lstStyle/>
          <a:p>
            <a:pPr marL="0" indent="0">
              <a:buNone/>
            </a:pPr>
            <a:endParaRPr lang="en-US" dirty="0"/>
          </a:p>
        </p:txBody>
      </p:sp>
      <p:sp>
        <p:nvSpPr>
          <p:cNvPr id="22" name="Shape 20"/>
          <p:cNvSpPr/>
          <p:nvPr/>
        </p:nvSpPr>
        <p:spPr>
          <a:xfrm>
            <a:off x="4824264" y="838200"/>
            <a:ext cx="0" cy="1695301"/>
          </a:xfrm>
          <a:prstGeom prst="line">
            <a:avLst/>
          </a:prstGeom>
          <a:noFill/>
          <a:ln w="47625">
            <a:solidFill>
              <a:srgbClr val="ED7D31"/>
            </a:solidFill>
            <a:prstDash val="solid"/>
          </a:ln>
        </p:spPr>
      </p:sp>
      <p:sp>
        <p:nvSpPr>
          <p:cNvPr id="23" name="Text 21"/>
          <p:cNvSpPr/>
          <p:nvPr/>
        </p:nvSpPr>
        <p:spPr>
          <a:xfrm>
            <a:off x="5000476" y="965150"/>
            <a:ext cx="1630231" cy="114300"/>
          </a:xfrm>
          <a:prstGeom prst="rect">
            <a:avLst/>
          </a:prstGeom>
          <a:noFill/>
        </p:spPr>
        <p:txBody>
          <a:bodyPr wrap="square" lIns="0" tIns="0" rIns="0" bIns="0" rtlCol="0" anchor="t"/>
          <a:lstStyle/>
          <a:p>
            <a:pPr marL="0" indent="0" algn="l">
              <a:spcAft>
                <a:spcPts val="300"/>
              </a:spcAft>
              <a:buNone/>
            </a:pPr>
            <a:r>
              <a:rPr lang="en-US" sz="800" b="1" dirty="0">
                <a:solidFill>
                  <a:srgbClr val="ED7D31"/>
                </a:solidFill>
                <a:latin typeface="Arial" panose="020B0604020202090204" pitchFamily="34" charset="0"/>
                <a:ea typeface="Arial" panose="020B0604020202090204" pitchFamily="34" charset="-122"/>
                <a:cs typeface="Arial" panose="020B0604020202090204" pitchFamily="34" charset="-120"/>
              </a:rPr>
              <a:t>STEP 2: FILL</a:t>
            </a:r>
            <a:endParaRPr lang="en-US" sz="800" dirty="0"/>
          </a:p>
        </p:txBody>
      </p:sp>
      <p:sp>
        <p:nvSpPr>
          <p:cNvPr id="24" name="Text 22"/>
          <p:cNvSpPr/>
          <p:nvPr/>
        </p:nvSpPr>
        <p:spPr>
          <a:xfrm>
            <a:off x="5000476" y="1117550"/>
            <a:ext cx="1630231" cy="304800"/>
          </a:xfrm>
          <a:prstGeom prst="rect">
            <a:avLst/>
          </a:prstGeom>
          <a:noFill/>
        </p:spPr>
        <p:txBody>
          <a:bodyPr wrap="square" lIns="0" tIns="0" rIns="0" bIns="0" rtlCol="0" anchor="t"/>
          <a:lstStyle/>
          <a:p>
            <a:pPr marL="0" indent="0" algn="l">
              <a:spcAft>
                <a:spcPts val="400"/>
              </a:spcAft>
              <a:buNone/>
            </a:pPr>
            <a:r>
              <a:rPr lang="en-US" sz="1100" b="1" dirty="0">
                <a:solidFill>
                  <a:srgbClr val="C55A11"/>
                </a:solidFill>
                <a:latin typeface="Arial" panose="020B0604020202090204" pitchFamily="34" charset="0"/>
                <a:ea typeface="Arial" panose="020B0604020202090204" pitchFamily="34" charset="-122"/>
                <a:cs typeface="Arial" panose="020B0604020202090204" pitchFamily="34" charset="-120"/>
              </a:rPr>
              <a:t>Generate Fixed Template</a:t>
            </a:r>
            <a:endParaRPr lang="en-US" sz="1100" dirty="0"/>
          </a:p>
        </p:txBody>
      </p:sp>
      <p:sp>
        <p:nvSpPr>
          <p:cNvPr id="25" name="Text 23"/>
          <p:cNvSpPr/>
          <p:nvPr/>
        </p:nvSpPr>
        <p:spPr>
          <a:xfrm>
            <a:off x="5000476" y="1473101"/>
            <a:ext cx="1630231" cy="93345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Template prose written from facts only — output style is governed by strict formatting rules, not source patterns. Third-person neutral, declarative, controlled sentence count per section.</a:t>
            </a:r>
            <a:endParaRPr lang="en-US" sz="900" dirty="0"/>
          </a:p>
        </p:txBody>
      </p:sp>
      <p:sp>
        <p:nvSpPr>
          <p:cNvPr id="26" name="Text 24"/>
          <p:cNvSpPr/>
          <p:nvPr/>
        </p:nvSpPr>
        <p:spPr>
          <a:xfrm>
            <a:off x="6877943" y="1566714"/>
            <a:ext cx="207365" cy="238125"/>
          </a:xfrm>
          <a:prstGeom prst="rect">
            <a:avLst/>
          </a:prstGeom>
          <a:noFill/>
        </p:spPr>
        <p:txBody>
          <a:bodyPr wrap="square" lIns="0" tIns="0" rIns="0" bIns="0" rtlCol="0" anchor="t"/>
          <a:lstStyle/>
          <a:p>
            <a:pPr marL="0" indent="0" algn="l">
              <a:buNone/>
            </a:pPr>
            <a:r>
              <a:rPr lang="en-US" sz="1600" b="1" dirty="0">
                <a:solidFill>
                  <a:srgbClr val="4472C4"/>
                </a:solidFill>
                <a:latin typeface="Arial" panose="020B0604020202090204" pitchFamily="34" charset="0"/>
                <a:ea typeface="Arial" panose="020B0604020202090204" pitchFamily="34" charset="-122"/>
                <a:cs typeface="Arial" panose="020B0604020202090204" pitchFamily="34" charset="-120"/>
              </a:rPr>
              <a:t>→</a:t>
            </a:r>
            <a:endParaRPr lang="en-US" sz="1600" dirty="0"/>
          </a:p>
        </p:txBody>
      </p:sp>
      <p:sp>
        <p:nvSpPr>
          <p:cNvPr id="27" name="Text 25"/>
          <p:cNvSpPr/>
          <p:nvPr/>
        </p:nvSpPr>
        <p:spPr>
          <a:xfrm>
            <a:off x="7208044" y="838200"/>
            <a:ext cx="1631156" cy="1695301"/>
          </a:xfrm>
          <a:prstGeom prst="roundRect">
            <a:avLst>
              <a:gd name="adj" fmla="val 4672"/>
            </a:avLst>
          </a:prstGeom>
          <a:solidFill>
            <a:srgbClr val="EEF6E8"/>
          </a:solidFill>
        </p:spPr>
        <p:txBody>
          <a:bodyPr wrap="square" rtlCol="0" anchor="ctr"/>
          <a:lstStyle/>
          <a:p>
            <a:pPr marL="0" indent="0">
              <a:buNone/>
            </a:pPr>
            <a:endParaRPr lang="en-US" dirty="0"/>
          </a:p>
        </p:txBody>
      </p:sp>
      <p:sp>
        <p:nvSpPr>
          <p:cNvPr id="28" name="Shape 26"/>
          <p:cNvSpPr/>
          <p:nvPr/>
        </p:nvSpPr>
        <p:spPr>
          <a:xfrm>
            <a:off x="7231856" y="838200"/>
            <a:ext cx="0" cy="1695301"/>
          </a:xfrm>
          <a:prstGeom prst="line">
            <a:avLst/>
          </a:prstGeom>
          <a:noFill/>
          <a:ln w="47625">
            <a:solidFill>
              <a:srgbClr val="70AD47"/>
            </a:solidFill>
            <a:prstDash val="solid"/>
          </a:ln>
        </p:spPr>
      </p:sp>
      <p:sp>
        <p:nvSpPr>
          <p:cNvPr id="29" name="Text 27"/>
          <p:cNvSpPr/>
          <p:nvPr/>
        </p:nvSpPr>
        <p:spPr>
          <a:xfrm>
            <a:off x="7408069" y="965150"/>
            <a:ext cx="1304306" cy="114300"/>
          </a:xfrm>
          <a:prstGeom prst="rect">
            <a:avLst/>
          </a:prstGeom>
          <a:noFill/>
        </p:spPr>
        <p:txBody>
          <a:bodyPr wrap="square" lIns="0" tIns="0" rIns="0" bIns="0" rtlCol="0" anchor="t"/>
          <a:lstStyle/>
          <a:p>
            <a:pPr marL="0" indent="0" algn="l">
              <a:spcAft>
                <a:spcPts val="300"/>
              </a:spcAft>
              <a:buNone/>
            </a:pPr>
            <a:r>
              <a:rPr lang="en-US" sz="800" b="1" dirty="0">
                <a:solidFill>
                  <a:srgbClr val="70AD47"/>
                </a:solidFill>
                <a:latin typeface="Arial" panose="020B0604020202090204" pitchFamily="34" charset="0"/>
                <a:ea typeface="Arial" panose="020B0604020202090204" pitchFamily="34" charset="-122"/>
                <a:cs typeface="Arial" panose="020B0604020202090204" pitchFamily="34" charset="-120"/>
              </a:rPr>
              <a:t>OUTPUT</a:t>
            </a:r>
            <a:endParaRPr lang="en-US" sz="800" dirty="0"/>
          </a:p>
        </p:txBody>
      </p:sp>
      <p:sp>
        <p:nvSpPr>
          <p:cNvPr id="30" name="Text 28"/>
          <p:cNvSpPr/>
          <p:nvPr/>
        </p:nvSpPr>
        <p:spPr>
          <a:xfrm>
            <a:off x="7408069" y="1117550"/>
            <a:ext cx="1304306" cy="304800"/>
          </a:xfrm>
          <a:prstGeom prst="rect">
            <a:avLst/>
          </a:prstGeom>
          <a:noFill/>
        </p:spPr>
        <p:txBody>
          <a:bodyPr wrap="square" lIns="0" tIns="0" rIns="0" bIns="0" rtlCol="0" anchor="t"/>
          <a:lstStyle/>
          <a:p>
            <a:pPr marL="0" indent="0" algn="l">
              <a:spcAft>
                <a:spcPts val="400"/>
              </a:spcAft>
              <a:buNone/>
            </a:pPr>
            <a:r>
              <a:rPr lang="en-US" sz="1100" b="1" dirty="0">
                <a:solidFill>
                  <a:srgbClr val="385C1F"/>
                </a:solidFill>
                <a:latin typeface="Arial" panose="020B0604020202090204" pitchFamily="34" charset="0"/>
                <a:ea typeface="Arial" panose="020B0604020202090204" pitchFamily="34" charset="-122"/>
                <a:cs typeface="Arial" panose="020B0604020202090204" pitchFamily="34" charset="-120"/>
              </a:rPr>
              <a:t>Standardized Proposal</a:t>
            </a:r>
            <a:endParaRPr lang="en-US" sz="1100" dirty="0"/>
          </a:p>
        </p:txBody>
      </p:sp>
      <p:sp>
        <p:nvSpPr>
          <p:cNvPr id="31" name="Text 29"/>
          <p:cNvSpPr/>
          <p:nvPr/>
        </p:nvSpPr>
        <p:spPr>
          <a:xfrm>
            <a:off x="7408069" y="1473101"/>
            <a:ext cx="1304306" cy="53340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~2,200 chars (uniform across all 92 proposals). Identical structure, register, and format.</a:t>
            </a:r>
            <a:endParaRPr lang="en-US" sz="900" dirty="0"/>
          </a:p>
        </p:txBody>
      </p:sp>
      <p:sp>
        <p:nvSpPr>
          <p:cNvPr id="32" name="Text 30"/>
          <p:cNvSpPr/>
          <p:nvPr/>
        </p:nvSpPr>
        <p:spPr>
          <a:xfrm>
            <a:off x="304800" y="2635002"/>
            <a:ext cx="1625650" cy="704850"/>
          </a:xfrm>
          <a:prstGeom prst="roundRect">
            <a:avLst>
              <a:gd name="adj" fmla="val 7207"/>
            </a:avLst>
          </a:prstGeom>
          <a:solidFill>
            <a:srgbClr val="F4F4F4"/>
          </a:solidFill>
          <a:ln w="9525">
            <a:solidFill>
              <a:srgbClr val="CCCCCC"/>
            </a:solidFill>
          </a:ln>
        </p:spPr>
        <p:txBody>
          <a:bodyPr wrap="square" rtlCol="0" anchor="ctr"/>
          <a:lstStyle/>
          <a:p>
            <a:pPr marL="0" indent="0">
              <a:buNone/>
            </a:pPr>
            <a:endParaRPr lang="en-US" dirty="0"/>
          </a:p>
        </p:txBody>
      </p:sp>
      <p:sp>
        <p:nvSpPr>
          <p:cNvPr id="33" name="Text 31"/>
          <p:cNvSpPr/>
          <p:nvPr/>
        </p:nvSpPr>
        <p:spPr>
          <a:xfrm>
            <a:off x="415826" y="2720727"/>
            <a:ext cx="1431670" cy="266700"/>
          </a:xfrm>
          <a:prstGeom prst="rect">
            <a:avLst/>
          </a:prstGeom>
          <a:noFill/>
        </p:spPr>
        <p:txBody>
          <a:bodyPr wrap="square" lIns="0" tIns="0" rIns="0" bIns="0" rtlCol="0" anchor="t"/>
          <a:lstStyle/>
          <a:p>
            <a:pPr marL="0" indent="0" algn="l">
              <a:buNone/>
            </a:pPr>
            <a:r>
              <a:rPr lang="en-US" sz="950" b="1" dirty="0">
                <a:solidFill>
                  <a:srgbClr val="44546A"/>
                </a:solidFill>
                <a:latin typeface="Arial" panose="020B0604020202090204" pitchFamily="34" charset="0"/>
                <a:ea typeface="Arial" panose="020B0604020202090204" pitchFamily="34" charset="-122"/>
                <a:cs typeface="Arial" panose="020B0604020202090204" pitchFamily="34" charset="-120"/>
              </a:rPr>
              <a:t>Section 1 · Background (3 sentences)</a:t>
            </a:r>
            <a:endParaRPr lang="en-US" sz="950" dirty="0"/>
          </a:p>
        </p:txBody>
      </p:sp>
      <p:sp>
        <p:nvSpPr>
          <p:cNvPr id="34" name="Text 32"/>
          <p:cNvSpPr/>
          <p:nvPr/>
        </p:nvSpPr>
        <p:spPr>
          <a:xfrm>
            <a:off x="415826" y="2987427"/>
            <a:ext cx="1431670" cy="266700"/>
          </a:xfrm>
          <a:prstGeom prst="rect">
            <a:avLst/>
          </a:prstGeom>
          <a:noFill/>
        </p:spPr>
        <p:txBody>
          <a:bodyPr wrap="square" lIns="0" tIns="0" rIns="0" bIns="0" rtlCol="0" anchor="t"/>
          <a:lstStyle/>
          <a:p>
            <a:pPr marL="0" indent="0" algn="l">
              <a:buNone/>
            </a:pPr>
            <a:r>
              <a:rPr lang="en-US" sz="900" dirty="0">
                <a:solidFill>
                  <a:srgbClr val="333333"/>
                </a:solidFill>
                <a:latin typeface="Arial" panose="020B0604020202090204" pitchFamily="34" charset="0"/>
                <a:ea typeface="Arial" panose="020B0604020202090204" pitchFamily="34" charset="-122"/>
                <a:cs typeface="Arial" panose="020B0604020202090204" pitchFamily="34" charset="-120"/>
              </a:rPr>
              <a:t>Domain, gap, research question</a:t>
            </a:r>
            <a:endParaRPr lang="en-US" sz="900" dirty="0"/>
          </a:p>
        </p:txBody>
      </p:sp>
      <p:sp>
        <p:nvSpPr>
          <p:cNvPr id="35" name="Text 33"/>
          <p:cNvSpPr/>
          <p:nvPr/>
        </p:nvSpPr>
        <p:spPr>
          <a:xfrm>
            <a:off x="2031950" y="2635002"/>
            <a:ext cx="1625798" cy="704850"/>
          </a:xfrm>
          <a:prstGeom prst="roundRect">
            <a:avLst>
              <a:gd name="adj" fmla="val 7207"/>
            </a:avLst>
          </a:prstGeom>
          <a:solidFill>
            <a:srgbClr val="F4F4F4"/>
          </a:solidFill>
          <a:ln w="9525">
            <a:solidFill>
              <a:srgbClr val="CCCCCC"/>
            </a:solidFill>
          </a:ln>
        </p:spPr>
        <p:txBody>
          <a:bodyPr wrap="square" rtlCol="0" anchor="ctr"/>
          <a:lstStyle/>
          <a:p>
            <a:pPr marL="0" indent="0">
              <a:buNone/>
            </a:pPr>
            <a:endParaRPr lang="en-US" dirty="0"/>
          </a:p>
        </p:txBody>
      </p:sp>
      <p:sp>
        <p:nvSpPr>
          <p:cNvPr id="36" name="Text 34"/>
          <p:cNvSpPr/>
          <p:nvPr/>
        </p:nvSpPr>
        <p:spPr>
          <a:xfrm>
            <a:off x="2142976" y="2720727"/>
            <a:ext cx="1431822" cy="266700"/>
          </a:xfrm>
          <a:prstGeom prst="rect">
            <a:avLst/>
          </a:prstGeom>
          <a:noFill/>
        </p:spPr>
        <p:txBody>
          <a:bodyPr wrap="square" lIns="0" tIns="0" rIns="0" bIns="0" rtlCol="0" anchor="t"/>
          <a:lstStyle/>
          <a:p>
            <a:pPr marL="0" indent="0" algn="l">
              <a:buNone/>
            </a:pPr>
            <a:r>
              <a:rPr lang="en-US" sz="950" b="1" dirty="0">
                <a:solidFill>
                  <a:srgbClr val="44546A"/>
                </a:solidFill>
                <a:latin typeface="Arial" panose="020B0604020202090204" pitchFamily="34" charset="0"/>
                <a:ea typeface="Arial" panose="020B0604020202090204" pitchFamily="34" charset="-122"/>
                <a:cs typeface="Arial" panose="020B0604020202090204" pitchFamily="34" charset="-120"/>
              </a:rPr>
              <a:t>Section 2 · Methods (3 sentences)</a:t>
            </a:r>
            <a:endParaRPr lang="en-US" sz="950" dirty="0"/>
          </a:p>
        </p:txBody>
      </p:sp>
      <p:sp>
        <p:nvSpPr>
          <p:cNvPr id="37" name="Text 35"/>
          <p:cNvSpPr/>
          <p:nvPr/>
        </p:nvSpPr>
        <p:spPr>
          <a:xfrm>
            <a:off x="2142976" y="2987427"/>
            <a:ext cx="1431822" cy="266700"/>
          </a:xfrm>
          <a:prstGeom prst="rect">
            <a:avLst/>
          </a:prstGeom>
          <a:noFill/>
        </p:spPr>
        <p:txBody>
          <a:bodyPr wrap="square" lIns="0" tIns="0" rIns="0" bIns="0" rtlCol="0" anchor="t"/>
          <a:lstStyle/>
          <a:p>
            <a:pPr marL="0" indent="0" algn="l">
              <a:buNone/>
            </a:pPr>
            <a:r>
              <a:rPr lang="en-US" sz="900" dirty="0">
                <a:solidFill>
                  <a:srgbClr val="333333"/>
                </a:solidFill>
                <a:latin typeface="Arial" panose="020B0604020202090204" pitchFamily="34" charset="0"/>
                <a:ea typeface="Arial" panose="020B0604020202090204" pitchFamily="34" charset="-122"/>
                <a:cs typeface="Arial" panose="020B0604020202090204" pitchFamily="34" charset="-120"/>
              </a:rPr>
              <a:t>Study design, tools, validation</a:t>
            </a:r>
            <a:endParaRPr lang="en-US" sz="900" dirty="0"/>
          </a:p>
        </p:txBody>
      </p:sp>
      <p:sp>
        <p:nvSpPr>
          <p:cNvPr id="38" name="Text 36"/>
          <p:cNvSpPr/>
          <p:nvPr/>
        </p:nvSpPr>
        <p:spPr>
          <a:xfrm>
            <a:off x="3759250" y="2635002"/>
            <a:ext cx="1625650" cy="704850"/>
          </a:xfrm>
          <a:prstGeom prst="roundRect">
            <a:avLst>
              <a:gd name="adj" fmla="val 7207"/>
            </a:avLst>
          </a:prstGeom>
          <a:solidFill>
            <a:srgbClr val="F4F4F4"/>
          </a:solidFill>
          <a:ln w="9525">
            <a:solidFill>
              <a:srgbClr val="CCCCCC"/>
            </a:solidFill>
          </a:ln>
        </p:spPr>
        <p:txBody>
          <a:bodyPr wrap="square" rtlCol="0" anchor="ctr"/>
          <a:lstStyle/>
          <a:p>
            <a:pPr marL="0" indent="0">
              <a:buNone/>
            </a:pPr>
            <a:endParaRPr lang="en-US" dirty="0"/>
          </a:p>
        </p:txBody>
      </p:sp>
      <p:sp>
        <p:nvSpPr>
          <p:cNvPr id="39" name="Text 37"/>
          <p:cNvSpPr/>
          <p:nvPr/>
        </p:nvSpPr>
        <p:spPr>
          <a:xfrm>
            <a:off x="3870275" y="2720727"/>
            <a:ext cx="1431670" cy="266700"/>
          </a:xfrm>
          <a:prstGeom prst="rect">
            <a:avLst/>
          </a:prstGeom>
          <a:noFill/>
        </p:spPr>
        <p:txBody>
          <a:bodyPr wrap="square" lIns="0" tIns="0" rIns="0" bIns="0" rtlCol="0" anchor="t"/>
          <a:lstStyle/>
          <a:p>
            <a:pPr marL="0" indent="0" algn="l">
              <a:buNone/>
            </a:pPr>
            <a:r>
              <a:rPr lang="en-US" sz="950" b="1" dirty="0">
                <a:solidFill>
                  <a:srgbClr val="44546A"/>
                </a:solidFill>
                <a:latin typeface="Arial" panose="020B0604020202090204" pitchFamily="34" charset="0"/>
                <a:ea typeface="Arial" panose="020B0604020202090204" pitchFamily="34" charset="-122"/>
                <a:cs typeface="Arial" panose="020B0604020202090204" pitchFamily="34" charset="-120"/>
              </a:rPr>
              <a:t>Section 3 · Data Sources (3 sentences)</a:t>
            </a:r>
            <a:endParaRPr lang="en-US" sz="950" dirty="0"/>
          </a:p>
        </p:txBody>
      </p:sp>
      <p:sp>
        <p:nvSpPr>
          <p:cNvPr id="40" name="Text 38"/>
          <p:cNvSpPr/>
          <p:nvPr/>
        </p:nvSpPr>
        <p:spPr>
          <a:xfrm>
            <a:off x="3870275" y="2987427"/>
            <a:ext cx="1431670" cy="266700"/>
          </a:xfrm>
          <a:prstGeom prst="rect">
            <a:avLst/>
          </a:prstGeom>
          <a:noFill/>
        </p:spPr>
        <p:txBody>
          <a:bodyPr wrap="square" lIns="0" tIns="0" rIns="0" bIns="0" rtlCol="0" anchor="t"/>
          <a:lstStyle/>
          <a:p>
            <a:pPr marL="0" indent="0" algn="l">
              <a:buNone/>
            </a:pPr>
            <a:r>
              <a:rPr lang="en-US" sz="900" dirty="0">
                <a:solidFill>
                  <a:srgbClr val="333333"/>
                </a:solidFill>
                <a:latin typeface="Arial" panose="020B0604020202090204" pitchFamily="34" charset="0"/>
                <a:ea typeface="Arial" panose="020B0604020202090204" pitchFamily="34" charset="-122"/>
                <a:cs typeface="Arial" panose="020B0604020202090204" pitchFamily="34" charset="-120"/>
              </a:rPr>
              <a:t>Datasets, integration, limitations</a:t>
            </a:r>
            <a:endParaRPr lang="en-US" sz="900" dirty="0"/>
          </a:p>
        </p:txBody>
      </p:sp>
      <p:sp>
        <p:nvSpPr>
          <p:cNvPr id="41" name="Text 39"/>
          <p:cNvSpPr/>
          <p:nvPr/>
        </p:nvSpPr>
        <p:spPr>
          <a:xfrm>
            <a:off x="5486400" y="2635002"/>
            <a:ext cx="1625650" cy="704850"/>
          </a:xfrm>
          <a:prstGeom prst="roundRect">
            <a:avLst>
              <a:gd name="adj" fmla="val 7207"/>
            </a:avLst>
          </a:prstGeom>
          <a:solidFill>
            <a:srgbClr val="F4F4F4"/>
          </a:solidFill>
          <a:ln w="9525">
            <a:solidFill>
              <a:srgbClr val="CCCCCC"/>
            </a:solidFill>
          </a:ln>
        </p:spPr>
        <p:txBody>
          <a:bodyPr wrap="square" rtlCol="0" anchor="ctr"/>
          <a:lstStyle/>
          <a:p>
            <a:pPr marL="0" indent="0">
              <a:buNone/>
            </a:pPr>
            <a:endParaRPr lang="en-US" dirty="0"/>
          </a:p>
        </p:txBody>
      </p:sp>
      <p:sp>
        <p:nvSpPr>
          <p:cNvPr id="42" name="Text 40"/>
          <p:cNvSpPr/>
          <p:nvPr/>
        </p:nvSpPr>
        <p:spPr>
          <a:xfrm>
            <a:off x="5597426" y="2720727"/>
            <a:ext cx="1431670" cy="266700"/>
          </a:xfrm>
          <a:prstGeom prst="rect">
            <a:avLst/>
          </a:prstGeom>
          <a:noFill/>
        </p:spPr>
        <p:txBody>
          <a:bodyPr wrap="square" lIns="0" tIns="0" rIns="0" bIns="0" rtlCol="0" anchor="t"/>
          <a:lstStyle/>
          <a:p>
            <a:pPr marL="0" indent="0" algn="l">
              <a:buNone/>
            </a:pPr>
            <a:r>
              <a:rPr lang="en-US" sz="950" b="1" dirty="0">
                <a:solidFill>
                  <a:srgbClr val="44546A"/>
                </a:solidFill>
                <a:latin typeface="Arial" panose="020B0604020202090204" pitchFamily="34" charset="0"/>
                <a:ea typeface="Arial" panose="020B0604020202090204" pitchFamily="34" charset="-122"/>
                <a:cs typeface="Arial" panose="020B0604020202090204" pitchFamily="34" charset="-120"/>
              </a:rPr>
              <a:t>Section 4 · Feasibility (2 sentences)</a:t>
            </a:r>
            <a:endParaRPr lang="en-US" sz="950" dirty="0"/>
          </a:p>
        </p:txBody>
      </p:sp>
      <p:sp>
        <p:nvSpPr>
          <p:cNvPr id="43" name="Text 41"/>
          <p:cNvSpPr/>
          <p:nvPr/>
        </p:nvSpPr>
        <p:spPr>
          <a:xfrm>
            <a:off x="5597426" y="2987427"/>
            <a:ext cx="1431670" cy="266700"/>
          </a:xfrm>
          <a:prstGeom prst="rect">
            <a:avLst/>
          </a:prstGeom>
          <a:noFill/>
        </p:spPr>
        <p:txBody>
          <a:bodyPr wrap="square" lIns="0" tIns="0" rIns="0" bIns="0" rtlCol="0" anchor="t"/>
          <a:lstStyle/>
          <a:p>
            <a:pPr marL="0" indent="0" algn="l">
              <a:buNone/>
            </a:pPr>
            <a:r>
              <a:rPr lang="en-US" sz="900" dirty="0">
                <a:solidFill>
                  <a:srgbClr val="333333"/>
                </a:solidFill>
                <a:latin typeface="Arial" panose="020B0604020202090204" pitchFamily="34" charset="0"/>
                <a:ea typeface="Arial" panose="020B0604020202090204" pitchFamily="34" charset="-122"/>
                <a:cs typeface="Arial" panose="020B0604020202090204" pitchFamily="34" charset="-120"/>
              </a:rPr>
              <a:t>Timeline, collaboration rationale</a:t>
            </a:r>
            <a:endParaRPr lang="en-US" sz="900" dirty="0"/>
          </a:p>
        </p:txBody>
      </p:sp>
      <p:sp>
        <p:nvSpPr>
          <p:cNvPr id="44" name="Text 42"/>
          <p:cNvSpPr/>
          <p:nvPr/>
        </p:nvSpPr>
        <p:spPr>
          <a:xfrm>
            <a:off x="7213550" y="2635002"/>
            <a:ext cx="1625650" cy="704850"/>
          </a:xfrm>
          <a:prstGeom prst="roundRect">
            <a:avLst>
              <a:gd name="adj" fmla="val 7207"/>
            </a:avLst>
          </a:prstGeom>
          <a:solidFill>
            <a:srgbClr val="F4F4F4"/>
          </a:solidFill>
          <a:ln w="9525">
            <a:solidFill>
              <a:srgbClr val="CCCCCC"/>
            </a:solidFill>
          </a:ln>
        </p:spPr>
        <p:txBody>
          <a:bodyPr wrap="square" rtlCol="0" anchor="ctr"/>
          <a:lstStyle/>
          <a:p>
            <a:pPr marL="0" indent="0">
              <a:buNone/>
            </a:pPr>
            <a:endParaRPr lang="en-US" dirty="0"/>
          </a:p>
        </p:txBody>
      </p:sp>
      <p:sp>
        <p:nvSpPr>
          <p:cNvPr id="45" name="Text 43"/>
          <p:cNvSpPr/>
          <p:nvPr/>
        </p:nvSpPr>
        <p:spPr>
          <a:xfrm>
            <a:off x="7324576" y="2720727"/>
            <a:ext cx="1431670" cy="266700"/>
          </a:xfrm>
          <a:prstGeom prst="rect">
            <a:avLst/>
          </a:prstGeom>
          <a:noFill/>
        </p:spPr>
        <p:txBody>
          <a:bodyPr wrap="square" lIns="0" tIns="0" rIns="0" bIns="0" rtlCol="0" anchor="t"/>
          <a:lstStyle/>
          <a:p>
            <a:pPr marL="0" indent="0" algn="l">
              <a:buNone/>
            </a:pPr>
            <a:r>
              <a:rPr lang="en-US" sz="950" b="1" dirty="0">
                <a:solidFill>
                  <a:srgbClr val="44546A"/>
                </a:solidFill>
                <a:latin typeface="Arial" panose="020B0604020202090204" pitchFamily="34" charset="0"/>
                <a:ea typeface="Arial" panose="020B0604020202090204" pitchFamily="34" charset="-122"/>
                <a:cs typeface="Arial" panose="020B0604020202090204" pitchFamily="34" charset="-120"/>
              </a:rPr>
              <a:t>Section 5 · Open Science (2 sentences)</a:t>
            </a:r>
            <a:endParaRPr lang="en-US" sz="950" dirty="0"/>
          </a:p>
        </p:txBody>
      </p:sp>
      <p:sp>
        <p:nvSpPr>
          <p:cNvPr id="46" name="Text 44"/>
          <p:cNvSpPr/>
          <p:nvPr/>
        </p:nvSpPr>
        <p:spPr>
          <a:xfrm>
            <a:off x="7324576" y="2987427"/>
            <a:ext cx="1431670" cy="266700"/>
          </a:xfrm>
          <a:prstGeom prst="rect">
            <a:avLst/>
          </a:prstGeom>
          <a:noFill/>
        </p:spPr>
        <p:txBody>
          <a:bodyPr wrap="square" lIns="0" tIns="0" rIns="0" bIns="0" rtlCol="0" anchor="t"/>
          <a:lstStyle/>
          <a:p>
            <a:pPr marL="0" indent="0" algn="l">
              <a:buNone/>
            </a:pPr>
            <a:r>
              <a:rPr lang="en-US" sz="900" dirty="0">
                <a:solidFill>
                  <a:srgbClr val="333333"/>
                </a:solidFill>
                <a:latin typeface="Arial" panose="020B0604020202090204" pitchFamily="34" charset="0"/>
                <a:ea typeface="Arial" panose="020B0604020202090204" pitchFamily="34" charset="-122"/>
                <a:cs typeface="Arial" panose="020B0604020202090204" pitchFamily="34" charset="-120"/>
              </a:rPr>
              <a:t>Data sharing, team composition</a:t>
            </a:r>
            <a:endParaRPr lang="en-US" sz="900" dirty="0"/>
          </a:p>
        </p:txBody>
      </p:sp>
      <p:sp>
        <p:nvSpPr>
          <p:cNvPr id="47" name="Text 45"/>
          <p:cNvSpPr/>
          <p:nvPr/>
        </p:nvSpPr>
        <p:spPr>
          <a:xfrm>
            <a:off x="304800" y="3441353"/>
            <a:ext cx="8534400" cy="488752"/>
          </a:xfrm>
          <a:prstGeom prst="roundRect">
            <a:avLst>
              <a:gd name="adj" fmla="val 10394"/>
            </a:avLst>
          </a:prstGeom>
          <a:solidFill>
            <a:srgbClr val="FFFBE6"/>
          </a:solidFill>
          <a:ln w="9525">
            <a:solidFill>
              <a:srgbClr val="FFC000"/>
            </a:solidFill>
          </a:ln>
        </p:spPr>
        <p:txBody>
          <a:bodyPr wrap="square" rtlCol="0" anchor="ctr"/>
          <a:lstStyle/>
          <a:p>
            <a:pPr marL="0" indent="0">
              <a:buNone/>
            </a:pPr>
            <a:endParaRPr lang="en-US" dirty="0"/>
          </a:p>
        </p:txBody>
      </p:sp>
      <p:sp>
        <p:nvSpPr>
          <p:cNvPr id="48" name="Text 46"/>
          <p:cNvSpPr/>
          <p:nvPr/>
        </p:nvSpPr>
        <p:spPr>
          <a:xfrm>
            <a:off x="466725" y="3552379"/>
            <a:ext cx="8374761" cy="266700"/>
          </a:xfrm>
          <a:prstGeom prst="rect">
            <a:avLst/>
          </a:prstGeom>
          <a:noFill/>
        </p:spPr>
        <p:txBody>
          <a:bodyPr wrap="square" lIns="0" tIns="0" rIns="0" bIns="0" rtlCol="0" anchor="t"/>
          <a:lstStyle/>
          <a:p>
            <a:pPr marL="0" indent="0" algn="l">
              <a:buNone/>
            </a:pPr>
            <a:r>
              <a:rPr lang="en-US" sz="900" b="1" dirty="0">
                <a:solidFill>
                  <a:srgbClr val="444444"/>
                </a:solidFill>
                <a:latin typeface="Arial" panose="020B0604020202090204" pitchFamily="34" charset="0"/>
                <a:ea typeface="Arial" panose="020B0604020202090204" pitchFamily="34" charset="-122"/>
                <a:cs typeface="Arial" panose="020B0604020202090204" pitchFamily="34" charset="-120"/>
              </a:rPr>
              <a:t>Style rules enforced:</a:t>
            </a: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 Third-person neutral · Declarative-only (no hedging unless fact states uncertainty) · 18–22 word avg sentences · No bullet points · No serial commas · Acronym definitions on first use · Title rephrased to 8–15 words in noun-phrase format</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4472C4"/>
          </a:solidFill>
        </p:spPr>
        <p:txBody>
          <a:bodyPr wrap="square" rtlCol="0" anchor="ctr"/>
          <a:lstStyle/>
          <a:p>
            <a:pPr marL="0" indent="0">
              <a:buNone/>
            </a:pPr>
            <a:endParaRPr lang="en-US" dirty="0"/>
          </a:p>
        </p:txBody>
      </p:sp>
      <p:sp>
        <p:nvSpPr>
          <p:cNvPr id="3" name="Text 1"/>
          <p:cNvSpPr/>
          <p:nvPr/>
        </p:nvSpPr>
        <p:spPr>
          <a:xfrm>
            <a:off x="0" y="5067300"/>
            <a:ext cx="9144000" cy="76200"/>
          </a:xfrm>
          <a:prstGeom prst="rect">
            <a:avLst/>
          </a:prstGeom>
          <a:solidFill>
            <a:srgbClr val="44546A"/>
          </a:solidFill>
        </p:spPr>
        <p:txBody>
          <a:bodyPr wrap="square" rtlCol="0" anchor="ctr"/>
          <a:lstStyle/>
          <a:p>
            <a:pPr marL="0" indent="0">
              <a:buNone/>
            </a:pPr>
            <a:endParaRPr lang="en-US" dirty="0"/>
          </a:p>
        </p:txBody>
      </p:sp>
      <p:sp>
        <p:nvSpPr>
          <p:cNvPr id="4" name="Text 2"/>
          <p:cNvSpPr/>
          <p:nvPr/>
        </p:nvSpPr>
        <p:spPr>
          <a:xfrm>
            <a:off x="7620000" y="76200"/>
            <a:ext cx="1524000" cy="355550"/>
          </a:xfrm>
          <a:prstGeom prst="rect">
            <a:avLst/>
          </a:prstGeom>
          <a:solidFill>
            <a:srgbClr val="44546A"/>
          </a:solidFill>
        </p:spPr>
        <p:txBody>
          <a:bodyPr wrap="square" rtlCol="0" anchor="ctr"/>
          <a:lstStyle/>
          <a:p>
            <a:pPr marL="0" indent="0">
              <a:buNone/>
            </a:pPr>
            <a:endParaRPr lang="en-US" dirty="0"/>
          </a:p>
        </p:txBody>
      </p:sp>
      <p:sp>
        <p:nvSpPr>
          <p:cNvPr id="5" name="Text 3"/>
          <p:cNvSpPr/>
          <p:nvPr/>
        </p:nvSpPr>
        <p:spPr>
          <a:xfrm>
            <a:off x="8074968" y="187226"/>
            <a:ext cx="626346" cy="133350"/>
          </a:xfrm>
          <a:prstGeom prst="rect">
            <a:avLst/>
          </a:prstGeom>
          <a:noFill/>
        </p:spPr>
        <p:txBody>
          <a:bodyPr wrap="square" lIns="0" tIns="0" rIns="0" bIns="0" rtlCol="0" anchor="t"/>
          <a:lstStyle/>
          <a:p>
            <a:pPr marL="0" indent="0" algn="l">
              <a:buNone/>
            </a:pPr>
            <a:r>
              <a:rPr lang="en-US" sz="900" b="1" dirty="0">
                <a:solidFill>
                  <a:srgbClr val="FFFFFF"/>
                </a:solidFill>
                <a:latin typeface="Arial" panose="020B0604020202090204" pitchFamily="34" charset="0"/>
                <a:ea typeface="Arial" panose="020B0604020202090204" pitchFamily="34" charset="-122"/>
                <a:cs typeface="Arial" panose="020B0604020202090204" pitchFamily="34" charset="-120"/>
              </a:rPr>
              <a:t>OVERVIEW</a:t>
            </a:r>
            <a:endParaRPr lang="en-US" sz="900" dirty="0"/>
          </a:p>
        </p:txBody>
      </p:sp>
      <p:sp>
        <p:nvSpPr>
          <p:cNvPr id="6" name="Text 4"/>
          <p:cNvSpPr/>
          <p:nvPr/>
        </p:nvSpPr>
        <p:spPr>
          <a:xfrm>
            <a:off x="304800" y="177701"/>
            <a:ext cx="7124649" cy="295275"/>
          </a:xfrm>
          <a:prstGeom prst="rect">
            <a:avLst/>
          </a:prstGeom>
          <a:noFill/>
        </p:spPr>
        <p:txBody>
          <a:bodyPr wrap="square" lIns="0" tIns="0" rIns="0" bIns="0" rtlCol="0" anchor="t"/>
          <a:lstStyle/>
          <a:p>
            <a:pPr marL="0" indent="0" algn="l">
              <a:buNone/>
            </a:pPr>
            <a:r>
              <a:rPr lang="en-US" sz="2000" b="1" dirty="0">
                <a:solidFill>
                  <a:srgbClr val="44546A"/>
                </a:solidFill>
                <a:latin typeface="Arial" panose="020B0604020202090204" pitchFamily="34" charset="0"/>
                <a:ea typeface="Arial" panose="020B0604020202090204" pitchFamily="34" charset="-122"/>
                <a:cs typeface="Arial" panose="020B0604020202090204" pitchFamily="34" charset="-120"/>
              </a:rPr>
              <a:t>Analysis Overview</a:t>
            </a:r>
            <a:endParaRPr lang="en-US" sz="2000" dirty="0"/>
          </a:p>
        </p:txBody>
      </p:sp>
      <p:sp>
        <p:nvSpPr>
          <p:cNvPr id="7" name="Text 5"/>
          <p:cNvSpPr/>
          <p:nvPr/>
        </p:nvSpPr>
        <p:spPr>
          <a:xfrm>
            <a:off x="304800" y="498277"/>
            <a:ext cx="7124649" cy="152400"/>
          </a:xfrm>
          <a:prstGeom prst="rect">
            <a:avLst/>
          </a:prstGeom>
          <a:noFill/>
        </p:spPr>
        <p:txBody>
          <a:bodyPr wrap="square" lIns="0" tIns="0" rIns="0" bIns="0" rtlCol="0" anchor="t"/>
          <a:lstStyle/>
          <a:p>
            <a:pPr marL="0" indent="0" algn="l">
              <a:spcBef>
                <a:spcPts val="200"/>
              </a:spcBef>
              <a:buNone/>
            </a:pPr>
            <a:r>
              <a:rPr lang="en-US" sz="1100" dirty="0">
                <a:solidFill>
                  <a:srgbClr val="4472C4"/>
                </a:solidFill>
                <a:latin typeface="Arial" panose="020B0604020202090204" pitchFamily="34" charset="0"/>
                <a:ea typeface="Arial" panose="020B0604020202090204" pitchFamily="34" charset="-122"/>
                <a:cs typeface="Arial" panose="020B0604020202090204" pitchFamily="34" charset="-120"/>
              </a:rPr>
              <a:t>Data, methodology, and analysis structure for the style-controlled comparison</a:t>
            </a:r>
            <a:endParaRPr lang="en-US" sz="1100" dirty="0"/>
          </a:p>
        </p:txBody>
      </p:sp>
      <p:sp>
        <p:nvSpPr>
          <p:cNvPr id="8" name="Text 6"/>
          <p:cNvSpPr/>
          <p:nvPr/>
        </p:nvSpPr>
        <p:spPr>
          <a:xfrm>
            <a:off x="304800" y="711101"/>
            <a:ext cx="8534400" cy="25301"/>
          </a:xfrm>
          <a:prstGeom prst="rect">
            <a:avLst/>
          </a:prstGeom>
          <a:solidFill>
            <a:srgbClr val="4472C4"/>
          </a:solidFill>
        </p:spPr>
        <p:txBody>
          <a:bodyPr wrap="square" rtlCol="0" anchor="ctr"/>
          <a:lstStyle/>
          <a:p>
            <a:pPr marL="0" indent="0">
              <a:buNone/>
            </a:pPr>
            <a:endParaRPr lang="en-US" dirty="0"/>
          </a:p>
        </p:txBody>
      </p:sp>
      <p:sp>
        <p:nvSpPr>
          <p:cNvPr id="9" name="Text 7"/>
          <p:cNvSpPr/>
          <p:nvPr/>
        </p:nvSpPr>
        <p:spPr>
          <a:xfrm>
            <a:off x="304800" y="838200"/>
            <a:ext cx="2539901" cy="1990427"/>
          </a:xfrm>
          <a:prstGeom prst="roundRect">
            <a:avLst>
              <a:gd name="adj" fmla="val 3828"/>
            </a:avLst>
          </a:prstGeom>
          <a:solidFill>
            <a:srgbClr val="F4F4F4"/>
          </a:solidFill>
        </p:spPr>
        <p:txBody>
          <a:bodyPr wrap="square" rtlCol="0" anchor="ctr"/>
          <a:lstStyle/>
          <a:p>
            <a:pPr marL="0" indent="0">
              <a:buNone/>
            </a:pPr>
            <a:endParaRPr lang="en-US" dirty="0"/>
          </a:p>
        </p:txBody>
      </p:sp>
      <p:sp>
        <p:nvSpPr>
          <p:cNvPr id="10" name="Text 8"/>
          <p:cNvSpPr/>
          <p:nvPr/>
        </p:nvSpPr>
        <p:spPr>
          <a:xfrm>
            <a:off x="457200" y="990600"/>
            <a:ext cx="2279803" cy="142875"/>
          </a:xfrm>
          <a:prstGeom prst="rect">
            <a:avLst/>
          </a:prstGeom>
          <a:noFill/>
        </p:spPr>
        <p:txBody>
          <a:bodyPr wrap="square" lIns="0" tIns="0" rIns="0" bIns="0" rtlCol="0" anchor="t"/>
          <a:lstStyle/>
          <a:p>
            <a:pPr marL="0" indent="0" algn="l">
              <a:spcAft>
                <a:spcPts val="600"/>
              </a:spcAft>
              <a:buNone/>
            </a:pPr>
            <a:r>
              <a:rPr lang="en-US" sz="1000" b="1" dirty="0">
                <a:solidFill>
                  <a:srgbClr val="44546A"/>
                </a:solidFill>
                <a:latin typeface="Arial" panose="020B0604020202090204" pitchFamily="34" charset="0"/>
                <a:ea typeface="Arial" panose="020B0604020202090204" pitchFamily="34" charset="-122"/>
                <a:cs typeface="Arial" panose="020B0604020202090204" pitchFamily="34" charset="-120"/>
              </a:rPr>
              <a:t>Data (Rephrased)</a:t>
            </a:r>
            <a:endParaRPr lang="en-US" sz="1000" dirty="0"/>
          </a:p>
        </p:txBody>
      </p:sp>
      <p:sp>
        <p:nvSpPr>
          <p:cNvPr id="11" name="Text 9"/>
          <p:cNvSpPr/>
          <p:nvPr/>
        </p:nvSpPr>
        <p:spPr>
          <a:xfrm>
            <a:off x="457200" y="1209675"/>
            <a:ext cx="1066800" cy="653951"/>
          </a:xfrm>
          <a:prstGeom prst="roundRect">
            <a:avLst>
              <a:gd name="adj" fmla="val 7768"/>
            </a:avLst>
          </a:prstGeom>
          <a:solidFill>
            <a:srgbClr val="FFFFFF"/>
          </a:solidFill>
          <a:ln w="9525">
            <a:solidFill>
              <a:srgbClr val="CCCCCC"/>
            </a:solidFill>
          </a:ln>
        </p:spPr>
        <p:txBody>
          <a:bodyPr wrap="square" rtlCol="0" anchor="ctr"/>
          <a:lstStyle/>
          <a:p>
            <a:pPr marL="0" indent="0">
              <a:buNone/>
            </a:pPr>
            <a:endParaRPr lang="en-US" dirty="0"/>
          </a:p>
        </p:txBody>
      </p:sp>
      <p:sp>
        <p:nvSpPr>
          <p:cNvPr id="12" name="Text 10"/>
          <p:cNvSpPr/>
          <p:nvPr/>
        </p:nvSpPr>
        <p:spPr>
          <a:xfrm>
            <a:off x="559778" y="1295400"/>
            <a:ext cx="861643" cy="228600"/>
          </a:xfrm>
          <a:prstGeom prst="rect">
            <a:avLst/>
          </a:prstGeom>
          <a:noFill/>
        </p:spPr>
        <p:txBody>
          <a:bodyPr wrap="square" lIns="0" tIns="0" rIns="0" bIns="0" rtlCol="0" anchor="t"/>
          <a:lstStyle/>
          <a:p>
            <a:pPr marL="0" indent="0" algn="ctr">
              <a:lnSpc>
                <a:spcPts val="1800"/>
              </a:lnSpc>
              <a:buNone/>
            </a:pPr>
            <a:r>
              <a:rPr lang="en-US" sz="1800" b="1" dirty="0">
                <a:solidFill>
                  <a:srgbClr val="4472C4"/>
                </a:solidFill>
                <a:latin typeface="Arial" panose="020B0604020202090204" pitchFamily="34" charset="0"/>
                <a:ea typeface="Arial" panose="020B0604020202090204" pitchFamily="34" charset="-122"/>
                <a:cs typeface="Arial" panose="020B0604020202090204" pitchFamily="34" charset="-120"/>
              </a:rPr>
              <a:t>23</a:t>
            </a:r>
            <a:endParaRPr lang="en-US" sz="1800" dirty="0"/>
          </a:p>
        </p:txBody>
      </p:sp>
      <p:sp>
        <p:nvSpPr>
          <p:cNvPr id="13" name="Text 11"/>
          <p:cNvSpPr/>
          <p:nvPr/>
        </p:nvSpPr>
        <p:spPr>
          <a:xfrm>
            <a:off x="559778" y="1549301"/>
            <a:ext cx="861643" cy="228600"/>
          </a:xfrm>
          <a:prstGeom prst="rect">
            <a:avLst/>
          </a:prstGeom>
          <a:noFill/>
        </p:spPr>
        <p:txBody>
          <a:bodyPr wrap="square" lIns="0" tIns="0" rIns="0" bIns="0" rtlCol="0" anchor="t"/>
          <a:lstStyle/>
          <a:p>
            <a:pPr marL="0" indent="0" algn="ctr">
              <a:spcBef>
                <a:spcPts val="200"/>
              </a:spcBef>
              <a:buNone/>
            </a:pPr>
            <a:r>
              <a:rPr lang="en-US" sz="800" dirty="0">
                <a:solidFill>
                  <a:srgbClr val="666666"/>
                </a:solidFill>
                <a:latin typeface="Arial" panose="020B0604020202090204" pitchFamily="34" charset="0"/>
                <a:ea typeface="Arial" panose="020B0604020202090204" pitchFamily="34" charset="-122"/>
                <a:cs typeface="Arial" panose="020B0604020202090204" pitchFamily="34" charset="-120"/>
              </a:rPr>
              <a:t>Human proposals (Y1+Y2)</a:t>
            </a:r>
            <a:endParaRPr lang="en-US" sz="800" dirty="0"/>
          </a:p>
        </p:txBody>
      </p:sp>
      <p:sp>
        <p:nvSpPr>
          <p:cNvPr id="14" name="Text 12"/>
          <p:cNvSpPr/>
          <p:nvPr/>
        </p:nvSpPr>
        <p:spPr>
          <a:xfrm>
            <a:off x="1625501" y="1209675"/>
            <a:ext cx="1066800" cy="653951"/>
          </a:xfrm>
          <a:prstGeom prst="roundRect">
            <a:avLst>
              <a:gd name="adj" fmla="val 7768"/>
            </a:avLst>
          </a:prstGeom>
          <a:solidFill>
            <a:srgbClr val="FFFFFF"/>
          </a:solidFill>
          <a:ln w="9525">
            <a:solidFill>
              <a:srgbClr val="CCCCCC"/>
            </a:solidFill>
          </a:ln>
        </p:spPr>
        <p:txBody>
          <a:bodyPr wrap="square" rtlCol="0" anchor="ctr"/>
          <a:lstStyle/>
          <a:p>
            <a:pPr marL="0" indent="0">
              <a:buNone/>
            </a:pPr>
            <a:endParaRPr lang="en-US" dirty="0"/>
          </a:p>
        </p:txBody>
      </p:sp>
      <p:sp>
        <p:nvSpPr>
          <p:cNvPr id="15" name="Text 13"/>
          <p:cNvSpPr/>
          <p:nvPr/>
        </p:nvSpPr>
        <p:spPr>
          <a:xfrm>
            <a:off x="1728079" y="1295400"/>
            <a:ext cx="861643" cy="228600"/>
          </a:xfrm>
          <a:prstGeom prst="rect">
            <a:avLst/>
          </a:prstGeom>
          <a:noFill/>
        </p:spPr>
        <p:txBody>
          <a:bodyPr wrap="square" lIns="0" tIns="0" rIns="0" bIns="0" rtlCol="0" anchor="t"/>
          <a:lstStyle/>
          <a:p>
            <a:pPr marL="0" indent="0" algn="ctr">
              <a:lnSpc>
                <a:spcPts val="1800"/>
              </a:lnSpc>
              <a:buNone/>
            </a:pPr>
            <a:r>
              <a:rPr lang="en-US" sz="1800" b="1" dirty="0">
                <a:solidFill>
                  <a:srgbClr val="4472C4"/>
                </a:solidFill>
                <a:latin typeface="Arial" panose="020B0604020202090204" pitchFamily="34" charset="0"/>
                <a:ea typeface="Arial" panose="020B0604020202090204" pitchFamily="34" charset="-122"/>
                <a:cs typeface="Arial" panose="020B0604020202090204" pitchFamily="34" charset="-120"/>
              </a:rPr>
              <a:t>69</a:t>
            </a:r>
            <a:endParaRPr lang="en-US" sz="1800" dirty="0"/>
          </a:p>
        </p:txBody>
      </p:sp>
      <p:sp>
        <p:nvSpPr>
          <p:cNvPr id="16" name="Text 14"/>
          <p:cNvSpPr/>
          <p:nvPr/>
        </p:nvSpPr>
        <p:spPr>
          <a:xfrm>
            <a:off x="1728079" y="1549301"/>
            <a:ext cx="861643" cy="228600"/>
          </a:xfrm>
          <a:prstGeom prst="rect">
            <a:avLst/>
          </a:prstGeom>
          <a:noFill/>
        </p:spPr>
        <p:txBody>
          <a:bodyPr wrap="square" lIns="0" tIns="0" rIns="0" bIns="0" rtlCol="0" anchor="t"/>
          <a:lstStyle/>
          <a:p>
            <a:pPr marL="0" indent="0" algn="ctr">
              <a:spcBef>
                <a:spcPts val="200"/>
              </a:spcBef>
              <a:buNone/>
            </a:pPr>
            <a:r>
              <a:rPr lang="en-US" sz="800" dirty="0">
                <a:solidFill>
                  <a:srgbClr val="666666"/>
                </a:solidFill>
                <a:latin typeface="Arial" panose="020B0604020202090204" pitchFamily="34" charset="0"/>
                <a:ea typeface="Arial" panose="020B0604020202090204" pitchFamily="34" charset="-122"/>
                <a:cs typeface="Arial" panose="020B0604020202090204" pitchFamily="34" charset="-120"/>
              </a:rPr>
              <a:t>AI proposals (3 models)</a:t>
            </a:r>
            <a:endParaRPr lang="en-US" sz="800" dirty="0"/>
          </a:p>
        </p:txBody>
      </p:sp>
      <p:sp>
        <p:nvSpPr>
          <p:cNvPr id="17" name="Text 15"/>
          <p:cNvSpPr/>
          <p:nvPr/>
        </p:nvSpPr>
        <p:spPr>
          <a:xfrm>
            <a:off x="457200" y="1955750"/>
            <a:ext cx="101501" cy="101501"/>
          </a:xfrm>
          <a:prstGeom prst="roundRect">
            <a:avLst>
              <a:gd name="adj" fmla="val 900878"/>
            </a:avLst>
          </a:prstGeom>
          <a:solidFill>
            <a:srgbClr val="E74C3C"/>
          </a:solidFill>
        </p:spPr>
        <p:txBody>
          <a:bodyPr wrap="square" rtlCol="0" anchor="ctr"/>
          <a:lstStyle/>
          <a:p>
            <a:pPr marL="0" indent="0">
              <a:buNone/>
            </a:pPr>
            <a:endParaRPr lang="en-US" dirty="0"/>
          </a:p>
        </p:txBody>
      </p:sp>
      <p:sp>
        <p:nvSpPr>
          <p:cNvPr id="18" name="Text 16"/>
          <p:cNvSpPr/>
          <p:nvPr/>
        </p:nvSpPr>
        <p:spPr>
          <a:xfrm>
            <a:off x="634901" y="1939826"/>
            <a:ext cx="1214134" cy="133350"/>
          </a:xfrm>
          <a:prstGeom prst="rect">
            <a:avLst/>
          </a:prstGeom>
          <a:noFill/>
        </p:spPr>
        <p:txBody>
          <a:bodyPr wrap="square" lIns="0" tIns="0" rIns="0" bIns="0" rtlCol="0" anchor="t"/>
          <a:lstStyle/>
          <a:p>
            <a:pPr marL="0" indent="0" algn="l">
              <a:buNone/>
            </a:pPr>
            <a:r>
              <a:rPr lang="en-US" sz="900" dirty="0">
                <a:solidFill>
                  <a:srgbClr val="333333"/>
                </a:solidFill>
                <a:latin typeface="Arial" panose="020B0604020202090204" pitchFamily="34" charset="0"/>
                <a:ea typeface="Arial" panose="020B0604020202090204" pitchFamily="34" charset="-122"/>
                <a:cs typeface="Arial" panose="020B0604020202090204" pitchFamily="34" charset="-120"/>
              </a:rPr>
              <a:t>Human (Y1: 12, Y2: 11)</a:t>
            </a:r>
            <a:endParaRPr lang="en-US" sz="900" dirty="0"/>
          </a:p>
        </p:txBody>
      </p:sp>
      <p:sp>
        <p:nvSpPr>
          <p:cNvPr id="19" name="Text 17"/>
          <p:cNvSpPr/>
          <p:nvPr/>
        </p:nvSpPr>
        <p:spPr>
          <a:xfrm>
            <a:off x="457200" y="2139851"/>
            <a:ext cx="101501" cy="101501"/>
          </a:xfrm>
          <a:prstGeom prst="roundRect">
            <a:avLst>
              <a:gd name="adj" fmla="val 900878"/>
            </a:avLst>
          </a:prstGeom>
          <a:solidFill>
            <a:srgbClr val="2980B9"/>
          </a:solidFill>
        </p:spPr>
        <p:txBody>
          <a:bodyPr wrap="square" rtlCol="0" anchor="ctr"/>
          <a:lstStyle/>
          <a:p>
            <a:pPr marL="0" indent="0">
              <a:buNone/>
            </a:pPr>
            <a:endParaRPr lang="en-US" dirty="0"/>
          </a:p>
        </p:txBody>
      </p:sp>
      <p:sp>
        <p:nvSpPr>
          <p:cNvPr id="20" name="Text 18"/>
          <p:cNvSpPr/>
          <p:nvPr/>
        </p:nvSpPr>
        <p:spPr>
          <a:xfrm>
            <a:off x="634901" y="2123926"/>
            <a:ext cx="1247683" cy="133350"/>
          </a:xfrm>
          <a:prstGeom prst="rect">
            <a:avLst/>
          </a:prstGeom>
          <a:noFill/>
        </p:spPr>
        <p:txBody>
          <a:bodyPr wrap="square" lIns="0" tIns="0" rIns="0" bIns="0" rtlCol="0" anchor="t"/>
          <a:lstStyle/>
          <a:p>
            <a:pPr marL="0" indent="0" algn="l">
              <a:buNone/>
            </a:pPr>
            <a:r>
              <a:rPr lang="en-US" sz="900" dirty="0">
                <a:solidFill>
                  <a:srgbClr val="333333"/>
                </a:solidFill>
                <a:latin typeface="Arial" panose="020B0604020202090204" pitchFamily="34" charset="0"/>
                <a:ea typeface="Arial" panose="020B0604020202090204" pitchFamily="34" charset="-122"/>
                <a:cs typeface="Arial" panose="020B0604020202090204" pitchFamily="34" charset="-120"/>
              </a:rPr>
              <a:t>Claude Opus 4.5 (n=23)</a:t>
            </a:r>
            <a:endParaRPr lang="en-US" sz="900" dirty="0"/>
          </a:p>
        </p:txBody>
      </p:sp>
      <p:sp>
        <p:nvSpPr>
          <p:cNvPr id="21" name="Text 19"/>
          <p:cNvSpPr/>
          <p:nvPr/>
        </p:nvSpPr>
        <p:spPr>
          <a:xfrm>
            <a:off x="457200" y="2323951"/>
            <a:ext cx="101501" cy="101501"/>
          </a:xfrm>
          <a:prstGeom prst="roundRect">
            <a:avLst>
              <a:gd name="adj" fmla="val 900878"/>
            </a:avLst>
          </a:prstGeom>
          <a:solidFill>
            <a:srgbClr val="8E44AD"/>
          </a:solidFill>
        </p:spPr>
        <p:txBody>
          <a:bodyPr wrap="square" rtlCol="0" anchor="ctr"/>
          <a:lstStyle/>
          <a:p>
            <a:pPr marL="0" indent="0">
              <a:buNone/>
            </a:pPr>
            <a:endParaRPr lang="en-US" dirty="0"/>
          </a:p>
        </p:txBody>
      </p:sp>
      <p:sp>
        <p:nvSpPr>
          <p:cNvPr id="22" name="Text 20"/>
          <p:cNvSpPr/>
          <p:nvPr/>
        </p:nvSpPr>
        <p:spPr>
          <a:xfrm>
            <a:off x="634901" y="2308027"/>
            <a:ext cx="1500134" cy="133350"/>
          </a:xfrm>
          <a:prstGeom prst="rect">
            <a:avLst/>
          </a:prstGeom>
          <a:noFill/>
        </p:spPr>
        <p:txBody>
          <a:bodyPr wrap="square" lIns="0" tIns="0" rIns="0" bIns="0" rtlCol="0" anchor="t"/>
          <a:lstStyle/>
          <a:p>
            <a:pPr marL="0" indent="0" algn="l">
              <a:buNone/>
            </a:pPr>
            <a:r>
              <a:rPr lang="en-US" sz="900" dirty="0">
                <a:solidFill>
                  <a:srgbClr val="333333"/>
                </a:solidFill>
                <a:latin typeface="Arial" panose="020B0604020202090204" pitchFamily="34" charset="0"/>
                <a:ea typeface="Arial" panose="020B0604020202090204" pitchFamily="34" charset="-122"/>
                <a:cs typeface="Arial" panose="020B0604020202090204" pitchFamily="34" charset="-120"/>
              </a:rPr>
              <a:t>Gemini 3 Pro Preview (n=23)</a:t>
            </a:r>
            <a:endParaRPr lang="en-US" sz="900" dirty="0"/>
          </a:p>
        </p:txBody>
      </p:sp>
      <p:sp>
        <p:nvSpPr>
          <p:cNvPr id="23" name="Text 21"/>
          <p:cNvSpPr/>
          <p:nvPr/>
        </p:nvSpPr>
        <p:spPr>
          <a:xfrm>
            <a:off x="457200" y="2508052"/>
            <a:ext cx="101501" cy="101501"/>
          </a:xfrm>
          <a:prstGeom prst="roundRect">
            <a:avLst>
              <a:gd name="adj" fmla="val 900878"/>
            </a:avLst>
          </a:prstGeom>
          <a:solidFill>
            <a:srgbClr val="E67E22"/>
          </a:solidFill>
        </p:spPr>
        <p:txBody>
          <a:bodyPr wrap="square" rtlCol="0" anchor="ctr"/>
          <a:lstStyle/>
          <a:p>
            <a:pPr marL="0" indent="0">
              <a:buNone/>
            </a:pPr>
            <a:endParaRPr lang="en-US" dirty="0"/>
          </a:p>
        </p:txBody>
      </p:sp>
      <p:sp>
        <p:nvSpPr>
          <p:cNvPr id="24" name="Text 22"/>
          <p:cNvSpPr/>
          <p:nvPr/>
        </p:nvSpPr>
        <p:spPr>
          <a:xfrm>
            <a:off x="634901" y="2492127"/>
            <a:ext cx="806842" cy="133350"/>
          </a:xfrm>
          <a:prstGeom prst="rect">
            <a:avLst/>
          </a:prstGeom>
          <a:noFill/>
        </p:spPr>
        <p:txBody>
          <a:bodyPr wrap="square" lIns="0" tIns="0" rIns="0" bIns="0" rtlCol="0" anchor="t"/>
          <a:lstStyle/>
          <a:p>
            <a:pPr marL="0" indent="0" algn="l">
              <a:buNone/>
            </a:pPr>
            <a:r>
              <a:rPr lang="en-US" sz="900" dirty="0">
                <a:solidFill>
                  <a:srgbClr val="333333"/>
                </a:solidFill>
                <a:latin typeface="Arial" panose="020B0604020202090204" pitchFamily="34" charset="0"/>
                <a:ea typeface="Arial" panose="020B0604020202090204" pitchFamily="34" charset="-122"/>
                <a:cs typeface="Arial" panose="020B0604020202090204" pitchFamily="34" charset="-120"/>
              </a:rPr>
              <a:t>GPT-5.2 (n=23)</a:t>
            </a:r>
            <a:endParaRPr lang="en-US" sz="900" dirty="0"/>
          </a:p>
        </p:txBody>
      </p:sp>
      <p:sp>
        <p:nvSpPr>
          <p:cNvPr id="25" name="Text 23"/>
          <p:cNvSpPr/>
          <p:nvPr/>
        </p:nvSpPr>
        <p:spPr>
          <a:xfrm>
            <a:off x="304800" y="2955578"/>
            <a:ext cx="2539901" cy="1609725"/>
          </a:xfrm>
          <a:prstGeom prst="roundRect">
            <a:avLst>
              <a:gd name="adj" fmla="val 4734"/>
            </a:avLst>
          </a:prstGeom>
          <a:solidFill>
            <a:srgbClr val="F4F4F4"/>
          </a:solidFill>
        </p:spPr>
        <p:txBody>
          <a:bodyPr wrap="square" rtlCol="0" anchor="ctr"/>
          <a:lstStyle/>
          <a:p>
            <a:pPr marL="0" indent="0">
              <a:buNone/>
            </a:pPr>
            <a:endParaRPr lang="en-US" dirty="0"/>
          </a:p>
        </p:txBody>
      </p:sp>
      <p:sp>
        <p:nvSpPr>
          <p:cNvPr id="26" name="Text 24"/>
          <p:cNvSpPr/>
          <p:nvPr/>
        </p:nvSpPr>
        <p:spPr>
          <a:xfrm>
            <a:off x="457200" y="3107978"/>
            <a:ext cx="2279803" cy="142875"/>
          </a:xfrm>
          <a:prstGeom prst="rect">
            <a:avLst/>
          </a:prstGeom>
          <a:noFill/>
        </p:spPr>
        <p:txBody>
          <a:bodyPr wrap="square" lIns="0" tIns="0" rIns="0" bIns="0" rtlCol="0" anchor="t"/>
          <a:lstStyle/>
          <a:p>
            <a:pPr marL="0" indent="0" algn="l">
              <a:spcAft>
                <a:spcPts val="600"/>
              </a:spcAft>
              <a:buNone/>
            </a:pPr>
            <a:r>
              <a:rPr lang="en-US" sz="1000" b="1" dirty="0">
                <a:solidFill>
                  <a:srgbClr val="44546A"/>
                </a:solidFill>
                <a:latin typeface="Arial" panose="020B0604020202090204" pitchFamily="34" charset="0"/>
                <a:ea typeface="Arial" panose="020B0604020202090204" pitchFamily="34" charset="-122"/>
                <a:cs typeface="Arial" panose="020B0604020202090204" pitchFamily="34" charset="-120"/>
              </a:rPr>
              <a:t>Embedding Pipeline (Unchanged)</a:t>
            </a:r>
            <a:endParaRPr lang="en-US" sz="1000" dirty="0"/>
          </a:p>
        </p:txBody>
      </p:sp>
      <p:sp>
        <p:nvSpPr>
          <p:cNvPr id="27" name="Text 25"/>
          <p:cNvSpPr/>
          <p:nvPr/>
        </p:nvSpPr>
        <p:spPr>
          <a:xfrm>
            <a:off x="457200" y="3327053"/>
            <a:ext cx="2235101" cy="1047750"/>
          </a:xfrm>
          <a:prstGeom prst="rect">
            <a:avLst/>
          </a:prstGeom>
          <a:noFill/>
        </p:spPr>
        <p:txBody>
          <a:bodyPr wrap="square" lIns="88900" tIns="0" rIns="0" bIns="0" rtlCol="0" anchor="t"/>
          <a:lstStyle/>
          <a:p>
            <a:pPr marL="88900" indent="-88900" algn="l">
              <a:spcAft>
                <a:spcPts val="300"/>
              </a:spcAft>
              <a:buSzPct val="100000"/>
              <a:buChar char="•"/>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BioLinkBERT-large (333M params, 1024-dim)</a:t>
            </a:r>
            <a:endParaRPr lang="en-US" sz="900" dirty="0"/>
          </a:p>
          <a:p>
            <a:pPr marL="88900" indent="-88900" algn="l">
              <a:spcAft>
                <a:spcPts val="300"/>
              </a:spcAft>
              <a:buSzPct val="100000"/>
              <a:buChar char="•"/>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400-word chunks, 50-word overlap, averaged</a:t>
            </a:r>
            <a:endParaRPr lang="en-US" sz="900" dirty="0"/>
          </a:p>
          <a:p>
            <a:pPr marL="88900" indent="-88900" algn="l">
              <a:spcAft>
                <a:spcPts val="300"/>
              </a:spcAft>
              <a:buSzPct val="100000"/>
              <a:buChar char="•"/>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Cosine distance for all metrics</a:t>
            </a:r>
            <a:endParaRPr lang="en-US" sz="900" dirty="0"/>
          </a:p>
          <a:p>
            <a:pPr marL="88900" indent="-88900" algn="l">
              <a:spcAft>
                <a:spcPts val="300"/>
              </a:spcAft>
              <a:buSzPct val="100000"/>
              <a:buChar char="•"/>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Mann-Whitney U + Cliff's δ + bootstrap CIs</a:t>
            </a:r>
            <a:endParaRPr lang="en-US" sz="900" dirty="0"/>
          </a:p>
        </p:txBody>
      </p:sp>
      <p:sp>
        <p:nvSpPr>
          <p:cNvPr id="28" name="Text 26"/>
          <p:cNvSpPr/>
          <p:nvPr/>
        </p:nvSpPr>
        <p:spPr>
          <a:xfrm>
            <a:off x="3022402" y="838200"/>
            <a:ext cx="2857649" cy="1082129"/>
          </a:xfrm>
          <a:prstGeom prst="roundRect">
            <a:avLst>
              <a:gd name="adj" fmla="val 7042"/>
            </a:avLst>
          </a:prstGeom>
          <a:solidFill>
            <a:srgbClr val="EEF2FA"/>
          </a:solidFill>
        </p:spPr>
        <p:txBody>
          <a:bodyPr wrap="square" rtlCol="0" anchor="ctr"/>
          <a:lstStyle/>
          <a:p>
            <a:pPr marL="0" indent="0">
              <a:buNone/>
            </a:pPr>
            <a:endParaRPr lang="en-US" dirty="0"/>
          </a:p>
        </p:txBody>
      </p:sp>
      <p:sp>
        <p:nvSpPr>
          <p:cNvPr id="29" name="Text 27"/>
          <p:cNvSpPr/>
          <p:nvPr/>
        </p:nvSpPr>
        <p:spPr>
          <a:xfrm>
            <a:off x="3174802" y="965150"/>
            <a:ext cx="2603906" cy="142875"/>
          </a:xfrm>
          <a:prstGeom prst="rect">
            <a:avLst/>
          </a:prstGeom>
          <a:noFill/>
        </p:spPr>
        <p:txBody>
          <a:bodyPr wrap="square" lIns="0" tIns="0" rIns="0" bIns="0" rtlCol="0" anchor="t"/>
          <a:lstStyle/>
          <a:p>
            <a:pPr marL="0" indent="0" algn="l">
              <a:spcAft>
                <a:spcPts val="400"/>
              </a:spcAft>
              <a:buNone/>
            </a:pPr>
            <a:r>
              <a:rPr lang="en-US" sz="1000" b="1" dirty="0">
                <a:solidFill>
                  <a:srgbClr val="4472C4"/>
                </a:solidFill>
                <a:latin typeface="Arial" panose="020B0604020202090204" pitchFamily="34" charset="0"/>
                <a:ea typeface="Arial" panose="020B0604020202090204" pitchFamily="34" charset="-122"/>
                <a:cs typeface="Arial" panose="020B0604020202090204" pitchFamily="34" charset="-120"/>
              </a:rPr>
              <a:t>Part I: Diversity (Slides 6–8)</a:t>
            </a:r>
            <a:endParaRPr lang="en-US" sz="1000" dirty="0"/>
          </a:p>
        </p:txBody>
      </p:sp>
      <p:sp>
        <p:nvSpPr>
          <p:cNvPr id="30" name="Text 28"/>
          <p:cNvSpPr/>
          <p:nvPr/>
        </p:nvSpPr>
        <p:spPr>
          <a:xfrm>
            <a:off x="3174802" y="1158776"/>
            <a:ext cx="2552849" cy="609302"/>
          </a:xfrm>
          <a:prstGeom prst="rect">
            <a:avLst/>
          </a:prstGeom>
          <a:noFill/>
        </p:spPr>
        <p:txBody>
          <a:bodyPr wrap="square" lIns="88900" tIns="0" rIns="0" bIns="0" rtlCol="0" anchor="t"/>
          <a:lstStyle/>
          <a:p>
            <a:pPr marL="88900" indent="-88900" algn="l">
              <a:spcAft>
                <a:spcPts val="200"/>
              </a:spcAft>
              <a:buSzPct val="100000"/>
              <a:buChar char="•"/>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Pairwise diversity (proposal-level means)</a:t>
            </a:r>
            <a:endParaRPr lang="en-US" sz="900" dirty="0"/>
          </a:p>
          <a:p>
            <a:pPr marL="88900" indent="-88900" algn="l">
              <a:spcAft>
                <a:spcPts val="200"/>
              </a:spcAft>
              <a:buSzPct val="100000"/>
              <a:buChar char="•"/>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Centroid dispersion (distance to group center)</a:t>
            </a:r>
            <a:endParaRPr lang="en-US" sz="900" dirty="0"/>
          </a:p>
          <a:p>
            <a:pPr marL="88900" indent="-88900" algn="l">
              <a:spcAft>
                <a:spcPts val="200"/>
              </a:spcAft>
              <a:buSzPct val="100000"/>
              <a:buChar char="•"/>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Nearest-neighbor outlier detection</a:t>
            </a:r>
            <a:endParaRPr lang="en-US" sz="900" dirty="0"/>
          </a:p>
          <a:p>
            <a:pPr marL="88900" indent="-88900" algn="l">
              <a:spcAft>
                <a:spcPts val="200"/>
              </a:spcAft>
              <a:buSzPct val="100000"/>
              <a:buChar char="•"/>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UMAP 2D embedding visualization</a:t>
            </a:r>
            <a:endParaRPr lang="en-US" sz="900" dirty="0"/>
          </a:p>
        </p:txBody>
      </p:sp>
      <p:sp>
        <p:nvSpPr>
          <p:cNvPr id="31" name="Text 29"/>
          <p:cNvSpPr/>
          <p:nvPr/>
        </p:nvSpPr>
        <p:spPr>
          <a:xfrm>
            <a:off x="5981551" y="838200"/>
            <a:ext cx="2857649" cy="1082129"/>
          </a:xfrm>
          <a:prstGeom prst="roundRect">
            <a:avLst>
              <a:gd name="adj" fmla="val 7042"/>
            </a:avLst>
          </a:prstGeom>
          <a:solidFill>
            <a:srgbClr val="FEF4EC"/>
          </a:solidFill>
        </p:spPr>
        <p:txBody>
          <a:bodyPr wrap="square" rtlCol="0" anchor="ctr"/>
          <a:lstStyle/>
          <a:p>
            <a:pPr marL="0" indent="0">
              <a:buNone/>
            </a:pPr>
            <a:endParaRPr lang="en-US" dirty="0"/>
          </a:p>
        </p:txBody>
      </p:sp>
      <p:sp>
        <p:nvSpPr>
          <p:cNvPr id="32" name="Text 30"/>
          <p:cNvSpPr/>
          <p:nvPr/>
        </p:nvSpPr>
        <p:spPr>
          <a:xfrm>
            <a:off x="6133951" y="965150"/>
            <a:ext cx="2603906" cy="142875"/>
          </a:xfrm>
          <a:prstGeom prst="rect">
            <a:avLst/>
          </a:prstGeom>
          <a:noFill/>
        </p:spPr>
        <p:txBody>
          <a:bodyPr wrap="square" lIns="0" tIns="0" rIns="0" bIns="0" rtlCol="0" anchor="t"/>
          <a:lstStyle/>
          <a:p>
            <a:pPr marL="0" indent="0" algn="l">
              <a:spcAft>
                <a:spcPts val="400"/>
              </a:spcAft>
              <a:buNone/>
            </a:pPr>
            <a:r>
              <a:rPr lang="en-US" sz="1000" b="1" dirty="0">
                <a:solidFill>
                  <a:srgbClr val="C55A11"/>
                </a:solidFill>
                <a:latin typeface="Arial" panose="020B0604020202090204" pitchFamily="34" charset="0"/>
                <a:ea typeface="Arial" panose="020B0604020202090204" pitchFamily="34" charset="-122"/>
                <a:cs typeface="Arial" panose="020B0604020202090204" pitchFamily="34" charset="-120"/>
              </a:rPr>
              <a:t>Part II: Novelty (Slides 9–10)</a:t>
            </a:r>
            <a:endParaRPr lang="en-US" sz="1000" dirty="0"/>
          </a:p>
        </p:txBody>
      </p:sp>
      <p:sp>
        <p:nvSpPr>
          <p:cNvPr id="33" name="Text 31"/>
          <p:cNvSpPr/>
          <p:nvPr/>
        </p:nvSpPr>
        <p:spPr>
          <a:xfrm>
            <a:off x="6133951" y="1158776"/>
            <a:ext cx="2552849" cy="609302"/>
          </a:xfrm>
          <a:prstGeom prst="rect">
            <a:avLst/>
          </a:prstGeom>
          <a:noFill/>
        </p:spPr>
        <p:txBody>
          <a:bodyPr wrap="square" lIns="88900" tIns="0" rIns="0" bIns="0" rtlCol="0" anchor="t"/>
          <a:lstStyle/>
          <a:p>
            <a:pPr marL="88900" indent="-88900" algn="l">
              <a:spcAft>
                <a:spcPts val="200"/>
              </a:spcAft>
              <a:buSzPct val="100000"/>
              <a:buChar char="•"/>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k=10 NN distance to 600 PubMed abstracts</a:t>
            </a:r>
            <a:endParaRPr lang="en-US" sz="900" dirty="0"/>
          </a:p>
          <a:p>
            <a:pPr marL="88900" indent="-88900" algn="l">
              <a:spcAft>
                <a:spcPts val="200"/>
              </a:spcAft>
              <a:buSzPct val="100000"/>
              <a:buChar char="•"/>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Literature-normalized z-scores</a:t>
            </a:r>
            <a:endParaRPr lang="en-US" sz="900" dirty="0"/>
          </a:p>
          <a:p>
            <a:pPr marL="88900" indent="-88900" algn="l">
              <a:spcAft>
                <a:spcPts val="200"/>
              </a:spcAft>
              <a:buSzPct val="100000"/>
              <a:buChar char="•"/>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Section-1 only embeddings (fair comparison)</a:t>
            </a:r>
            <a:endParaRPr lang="en-US" sz="900" dirty="0"/>
          </a:p>
          <a:p>
            <a:pPr marL="88900" indent="-88900" algn="l">
              <a:spcAft>
                <a:spcPts val="200"/>
              </a:spcAft>
              <a:buSzPct val="100000"/>
              <a:buChar char="•"/>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Proposals visualized in literature space</a:t>
            </a:r>
            <a:endParaRPr lang="en-US" sz="900" dirty="0"/>
          </a:p>
        </p:txBody>
      </p:sp>
      <p:sp>
        <p:nvSpPr>
          <p:cNvPr id="34" name="Text 32"/>
          <p:cNvSpPr/>
          <p:nvPr/>
        </p:nvSpPr>
        <p:spPr>
          <a:xfrm>
            <a:off x="3022402" y="2021830"/>
            <a:ext cx="2857649" cy="1215479"/>
          </a:xfrm>
          <a:prstGeom prst="roundRect">
            <a:avLst>
              <a:gd name="adj" fmla="val 6269"/>
            </a:avLst>
          </a:prstGeom>
          <a:solidFill>
            <a:srgbClr val="EEF6E8"/>
          </a:solidFill>
        </p:spPr>
        <p:txBody>
          <a:bodyPr wrap="square" rtlCol="0" anchor="ctr"/>
          <a:lstStyle/>
          <a:p>
            <a:pPr marL="0" indent="0">
              <a:buNone/>
            </a:pPr>
            <a:endParaRPr lang="en-US" dirty="0"/>
          </a:p>
        </p:txBody>
      </p:sp>
      <p:sp>
        <p:nvSpPr>
          <p:cNvPr id="35" name="Text 33"/>
          <p:cNvSpPr/>
          <p:nvPr/>
        </p:nvSpPr>
        <p:spPr>
          <a:xfrm>
            <a:off x="3174802" y="2148780"/>
            <a:ext cx="2603906" cy="142875"/>
          </a:xfrm>
          <a:prstGeom prst="rect">
            <a:avLst/>
          </a:prstGeom>
          <a:noFill/>
        </p:spPr>
        <p:txBody>
          <a:bodyPr wrap="square" lIns="0" tIns="0" rIns="0" bIns="0" rtlCol="0" anchor="t"/>
          <a:lstStyle/>
          <a:p>
            <a:pPr marL="0" indent="0" algn="l">
              <a:spcAft>
                <a:spcPts val="400"/>
              </a:spcAft>
              <a:buNone/>
            </a:pPr>
            <a:r>
              <a:rPr lang="en-US" sz="1000" b="1" dirty="0">
                <a:solidFill>
                  <a:srgbClr val="385C1F"/>
                </a:solidFill>
                <a:latin typeface="Arial" panose="020B0604020202090204" pitchFamily="34" charset="0"/>
                <a:ea typeface="Arial" panose="020B0604020202090204" pitchFamily="34" charset="-122"/>
                <a:cs typeface="Arial" panose="020B0604020202090204" pitchFamily="34" charset="-120"/>
              </a:rPr>
              <a:t>Part III: Thematic &amp; Style (Slides 11–13)</a:t>
            </a:r>
            <a:endParaRPr lang="en-US" sz="1000" dirty="0"/>
          </a:p>
        </p:txBody>
      </p:sp>
      <p:sp>
        <p:nvSpPr>
          <p:cNvPr id="36" name="Text 34"/>
          <p:cNvSpPr/>
          <p:nvPr/>
        </p:nvSpPr>
        <p:spPr>
          <a:xfrm>
            <a:off x="3174802" y="2342406"/>
            <a:ext cx="2552849" cy="609302"/>
          </a:xfrm>
          <a:prstGeom prst="rect">
            <a:avLst/>
          </a:prstGeom>
          <a:noFill/>
        </p:spPr>
        <p:txBody>
          <a:bodyPr wrap="square" lIns="88900" tIns="0" rIns="0" bIns="0" rtlCol="0" anchor="t"/>
          <a:lstStyle/>
          <a:p>
            <a:pPr marL="88900" indent="-88900" algn="l">
              <a:spcAft>
                <a:spcPts val="200"/>
              </a:spcAft>
              <a:buSzPct val="100000"/>
              <a:buChar char="•"/>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LDA topic modeling (k=5, strong priors)</a:t>
            </a:r>
            <a:endParaRPr lang="en-US" sz="900" dirty="0"/>
          </a:p>
          <a:p>
            <a:pPr marL="88900" indent="-88900" algn="l">
              <a:spcAft>
                <a:spcPts val="200"/>
              </a:spcAft>
              <a:buSzPct val="100000"/>
              <a:buChar char="•"/>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GMM clustering (k=3, BIC selection)</a:t>
            </a:r>
            <a:endParaRPr lang="en-US" sz="900" dirty="0"/>
          </a:p>
          <a:p>
            <a:pPr marL="88900" indent="-88900" algn="l">
              <a:spcAft>
                <a:spcPts val="200"/>
              </a:spcAft>
              <a:buSzPct val="100000"/>
              <a:buChar char="•"/>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Style baseline: AUROC after rephrasing</a:t>
            </a:r>
            <a:endParaRPr lang="en-US" sz="900" dirty="0"/>
          </a:p>
          <a:p>
            <a:pPr marL="88900" indent="-88900" algn="l">
              <a:spcAft>
                <a:spcPts val="200"/>
              </a:spcAft>
              <a:buSzPct val="100000"/>
              <a:buChar char="•"/>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Residualized centroid + NN sensitivity tests</a:t>
            </a:r>
            <a:endParaRPr lang="en-US" sz="900" dirty="0"/>
          </a:p>
        </p:txBody>
      </p:sp>
      <p:sp>
        <p:nvSpPr>
          <p:cNvPr id="37" name="Text 35"/>
          <p:cNvSpPr/>
          <p:nvPr/>
        </p:nvSpPr>
        <p:spPr>
          <a:xfrm>
            <a:off x="5981551" y="2021830"/>
            <a:ext cx="2857649" cy="1215479"/>
          </a:xfrm>
          <a:prstGeom prst="roundRect">
            <a:avLst>
              <a:gd name="adj" fmla="val 6269"/>
            </a:avLst>
          </a:prstGeom>
          <a:solidFill>
            <a:srgbClr val="F4F4F4"/>
          </a:solidFill>
        </p:spPr>
        <p:txBody>
          <a:bodyPr wrap="square" rtlCol="0" anchor="ctr"/>
          <a:lstStyle/>
          <a:p>
            <a:pPr marL="0" indent="0">
              <a:buNone/>
            </a:pPr>
            <a:endParaRPr lang="en-US" dirty="0"/>
          </a:p>
        </p:txBody>
      </p:sp>
      <p:sp>
        <p:nvSpPr>
          <p:cNvPr id="38" name="Text 36"/>
          <p:cNvSpPr/>
          <p:nvPr/>
        </p:nvSpPr>
        <p:spPr>
          <a:xfrm>
            <a:off x="6133951" y="2148780"/>
            <a:ext cx="2603906" cy="142875"/>
          </a:xfrm>
          <a:prstGeom prst="rect">
            <a:avLst/>
          </a:prstGeom>
          <a:noFill/>
        </p:spPr>
        <p:txBody>
          <a:bodyPr wrap="square" lIns="0" tIns="0" rIns="0" bIns="0" rtlCol="0" anchor="t"/>
          <a:lstStyle/>
          <a:p>
            <a:pPr marL="0" indent="0" algn="l">
              <a:spcAft>
                <a:spcPts val="400"/>
              </a:spcAft>
              <a:buNone/>
            </a:pPr>
            <a:r>
              <a:rPr lang="en-US" sz="1000" b="1" dirty="0">
                <a:solidFill>
                  <a:srgbClr val="44546A"/>
                </a:solidFill>
                <a:latin typeface="Arial" panose="020B0604020202090204" pitchFamily="34" charset="0"/>
                <a:ea typeface="Arial" panose="020B0604020202090204" pitchFamily="34" charset="-122"/>
                <a:cs typeface="Arial" panose="020B0604020202090204" pitchFamily="34" charset="-120"/>
              </a:rPr>
              <a:t>Part IV: Quality (Slides 14–16)</a:t>
            </a:r>
            <a:endParaRPr lang="en-US" sz="1000" dirty="0"/>
          </a:p>
        </p:txBody>
      </p:sp>
      <p:sp>
        <p:nvSpPr>
          <p:cNvPr id="39" name="Text 37"/>
          <p:cNvSpPr/>
          <p:nvPr/>
        </p:nvSpPr>
        <p:spPr>
          <a:xfrm>
            <a:off x="6133951" y="2342406"/>
            <a:ext cx="2552849" cy="742652"/>
          </a:xfrm>
          <a:prstGeom prst="rect">
            <a:avLst/>
          </a:prstGeom>
          <a:noFill/>
        </p:spPr>
        <p:txBody>
          <a:bodyPr wrap="square" lIns="88900" tIns="0" rIns="0" bIns="0" rtlCol="0" anchor="t"/>
          <a:lstStyle/>
          <a:p>
            <a:pPr marL="88900" indent="-88900" algn="l">
              <a:spcAft>
                <a:spcPts val="200"/>
              </a:spcAft>
              <a:buSzPct val="100000"/>
              <a:buChar char="•"/>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R1: AI review proxy validity vs. human experts</a:t>
            </a:r>
            <a:endParaRPr lang="en-US" sz="900" dirty="0"/>
          </a:p>
          <a:p>
            <a:pPr marL="88900" indent="-88900" algn="l">
              <a:spcAft>
                <a:spcPts val="200"/>
              </a:spcAft>
              <a:buSzPct val="100000"/>
              <a:buChar char="•"/>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R2: Proposal scores under AI evaluation</a:t>
            </a:r>
            <a:endParaRPr lang="en-US" sz="900" dirty="0"/>
          </a:p>
          <a:p>
            <a:pPr marL="88900" indent="-88900" algn="l">
              <a:spcAft>
                <a:spcPts val="200"/>
              </a:spcAft>
              <a:buSzPct val="100000"/>
              <a:buChar char="•"/>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R3: Evaluator bias + self-preference</a:t>
            </a:r>
            <a:endParaRPr lang="en-US" sz="900" dirty="0"/>
          </a:p>
          <a:p>
            <a:pPr marL="88900" indent="-88900" algn="l">
              <a:spcAft>
                <a:spcPts val="200"/>
              </a:spcAft>
              <a:buSzPct val="100000"/>
              <a:buChar char="•"/>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Sensitivity: cross-evaluator + Gemini-only reruns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4472C4"/>
          </a:solidFill>
        </p:spPr>
        <p:txBody>
          <a:bodyPr wrap="square" rtlCol="0" anchor="ctr"/>
          <a:lstStyle/>
          <a:p>
            <a:pPr marL="0" indent="0">
              <a:buNone/>
            </a:pPr>
            <a:endParaRPr lang="en-US" dirty="0"/>
          </a:p>
        </p:txBody>
      </p:sp>
      <p:sp>
        <p:nvSpPr>
          <p:cNvPr id="3" name="Text 1"/>
          <p:cNvSpPr/>
          <p:nvPr/>
        </p:nvSpPr>
        <p:spPr>
          <a:xfrm>
            <a:off x="0" y="5067300"/>
            <a:ext cx="9144000" cy="76200"/>
          </a:xfrm>
          <a:prstGeom prst="rect">
            <a:avLst/>
          </a:prstGeom>
          <a:solidFill>
            <a:srgbClr val="44546A"/>
          </a:solidFill>
        </p:spPr>
        <p:txBody>
          <a:bodyPr wrap="square" rtlCol="0" anchor="ctr"/>
          <a:lstStyle/>
          <a:p>
            <a:pPr marL="0" indent="0">
              <a:buNone/>
            </a:pPr>
            <a:endParaRPr lang="en-US" dirty="0"/>
          </a:p>
        </p:txBody>
      </p:sp>
      <p:sp>
        <p:nvSpPr>
          <p:cNvPr id="4" name="Text 2"/>
          <p:cNvSpPr/>
          <p:nvPr/>
        </p:nvSpPr>
        <p:spPr>
          <a:xfrm>
            <a:off x="7620000" y="76200"/>
            <a:ext cx="1524000" cy="355550"/>
          </a:xfrm>
          <a:prstGeom prst="rect">
            <a:avLst/>
          </a:prstGeom>
          <a:solidFill>
            <a:srgbClr val="4472C4"/>
          </a:solidFill>
        </p:spPr>
        <p:txBody>
          <a:bodyPr wrap="square" rtlCol="0" anchor="ctr"/>
          <a:lstStyle/>
          <a:p>
            <a:pPr marL="0" indent="0">
              <a:buNone/>
            </a:pPr>
            <a:endParaRPr lang="en-US" dirty="0"/>
          </a:p>
        </p:txBody>
      </p:sp>
      <p:sp>
        <p:nvSpPr>
          <p:cNvPr id="5" name="Text 3"/>
          <p:cNvSpPr/>
          <p:nvPr/>
        </p:nvSpPr>
        <p:spPr>
          <a:xfrm>
            <a:off x="7976592" y="187226"/>
            <a:ext cx="827032" cy="133350"/>
          </a:xfrm>
          <a:prstGeom prst="rect">
            <a:avLst/>
          </a:prstGeom>
          <a:noFill/>
        </p:spPr>
        <p:txBody>
          <a:bodyPr wrap="square" lIns="0" tIns="0" rIns="0" bIns="0" rtlCol="0" anchor="t"/>
          <a:lstStyle/>
          <a:p>
            <a:pPr marL="0" indent="0" algn="l">
              <a:buNone/>
            </a:pPr>
            <a:r>
              <a:rPr lang="en-US" sz="900" b="1" dirty="0">
                <a:solidFill>
                  <a:srgbClr val="FFFFFF"/>
                </a:solidFill>
                <a:latin typeface="Arial" panose="020B0604020202090204" pitchFamily="34" charset="0"/>
                <a:ea typeface="Arial" panose="020B0604020202090204" pitchFamily="34" charset="-122"/>
                <a:cs typeface="Arial" panose="020B0604020202090204" pitchFamily="34" charset="-120"/>
              </a:rPr>
              <a:t>KEY FINDINGS</a:t>
            </a:r>
            <a:endParaRPr lang="en-US" sz="900" dirty="0"/>
          </a:p>
        </p:txBody>
      </p:sp>
      <p:sp>
        <p:nvSpPr>
          <p:cNvPr id="6" name="Text 4"/>
          <p:cNvSpPr/>
          <p:nvPr/>
        </p:nvSpPr>
        <p:spPr>
          <a:xfrm>
            <a:off x="304800" y="177701"/>
            <a:ext cx="7124649" cy="295275"/>
          </a:xfrm>
          <a:prstGeom prst="rect">
            <a:avLst/>
          </a:prstGeom>
          <a:noFill/>
        </p:spPr>
        <p:txBody>
          <a:bodyPr wrap="square" lIns="0" tIns="0" rIns="0" bIns="0" rtlCol="0" anchor="t"/>
          <a:lstStyle/>
          <a:p>
            <a:pPr marL="0" indent="0" algn="l">
              <a:buNone/>
            </a:pPr>
            <a:r>
              <a:rPr lang="en-US" sz="2000" b="1" dirty="0">
                <a:solidFill>
                  <a:srgbClr val="44546A"/>
                </a:solidFill>
                <a:latin typeface="Arial" panose="020B0604020202090204" pitchFamily="34" charset="0"/>
                <a:ea typeface="Arial" panose="020B0604020202090204" pitchFamily="34" charset="-122"/>
                <a:cs typeface="Arial" panose="020B0604020202090204" pitchFamily="34" charset="-120"/>
              </a:rPr>
              <a:t>Key Findings — Style-Controlled Analysis</a:t>
            </a:r>
            <a:endParaRPr lang="en-US" sz="2000" dirty="0"/>
          </a:p>
        </p:txBody>
      </p:sp>
      <p:sp>
        <p:nvSpPr>
          <p:cNvPr id="7" name="Text 5"/>
          <p:cNvSpPr/>
          <p:nvPr/>
        </p:nvSpPr>
        <p:spPr>
          <a:xfrm>
            <a:off x="304800" y="498277"/>
            <a:ext cx="7124649" cy="152400"/>
          </a:xfrm>
          <a:prstGeom prst="rect">
            <a:avLst/>
          </a:prstGeom>
          <a:noFill/>
        </p:spPr>
        <p:txBody>
          <a:bodyPr wrap="square" lIns="0" tIns="0" rIns="0" bIns="0" rtlCol="0" anchor="t"/>
          <a:lstStyle/>
          <a:p>
            <a:pPr marL="0" indent="0" algn="l">
              <a:spcBef>
                <a:spcPts val="200"/>
              </a:spcBef>
              <a:buNone/>
            </a:pPr>
            <a:r>
              <a:rPr lang="en-US" sz="1100" dirty="0">
                <a:solidFill>
                  <a:srgbClr val="4472C4"/>
                </a:solidFill>
                <a:latin typeface="Arial" panose="020B0604020202090204" pitchFamily="34" charset="0"/>
                <a:ea typeface="Arial" panose="020B0604020202090204" pitchFamily="34" charset="-122"/>
                <a:cs typeface="Arial" panose="020B0604020202090204" pitchFamily="34" charset="-120"/>
              </a:rPr>
              <a:t>One-sentence answers from the rephrased-proposal analyses</a:t>
            </a:r>
            <a:endParaRPr lang="en-US" sz="1100" dirty="0"/>
          </a:p>
        </p:txBody>
      </p:sp>
      <p:sp>
        <p:nvSpPr>
          <p:cNvPr id="8" name="Text 6"/>
          <p:cNvSpPr/>
          <p:nvPr/>
        </p:nvSpPr>
        <p:spPr>
          <a:xfrm>
            <a:off x="304800" y="711101"/>
            <a:ext cx="8534400" cy="25301"/>
          </a:xfrm>
          <a:prstGeom prst="rect">
            <a:avLst/>
          </a:prstGeom>
          <a:solidFill>
            <a:srgbClr val="4472C4"/>
          </a:solidFill>
        </p:spPr>
        <p:txBody>
          <a:bodyPr wrap="square" rtlCol="0" anchor="ctr"/>
          <a:lstStyle/>
          <a:p>
            <a:pPr marL="0" indent="0">
              <a:buNone/>
            </a:pPr>
            <a:endParaRPr lang="en-US" dirty="0"/>
          </a:p>
        </p:txBody>
      </p:sp>
      <p:sp>
        <p:nvSpPr>
          <p:cNvPr id="9" name="Text 7"/>
          <p:cNvSpPr/>
          <p:nvPr/>
        </p:nvSpPr>
        <p:spPr>
          <a:xfrm>
            <a:off x="304800" y="838200"/>
            <a:ext cx="2038350" cy="1707952"/>
          </a:xfrm>
          <a:prstGeom prst="roundRect">
            <a:avLst>
              <a:gd name="adj" fmla="val 4461"/>
            </a:avLst>
          </a:prstGeom>
          <a:solidFill>
            <a:srgbClr val="EEF2FA"/>
          </a:solidFill>
        </p:spPr>
        <p:txBody>
          <a:bodyPr wrap="square" rtlCol="0" anchor="ctr"/>
          <a:lstStyle/>
          <a:p>
            <a:pPr marL="0" indent="0">
              <a:buNone/>
            </a:pPr>
            <a:endParaRPr lang="en-US" dirty="0"/>
          </a:p>
        </p:txBody>
      </p:sp>
      <p:sp>
        <p:nvSpPr>
          <p:cNvPr id="10" name="Shape 8"/>
          <p:cNvSpPr/>
          <p:nvPr/>
        </p:nvSpPr>
        <p:spPr>
          <a:xfrm>
            <a:off x="304800" y="857250"/>
            <a:ext cx="2038350" cy="0"/>
          </a:xfrm>
          <a:prstGeom prst="line">
            <a:avLst/>
          </a:prstGeom>
          <a:noFill/>
          <a:ln w="38100">
            <a:solidFill>
              <a:srgbClr val="4472C4"/>
            </a:solidFill>
            <a:prstDash val="solid"/>
          </a:ln>
        </p:spPr>
      </p:sp>
      <p:sp>
        <p:nvSpPr>
          <p:cNvPr id="11" name="Text 9"/>
          <p:cNvSpPr/>
          <p:nvPr/>
        </p:nvSpPr>
        <p:spPr>
          <a:xfrm>
            <a:off x="457200" y="1003250"/>
            <a:ext cx="1768221" cy="114300"/>
          </a:xfrm>
          <a:prstGeom prst="rect">
            <a:avLst/>
          </a:prstGeom>
          <a:noFill/>
        </p:spPr>
        <p:txBody>
          <a:bodyPr wrap="square" lIns="0" tIns="0" rIns="0" bIns="0" rtlCol="0" anchor="t"/>
          <a:lstStyle/>
          <a:p>
            <a:pPr marL="0" indent="0" algn="l">
              <a:spcAft>
                <a:spcPts val="300"/>
              </a:spcAft>
              <a:buNone/>
            </a:pPr>
            <a:r>
              <a:rPr lang="en-US" sz="800" b="1" dirty="0">
                <a:solidFill>
                  <a:srgbClr val="4472C4"/>
                </a:solidFill>
                <a:latin typeface="Arial" panose="020B0604020202090204" pitchFamily="34" charset="0"/>
                <a:ea typeface="Arial" panose="020B0604020202090204" pitchFamily="34" charset="-122"/>
                <a:cs typeface="Arial" panose="020B0604020202090204" pitchFamily="34" charset="-120"/>
              </a:rPr>
              <a:t>RQ1 — DIVERSITY</a:t>
            </a:r>
            <a:endParaRPr lang="en-US" sz="800" dirty="0"/>
          </a:p>
        </p:txBody>
      </p:sp>
      <p:sp>
        <p:nvSpPr>
          <p:cNvPr id="12" name="Text 10"/>
          <p:cNvSpPr/>
          <p:nvPr/>
        </p:nvSpPr>
        <p:spPr>
          <a:xfrm>
            <a:off x="457200" y="1155650"/>
            <a:ext cx="1768221" cy="400050"/>
          </a:xfrm>
          <a:prstGeom prst="rect">
            <a:avLst/>
          </a:prstGeom>
          <a:noFill/>
        </p:spPr>
        <p:txBody>
          <a:bodyPr wrap="square" lIns="0" tIns="0" rIns="0" bIns="0" rtlCol="0" anchor="t"/>
          <a:lstStyle/>
          <a:p>
            <a:pPr marL="0" indent="0" algn="l">
              <a:spcAft>
                <a:spcPts val="500"/>
              </a:spcAft>
              <a:buNone/>
            </a:pPr>
            <a:r>
              <a:rPr lang="en-US" sz="900" b="1" dirty="0">
                <a:solidFill>
                  <a:srgbClr val="44546A"/>
                </a:solidFill>
                <a:latin typeface="Arial" panose="020B0604020202090204" pitchFamily="34" charset="0"/>
                <a:ea typeface="Arial" panose="020B0604020202090204" pitchFamily="34" charset="-122"/>
                <a:cs typeface="Arial" panose="020B0604020202090204" pitchFamily="34" charset="-120"/>
              </a:rPr>
              <a:t>Are AI proposals more or less diverse than human proposals after style control?</a:t>
            </a:r>
            <a:endParaRPr lang="en-US" sz="900" dirty="0"/>
          </a:p>
        </p:txBody>
      </p:sp>
      <p:sp>
        <p:nvSpPr>
          <p:cNvPr id="13" name="Text 11"/>
          <p:cNvSpPr/>
          <p:nvPr/>
        </p:nvSpPr>
        <p:spPr>
          <a:xfrm>
            <a:off x="457200" y="1619101"/>
            <a:ext cx="1768221" cy="800100"/>
          </a:xfrm>
          <a:prstGeom prst="rect">
            <a:avLst/>
          </a:prstGeom>
          <a:noFill/>
        </p:spPr>
        <p:txBody>
          <a:bodyPr wrap="square" lIns="0" tIns="0" rIns="0" bIns="0" rtlCol="0" anchor="t"/>
          <a:lstStyle/>
          <a:p>
            <a:pPr marL="0" indent="0" algn="l">
              <a:buNone/>
            </a:pPr>
            <a:r>
              <a:rPr lang="en-US" sz="900" b="1" dirty="0">
                <a:solidFill>
                  <a:srgbClr val="333333"/>
                </a:solidFill>
                <a:latin typeface="Arial" panose="020B0604020202090204" pitchFamily="34" charset="0"/>
                <a:ea typeface="Arial" panose="020B0604020202090204" pitchFamily="34" charset="-122"/>
                <a:cs typeface="Arial" panose="020B0604020202090204" pitchFamily="34" charset="-120"/>
              </a:rPr>
              <a:t>Reversed vs. baseline:</a:t>
            </a:r>
            <a:r>
              <a:rPr lang="en-US" sz="900" dirty="0">
                <a:solidFill>
                  <a:srgbClr val="333333"/>
                </a:solidFill>
                <a:latin typeface="Arial" panose="020B0604020202090204" pitchFamily="34" charset="0"/>
                <a:ea typeface="Arial" panose="020B0604020202090204" pitchFamily="34" charset="-122"/>
                <a:cs typeface="Arial" panose="020B0604020202090204" pitchFamily="34" charset="-120"/>
              </a:rPr>
              <a:t> Humans are significantly more diverse than pooled AI (δ=−0.885, p&lt;0.001). GPT-5.2 remains homogeneous; Claude and Gemini are intermediate.</a:t>
            </a:r>
            <a:endParaRPr lang="en-US" sz="900" dirty="0"/>
          </a:p>
        </p:txBody>
      </p:sp>
      <p:sp>
        <p:nvSpPr>
          <p:cNvPr id="14" name="Text 12"/>
          <p:cNvSpPr/>
          <p:nvPr/>
        </p:nvSpPr>
        <p:spPr>
          <a:xfrm>
            <a:off x="2470100" y="838200"/>
            <a:ext cx="2038499" cy="1707952"/>
          </a:xfrm>
          <a:prstGeom prst="roundRect">
            <a:avLst>
              <a:gd name="adj" fmla="val 4461"/>
            </a:avLst>
          </a:prstGeom>
          <a:solidFill>
            <a:srgbClr val="FEF4EC"/>
          </a:solidFill>
        </p:spPr>
        <p:txBody>
          <a:bodyPr wrap="square" rtlCol="0" anchor="ctr"/>
          <a:lstStyle/>
          <a:p>
            <a:pPr marL="0" indent="0">
              <a:buNone/>
            </a:pPr>
            <a:endParaRPr lang="en-US" dirty="0"/>
          </a:p>
        </p:txBody>
      </p:sp>
      <p:sp>
        <p:nvSpPr>
          <p:cNvPr id="15" name="Shape 13"/>
          <p:cNvSpPr/>
          <p:nvPr/>
        </p:nvSpPr>
        <p:spPr>
          <a:xfrm>
            <a:off x="2470100" y="857250"/>
            <a:ext cx="2038499" cy="0"/>
          </a:xfrm>
          <a:prstGeom prst="line">
            <a:avLst/>
          </a:prstGeom>
          <a:noFill/>
          <a:ln w="38100">
            <a:solidFill>
              <a:srgbClr val="ED7D31"/>
            </a:solidFill>
            <a:prstDash val="solid"/>
          </a:ln>
        </p:spPr>
      </p:sp>
      <p:sp>
        <p:nvSpPr>
          <p:cNvPr id="16" name="Text 14"/>
          <p:cNvSpPr/>
          <p:nvPr/>
        </p:nvSpPr>
        <p:spPr>
          <a:xfrm>
            <a:off x="2622500" y="1003250"/>
            <a:ext cx="1768373" cy="114300"/>
          </a:xfrm>
          <a:prstGeom prst="rect">
            <a:avLst/>
          </a:prstGeom>
          <a:noFill/>
        </p:spPr>
        <p:txBody>
          <a:bodyPr wrap="square" lIns="0" tIns="0" rIns="0" bIns="0" rtlCol="0" anchor="t"/>
          <a:lstStyle/>
          <a:p>
            <a:pPr marL="0" indent="0" algn="l">
              <a:spcAft>
                <a:spcPts val="300"/>
              </a:spcAft>
              <a:buNone/>
            </a:pPr>
            <a:r>
              <a:rPr lang="en-US" sz="800" b="1" dirty="0">
                <a:solidFill>
                  <a:srgbClr val="C55A11"/>
                </a:solidFill>
                <a:latin typeface="Arial" panose="020B0604020202090204" pitchFamily="34" charset="0"/>
                <a:ea typeface="Arial" panose="020B0604020202090204" pitchFamily="34" charset="-122"/>
                <a:cs typeface="Arial" panose="020B0604020202090204" pitchFamily="34" charset="-120"/>
              </a:rPr>
              <a:t>RQ2 — NOVELTY</a:t>
            </a:r>
            <a:endParaRPr lang="en-US" sz="800" dirty="0"/>
          </a:p>
        </p:txBody>
      </p:sp>
      <p:sp>
        <p:nvSpPr>
          <p:cNvPr id="17" name="Text 15"/>
          <p:cNvSpPr/>
          <p:nvPr/>
        </p:nvSpPr>
        <p:spPr>
          <a:xfrm>
            <a:off x="2622500" y="1155650"/>
            <a:ext cx="1768373" cy="400050"/>
          </a:xfrm>
          <a:prstGeom prst="rect">
            <a:avLst/>
          </a:prstGeom>
          <a:noFill/>
        </p:spPr>
        <p:txBody>
          <a:bodyPr wrap="square" lIns="0" tIns="0" rIns="0" bIns="0" rtlCol="0" anchor="t"/>
          <a:lstStyle/>
          <a:p>
            <a:pPr marL="0" indent="0" algn="l">
              <a:spcAft>
                <a:spcPts val="500"/>
              </a:spcAft>
              <a:buNone/>
            </a:pPr>
            <a:r>
              <a:rPr lang="en-US" sz="900" b="1" dirty="0">
                <a:solidFill>
                  <a:srgbClr val="44546A"/>
                </a:solidFill>
                <a:latin typeface="Arial" panose="020B0604020202090204" pitchFamily="34" charset="0"/>
                <a:ea typeface="Arial" panose="020B0604020202090204" pitchFamily="34" charset="-122"/>
                <a:cs typeface="Arial" panose="020B0604020202090204" pitchFamily="34" charset="-120"/>
              </a:rPr>
              <a:t>Are AI proposals less novel than human proposals relative to literature?</a:t>
            </a:r>
            <a:endParaRPr lang="en-US" sz="900" dirty="0"/>
          </a:p>
        </p:txBody>
      </p:sp>
      <p:sp>
        <p:nvSpPr>
          <p:cNvPr id="18" name="Text 16"/>
          <p:cNvSpPr/>
          <p:nvPr/>
        </p:nvSpPr>
        <p:spPr>
          <a:xfrm>
            <a:off x="2622500" y="1619101"/>
            <a:ext cx="1768373" cy="666750"/>
          </a:xfrm>
          <a:prstGeom prst="rect">
            <a:avLst/>
          </a:prstGeom>
          <a:noFill/>
        </p:spPr>
        <p:txBody>
          <a:bodyPr wrap="square" lIns="0" tIns="0" rIns="0" bIns="0" rtlCol="0" anchor="t"/>
          <a:lstStyle/>
          <a:p>
            <a:pPr marL="0" indent="0" algn="l">
              <a:buNone/>
            </a:pPr>
            <a:r>
              <a:rPr lang="en-US" sz="900" b="1" dirty="0">
                <a:solidFill>
                  <a:srgbClr val="333333"/>
                </a:solidFill>
                <a:latin typeface="Arial" panose="020B0604020202090204" pitchFamily="34" charset="0"/>
                <a:ea typeface="Arial" panose="020B0604020202090204" pitchFamily="34" charset="-122"/>
                <a:cs typeface="Arial" panose="020B0604020202090204" pitchFamily="34" charset="-120"/>
              </a:rPr>
              <a:t>Gap disappears:</a:t>
            </a:r>
            <a:r>
              <a:rPr lang="en-US" sz="900" dirty="0">
                <a:solidFill>
                  <a:srgbClr val="333333"/>
                </a:solidFill>
                <a:latin typeface="Arial" panose="020B0604020202090204" pitchFamily="34" charset="0"/>
                <a:ea typeface="Arial" panose="020B0604020202090204" pitchFamily="34" charset="-122"/>
                <a:cs typeface="Arial" panose="020B0604020202090204" pitchFamily="34" charset="-120"/>
              </a:rPr>
              <a:t> Novelty difference is no longer significant after rephrasing (δ=−0.132, p=0.17). Style was driving much of the baseline novelty gap.</a:t>
            </a:r>
            <a:endParaRPr lang="en-US" sz="900" dirty="0"/>
          </a:p>
        </p:txBody>
      </p:sp>
      <p:sp>
        <p:nvSpPr>
          <p:cNvPr id="19" name="Text 17"/>
          <p:cNvSpPr/>
          <p:nvPr/>
        </p:nvSpPr>
        <p:spPr>
          <a:xfrm>
            <a:off x="4635550" y="838200"/>
            <a:ext cx="2038350" cy="1707952"/>
          </a:xfrm>
          <a:prstGeom prst="roundRect">
            <a:avLst>
              <a:gd name="adj" fmla="val 4461"/>
            </a:avLst>
          </a:prstGeom>
          <a:solidFill>
            <a:srgbClr val="EEF6E8"/>
          </a:solidFill>
        </p:spPr>
        <p:txBody>
          <a:bodyPr wrap="square" rtlCol="0" anchor="ctr"/>
          <a:lstStyle/>
          <a:p>
            <a:pPr marL="0" indent="0">
              <a:buNone/>
            </a:pPr>
            <a:endParaRPr lang="en-US" dirty="0"/>
          </a:p>
        </p:txBody>
      </p:sp>
      <p:sp>
        <p:nvSpPr>
          <p:cNvPr id="20" name="Shape 18"/>
          <p:cNvSpPr/>
          <p:nvPr/>
        </p:nvSpPr>
        <p:spPr>
          <a:xfrm>
            <a:off x="4635550" y="857250"/>
            <a:ext cx="2038350" cy="0"/>
          </a:xfrm>
          <a:prstGeom prst="line">
            <a:avLst/>
          </a:prstGeom>
          <a:noFill/>
          <a:ln w="38100">
            <a:solidFill>
              <a:srgbClr val="70AD47"/>
            </a:solidFill>
            <a:prstDash val="solid"/>
          </a:ln>
        </p:spPr>
      </p:sp>
      <p:sp>
        <p:nvSpPr>
          <p:cNvPr id="21" name="Text 19"/>
          <p:cNvSpPr/>
          <p:nvPr/>
        </p:nvSpPr>
        <p:spPr>
          <a:xfrm>
            <a:off x="4787950" y="1003250"/>
            <a:ext cx="1768221" cy="114300"/>
          </a:xfrm>
          <a:prstGeom prst="rect">
            <a:avLst/>
          </a:prstGeom>
          <a:noFill/>
        </p:spPr>
        <p:txBody>
          <a:bodyPr wrap="square" lIns="0" tIns="0" rIns="0" bIns="0" rtlCol="0" anchor="t"/>
          <a:lstStyle/>
          <a:p>
            <a:pPr marL="0" indent="0" algn="l">
              <a:spcAft>
                <a:spcPts val="300"/>
              </a:spcAft>
              <a:buNone/>
            </a:pPr>
            <a:r>
              <a:rPr lang="en-US" sz="800" b="1" dirty="0">
                <a:solidFill>
                  <a:srgbClr val="385C1F"/>
                </a:solidFill>
                <a:latin typeface="Arial" panose="020B0604020202090204" pitchFamily="34" charset="0"/>
                <a:ea typeface="Arial" panose="020B0604020202090204" pitchFamily="34" charset="-122"/>
                <a:cs typeface="Arial" panose="020B0604020202090204" pitchFamily="34" charset="-120"/>
              </a:rPr>
              <a:t>RQ3 — THEMATIC SEPARATION</a:t>
            </a:r>
            <a:endParaRPr lang="en-US" sz="800" dirty="0"/>
          </a:p>
        </p:txBody>
      </p:sp>
      <p:sp>
        <p:nvSpPr>
          <p:cNvPr id="22" name="Text 20"/>
          <p:cNvSpPr/>
          <p:nvPr/>
        </p:nvSpPr>
        <p:spPr>
          <a:xfrm>
            <a:off x="4787950" y="1155650"/>
            <a:ext cx="1768221" cy="400050"/>
          </a:xfrm>
          <a:prstGeom prst="rect">
            <a:avLst/>
          </a:prstGeom>
          <a:noFill/>
        </p:spPr>
        <p:txBody>
          <a:bodyPr wrap="square" lIns="0" tIns="0" rIns="0" bIns="0" rtlCol="0" anchor="t"/>
          <a:lstStyle/>
          <a:p>
            <a:pPr marL="0" indent="0" algn="l">
              <a:spcAft>
                <a:spcPts val="500"/>
              </a:spcAft>
              <a:buNone/>
            </a:pPr>
            <a:r>
              <a:rPr lang="en-US" sz="900" b="1" dirty="0">
                <a:solidFill>
                  <a:srgbClr val="44546A"/>
                </a:solidFill>
                <a:latin typeface="Arial" panose="020B0604020202090204" pitchFamily="34" charset="0"/>
                <a:ea typeface="Arial" panose="020B0604020202090204" pitchFamily="34" charset="-122"/>
                <a:cs typeface="Arial" panose="020B0604020202090204" pitchFamily="34" charset="-120"/>
              </a:rPr>
              <a:t>Do human and AI proposals still cluster differently after style removal?</a:t>
            </a:r>
            <a:endParaRPr lang="en-US" sz="900" dirty="0"/>
          </a:p>
        </p:txBody>
      </p:sp>
      <p:sp>
        <p:nvSpPr>
          <p:cNvPr id="23" name="Text 21"/>
          <p:cNvSpPr/>
          <p:nvPr/>
        </p:nvSpPr>
        <p:spPr>
          <a:xfrm>
            <a:off x="4787950" y="1619101"/>
            <a:ext cx="1768221" cy="666750"/>
          </a:xfrm>
          <a:prstGeom prst="rect">
            <a:avLst/>
          </a:prstGeom>
          <a:noFill/>
        </p:spPr>
        <p:txBody>
          <a:bodyPr wrap="square" lIns="0" tIns="0" rIns="0" bIns="0" rtlCol="0" anchor="t"/>
          <a:lstStyle/>
          <a:p>
            <a:pPr marL="0" indent="0" algn="l">
              <a:buNone/>
            </a:pPr>
            <a:r>
              <a:rPr lang="en-US" sz="900" b="1" dirty="0">
                <a:solidFill>
                  <a:srgbClr val="333333"/>
                </a:solidFill>
                <a:latin typeface="Arial" panose="020B0604020202090204" pitchFamily="34" charset="0"/>
                <a:ea typeface="Arial" panose="020B0604020202090204" pitchFamily="34" charset="-122"/>
                <a:cs typeface="Arial" panose="020B0604020202090204" pitchFamily="34" charset="-120"/>
              </a:rPr>
              <a:t>Yes, but reduced:</a:t>
            </a:r>
            <a:r>
              <a:rPr lang="en-US" sz="900" dirty="0">
                <a:solidFill>
                  <a:srgbClr val="333333"/>
                </a:solidFill>
                <a:latin typeface="Arial" panose="020B0604020202090204" pitchFamily="34" charset="0"/>
                <a:ea typeface="Arial" panose="020B0604020202090204" pitchFamily="34" charset="-122"/>
                <a:cs typeface="Arial" panose="020B0604020202090204" pitchFamily="34" charset="-120"/>
              </a:rPr>
              <a:t> Significant cluster segregation remains (NMI=0.389, p&lt;0.001). Style-reduced AUROC = 0.772 vs. 1.000 baseline.</a:t>
            </a:r>
            <a:endParaRPr lang="en-US" sz="900" dirty="0"/>
          </a:p>
        </p:txBody>
      </p:sp>
      <p:sp>
        <p:nvSpPr>
          <p:cNvPr id="24" name="Text 22"/>
          <p:cNvSpPr/>
          <p:nvPr/>
        </p:nvSpPr>
        <p:spPr>
          <a:xfrm>
            <a:off x="6800850" y="838200"/>
            <a:ext cx="2038350" cy="1707952"/>
          </a:xfrm>
          <a:prstGeom prst="roundRect">
            <a:avLst>
              <a:gd name="adj" fmla="val 4461"/>
            </a:avLst>
          </a:prstGeom>
          <a:solidFill>
            <a:srgbClr val="F4F4F4"/>
          </a:solidFill>
        </p:spPr>
        <p:txBody>
          <a:bodyPr wrap="square" rtlCol="0" anchor="ctr"/>
          <a:lstStyle/>
          <a:p>
            <a:pPr marL="0" indent="0">
              <a:buNone/>
            </a:pPr>
            <a:endParaRPr lang="en-US" dirty="0"/>
          </a:p>
        </p:txBody>
      </p:sp>
      <p:sp>
        <p:nvSpPr>
          <p:cNvPr id="25" name="Shape 23"/>
          <p:cNvSpPr/>
          <p:nvPr/>
        </p:nvSpPr>
        <p:spPr>
          <a:xfrm>
            <a:off x="6800850" y="857250"/>
            <a:ext cx="2038350" cy="0"/>
          </a:xfrm>
          <a:prstGeom prst="line">
            <a:avLst/>
          </a:prstGeom>
          <a:noFill/>
          <a:ln w="38100">
            <a:solidFill>
              <a:srgbClr val="A5A5A5"/>
            </a:solidFill>
            <a:prstDash val="solid"/>
          </a:ln>
        </p:spPr>
      </p:sp>
      <p:sp>
        <p:nvSpPr>
          <p:cNvPr id="26" name="Text 24"/>
          <p:cNvSpPr/>
          <p:nvPr/>
        </p:nvSpPr>
        <p:spPr>
          <a:xfrm>
            <a:off x="6953250" y="1003250"/>
            <a:ext cx="1768221" cy="114300"/>
          </a:xfrm>
          <a:prstGeom prst="rect">
            <a:avLst/>
          </a:prstGeom>
          <a:noFill/>
        </p:spPr>
        <p:txBody>
          <a:bodyPr wrap="square" lIns="0" tIns="0" rIns="0" bIns="0" rtlCol="0" anchor="t"/>
          <a:lstStyle/>
          <a:p>
            <a:pPr marL="0" indent="0" algn="l">
              <a:spcAft>
                <a:spcPts val="300"/>
              </a:spcAft>
              <a:buNone/>
            </a:pPr>
            <a:r>
              <a:rPr lang="en-US" sz="800" b="1" dirty="0">
                <a:solidFill>
                  <a:srgbClr val="44546A"/>
                </a:solidFill>
                <a:latin typeface="Arial" panose="020B0604020202090204" pitchFamily="34" charset="0"/>
                <a:ea typeface="Arial" panose="020B0604020202090204" pitchFamily="34" charset="-122"/>
                <a:cs typeface="Arial" panose="020B0604020202090204" pitchFamily="34" charset="-120"/>
              </a:rPr>
              <a:t>RQ4 — QUALITY</a:t>
            </a:r>
            <a:endParaRPr lang="en-US" sz="800" dirty="0"/>
          </a:p>
        </p:txBody>
      </p:sp>
      <p:sp>
        <p:nvSpPr>
          <p:cNvPr id="27" name="Text 25"/>
          <p:cNvSpPr/>
          <p:nvPr/>
        </p:nvSpPr>
        <p:spPr>
          <a:xfrm>
            <a:off x="6953250" y="1155650"/>
            <a:ext cx="1768221" cy="400050"/>
          </a:xfrm>
          <a:prstGeom prst="rect">
            <a:avLst/>
          </a:prstGeom>
          <a:noFill/>
        </p:spPr>
        <p:txBody>
          <a:bodyPr wrap="square" lIns="0" tIns="0" rIns="0" bIns="0" rtlCol="0" anchor="t"/>
          <a:lstStyle/>
          <a:p>
            <a:pPr marL="0" indent="0" algn="l">
              <a:spcAft>
                <a:spcPts val="500"/>
              </a:spcAft>
              <a:buNone/>
            </a:pPr>
            <a:r>
              <a:rPr lang="en-US" sz="900" b="1" dirty="0">
                <a:solidFill>
                  <a:srgbClr val="44546A"/>
                </a:solidFill>
                <a:latin typeface="Arial" panose="020B0604020202090204" pitchFamily="34" charset="0"/>
                <a:ea typeface="Arial" panose="020B0604020202090204" pitchFamily="34" charset="-122"/>
                <a:cs typeface="Arial" panose="020B0604020202090204" pitchFamily="34" charset="-120"/>
              </a:rPr>
              <a:t>Do AI proposals score higher under AI evaluation on rephrased proposals?</a:t>
            </a:r>
            <a:endParaRPr lang="en-US" sz="900" dirty="0"/>
          </a:p>
        </p:txBody>
      </p:sp>
      <p:sp>
        <p:nvSpPr>
          <p:cNvPr id="28" name="Text 26"/>
          <p:cNvSpPr/>
          <p:nvPr/>
        </p:nvSpPr>
        <p:spPr>
          <a:xfrm>
            <a:off x="6953250" y="1619101"/>
            <a:ext cx="1768221" cy="666750"/>
          </a:xfrm>
          <a:prstGeom prst="rect">
            <a:avLst/>
          </a:prstGeom>
          <a:noFill/>
        </p:spPr>
        <p:txBody>
          <a:bodyPr wrap="square" lIns="0" tIns="0" rIns="0" bIns="0" rtlCol="0" anchor="t"/>
          <a:lstStyle/>
          <a:p>
            <a:pPr marL="0" indent="0" algn="l">
              <a:buNone/>
            </a:pPr>
            <a:r>
              <a:rPr lang="en-US" sz="900" b="1" dirty="0">
                <a:solidFill>
                  <a:srgbClr val="333333"/>
                </a:solidFill>
                <a:latin typeface="Arial" panose="020B0604020202090204" pitchFamily="34" charset="0"/>
                <a:ea typeface="Arial" panose="020B0604020202090204" pitchFamily="34" charset="-122"/>
                <a:cs typeface="Arial" panose="020B0604020202090204" pitchFamily="34" charset="-120"/>
              </a:rPr>
              <a:t>Yes, pattern holds:</a:t>
            </a:r>
            <a:r>
              <a:rPr lang="en-US" sz="900" dirty="0">
                <a:solidFill>
                  <a:srgbClr val="333333"/>
                </a:solidFill>
                <a:latin typeface="Arial" panose="020B0604020202090204" pitchFamily="34" charset="0"/>
                <a:ea typeface="Arial" panose="020B0604020202090204" pitchFamily="34" charset="-122"/>
                <a:cs typeface="Arial" panose="020B0604020202090204" pitchFamily="34" charset="-120"/>
              </a:rPr>
              <a:t> GPT (4.13) and Claude (3.96) score above human (3.39). GPT self-inflates (δ=+0.45). Cross-evaluator reruns confirm GPT advantage.</a:t>
            </a:r>
            <a:endParaRPr lang="en-US" sz="900" dirty="0"/>
          </a:p>
        </p:txBody>
      </p:sp>
      <p:sp>
        <p:nvSpPr>
          <p:cNvPr id="29" name="Text 27"/>
          <p:cNvSpPr/>
          <p:nvPr/>
        </p:nvSpPr>
        <p:spPr>
          <a:xfrm>
            <a:off x="304800" y="2673102"/>
            <a:ext cx="8534400" cy="847576"/>
          </a:xfrm>
          <a:prstGeom prst="roundRect">
            <a:avLst>
              <a:gd name="adj" fmla="val 8990"/>
            </a:avLst>
          </a:prstGeom>
          <a:solidFill>
            <a:srgbClr val="44546A"/>
          </a:solidFill>
        </p:spPr>
        <p:txBody>
          <a:bodyPr wrap="square" rtlCol="0" anchor="ctr"/>
          <a:lstStyle/>
          <a:p>
            <a:pPr marL="0" indent="0">
              <a:buNone/>
            </a:pPr>
            <a:endParaRPr lang="en-US" dirty="0"/>
          </a:p>
        </p:txBody>
      </p:sp>
      <p:sp>
        <p:nvSpPr>
          <p:cNvPr id="30" name="Text 28"/>
          <p:cNvSpPr/>
          <p:nvPr/>
        </p:nvSpPr>
        <p:spPr>
          <a:xfrm>
            <a:off x="507950" y="2800052"/>
            <a:ext cx="8290661" cy="142875"/>
          </a:xfrm>
          <a:prstGeom prst="rect">
            <a:avLst/>
          </a:prstGeom>
          <a:noFill/>
        </p:spPr>
        <p:txBody>
          <a:bodyPr wrap="square" lIns="0" tIns="0" rIns="0" bIns="0" rtlCol="0" anchor="t"/>
          <a:lstStyle/>
          <a:p>
            <a:pPr marL="0" indent="0" algn="l">
              <a:spcAft>
                <a:spcPts val="400"/>
              </a:spcAft>
              <a:buNone/>
            </a:pPr>
            <a:r>
              <a:rPr lang="en-US" sz="1000" b="1" dirty="0">
                <a:solidFill>
                  <a:srgbClr val="FFFFFF"/>
                </a:solidFill>
                <a:latin typeface="Arial" panose="020B0604020202090204" pitchFamily="34" charset="0"/>
                <a:ea typeface="Arial" panose="020B0604020202090204" pitchFamily="34" charset="-122"/>
                <a:cs typeface="Arial" panose="020B0604020202090204" pitchFamily="34" charset="-120"/>
              </a:rPr>
              <a:t>Main Takeaway</a:t>
            </a:r>
            <a:endParaRPr lang="en-US" sz="1000" dirty="0"/>
          </a:p>
        </p:txBody>
      </p:sp>
      <p:sp>
        <p:nvSpPr>
          <p:cNvPr id="31" name="Text 29"/>
          <p:cNvSpPr/>
          <p:nvPr/>
        </p:nvSpPr>
        <p:spPr>
          <a:xfrm>
            <a:off x="507950" y="2993678"/>
            <a:ext cx="8290661" cy="400050"/>
          </a:xfrm>
          <a:prstGeom prst="rect">
            <a:avLst/>
          </a:prstGeom>
          <a:noFill/>
        </p:spPr>
        <p:txBody>
          <a:bodyPr wrap="square" lIns="0" tIns="0" rIns="0" bIns="0" rtlCol="0" anchor="t"/>
          <a:lstStyle/>
          <a:p>
            <a:pPr marL="0" indent="0" algn="l">
              <a:buNone/>
            </a:pPr>
            <a:r>
              <a:rPr lang="en-US" sz="950" dirty="0">
                <a:solidFill>
                  <a:srgbClr val="E7E6E6"/>
                </a:solidFill>
                <a:latin typeface="Arial" panose="020B0604020202090204" pitchFamily="34" charset="0"/>
                <a:ea typeface="Arial" panose="020B0604020202090204" pitchFamily="34" charset="-122"/>
                <a:cs typeface="Arial" panose="020B0604020202090204" pitchFamily="34" charset="-120"/>
              </a:rPr>
              <a:t>Rephrasing reveals that the baseline novelty gap was largely stylistic, while diversity and thematic separation reflect genuine semantic differences. Human proposals are semantically more varied; AI proposals cluster in different conceptual regions. Quality scoring patterns are robust to style normalization.</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4472C4"/>
          </a:solidFill>
        </p:spPr>
        <p:txBody>
          <a:bodyPr wrap="square" rtlCol="0" anchor="ctr"/>
          <a:lstStyle/>
          <a:p>
            <a:pPr marL="0" indent="0">
              <a:buNone/>
            </a:pPr>
            <a:endParaRPr lang="en-US" dirty="0"/>
          </a:p>
        </p:txBody>
      </p:sp>
      <p:sp>
        <p:nvSpPr>
          <p:cNvPr id="3" name="Text 1"/>
          <p:cNvSpPr/>
          <p:nvPr/>
        </p:nvSpPr>
        <p:spPr>
          <a:xfrm>
            <a:off x="0" y="5067300"/>
            <a:ext cx="9144000" cy="76200"/>
          </a:xfrm>
          <a:prstGeom prst="rect">
            <a:avLst/>
          </a:prstGeom>
          <a:solidFill>
            <a:srgbClr val="44546A"/>
          </a:solidFill>
        </p:spPr>
        <p:txBody>
          <a:bodyPr wrap="square" rtlCol="0" anchor="ctr"/>
          <a:lstStyle/>
          <a:p>
            <a:pPr marL="0" indent="0">
              <a:buNone/>
            </a:pPr>
            <a:endParaRPr lang="en-US" dirty="0"/>
          </a:p>
        </p:txBody>
      </p:sp>
      <p:sp>
        <p:nvSpPr>
          <p:cNvPr id="4" name="Text 2"/>
          <p:cNvSpPr/>
          <p:nvPr/>
        </p:nvSpPr>
        <p:spPr>
          <a:xfrm>
            <a:off x="7112050" y="76200"/>
            <a:ext cx="2031950" cy="355550"/>
          </a:xfrm>
          <a:prstGeom prst="rect">
            <a:avLst/>
          </a:prstGeom>
          <a:solidFill>
            <a:srgbClr val="44546A"/>
          </a:solidFill>
        </p:spPr>
        <p:txBody>
          <a:bodyPr wrap="square" rtlCol="0" anchor="ctr"/>
          <a:lstStyle/>
          <a:p>
            <a:pPr marL="0" indent="0">
              <a:buNone/>
            </a:pPr>
            <a:endParaRPr lang="en-US" dirty="0"/>
          </a:p>
        </p:txBody>
      </p:sp>
      <p:sp>
        <p:nvSpPr>
          <p:cNvPr id="5" name="Text 3"/>
          <p:cNvSpPr/>
          <p:nvPr/>
        </p:nvSpPr>
        <p:spPr>
          <a:xfrm>
            <a:off x="7592467" y="187226"/>
            <a:ext cx="1092538" cy="133350"/>
          </a:xfrm>
          <a:prstGeom prst="rect">
            <a:avLst/>
          </a:prstGeom>
          <a:noFill/>
        </p:spPr>
        <p:txBody>
          <a:bodyPr wrap="square" lIns="0" tIns="0" rIns="0" bIns="0" rtlCol="0" anchor="t"/>
          <a:lstStyle/>
          <a:p>
            <a:pPr marL="0" indent="0" algn="l">
              <a:buNone/>
            </a:pPr>
            <a:r>
              <a:rPr lang="en-US" sz="900" b="1" dirty="0">
                <a:solidFill>
                  <a:srgbClr val="FFFFFF"/>
                </a:solidFill>
                <a:latin typeface="Arial" panose="020B0604020202090204" pitchFamily="34" charset="0"/>
                <a:ea typeface="Arial" panose="020B0604020202090204" pitchFamily="34" charset="-122"/>
                <a:cs typeface="Arial" panose="020B0604020202090204" pitchFamily="34" charset="-120"/>
              </a:rPr>
              <a:t>PART I · DIVERSITY</a:t>
            </a:r>
            <a:endParaRPr lang="en-US" sz="900" dirty="0"/>
          </a:p>
        </p:txBody>
      </p:sp>
      <p:sp>
        <p:nvSpPr>
          <p:cNvPr id="6" name="Text 4"/>
          <p:cNvSpPr/>
          <p:nvPr/>
        </p:nvSpPr>
        <p:spPr>
          <a:xfrm>
            <a:off x="304800" y="76200"/>
            <a:ext cx="790129" cy="190500"/>
          </a:xfrm>
          <a:prstGeom prst="roundRect">
            <a:avLst>
              <a:gd name="adj" fmla="val 20000"/>
            </a:avLst>
          </a:prstGeom>
          <a:solidFill>
            <a:srgbClr val="4472C4"/>
          </a:solidFill>
        </p:spPr>
        <p:txBody>
          <a:bodyPr wrap="square" rtlCol="0" anchor="ctr"/>
          <a:lstStyle/>
          <a:p>
            <a:pPr marL="0" indent="0">
              <a:buNone/>
            </a:pPr>
            <a:endParaRPr lang="en-US" dirty="0"/>
          </a:p>
        </p:txBody>
      </p:sp>
      <p:sp>
        <p:nvSpPr>
          <p:cNvPr id="7" name="Text 5"/>
          <p:cNvSpPr/>
          <p:nvPr/>
        </p:nvSpPr>
        <p:spPr>
          <a:xfrm>
            <a:off x="406301" y="114300"/>
            <a:ext cx="598869" cy="114300"/>
          </a:xfrm>
          <a:prstGeom prst="rect">
            <a:avLst/>
          </a:prstGeom>
          <a:noFill/>
        </p:spPr>
        <p:txBody>
          <a:bodyPr wrap="square" lIns="0" tIns="0" rIns="0" bIns="0" rtlCol="0" anchor="t"/>
          <a:lstStyle/>
          <a:p>
            <a:pPr marL="0" indent="0" algn="l">
              <a:buNone/>
            </a:pPr>
            <a:r>
              <a:rPr lang="en-US" sz="800" b="1" dirty="0">
                <a:solidFill>
                  <a:srgbClr val="FFFFFF"/>
                </a:solidFill>
                <a:latin typeface="Arial" panose="020B0604020202090204" pitchFamily="34" charset="0"/>
                <a:ea typeface="Arial" panose="020B0604020202090204" pitchFamily="34" charset="-122"/>
                <a:cs typeface="Arial" panose="020B0604020202090204" pitchFamily="34" charset="-120"/>
              </a:rPr>
              <a:t>Analysis 1.1</a:t>
            </a:r>
            <a:endParaRPr lang="en-US" sz="800" dirty="0"/>
          </a:p>
        </p:txBody>
      </p:sp>
      <p:sp>
        <p:nvSpPr>
          <p:cNvPr id="8" name="Text 6"/>
          <p:cNvSpPr/>
          <p:nvPr/>
        </p:nvSpPr>
        <p:spPr>
          <a:xfrm>
            <a:off x="304800" y="381000"/>
            <a:ext cx="7124649" cy="266700"/>
          </a:xfrm>
          <a:prstGeom prst="rect">
            <a:avLst/>
          </a:prstGeom>
          <a:noFill/>
        </p:spPr>
        <p:txBody>
          <a:bodyPr wrap="square" lIns="0" tIns="0" rIns="0" bIns="0" rtlCol="0" anchor="t"/>
          <a:lstStyle/>
          <a:p>
            <a:pPr marL="0" indent="0" algn="l">
              <a:buNone/>
            </a:pPr>
            <a:r>
              <a:rPr lang="en-US" sz="1800" b="1" dirty="0">
                <a:solidFill>
                  <a:srgbClr val="44546A"/>
                </a:solidFill>
                <a:latin typeface="Arial" panose="020B0604020202090204" pitchFamily="34" charset="0"/>
                <a:ea typeface="Arial" panose="020B0604020202090204" pitchFamily="34" charset="-122"/>
                <a:cs typeface="Arial" panose="020B0604020202090204" pitchFamily="34" charset="-120"/>
              </a:rPr>
              <a:t>Within-Group Pairwise Diversity</a:t>
            </a:r>
            <a:endParaRPr lang="en-US" sz="1800" dirty="0"/>
          </a:p>
        </p:txBody>
      </p:sp>
      <p:sp>
        <p:nvSpPr>
          <p:cNvPr id="9" name="Text 7"/>
          <p:cNvSpPr/>
          <p:nvPr/>
        </p:nvSpPr>
        <p:spPr>
          <a:xfrm>
            <a:off x="304800" y="673001"/>
            <a:ext cx="7124649" cy="142875"/>
          </a:xfrm>
          <a:prstGeom prst="rect">
            <a:avLst/>
          </a:prstGeom>
          <a:noFill/>
        </p:spPr>
        <p:txBody>
          <a:bodyPr wrap="square" lIns="0" tIns="0" rIns="0" bIns="0" rtlCol="0" anchor="t"/>
          <a:lstStyle/>
          <a:p>
            <a:pPr marL="0" indent="0" algn="l">
              <a:spcBef>
                <a:spcPts val="200"/>
              </a:spcBef>
              <a:buNone/>
            </a:pPr>
            <a:r>
              <a:rPr lang="en-US" sz="1000" dirty="0">
                <a:solidFill>
                  <a:srgbClr val="4472C4"/>
                </a:solidFill>
                <a:latin typeface="Arial" panose="020B0604020202090204" pitchFamily="34" charset="0"/>
                <a:ea typeface="Arial" panose="020B0604020202090204" pitchFamily="34" charset="-122"/>
                <a:cs typeface="Arial" panose="020B0604020202090204" pitchFamily="34" charset="-120"/>
              </a:rPr>
              <a:t>Proposal-level mean pairwise cosine distance; Mann-Whitney U + Cliff's δ + permutation tests</a:t>
            </a:r>
            <a:endParaRPr lang="en-US" sz="1000" dirty="0"/>
          </a:p>
        </p:txBody>
      </p:sp>
      <p:sp>
        <p:nvSpPr>
          <p:cNvPr id="10" name="Text 8"/>
          <p:cNvSpPr/>
          <p:nvPr/>
        </p:nvSpPr>
        <p:spPr>
          <a:xfrm>
            <a:off x="304800" y="812750"/>
            <a:ext cx="8534400" cy="25301"/>
          </a:xfrm>
          <a:prstGeom prst="rect">
            <a:avLst/>
          </a:prstGeom>
          <a:solidFill>
            <a:srgbClr val="4472C4"/>
          </a:solidFill>
        </p:spPr>
        <p:txBody>
          <a:bodyPr wrap="square" rtlCol="0" anchor="ctr"/>
          <a:lstStyle/>
          <a:p>
            <a:pPr marL="0" indent="0">
              <a:buNone/>
            </a:pPr>
            <a:endParaRPr lang="en-US" dirty="0"/>
          </a:p>
        </p:txBody>
      </p:sp>
      <p:sp>
        <p:nvSpPr>
          <p:cNvPr id="11" name="Text 9"/>
          <p:cNvSpPr/>
          <p:nvPr/>
        </p:nvSpPr>
        <p:spPr>
          <a:xfrm>
            <a:off x="269240" y="4613176"/>
            <a:ext cx="3627069" cy="228600"/>
          </a:xfrm>
          <a:prstGeom prst="rect">
            <a:avLst/>
          </a:prstGeom>
          <a:noFill/>
        </p:spPr>
        <p:txBody>
          <a:bodyPr wrap="square" lIns="0" tIns="0" rIns="0" bIns="0" rtlCol="0" anchor="t"/>
          <a:lstStyle/>
          <a:p>
            <a:pPr marL="0" indent="0" algn="ctr">
              <a:spcBef>
                <a:spcPts val="400"/>
              </a:spcBef>
              <a:buNone/>
            </a:pPr>
            <a:r>
              <a:rPr lang="en-US" sz="800" dirty="0">
                <a:solidFill>
                  <a:srgbClr val="666666"/>
                </a:solidFill>
                <a:latin typeface="Arial" panose="020B0604020202090204" pitchFamily="34" charset="0"/>
                <a:ea typeface="Arial" panose="020B0604020202090204" pitchFamily="34" charset="-122"/>
                <a:cs typeface="Arial" panose="020B0604020202090204" pitchFamily="34" charset="-120"/>
              </a:rPr>
              <a:t>Proposal-level mean pairwise cosine distance by group. Human baseline shown in red.</a:t>
            </a:r>
            <a:endParaRPr lang="en-US" sz="800" dirty="0"/>
          </a:p>
        </p:txBody>
      </p:sp>
      <p:sp>
        <p:nvSpPr>
          <p:cNvPr id="12" name="Text 10"/>
          <p:cNvSpPr/>
          <p:nvPr/>
        </p:nvSpPr>
        <p:spPr>
          <a:xfrm>
            <a:off x="4038451" y="914400"/>
            <a:ext cx="4800749" cy="641152"/>
          </a:xfrm>
          <a:prstGeom prst="roundRect">
            <a:avLst>
              <a:gd name="adj" fmla="val 9904"/>
            </a:avLst>
          </a:prstGeom>
          <a:solidFill>
            <a:srgbClr val="FFF4F4"/>
          </a:solidFill>
        </p:spPr>
        <p:txBody>
          <a:bodyPr wrap="square" rtlCol="0" anchor="ctr"/>
          <a:lstStyle/>
          <a:p>
            <a:pPr marL="0" indent="0">
              <a:buNone/>
            </a:pPr>
            <a:endParaRPr lang="en-US" dirty="0"/>
          </a:p>
        </p:txBody>
      </p:sp>
      <p:sp>
        <p:nvSpPr>
          <p:cNvPr id="13" name="Shape 11"/>
          <p:cNvSpPr/>
          <p:nvPr/>
        </p:nvSpPr>
        <p:spPr>
          <a:xfrm>
            <a:off x="4057501" y="914400"/>
            <a:ext cx="0" cy="641152"/>
          </a:xfrm>
          <a:prstGeom prst="line">
            <a:avLst/>
          </a:prstGeom>
          <a:noFill/>
          <a:ln w="38100">
            <a:solidFill>
              <a:srgbClr val="C00000"/>
            </a:solidFill>
            <a:prstDash val="solid"/>
          </a:ln>
        </p:spPr>
      </p:sp>
      <p:sp>
        <p:nvSpPr>
          <p:cNvPr id="14" name="Text 12"/>
          <p:cNvSpPr/>
          <p:nvPr/>
        </p:nvSpPr>
        <p:spPr>
          <a:xfrm>
            <a:off x="4203502" y="1015901"/>
            <a:ext cx="4598923" cy="133350"/>
          </a:xfrm>
          <a:prstGeom prst="rect">
            <a:avLst/>
          </a:prstGeom>
          <a:noFill/>
        </p:spPr>
        <p:txBody>
          <a:bodyPr wrap="square" lIns="0" tIns="0" rIns="0" bIns="0" rtlCol="0" anchor="t"/>
          <a:lstStyle/>
          <a:p>
            <a:pPr marL="0" indent="0" algn="l">
              <a:spcAft>
                <a:spcPts val="300"/>
              </a:spcAft>
              <a:buNone/>
            </a:pPr>
            <a:r>
              <a:rPr lang="en-US" sz="950" b="1" dirty="0">
                <a:solidFill>
                  <a:srgbClr val="C00000"/>
                </a:solidFill>
                <a:latin typeface="Arial" panose="020B0604020202090204" pitchFamily="34" charset="0"/>
                <a:ea typeface="Arial" panose="020B0604020202090204" pitchFamily="34" charset="-122"/>
                <a:cs typeface="Arial" panose="020B0604020202090204" pitchFamily="34" charset="-120"/>
              </a:rPr>
              <a:t>Humans most diverse — reversal from baseline</a:t>
            </a:r>
            <a:endParaRPr lang="en-US" sz="950" dirty="0"/>
          </a:p>
        </p:txBody>
      </p:sp>
      <p:sp>
        <p:nvSpPr>
          <p:cNvPr id="15" name="Text 13"/>
          <p:cNvSpPr/>
          <p:nvPr/>
        </p:nvSpPr>
        <p:spPr>
          <a:xfrm>
            <a:off x="4203502" y="1187351"/>
            <a:ext cx="4598923" cy="26670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Human mean pairwise distance = 0.364; All AI combined = 0.114. Cliff's δ = −0.885 (large effect), permutation p &lt; 0.001. Bootstrap 95% CI for mean diff: [−0.323, −0.183].</a:t>
            </a:r>
            <a:endParaRPr lang="en-US" sz="900" dirty="0"/>
          </a:p>
        </p:txBody>
      </p:sp>
      <p:sp>
        <p:nvSpPr>
          <p:cNvPr id="16" name="Text 14"/>
          <p:cNvSpPr/>
          <p:nvPr/>
        </p:nvSpPr>
        <p:spPr>
          <a:xfrm>
            <a:off x="4038451" y="1644402"/>
            <a:ext cx="4800749" cy="641152"/>
          </a:xfrm>
          <a:prstGeom prst="roundRect">
            <a:avLst>
              <a:gd name="adj" fmla="val 9904"/>
            </a:avLst>
          </a:prstGeom>
          <a:solidFill>
            <a:srgbClr val="FEF4EC"/>
          </a:solidFill>
        </p:spPr>
        <p:txBody>
          <a:bodyPr wrap="square" rtlCol="0" anchor="ctr"/>
          <a:lstStyle/>
          <a:p>
            <a:pPr marL="0" indent="0">
              <a:buNone/>
            </a:pPr>
            <a:endParaRPr lang="en-US" dirty="0"/>
          </a:p>
        </p:txBody>
      </p:sp>
      <p:sp>
        <p:nvSpPr>
          <p:cNvPr id="17" name="Shape 15"/>
          <p:cNvSpPr/>
          <p:nvPr/>
        </p:nvSpPr>
        <p:spPr>
          <a:xfrm>
            <a:off x="4057501" y="1644402"/>
            <a:ext cx="0" cy="641152"/>
          </a:xfrm>
          <a:prstGeom prst="line">
            <a:avLst/>
          </a:prstGeom>
          <a:noFill/>
          <a:ln w="38100">
            <a:solidFill>
              <a:srgbClr val="ED7D31"/>
            </a:solidFill>
            <a:prstDash val="solid"/>
          </a:ln>
        </p:spPr>
      </p:sp>
      <p:sp>
        <p:nvSpPr>
          <p:cNvPr id="18" name="Text 16"/>
          <p:cNvSpPr/>
          <p:nvPr/>
        </p:nvSpPr>
        <p:spPr>
          <a:xfrm>
            <a:off x="4203502" y="1745903"/>
            <a:ext cx="4598923" cy="133350"/>
          </a:xfrm>
          <a:prstGeom prst="rect">
            <a:avLst/>
          </a:prstGeom>
          <a:noFill/>
        </p:spPr>
        <p:txBody>
          <a:bodyPr wrap="square" lIns="0" tIns="0" rIns="0" bIns="0" rtlCol="0" anchor="t"/>
          <a:lstStyle/>
          <a:p>
            <a:pPr marL="0" indent="0" algn="l">
              <a:spcAft>
                <a:spcPts val="300"/>
              </a:spcAft>
              <a:buNone/>
            </a:pPr>
            <a:r>
              <a:rPr lang="en-US" sz="950" b="1" dirty="0">
                <a:solidFill>
                  <a:srgbClr val="C55A11"/>
                </a:solidFill>
                <a:latin typeface="Arial" panose="020B0604020202090204" pitchFamily="34" charset="0"/>
                <a:ea typeface="Arial" panose="020B0604020202090204" pitchFamily="34" charset="-122"/>
                <a:cs typeface="Arial" panose="020B0604020202090204" pitchFamily="34" charset="-120"/>
              </a:rPr>
              <a:t>GPT-5.2 remains maximally homogeneous</a:t>
            </a:r>
            <a:endParaRPr lang="en-US" sz="950" dirty="0"/>
          </a:p>
        </p:txBody>
      </p:sp>
      <p:sp>
        <p:nvSpPr>
          <p:cNvPr id="19" name="Text 17"/>
          <p:cNvSpPr/>
          <p:nvPr/>
        </p:nvSpPr>
        <p:spPr>
          <a:xfrm>
            <a:off x="4203502" y="1917353"/>
            <a:ext cx="4598923" cy="26670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Mean = 0.030; near-zero variance (Std = 0.006). Cliff's δ = −1.00, p &lt; 0.001. All GPT proposals occupy essentially the same point in embedding space.</a:t>
            </a:r>
            <a:endParaRPr lang="en-US" sz="900" dirty="0"/>
          </a:p>
        </p:txBody>
      </p:sp>
      <p:sp>
        <p:nvSpPr>
          <p:cNvPr id="20" name="Text 18"/>
          <p:cNvSpPr/>
          <p:nvPr/>
        </p:nvSpPr>
        <p:spPr>
          <a:xfrm>
            <a:off x="4038451" y="2374404"/>
            <a:ext cx="4800749" cy="641152"/>
          </a:xfrm>
          <a:prstGeom prst="roundRect">
            <a:avLst>
              <a:gd name="adj" fmla="val 9904"/>
            </a:avLst>
          </a:prstGeom>
          <a:solidFill>
            <a:srgbClr val="EEF2FA"/>
          </a:solidFill>
        </p:spPr>
        <p:txBody>
          <a:bodyPr wrap="square" rtlCol="0" anchor="ctr"/>
          <a:lstStyle/>
          <a:p>
            <a:pPr marL="0" indent="0">
              <a:buNone/>
            </a:pPr>
            <a:endParaRPr lang="en-US" dirty="0"/>
          </a:p>
        </p:txBody>
      </p:sp>
      <p:sp>
        <p:nvSpPr>
          <p:cNvPr id="21" name="Shape 19"/>
          <p:cNvSpPr/>
          <p:nvPr/>
        </p:nvSpPr>
        <p:spPr>
          <a:xfrm>
            <a:off x="4057501" y="2374404"/>
            <a:ext cx="0" cy="641152"/>
          </a:xfrm>
          <a:prstGeom prst="line">
            <a:avLst/>
          </a:prstGeom>
          <a:noFill/>
          <a:ln w="38100">
            <a:solidFill>
              <a:srgbClr val="4472C4"/>
            </a:solidFill>
            <a:prstDash val="solid"/>
          </a:ln>
        </p:spPr>
      </p:sp>
      <p:sp>
        <p:nvSpPr>
          <p:cNvPr id="22" name="Text 20"/>
          <p:cNvSpPr/>
          <p:nvPr/>
        </p:nvSpPr>
        <p:spPr>
          <a:xfrm>
            <a:off x="4203502" y="2475905"/>
            <a:ext cx="4598923" cy="133350"/>
          </a:xfrm>
          <a:prstGeom prst="rect">
            <a:avLst/>
          </a:prstGeom>
          <a:noFill/>
        </p:spPr>
        <p:txBody>
          <a:bodyPr wrap="square" lIns="0" tIns="0" rIns="0" bIns="0" rtlCol="0" anchor="t"/>
          <a:lstStyle/>
          <a:p>
            <a:pPr marL="0" indent="0" algn="l">
              <a:spcAft>
                <a:spcPts val="300"/>
              </a:spcAft>
              <a:buNone/>
            </a:pPr>
            <a:r>
              <a:rPr lang="en-US" sz="950" b="1" dirty="0">
                <a:solidFill>
                  <a:srgbClr val="4472C4"/>
                </a:solidFill>
                <a:latin typeface="Arial" panose="020B0604020202090204" pitchFamily="34" charset="0"/>
                <a:ea typeface="Arial" panose="020B0604020202090204" pitchFamily="34" charset="-122"/>
                <a:cs typeface="Arial" panose="020B0604020202090204" pitchFamily="34" charset="-120"/>
              </a:rPr>
              <a:t>Claude and Gemini intermediate</a:t>
            </a:r>
            <a:endParaRPr lang="en-US" sz="950" dirty="0"/>
          </a:p>
        </p:txBody>
      </p:sp>
      <p:sp>
        <p:nvSpPr>
          <p:cNvPr id="23" name="Text 21"/>
          <p:cNvSpPr/>
          <p:nvPr/>
        </p:nvSpPr>
        <p:spPr>
          <a:xfrm>
            <a:off x="4203502" y="2647355"/>
            <a:ext cx="4598923" cy="26670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Claude mean = 0.144; Gemini mean = 0.160. Both significantly less diverse than humans. Model-specific differences persist after style removal.</a:t>
            </a:r>
            <a:endParaRPr lang="en-US" sz="900" dirty="0"/>
          </a:p>
        </p:txBody>
      </p:sp>
      <p:sp>
        <p:nvSpPr>
          <p:cNvPr id="24" name="Text 22"/>
          <p:cNvSpPr/>
          <p:nvPr/>
        </p:nvSpPr>
        <p:spPr>
          <a:xfrm>
            <a:off x="4038451" y="3104406"/>
            <a:ext cx="4800749" cy="514350"/>
          </a:xfrm>
          <a:prstGeom prst="roundRect">
            <a:avLst>
              <a:gd name="adj" fmla="val 9877"/>
            </a:avLst>
          </a:prstGeom>
          <a:solidFill>
            <a:srgbClr val="FFFBE6"/>
          </a:solidFill>
          <a:ln w="9525">
            <a:solidFill>
              <a:srgbClr val="FFC000"/>
            </a:solidFill>
          </a:ln>
        </p:spPr>
        <p:txBody>
          <a:bodyPr wrap="square" rtlCol="0" anchor="ctr"/>
          <a:lstStyle/>
          <a:p>
            <a:pPr marL="0" indent="0">
              <a:buNone/>
            </a:pPr>
            <a:endParaRPr lang="en-US" dirty="0"/>
          </a:p>
        </p:txBody>
      </p:sp>
      <p:sp>
        <p:nvSpPr>
          <p:cNvPr id="25" name="Text 23"/>
          <p:cNvSpPr/>
          <p:nvPr/>
        </p:nvSpPr>
        <p:spPr>
          <a:xfrm>
            <a:off x="4174927" y="3190131"/>
            <a:ext cx="4618354" cy="342900"/>
          </a:xfrm>
          <a:prstGeom prst="rect">
            <a:avLst/>
          </a:prstGeom>
          <a:noFill/>
        </p:spPr>
        <p:txBody>
          <a:bodyPr wrap="square" lIns="0" tIns="0" rIns="0" bIns="0" rtlCol="0" anchor="t"/>
          <a:lstStyle/>
          <a:p>
            <a:pPr marL="0" indent="0" algn="l">
              <a:buNone/>
            </a:pPr>
            <a:r>
              <a:rPr lang="en-US" sz="850" b="1" dirty="0">
                <a:solidFill>
                  <a:srgbClr val="444444"/>
                </a:solidFill>
                <a:latin typeface="Arial" panose="020B0604020202090204" pitchFamily="34" charset="0"/>
                <a:ea typeface="Arial" panose="020B0604020202090204" pitchFamily="34" charset="-122"/>
                <a:cs typeface="Arial" panose="020B0604020202090204" pitchFamily="34" charset="-120"/>
              </a:rPr>
              <a:t>Key difference from baseline:</a:t>
            </a:r>
            <a:r>
              <a:rPr lang="en-US" sz="850" dirty="0">
                <a:solidFill>
                  <a:srgbClr val="444444"/>
                </a:solidFill>
                <a:latin typeface="Arial" panose="020B0604020202090204" pitchFamily="34" charset="0"/>
                <a:ea typeface="Arial" panose="020B0604020202090204" pitchFamily="34" charset="-122"/>
                <a:cs typeface="Arial" panose="020B0604020202090204" pitchFamily="34" charset="-120"/>
              </a:rPr>
              <a:t> Baseline showed Claude &gt; Human in pairwise diversity (Cliff's δ = +1.00) and All AI &gt; Human. After rephrasing, the pattern inverts: Human &gt; All AI. Style was inflating Claude's apparent diversity.</a:t>
            </a:r>
            <a:endParaRPr lang="en-US" sz="850" dirty="0"/>
          </a:p>
        </p:txBody>
      </p:sp>
      <p:pic>
        <p:nvPicPr>
          <p:cNvPr id="26" name="Image 0" descr="/Users/eveyhuang/Documents/NICO/human-AI-proposal-comparison/results/figures/rephrased/pairwise_diversity_by_model.png"/>
          <p:cNvPicPr>
            <a:picLocks noChangeAspect="1"/>
          </p:cNvPicPr>
          <p:nvPr/>
        </p:nvPicPr>
        <p:blipFill>
          <a:blip r:embed="rId1"/>
          <a:stretch>
            <a:fillRect/>
          </a:stretch>
        </p:blipFill>
        <p:spPr>
          <a:xfrm>
            <a:off x="45720" y="952500"/>
            <a:ext cx="3865880" cy="30378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4472C4"/>
          </a:solidFill>
        </p:spPr>
        <p:txBody>
          <a:bodyPr wrap="square" rtlCol="0" anchor="ctr"/>
          <a:lstStyle/>
          <a:p>
            <a:pPr marL="0" indent="0">
              <a:buNone/>
            </a:pPr>
            <a:endParaRPr lang="en-US" dirty="0"/>
          </a:p>
        </p:txBody>
      </p:sp>
      <p:sp>
        <p:nvSpPr>
          <p:cNvPr id="3" name="Text 1"/>
          <p:cNvSpPr/>
          <p:nvPr/>
        </p:nvSpPr>
        <p:spPr>
          <a:xfrm>
            <a:off x="0" y="5067300"/>
            <a:ext cx="9144000" cy="76200"/>
          </a:xfrm>
          <a:prstGeom prst="rect">
            <a:avLst/>
          </a:prstGeom>
          <a:solidFill>
            <a:srgbClr val="44546A"/>
          </a:solidFill>
        </p:spPr>
        <p:txBody>
          <a:bodyPr wrap="square" rtlCol="0" anchor="ctr"/>
          <a:lstStyle/>
          <a:p>
            <a:pPr marL="0" indent="0">
              <a:buNone/>
            </a:pPr>
            <a:endParaRPr lang="en-US" dirty="0"/>
          </a:p>
        </p:txBody>
      </p:sp>
      <p:sp>
        <p:nvSpPr>
          <p:cNvPr id="4" name="Text 2"/>
          <p:cNvSpPr/>
          <p:nvPr/>
        </p:nvSpPr>
        <p:spPr>
          <a:xfrm>
            <a:off x="7112050" y="76200"/>
            <a:ext cx="2031950" cy="355550"/>
          </a:xfrm>
          <a:prstGeom prst="rect">
            <a:avLst/>
          </a:prstGeom>
          <a:solidFill>
            <a:srgbClr val="44546A"/>
          </a:solidFill>
        </p:spPr>
        <p:txBody>
          <a:bodyPr wrap="square" rtlCol="0" anchor="ctr"/>
          <a:lstStyle/>
          <a:p>
            <a:pPr marL="0" indent="0">
              <a:buNone/>
            </a:pPr>
            <a:endParaRPr lang="en-US" dirty="0"/>
          </a:p>
        </p:txBody>
      </p:sp>
      <p:sp>
        <p:nvSpPr>
          <p:cNvPr id="5" name="Text 3"/>
          <p:cNvSpPr/>
          <p:nvPr/>
        </p:nvSpPr>
        <p:spPr>
          <a:xfrm>
            <a:off x="7592467" y="187226"/>
            <a:ext cx="1092538" cy="133350"/>
          </a:xfrm>
          <a:prstGeom prst="rect">
            <a:avLst/>
          </a:prstGeom>
          <a:noFill/>
        </p:spPr>
        <p:txBody>
          <a:bodyPr wrap="square" lIns="0" tIns="0" rIns="0" bIns="0" rtlCol="0" anchor="t"/>
          <a:lstStyle/>
          <a:p>
            <a:pPr marL="0" indent="0" algn="l">
              <a:buNone/>
            </a:pPr>
            <a:r>
              <a:rPr lang="en-US" sz="900" b="1" dirty="0">
                <a:solidFill>
                  <a:srgbClr val="FFFFFF"/>
                </a:solidFill>
                <a:latin typeface="Arial" panose="020B0604020202090204" pitchFamily="34" charset="0"/>
                <a:ea typeface="Arial" panose="020B0604020202090204" pitchFamily="34" charset="-122"/>
                <a:cs typeface="Arial" panose="020B0604020202090204" pitchFamily="34" charset="-120"/>
              </a:rPr>
              <a:t>PART I · DIVERSITY</a:t>
            </a:r>
            <a:endParaRPr lang="en-US" sz="900" dirty="0"/>
          </a:p>
        </p:txBody>
      </p:sp>
      <p:sp>
        <p:nvSpPr>
          <p:cNvPr id="6" name="Text 4"/>
          <p:cNvSpPr/>
          <p:nvPr/>
        </p:nvSpPr>
        <p:spPr>
          <a:xfrm>
            <a:off x="304800" y="76200"/>
            <a:ext cx="1089273" cy="190500"/>
          </a:xfrm>
          <a:prstGeom prst="roundRect">
            <a:avLst>
              <a:gd name="adj" fmla="val 20000"/>
            </a:avLst>
          </a:prstGeom>
          <a:solidFill>
            <a:srgbClr val="4472C4"/>
          </a:solidFill>
        </p:spPr>
        <p:txBody>
          <a:bodyPr wrap="square" rtlCol="0" anchor="ctr"/>
          <a:lstStyle/>
          <a:p>
            <a:pPr marL="0" indent="0">
              <a:buNone/>
            </a:pPr>
            <a:endParaRPr lang="en-US" dirty="0"/>
          </a:p>
        </p:txBody>
      </p:sp>
      <p:sp>
        <p:nvSpPr>
          <p:cNvPr id="7" name="Text 5"/>
          <p:cNvSpPr/>
          <p:nvPr/>
        </p:nvSpPr>
        <p:spPr>
          <a:xfrm>
            <a:off x="406301" y="114300"/>
            <a:ext cx="903997" cy="114300"/>
          </a:xfrm>
          <a:prstGeom prst="rect">
            <a:avLst/>
          </a:prstGeom>
          <a:noFill/>
        </p:spPr>
        <p:txBody>
          <a:bodyPr wrap="square" lIns="0" tIns="0" rIns="0" bIns="0" rtlCol="0" anchor="t"/>
          <a:lstStyle/>
          <a:p>
            <a:pPr marL="0" indent="0" algn="l">
              <a:buNone/>
            </a:pPr>
            <a:r>
              <a:rPr lang="en-US" sz="800" b="1" dirty="0">
                <a:solidFill>
                  <a:srgbClr val="FFFFFF"/>
                </a:solidFill>
                <a:latin typeface="Arial" panose="020B0604020202090204" pitchFamily="34" charset="0"/>
                <a:ea typeface="Arial" panose="020B0604020202090204" pitchFamily="34" charset="-122"/>
                <a:cs typeface="Arial" panose="020B0604020202090204" pitchFamily="34" charset="-120"/>
              </a:rPr>
              <a:t>Analyses 1.2 &amp; 1.3</a:t>
            </a:r>
            <a:endParaRPr lang="en-US" sz="800" dirty="0"/>
          </a:p>
        </p:txBody>
      </p:sp>
      <p:sp>
        <p:nvSpPr>
          <p:cNvPr id="8" name="Text 6"/>
          <p:cNvSpPr/>
          <p:nvPr/>
        </p:nvSpPr>
        <p:spPr>
          <a:xfrm>
            <a:off x="304800" y="381000"/>
            <a:ext cx="7124649" cy="266700"/>
          </a:xfrm>
          <a:prstGeom prst="rect">
            <a:avLst/>
          </a:prstGeom>
          <a:noFill/>
        </p:spPr>
        <p:txBody>
          <a:bodyPr wrap="square" lIns="0" tIns="0" rIns="0" bIns="0" rtlCol="0" anchor="t"/>
          <a:lstStyle/>
          <a:p>
            <a:pPr marL="0" indent="0" algn="l">
              <a:buNone/>
            </a:pPr>
            <a:r>
              <a:rPr lang="en-US" sz="1800" b="1" dirty="0">
                <a:solidFill>
                  <a:srgbClr val="44546A"/>
                </a:solidFill>
                <a:latin typeface="Arial" panose="020B0604020202090204" pitchFamily="34" charset="0"/>
                <a:ea typeface="Arial" panose="020B0604020202090204" pitchFamily="34" charset="-122"/>
                <a:cs typeface="Arial" panose="020B0604020202090204" pitchFamily="34" charset="-120"/>
              </a:rPr>
              <a:t>Centroid Dispersion &amp; Nearest-Neighbor Analysis</a:t>
            </a:r>
            <a:endParaRPr lang="en-US" sz="1800" dirty="0"/>
          </a:p>
        </p:txBody>
      </p:sp>
      <p:sp>
        <p:nvSpPr>
          <p:cNvPr id="9" name="Text 7"/>
          <p:cNvSpPr/>
          <p:nvPr/>
        </p:nvSpPr>
        <p:spPr>
          <a:xfrm>
            <a:off x="304800" y="673001"/>
            <a:ext cx="7124649" cy="142875"/>
          </a:xfrm>
          <a:prstGeom prst="rect">
            <a:avLst/>
          </a:prstGeom>
          <a:noFill/>
        </p:spPr>
        <p:txBody>
          <a:bodyPr wrap="square" lIns="0" tIns="0" rIns="0" bIns="0" rtlCol="0" anchor="t"/>
          <a:lstStyle/>
          <a:p>
            <a:pPr marL="0" indent="0" algn="l">
              <a:spcBef>
                <a:spcPts val="200"/>
              </a:spcBef>
              <a:buNone/>
            </a:pPr>
            <a:r>
              <a:rPr lang="en-US" sz="1000" dirty="0">
                <a:solidFill>
                  <a:srgbClr val="4472C4"/>
                </a:solidFill>
                <a:latin typeface="Arial" panose="020B0604020202090204" pitchFamily="34" charset="0"/>
                <a:ea typeface="Arial" panose="020B0604020202090204" pitchFamily="34" charset="-122"/>
                <a:cs typeface="Arial" panose="020B0604020202090204" pitchFamily="34" charset="-120"/>
              </a:rPr>
              <a:t>Distance to group centroid and outlier detection across 92 proposals in combined space</a:t>
            </a:r>
            <a:endParaRPr lang="en-US" sz="1000" dirty="0"/>
          </a:p>
        </p:txBody>
      </p:sp>
      <p:sp>
        <p:nvSpPr>
          <p:cNvPr id="10" name="Text 8"/>
          <p:cNvSpPr/>
          <p:nvPr/>
        </p:nvSpPr>
        <p:spPr>
          <a:xfrm>
            <a:off x="304800" y="812750"/>
            <a:ext cx="8534400" cy="25301"/>
          </a:xfrm>
          <a:prstGeom prst="rect">
            <a:avLst/>
          </a:prstGeom>
          <a:solidFill>
            <a:srgbClr val="4472C4"/>
          </a:solidFill>
        </p:spPr>
        <p:txBody>
          <a:bodyPr wrap="square" rtlCol="0" anchor="ctr"/>
          <a:lstStyle/>
          <a:p>
            <a:pPr marL="0" indent="0">
              <a:buNone/>
            </a:pPr>
            <a:endParaRPr lang="en-US" dirty="0"/>
          </a:p>
        </p:txBody>
      </p:sp>
      <p:sp>
        <p:nvSpPr>
          <p:cNvPr id="11" name="Text 9"/>
          <p:cNvSpPr/>
          <p:nvPr/>
        </p:nvSpPr>
        <p:spPr>
          <a:xfrm>
            <a:off x="279401" y="3301901"/>
            <a:ext cx="2590699" cy="228600"/>
          </a:xfrm>
          <a:prstGeom prst="rect">
            <a:avLst/>
          </a:prstGeom>
          <a:noFill/>
        </p:spPr>
        <p:txBody>
          <a:bodyPr wrap="square" lIns="0" tIns="0" rIns="0" bIns="0" rtlCol="0" anchor="t"/>
          <a:lstStyle/>
          <a:p>
            <a:pPr marL="0" indent="0" algn="ctr">
              <a:spcBef>
                <a:spcPts val="300"/>
              </a:spcBef>
              <a:buNone/>
            </a:pPr>
            <a:r>
              <a:rPr lang="en-US" sz="800" dirty="0">
                <a:solidFill>
                  <a:srgbClr val="666666"/>
                </a:solidFill>
                <a:latin typeface="Arial" panose="020B0604020202090204" pitchFamily="34" charset="0"/>
                <a:ea typeface="Arial" panose="020B0604020202090204" pitchFamily="34" charset="-122"/>
                <a:cs typeface="Arial" panose="020B0604020202090204" pitchFamily="34" charset="-120"/>
              </a:rPr>
              <a:t>Centroid dispersion by model. Larger = more spread from center.</a:t>
            </a:r>
            <a:endParaRPr lang="en-US" sz="800" dirty="0"/>
          </a:p>
        </p:txBody>
      </p:sp>
      <p:sp>
        <p:nvSpPr>
          <p:cNvPr id="12" name="Text 10"/>
          <p:cNvSpPr/>
          <p:nvPr/>
        </p:nvSpPr>
        <p:spPr>
          <a:xfrm>
            <a:off x="2997003" y="3301901"/>
            <a:ext cx="2590699" cy="114300"/>
          </a:xfrm>
          <a:prstGeom prst="rect">
            <a:avLst/>
          </a:prstGeom>
          <a:noFill/>
        </p:spPr>
        <p:txBody>
          <a:bodyPr wrap="square" lIns="0" tIns="0" rIns="0" bIns="0" rtlCol="0" anchor="t"/>
          <a:lstStyle/>
          <a:p>
            <a:pPr marL="0" indent="0" algn="ctr">
              <a:spcBef>
                <a:spcPts val="300"/>
              </a:spcBef>
              <a:buNone/>
            </a:pPr>
            <a:r>
              <a:rPr lang="en-US" sz="800" dirty="0">
                <a:solidFill>
                  <a:srgbClr val="666666"/>
                </a:solidFill>
                <a:latin typeface="Arial" panose="020B0604020202090204" pitchFamily="34" charset="0"/>
                <a:ea typeface="Arial" panose="020B0604020202090204" pitchFamily="34" charset="-122"/>
                <a:cs typeface="Arial" panose="020B0604020202090204" pitchFamily="34" charset="-120"/>
              </a:rPr>
              <a:t>Nearest-neighbor distances by model group.</a:t>
            </a:r>
            <a:endParaRPr lang="en-US" sz="800" dirty="0"/>
          </a:p>
        </p:txBody>
      </p:sp>
      <p:sp>
        <p:nvSpPr>
          <p:cNvPr id="13" name="Text 11"/>
          <p:cNvSpPr/>
          <p:nvPr/>
        </p:nvSpPr>
        <p:spPr>
          <a:xfrm>
            <a:off x="1679377" y="3612952"/>
            <a:ext cx="2590699" cy="133350"/>
          </a:xfrm>
          <a:prstGeom prst="rect">
            <a:avLst/>
          </a:prstGeom>
          <a:noFill/>
        </p:spPr>
        <p:txBody>
          <a:bodyPr wrap="square" lIns="0" tIns="0" rIns="0" bIns="0" rtlCol="0" anchor="t"/>
          <a:lstStyle/>
          <a:p>
            <a:pPr marL="0" indent="0" algn="l">
              <a:spcBef>
                <a:spcPts val="800"/>
              </a:spcBef>
              <a:spcAft>
                <a:spcPts val="400"/>
              </a:spcAft>
              <a:buNone/>
            </a:pPr>
            <a:r>
              <a:rPr lang="en-US" sz="900" b="1" dirty="0">
                <a:solidFill>
                  <a:srgbClr val="44546A"/>
                </a:solidFill>
                <a:latin typeface="Arial" panose="020B0604020202090204" pitchFamily="34" charset="0"/>
                <a:ea typeface="Arial" panose="020B0604020202090204" pitchFamily="34" charset="-122"/>
                <a:cs typeface="Arial" panose="020B0604020202090204" pitchFamily="34" charset="-120"/>
              </a:rPr>
              <a:t>NN Group Membership</a:t>
            </a:r>
            <a:endParaRPr lang="en-US" sz="900" dirty="0"/>
          </a:p>
        </p:txBody>
      </p:sp>
      <p:sp>
        <p:nvSpPr>
          <p:cNvPr id="14" name="Text 12"/>
          <p:cNvSpPr/>
          <p:nvPr/>
        </p:nvSpPr>
        <p:spPr>
          <a:xfrm>
            <a:off x="993577" y="3824992"/>
            <a:ext cx="1428452" cy="485626"/>
          </a:xfrm>
          <a:prstGeom prst="roundRect">
            <a:avLst>
              <a:gd name="adj" fmla="val 10461"/>
            </a:avLst>
          </a:prstGeom>
          <a:solidFill>
            <a:srgbClr val="FFF4F4"/>
          </a:solidFill>
          <a:ln w="9525">
            <a:solidFill>
              <a:srgbClr val="C00000"/>
            </a:solidFill>
          </a:ln>
        </p:spPr>
        <p:txBody>
          <a:bodyPr wrap="square" rtlCol="0" anchor="ctr"/>
          <a:lstStyle/>
          <a:p>
            <a:pPr marL="0" indent="0">
              <a:buNone/>
            </a:pPr>
            <a:endParaRPr lang="en-US" dirty="0"/>
          </a:p>
        </p:txBody>
      </p:sp>
      <p:sp>
        <p:nvSpPr>
          <p:cNvPr id="15" name="Text 13"/>
          <p:cNvSpPr/>
          <p:nvPr/>
        </p:nvSpPr>
        <p:spPr>
          <a:xfrm>
            <a:off x="1104602" y="3885267"/>
            <a:ext cx="1230529" cy="114300"/>
          </a:xfrm>
          <a:prstGeom prst="rect">
            <a:avLst/>
          </a:prstGeom>
          <a:noFill/>
        </p:spPr>
        <p:txBody>
          <a:bodyPr wrap="square" lIns="0" tIns="0" rIns="0" bIns="0" rtlCol="0" anchor="t"/>
          <a:lstStyle/>
          <a:p>
            <a:pPr marL="0" indent="0" algn="l">
              <a:spcAft>
                <a:spcPts val="100"/>
              </a:spcAft>
              <a:buNone/>
            </a:pPr>
            <a:r>
              <a:rPr lang="en-US" sz="850" b="1" dirty="0">
                <a:solidFill>
                  <a:srgbClr val="C00000"/>
                </a:solidFill>
                <a:latin typeface="Arial" panose="020B0604020202090204" pitchFamily="34" charset="0"/>
                <a:ea typeface="Arial" panose="020B0604020202090204" pitchFamily="34" charset="-122"/>
                <a:cs typeface="Arial" panose="020B0604020202090204" pitchFamily="34" charset="-120"/>
              </a:rPr>
              <a:t>Human</a:t>
            </a:r>
            <a:endParaRPr lang="en-US" sz="850" dirty="0"/>
          </a:p>
        </p:txBody>
      </p:sp>
      <p:sp>
        <p:nvSpPr>
          <p:cNvPr id="16" name="Text 14"/>
          <p:cNvSpPr/>
          <p:nvPr/>
        </p:nvSpPr>
        <p:spPr>
          <a:xfrm>
            <a:off x="1104602" y="4012218"/>
            <a:ext cx="1230529" cy="133350"/>
          </a:xfrm>
          <a:prstGeom prst="rect">
            <a:avLst/>
          </a:prstGeom>
          <a:noFill/>
        </p:spPr>
        <p:txBody>
          <a:bodyPr wrap="square" lIns="0" tIns="0" rIns="0" bIns="0" rtlCol="0" anchor="t"/>
          <a:lstStyle/>
          <a:p>
            <a:pPr marL="0" indent="0" algn="l">
              <a:buNone/>
            </a:pPr>
            <a:r>
              <a:rPr lang="en-US" sz="900" b="1" dirty="0">
                <a:solidFill>
                  <a:srgbClr val="000000"/>
                </a:solidFill>
                <a:latin typeface="Arial" panose="020B0604020202090204" pitchFamily="34" charset="0"/>
                <a:ea typeface="Arial" panose="020B0604020202090204" pitchFamily="34" charset="-122"/>
                <a:cs typeface="Arial" panose="020B0604020202090204" pitchFamily="34" charset="-120"/>
              </a:rPr>
              <a:t>21.7% outliers</a:t>
            </a:r>
            <a:endParaRPr lang="en-US" sz="900" dirty="0"/>
          </a:p>
        </p:txBody>
      </p:sp>
      <p:sp>
        <p:nvSpPr>
          <p:cNvPr id="17" name="Text 15"/>
          <p:cNvSpPr/>
          <p:nvPr/>
        </p:nvSpPr>
        <p:spPr>
          <a:xfrm>
            <a:off x="1104602" y="4145568"/>
            <a:ext cx="1230529" cy="104775"/>
          </a:xfrm>
          <a:prstGeom prst="rect">
            <a:avLst/>
          </a:prstGeom>
          <a:noFill/>
        </p:spPr>
        <p:txBody>
          <a:bodyPr wrap="square" lIns="0" tIns="0" rIns="0" bIns="0" rtlCol="0" anchor="t"/>
          <a:lstStyle/>
          <a:p>
            <a:pPr marL="0" indent="0" algn="l">
              <a:buNone/>
            </a:pPr>
            <a:r>
              <a:rPr lang="en-US" sz="750" dirty="0">
                <a:solidFill>
                  <a:srgbClr val="555555"/>
                </a:solidFill>
                <a:latin typeface="Arial" panose="020B0604020202090204" pitchFamily="34" charset="0"/>
                <a:ea typeface="Arial" panose="020B0604020202090204" pitchFamily="34" charset="-122"/>
                <a:cs typeface="Arial" panose="020B0604020202090204" pitchFamily="34" charset="-120"/>
              </a:rPr>
              <a:t>65.2% NN from AI</a:t>
            </a:r>
            <a:endParaRPr lang="en-US" sz="750" dirty="0"/>
          </a:p>
        </p:txBody>
      </p:sp>
      <p:sp>
        <p:nvSpPr>
          <p:cNvPr id="18" name="Text 16"/>
          <p:cNvSpPr/>
          <p:nvPr/>
        </p:nvSpPr>
        <p:spPr>
          <a:xfrm>
            <a:off x="2532817" y="3819664"/>
            <a:ext cx="1428452" cy="485626"/>
          </a:xfrm>
          <a:prstGeom prst="roundRect">
            <a:avLst>
              <a:gd name="adj" fmla="val 10461"/>
            </a:avLst>
          </a:prstGeom>
          <a:solidFill>
            <a:srgbClr val="EEF2FA"/>
          </a:solidFill>
          <a:ln w="9525">
            <a:solidFill>
              <a:srgbClr val="4472C4"/>
            </a:solidFill>
          </a:ln>
        </p:spPr>
        <p:txBody>
          <a:bodyPr wrap="square" rtlCol="0" anchor="ctr"/>
          <a:lstStyle/>
          <a:p>
            <a:pPr marL="0" indent="0">
              <a:buNone/>
            </a:pPr>
            <a:endParaRPr lang="en-US" dirty="0"/>
          </a:p>
        </p:txBody>
      </p:sp>
      <p:sp>
        <p:nvSpPr>
          <p:cNvPr id="19" name="Text 17"/>
          <p:cNvSpPr/>
          <p:nvPr/>
        </p:nvSpPr>
        <p:spPr>
          <a:xfrm>
            <a:off x="2643842" y="3879939"/>
            <a:ext cx="1230529" cy="114300"/>
          </a:xfrm>
          <a:prstGeom prst="rect">
            <a:avLst/>
          </a:prstGeom>
          <a:noFill/>
        </p:spPr>
        <p:txBody>
          <a:bodyPr wrap="square" lIns="0" tIns="0" rIns="0" bIns="0" rtlCol="0" anchor="t"/>
          <a:lstStyle/>
          <a:p>
            <a:pPr marL="0" indent="0" algn="l">
              <a:spcAft>
                <a:spcPts val="100"/>
              </a:spcAft>
              <a:buNone/>
            </a:pPr>
            <a:r>
              <a:rPr lang="en-US" sz="850" b="1" dirty="0">
                <a:solidFill>
                  <a:srgbClr val="4472C4"/>
                </a:solidFill>
                <a:latin typeface="Arial" panose="020B0604020202090204" pitchFamily="34" charset="0"/>
                <a:ea typeface="Arial" panose="020B0604020202090204" pitchFamily="34" charset="-122"/>
                <a:cs typeface="Arial" panose="020B0604020202090204" pitchFamily="34" charset="-120"/>
              </a:rPr>
              <a:t>Claude</a:t>
            </a:r>
            <a:endParaRPr lang="en-US" sz="850" dirty="0"/>
          </a:p>
        </p:txBody>
      </p:sp>
      <p:sp>
        <p:nvSpPr>
          <p:cNvPr id="20" name="Text 18"/>
          <p:cNvSpPr/>
          <p:nvPr/>
        </p:nvSpPr>
        <p:spPr>
          <a:xfrm>
            <a:off x="2643842" y="4006890"/>
            <a:ext cx="1230529" cy="133350"/>
          </a:xfrm>
          <a:prstGeom prst="rect">
            <a:avLst/>
          </a:prstGeom>
          <a:noFill/>
        </p:spPr>
        <p:txBody>
          <a:bodyPr wrap="square" lIns="0" tIns="0" rIns="0" bIns="0" rtlCol="0" anchor="t"/>
          <a:lstStyle/>
          <a:p>
            <a:pPr marL="0" indent="0" algn="l">
              <a:buNone/>
            </a:pPr>
            <a:r>
              <a:rPr lang="en-US" sz="900" b="1" dirty="0">
                <a:solidFill>
                  <a:srgbClr val="000000"/>
                </a:solidFill>
                <a:latin typeface="Arial" panose="020B0604020202090204" pitchFamily="34" charset="0"/>
                <a:ea typeface="Arial" panose="020B0604020202090204" pitchFamily="34" charset="-122"/>
                <a:cs typeface="Arial" panose="020B0604020202090204" pitchFamily="34" charset="-120"/>
              </a:rPr>
              <a:t>8.7% outliers</a:t>
            </a:r>
            <a:endParaRPr lang="en-US" sz="900" dirty="0"/>
          </a:p>
        </p:txBody>
      </p:sp>
      <p:sp>
        <p:nvSpPr>
          <p:cNvPr id="21" name="Text 19"/>
          <p:cNvSpPr/>
          <p:nvPr/>
        </p:nvSpPr>
        <p:spPr>
          <a:xfrm>
            <a:off x="2643842" y="4140240"/>
            <a:ext cx="1230529" cy="104775"/>
          </a:xfrm>
          <a:prstGeom prst="rect">
            <a:avLst/>
          </a:prstGeom>
          <a:noFill/>
        </p:spPr>
        <p:txBody>
          <a:bodyPr wrap="square" lIns="0" tIns="0" rIns="0" bIns="0" rtlCol="0" anchor="t"/>
          <a:lstStyle/>
          <a:p>
            <a:pPr marL="0" indent="0" algn="l">
              <a:buNone/>
            </a:pPr>
            <a:r>
              <a:rPr lang="en-US" sz="750" dirty="0">
                <a:solidFill>
                  <a:srgbClr val="555555"/>
                </a:solidFill>
                <a:latin typeface="Arial" panose="020B0604020202090204" pitchFamily="34" charset="0"/>
                <a:ea typeface="Arial" panose="020B0604020202090204" pitchFamily="34" charset="-122"/>
                <a:cs typeface="Arial" panose="020B0604020202090204" pitchFamily="34" charset="-120"/>
              </a:rPr>
              <a:t>52.2% NN other AI</a:t>
            </a:r>
            <a:endParaRPr lang="en-US" sz="750" dirty="0"/>
          </a:p>
        </p:txBody>
      </p:sp>
      <p:sp>
        <p:nvSpPr>
          <p:cNvPr id="22" name="Text 20"/>
          <p:cNvSpPr/>
          <p:nvPr/>
        </p:nvSpPr>
        <p:spPr>
          <a:xfrm>
            <a:off x="992942" y="4376311"/>
            <a:ext cx="1428452" cy="485626"/>
          </a:xfrm>
          <a:prstGeom prst="roundRect">
            <a:avLst>
              <a:gd name="adj" fmla="val 10461"/>
            </a:avLst>
          </a:prstGeom>
          <a:solidFill>
            <a:srgbClr val="F5EEF8"/>
          </a:solidFill>
          <a:ln w="9525">
            <a:solidFill>
              <a:srgbClr val="8E44AD"/>
            </a:solidFill>
          </a:ln>
        </p:spPr>
        <p:txBody>
          <a:bodyPr wrap="square" rtlCol="0" anchor="ctr"/>
          <a:lstStyle/>
          <a:p>
            <a:pPr marL="0" indent="0">
              <a:buNone/>
            </a:pPr>
            <a:endParaRPr lang="en-US" dirty="0"/>
          </a:p>
        </p:txBody>
      </p:sp>
      <p:sp>
        <p:nvSpPr>
          <p:cNvPr id="23" name="Text 21"/>
          <p:cNvSpPr/>
          <p:nvPr/>
        </p:nvSpPr>
        <p:spPr>
          <a:xfrm>
            <a:off x="1103967" y="4436586"/>
            <a:ext cx="1230529" cy="114300"/>
          </a:xfrm>
          <a:prstGeom prst="rect">
            <a:avLst/>
          </a:prstGeom>
          <a:noFill/>
        </p:spPr>
        <p:txBody>
          <a:bodyPr wrap="square" lIns="0" tIns="0" rIns="0" bIns="0" rtlCol="0" anchor="t"/>
          <a:lstStyle/>
          <a:p>
            <a:pPr marL="0" indent="0" algn="l">
              <a:spcAft>
                <a:spcPts val="100"/>
              </a:spcAft>
              <a:buNone/>
            </a:pPr>
            <a:r>
              <a:rPr lang="en-US" sz="850" b="1" dirty="0">
                <a:solidFill>
                  <a:srgbClr val="8E44AD"/>
                </a:solidFill>
                <a:latin typeface="Arial" panose="020B0604020202090204" pitchFamily="34" charset="0"/>
                <a:ea typeface="Arial" panose="020B0604020202090204" pitchFamily="34" charset="-122"/>
                <a:cs typeface="Arial" panose="020B0604020202090204" pitchFamily="34" charset="-120"/>
              </a:rPr>
              <a:t>Gemini</a:t>
            </a:r>
            <a:endParaRPr lang="en-US" sz="850" dirty="0"/>
          </a:p>
        </p:txBody>
      </p:sp>
      <p:sp>
        <p:nvSpPr>
          <p:cNvPr id="24" name="Text 22"/>
          <p:cNvSpPr/>
          <p:nvPr/>
        </p:nvSpPr>
        <p:spPr>
          <a:xfrm>
            <a:off x="1103967" y="4563537"/>
            <a:ext cx="1230529" cy="133350"/>
          </a:xfrm>
          <a:prstGeom prst="rect">
            <a:avLst/>
          </a:prstGeom>
          <a:noFill/>
        </p:spPr>
        <p:txBody>
          <a:bodyPr wrap="square" lIns="0" tIns="0" rIns="0" bIns="0" rtlCol="0" anchor="t"/>
          <a:lstStyle/>
          <a:p>
            <a:pPr marL="0" indent="0" algn="l">
              <a:buNone/>
            </a:pPr>
            <a:r>
              <a:rPr lang="en-US" sz="900" b="1" dirty="0">
                <a:solidFill>
                  <a:srgbClr val="000000"/>
                </a:solidFill>
                <a:latin typeface="Arial" panose="020B0604020202090204" pitchFamily="34" charset="0"/>
                <a:ea typeface="Arial" panose="020B0604020202090204" pitchFamily="34" charset="-122"/>
                <a:cs typeface="Arial" panose="020B0604020202090204" pitchFamily="34" charset="-120"/>
              </a:rPr>
              <a:t>8.7% outliers</a:t>
            </a:r>
            <a:endParaRPr lang="en-US" sz="900" dirty="0"/>
          </a:p>
        </p:txBody>
      </p:sp>
      <p:sp>
        <p:nvSpPr>
          <p:cNvPr id="25" name="Text 23"/>
          <p:cNvSpPr/>
          <p:nvPr/>
        </p:nvSpPr>
        <p:spPr>
          <a:xfrm>
            <a:off x="1103967" y="4696887"/>
            <a:ext cx="1230529" cy="104775"/>
          </a:xfrm>
          <a:prstGeom prst="rect">
            <a:avLst/>
          </a:prstGeom>
          <a:noFill/>
        </p:spPr>
        <p:txBody>
          <a:bodyPr wrap="square" lIns="0" tIns="0" rIns="0" bIns="0" rtlCol="0" anchor="t"/>
          <a:lstStyle/>
          <a:p>
            <a:pPr marL="0" indent="0" algn="l">
              <a:buNone/>
            </a:pPr>
            <a:r>
              <a:rPr lang="en-US" sz="750" dirty="0">
                <a:solidFill>
                  <a:srgbClr val="555555"/>
                </a:solidFill>
                <a:latin typeface="Arial" panose="020B0604020202090204" pitchFamily="34" charset="0"/>
                <a:ea typeface="Arial" panose="020B0604020202090204" pitchFamily="34" charset="-122"/>
                <a:cs typeface="Arial" panose="020B0604020202090204" pitchFamily="34" charset="-120"/>
              </a:rPr>
              <a:t>60.9% NN other AI</a:t>
            </a:r>
            <a:endParaRPr lang="en-US" sz="750" dirty="0"/>
          </a:p>
        </p:txBody>
      </p:sp>
      <p:sp>
        <p:nvSpPr>
          <p:cNvPr id="26" name="Text 24"/>
          <p:cNvSpPr/>
          <p:nvPr/>
        </p:nvSpPr>
        <p:spPr>
          <a:xfrm>
            <a:off x="2532817" y="4378603"/>
            <a:ext cx="1428452" cy="485626"/>
          </a:xfrm>
          <a:prstGeom prst="roundRect">
            <a:avLst>
              <a:gd name="adj" fmla="val 10461"/>
            </a:avLst>
          </a:prstGeom>
          <a:solidFill>
            <a:srgbClr val="FEF4EC"/>
          </a:solidFill>
          <a:ln w="9525">
            <a:solidFill>
              <a:srgbClr val="ED7D31"/>
            </a:solidFill>
          </a:ln>
        </p:spPr>
        <p:txBody>
          <a:bodyPr wrap="square" rtlCol="0" anchor="ctr"/>
          <a:lstStyle/>
          <a:p>
            <a:pPr marL="0" indent="0">
              <a:buNone/>
            </a:pPr>
            <a:endParaRPr lang="en-US" dirty="0"/>
          </a:p>
        </p:txBody>
      </p:sp>
      <p:sp>
        <p:nvSpPr>
          <p:cNvPr id="27" name="Text 25"/>
          <p:cNvSpPr/>
          <p:nvPr/>
        </p:nvSpPr>
        <p:spPr>
          <a:xfrm>
            <a:off x="2643842" y="4438878"/>
            <a:ext cx="1230529" cy="114300"/>
          </a:xfrm>
          <a:prstGeom prst="rect">
            <a:avLst/>
          </a:prstGeom>
          <a:noFill/>
        </p:spPr>
        <p:txBody>
          <a:bodyPr wrap="square" lIns="0" tIns="0" rIns="0" bIns="0" rtlCol="0" anchor="t"/>
          <a:lstStyle/>
          <a:p>
            <a:pPr marL="0" indent="0" algn="l">
              <a:spcAft>
                <a:spcPts val="100"/>
              </a:spcAft>
              <a:buNone/>
            </a:pPr>
            <a:r>
              <a:rPr lang="en-US" sz="850" b="1" dirty="0">
                <a:solidFill>
                  <a:srgbClr val="C55A11"/>
                </a:solidFill>
                <a:latin typeface="Arial" panose="020B0604020202090204" pitchFamily="34" charset="0"/>
                <a:ea typeface="Arial" panose="020B0604020202090204" pitchFamily="34" charset="-122"/>
                <a:cs typeface="Arial" panose="020B0604020202090204" pitchFamily="34" charset="-120"/>
              </a:rPr>
              <a:t>GPT-5.2</a:t>
            </a:r>
            <a:endParaRPr lang="en-US" sz="850" dirty="0"/>
          </a:p>
        </p:txBody>
      </p:sp>
      <p:sp>
        <p:nvSpPr>
          <p:cNvPr id="28" name="Text 26"/>
          <p:cNvSpPr/>
          <p:nvPr/>
        </p:nvSpPr>
        <p:spPr>
          <a:xfrm>
            <a:off x="2643842" y="4565829"/>
            <a:ext cx="1230529" cy="133350"/>
          </a:xfrm>
          <a:prstGeom prst="rect">
            <a:avLst/>
          </a:prstGeom>
          <a:noFill/>
        </p:spPr>
        <p:txBody>
          <a:bodyPr wrap="square" lIns="0" tIns="0" rIns="0" bIns="0" rtlCol="0" anchor="t"/>
          <a:lstStyle/>
          <a:p>
            <a:pPr marL="0" indent="0" algn="l">
              <a:buNone/>
            </a:pPr>
            <a:r>
              <a:rPr lang="en-US" sz="900" b="1" dirty="0">
                <a:solidFill>
                  <a:srgbClr val="000000"/>
                </a:solidFill>
                <a:latin typeface="Arial" panose="020B0604020202090204" pitchFamily="34" charset="0"/>
                <a:ea typeface="Arial" panose="020B0604020202090204" pitchFamily="34" charset="-122"/>
                <a:cs typeface="Arial" panose="020B0604020202090204" pitchFamily="34" charset="-120"/>
              </a:rPr>
              <a:t>0% outliers</a:t>
            </a:r>
            <a:endParaRPr lang="en-US" sz="900" dirty="0"/>
          </a:p>
        </p:txBody>
      </p:sp>
      <p:sp>
        <p:nvSpPr>
          <p:cNvPr id="29" name="Text 27"/>
          <p:cNvSpPr/>
          <p:nvPr/>
        </p:nvSpPr>
        <p:spPr>
          <a:xfrm>
            <a:off x="2643842" y="4699179"/>
            <a:ext cx="1230529" cy="104775"/>
          </a:xfrm>
          <a:prstGeom prst="rect">
            <a:avLst/>
          </a:prstGeom>
          <a:noFill/>
        </p:spPr>
        <p:txBody>
          <a:bodyPr wrap="square" lIns="0" tIns="0" rIns="0" bIns="0" rtlCol="0" anchor="t"/>
          <a:lstStyle/>
          <a:p>
            <a:pPr marL="0" indent="0" algn="l">
              <a:buNone/>
            </a:pPr>
            <a:r>
              <a:rPr lang="en-US" sz="750" dirty="0">
                <a:solidFill>
                  <a:srgbClr val="555555"/>
                </a:solidFill>
                <a:latin typeface="Arial" panose="020B0604020202090204" pitchFamily="34" charset="0"/>
                <a:ea typeface="Arial" panose="020B0604020202090204" pitchFamily="34" charset="-122"/>
                <a:cs typeface="Arial" panose="020B0604020202090204" pitchFamily="34" charset="-120"/>
              </a:rPr>
              <a:t>91.3% NN own model</a:t>
            </a:r>
            <a:endParaRPr lang="en-US" sz="750" dirty="0"/>
          </a:p>
        </p:txBody>
      </p:sp>
      <p:sp>
        <p:nvSpPr>
          <p:cNvPr id="30" name="Text 28"/>
          <p:cNvSpPr/>
          <p:nvPr/>
        </p:nvSpPr>
        <p:spPr>
          <a:xfrm>
            <a:off x="5740003" y="1015901"/>
            <a:ext cx="3161181" cy="133350"/>
          </a:xfrm>
          <a:prstGeom prst="rect">
            <a:avLst/>
          </a:prstGeom>
          <a:noFill/>
        </p:spPr>
        <p:txBody>
          <a:bodyPr wrap="square" lIns="0" tIns="0" rIns="0" bIns="0" rtlCol="0" anchor="t"/>
          <a:lstStyle/>
          <a:p>
            <a:pPr marL="0" indent="0" algn="l">
              <a:spcBef>
                <a:spcPts val="800"/>
              </a:spcBef>
              <a:spcAft>
                <a:spcPts val="400"/>
              </a:spcAft>
              <a:buNone/>
            </a:pPr>
            <a:r>
              <a:rPr lang="en-US" sz="900" b="1" dirty="0">
                <a:solidFill>
                  <a:srgbClr val="44546A"/>
                </a:solidFill>
                <a:latin typeface="Arial" panose="020B0604020202090204" pitchFamily="34" charset="0"/>
                <a:ea typeface="Arial" panose="020B0604020202090204" pitchFamily="34" charset="-122"/>
                <a:cs typeface="Arial" panose="020B0604020202090204" pitchFamily="34" charset="-120"/>
              </a:rPr>
              <a:t>Key Findings — Centroid Dispersion</a:t>
            </a:r>
            <a:endParaRPr lang="en-US" sz="900" dirty="0"/>
          </a:p>
        </p:txBody>
      </p:sp>
      <p:sp>
        <p:nvSpPr>
          <p:cNvPr id="31" name="Text 29"/>
          <p:cNvSpPr/>
          <p:nvPr/>
        </p:nvSpPr>
        <p:spPr>
          <a:xfrm>
            <a:off x="5740003" y="1200001"/>
            <a:ext cx="3099197" cy="876300"/>
          </a:xfrm>
          <a:prstGeom prst="rect">
            <a:avLst/>
          </a:prstGeom>
          <a:noFill/>
        </p:spPr>
        <p:txBody>
          <a:bodyPr wrap="square" lIns="88900" tIns="0" rIns="0" bIns="0" rtlCol="0" anchor="t"/>
          <a:lstStyle/>
          <a:p>
            <a:pPr marL="88900" indent="-88900" algn="l">
              <a:spcAft>
                <a:spcPts val="300"/>
              </a:spcAft>
              <a:buSzPct val="100000"/>
              <a:buChar char="•"/>
            </a:pPr>
            <a:r>
              <a:rPr lang="en-US" sz="900" dirty="0">
                <a:solidFill>
                  <a:srgbClr val="333333"/>
                </a:solidFill>
                <a:latin typeface="Arial" panose="020B0604020202090204" pitchFamily="34" charset="0"/>
                <a:ea typeface="Arial" panose="020B0604020202090204" pitchFamily="34" charset="-122"/>
                <a:cs typeface="Arial" panose="020B0604020202090204" pitchFamily="34" charset="-120"/>
              </a:rPr>
              <a:t>Human proposals are the most dispersed from their centroid (Mean = 0.193), consistent with pairwise results.</a:t>
            </a:r>
            <a:endParaRPr lang="en-US" sz="900" dirty="0"/>
          </a:p>
          <a:p>
            <a:pPr marL="88900" indent="-88900" algn="l">
              <a:spcAft>
                <a:spcPts val="300"/>
              </a:spcAft>
              <a:buSzPct val="100000"/>
              <a:buChar char="•"/>
            </a:pPr>
            <a:r>
              <a:rPr lang="en-US" sz="900" dirty="0">
                <a:solidFill>
                  <a:srgbClr val="333333"/>
                </a:solidFill>
                <a:latin typeface="Arial" panose="020B0604020202090204" pitchFamily="34" charset="0"/>
                <a:ea typeface="Arial" panose="020B0604020202090204" pitchFamily="34" charset="-122"/>
                <a:cs typeface="Arial" panose="020B0604020202090204" pitchFamily="34" charset="-120"/>
              </a:rPr>
              <a:t>All AI models are significantly less dispersed than humans (large effects, p &lt; 0.001).</a:t>
            </a:r>
            <a:endParaRPr lang="en-US" sz="900" dirty="0"/>
          </a:p>
          <a:p>
            <a:pPr marL="88900" indent="-88900" algn="l">
              <a:spcAft>
                <a:spcPts val="300"/>
              </a:spcAft>
              <a:buSzPct val="100000"/>
              <a:buChar char="•"/>
            </a:pPr>
            <a:r>
              <a:rPr lang="en-US" sz="900" dirty="0">
                <a:solidFill>
                  <a:srgbClr val="333333"/>
                </a:solidFill>
                <a:latin typeface="Arial" panose="020B0604020202090204" pitchFamily="34" charset="0"/>
                <a:ea typeface="Arial" panose="020B0604020202090204" pitchFamily="34" charset="-122"/>
                <a:cs typeface="Arial" panose="020B0604020202090204" pitchFamily="34" charset="-120"/>
              </a:rPr>
              <a:t>GPT-5.2 is essentially a single point (Mean = 0.015, Std = 0.003).</a:t>
            </a:r>
            <a:endParaRPr lang="en-US" sz="900" dirty="0"/>
          </a:p>
        </p:txBody>
      </p:sp>
      <p:sp>
        <p:nvSpPr>
          <p:cNvPr id="32" name="Text 30"/>
          <p:cNvSpPr/>
          <p:nvPr/>
        </p:nvSpPr>
        <p:spPr>
          <a:xfrm>
            <a:off x="5740003" y="2177802"/>
            <a:ext cx="3161181" cy="133350"/>
          </a:xfrm>
          <a:prstGeom prst="rect">
            <a:avLst/>
          </a:prstGeom>
          <a:noFill/>
        </p:spPr>
        <p:txBody>
          <a:bodyPr wrap="square" lIns="0" tIns="0" rIns="0" bIns="0" rtlCol="0" anchor="t"/>
          <a:lstStyle/>
          <a:p>
            <a:pPr marL="0" indent="0" algn="l">
              <a:spcBef>
                <a:spcPts val="800"/>
              </a:spcBef>
              <a:spcAft>
                <a:spcPts val="400"/>
              </a:spcAft>
              <a:buNone/>
            </a:pPr>
            <a:r>
              <a:rPr lang="en-US" sz="900" b="1" dirty="0">
                <a:solidFill>
                  <a:srgbClr val="44546A"/>
                </a:solidFill>
                <a:latin typeface="Arial" panose="020B0604020202090204" pitchFamily="34" charset="0"/>
                <a:ea typeface="Arial" panose="020B0604020202090204" pitchFamily="34" charset="-122"/>
                <a:cs typeface="Arial" panose="020B0604020202090204" pitchFamily="34" charset="-120"/>
              </a:rPr>
              <a:t>Key Findings — Nearest-Neighbor</a:t>
            </a:r>
            <a:endParaRPr lang="en-US" sz="900" dirty="0"/>
          </a:p>
        </p:txBody>
      </p:sp>
      <p:sp>
        <p:nvSpPr>
          <p:cNvPr id="33" name="Text 31"/>
          <p:cNvSpPr/>
          <p:nvPr/>
        </p:nvSpPr>
        <p:spPr>
          <a:xfrm>
            <a:off x="5740003" y="2361902"/>
            <a:ext cx="3099197" cy="1009650"/>
          </a:xfrm>
          <a:prstGeom prst="rect">
            <a:avLst/>
          </a:prstGeom>
          <a:noFill/>
        </p:spPr>
        <p:txBody>
          <a:bodyPr wrap="square" lIns="88900" tIns="0" rIns="0" bIns="0" rtlCol="0" anchor="t"/>
          <a:lstStyle/>
          <a:p>
            <a:pPr marL="88900" indent="-88900" algn="l">
              <a:spcAft>
                <a:spcPts val="300"/>
              </a:spcAft>
              <a:buSzPct val="100000"/>
              <a:buChar char="•"/>
            </a:pPr>
            <a:r>
              <a:rPr lang="en-US" sz="900" dirty="0">
                <a:solidFill>
                  <a:srgbClr val="333333"/>
                </a:solidFill>
                <a:latin typeface="Arial" panose="020B0604020202090204" pitchFamily="34" charset="0"/>
                <a:ea typeface="Arial" panose="020B0604020202090204" pitchFamily="34" charset="-122"/>
                <a:cs typeface="Arial" panose="020B0604020202090204" pitchFamily="34" charset="-120"/>
              </a:rPr>
              <a:t>Human proposals have highest mean NN distance (0.065) and highest outlier rate (21.7%).</a:t>
            </a:r>
            <a:endParaRPr lang="en-US" sz="900" dirty="0"/>
          </a:p>
          <a:p>
            <a:pPr marL="88900" indent="-88900" algn="l">
              <a:spcAft>
                <a:spcPts val="300"/>
              </a:spcAft>
              <a:buSzPct val="100000"/>
              <a:buChar char="•"/>
            </a:pPr>
            <a:r>
              <a:rPr lang="en-US" sz="900" dirty="0">
                <a:solidFill>
                  <a:srgbClr val="333333"/>
                </a:solidFill>
                <a:latin typeface="Arial" panose="020B0604020202090204" pitchFamily="34" charset="0"/>
                <a:ea typeface="Arial" panose="020B0604020202090204" pitchFamily="34" charset="-122"/>
                <a:cs typeface="Arial" panose="020B0604020202090204" pitchFamily="34" charset="-120"/>
              </a:rPr>
              <a:t>94.2% of AI proposals have their nearest neighbor from within the AI group — semantic source-segregation persists after rephrasing.</a:t>
            </a:r>
            <a:endParaRPr lang="en-US" sz="900" dirty="0"/>
          </a:p>
          <a:p>
            <a:pPr marL="88900" indent="-88900" algn="l">
              <a:spcAft>
                <a:spcPts val="300"/>
              </a:spcAft>
              <a:buSzPct val="100000"/>
              <a:buChar char="•"/>
            </a:pPr>
            <a:r>
              <a:rPr lang="en-US" sz="900" dirty="0">
                <a:solidFill>
                  <a:srgbClr val="333333"/>
                </a:solidFill>
                <a:latin typeface="Arial" panose="020B0604020202090204" pitchFamily="34" charset="0"/>
                <a:ea typeface="Arial" panose="020B0604020202090204" pitchFamily="34" charset="-122"/>
                <a:cs typeface="Arial" panose="020B0604020202090204" pitchFamily="34" charset="-120"/>
              </a:rPr>
              <a:t>GPT-5.2 = 0 outliers; 91.3% of its NNs are other GPT proposals.</a:t>
            </a:r>
            <a:endParaRPr lang="en-US" sz="900" dirty="0"/>
          </a:p>
        </p:txBody>
      </p:sp>
      <p:sp>
        <p:nvSpPr>
          <p:cNvPr id="34" name="Text 32"/>
          <p:cNvSpPr/>
          <p:nvPr/>
        </p:nvSpPr>
        <p:spPr>
          <a:xfrm>
            <a:off x="5739765" y="3472815"/>
            <a:ext cx="3099435" cy="772160"/>
          </a:xfrm>
          <a:prstGeom prst="roundRect">
            <a:avLst>
              <a:gd name="adj" fmla="val 6062"/>
            </a:avLst>
          </a:prstGeom>
          <a:solidFill>
            <a:srgbClr val="FFFBE6"/>
          </a:solidFill>
          <a:ln w="9525">
            <a:solidFill>
              <a:srgbClr val="FFC000"/>
            </a:solidFill>
          </a:ln>
        </p:spPr>
        <p:txBody>
          <a:bodyPr wrap="square" rtlCol="0" anchor="ctr"/>
          <a:lstStyle/>
          <a:p>
            <a:pPr marL="0" indent="0">
              <a:buNone/>
            </a:pPr>
            <a:endParaRPr lang="en-US" dirty="0"/>
          </a:p>
        </p:txBody>
      </p:sp>
      <p:sp>
        <p:nvSpPr>
          <p:cNvPr id="35" name="Text 33"/>
          <p:cNvSpPr/>
          <p:nvPr/>
        </p:nvSpPr>
        <p:spPr>
          <a:xfrm>
            <a:off x="5851029" y="3584079"/>
            <a:ext cx="2934688" cy="457200"/>
          </a:xfrm>
          <a:prstGeom prst="rect">
            <a:avLst/>
          </a:prstGeom>
          <a:noFill/>
        </p:spPr>
        <p:txBody>
          <a:bodyPr wrap="square" lIns="0" tIns="0" rIns="0" bIns="0" rtlCol="0" anchor="t"/>
          <a:lstStyle/>
          <a:p>
            <a:pPr marL="0" indent="0" algn="l">
              <a:spcBef>
                <a:spcPts val="400"/>
              </a:spcBef>
              <a:buNone/>
            </a:pPr>
            <a:r>
              <a:rPr lang="en-US" sz="850" b="1" dirty="0">
                <a:solidFill>
                  <a:srgbClr val="555555"/>
                </a:solidFill>
                <a:latin typeface="Arial" panose="020B0604020202090204" pitchFamily="34" charset="0"/>
                <a:ea typeface="Arial" panose="020B0604020202090204" pitchFamily="34" charset="-122"/>
                <a:cs typeface="Arial" panose="020B0604020202090204" pitchFamily="34" charset="-120"/>
              </a:rPr>
              <a:t>Vs. baseline:</a:t>
            </a:r>
            <a:r>
              <a:rPr lang="en-US" sz="850" dirty="0">
                <a:solidFill>
                  <a:srgbClr val="555555"/>
                </a:solidFill>
                <a:latin typeface="Arial" panose="020B0604020202090204" pitchFamily="34" charset="0"/>
                <a:ea typeface="Arial" panose="020B0604020202090204" pitchFamily="34" charset="-122"/>
                <a:cs typeface="Arial" panose="020B0604020202090204" pitchFamily="34" charset="-120"/>
              </a:rPr>
              <a:t> Pattern is consistent with centroid analysis: Human &gt; Claude/Gemini &gt;&gt; GPT-5.2. AI same-group NN rate (94.2%) suggests conceptual, not just stylistic, source clustering.</a:t>
            </a:r>
            <a:endParaRPr lang="en-US" sz="850" dirty="0"/>
          </a:p>
        </p:txBody>
      </p:sp>
      <p:pic>
        <p:nvPicPr>
          <p:cNvPr id="36" name="Image 0" descr="/Users/eveyhuang/Documents/NICO/human-AI-proposal-comparison/results/figures/rephrased/centroid_dispersion_by_model.png"/>
          <p:cNvPicPr>
            <a:picLocks noChangeAspect="1"/>
          </p:cNvPicPr>
          <p:nvPr/>
        </p:nvPicPr>
        <p:blipFill>
          <a:blip r:embed="rId1"/>
          <a:stretch>
            <a:fillRect/>
          </a:stretch>
        </p:blipFill>
        <p:spPr>
          <a:xfrm>
            <a:off x="304800" y="914400"/>
            <a:ext cx="2539901" cy="2349401"/>
          </a:xfrm>
          <a:prstGeom prst="rect">
            <a:avLst/>
          </a:prstGeom>
        </p:spPr>
      </p:pic>
      <p:pic>
        <p:nvPicPr>
          <p:cNvPr id="37" name="Image 1" descr="/Users/eveyhuang/Documents/NICO/human-AI-proposal-comparison/results/figures/rephrased/nearest_neighbor_by_model.png"/>
          <p:cNvPicPr>
            <a:picLocks noChangeAspect="1"/>
          </p:cNvPicPr>
          <p:nvPr/>
        </p:nvPicPr>
        <p:blipFill>
          <a:blip r:embed="rId2"/>
          <a:stretch>
            <a:fillRect/>
          </a:stretch>
        </p:blipFill>
        <p:spPr>
          <a:xfrm>
            <a:off x="3022402" y="914400"/>
            <a:ext cx="2539901" cy="234940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4472C4"/>
          </a:solidFill>
        </p:spPr>
        <p:txBody>
          <a:bodyPr wrap="square" rtlCol="0" anchor="ctr"/>
          <a:lstStyle/>
          <a:p>
            <a:pPr marL="0" indent="0">
              <a:buNone/>
            </a:pPr>
            <a:endParaRPr lang="en-US" dirty="0"/>
          </a:p>
        </p:txBody>
      </p:sp>
      <p:sp>
        <p:nvSpPr>
          <p:cNvPr id="3" name="Text 1"/>
          <p:cNvSpPr/>
          <p:nvPr/>
        </p:nvSpPr>
        <p:spPr>
          <a:xfrm>
            <a:off x="0" y="5067300"/>
            <a:ext cx="9144000" cy="76200"/>
          </a:xfrm>
          <a:prstGeom prst="rect">
            <a:avLst/>
          </a:prstGeom>
          <a:solidFill>
            <a:srgbClr val="44546A"/>
          </a:solidFill>
        </p:spPr>
        <p:txBody>
          <a:bodyPr wrap="square" rtlCol="0" anchor="ctr"/>
          <a:lstStyle/>
          <a:p>
            <a:pPr marL="0" indent="0">
              <a:buNone/>
            </a:pPr>
            <a:endParaRPr lang="en-US" dirty="0"/>
          </a:p>
        </p:txBody>
      </p:sp>
      <p:sp>
        <p:nvSpPr>
          <p:cNvPr id="4" name="Text 2"/>
          <p:cNvSpPr/>
          <p:nvPr/>
        </p:nvSpPr>
        <p:spPr>
          <a:xfrm>
            <a:off x="7112050" y="76200"/>
            <a:ext cx="2031950" cy="355550"/>
          </a:xfrm>
          <a:prstGeom prst="rect">
            <a:avLst/>
          </a:prstGeom>
          <a:solidFill>
            <a:srgbClr val="44546A"/>
          </a:solidFill>
        </p:spPr>
        <p:txBody>
          <a:bodyPr wrap="square" rtlCol="0" anchor="ctr"/>
          <a:lstStyle/>
          <a:p>
            <a:pPr marL="0" indent="0">
              <a:buNone/>
            </a:pPr>
            <a:endParaRPr lang="en-US" dirty="0"/>
          </a:p>
        </p:txBody>
      </p:sp>
      <p:sp>
        <p:nvSpPr>
          <p:cNvPr id="5" name="Text 3"/>
          <p:cNvSpPr/>
          <p:nvPr/>
        </p:nvSpPr>
        <p:spPr>
          <a:xfrm>
            <a:off x="7592467" y="187226"/>
            <a:ext cx="1092538" cy="133350"/>
          </a:xfrm>
          <a:prstGeom prst="rect">
            <a:avLst/>
          </a:prstGeom>
          <a:noFill/>
        </p:spPr>
        <p:txBody>
          <a:bodyPr wrap="square" lIns="0" tIns="0" rIns="0" bIns="0" rtlCol="0" anchor="t"/>
          <a:lstStyle/>
          <a:p>
            <a:pPr marL="0" indent="0" algn="l">
              <a:buNone/>
            </a:pPr>
            <a:r>
              <a:rPr lang="en-US" sz="900" b="1" dirty="0">
                <a:solidFill>
                  <a:srgbClr val="FFFFFF"/>
                </a:solidFill>
                <a:latin typeface="Arial" panose="020B0604020202090204" pitchFamily="34" charset="0"/>
                <a:ea typeface="Arial" panose="020B0604020202090204" pitchFamily="34" charset="-122"/>
                <a:cs typeface="Arial" panose="020B0604020202090204" pitchFamily="34" charset="-120"/>
              </a:rPr>
              <a:t>PART I · DIVERSITY</a:t>
            </a:r>
            <a:endParaRPr lang="en-US" sz="900" dirty="0"/>
          </a:p>
        </p:txBody>
      </p:sp>
      <p:sp>
        <p:nvSpPr>
          <p:cNvPr id="6" name="Text 4"/>
          <p:cNvSpPr/>
          <p:nvPr/>
        </p:nvSpPr>
        <p:spPr>
          <a:xfrm>
            <a:off x="304800" y="177701"/>
            <a:ext cx="7124649" cy="295275"/>
          </a:xfrm>
          <a:prstGeom prst="rect">
            <a:avLst/>
          </a:prstGeom>
          <a:noFill/>
        </p:spPr>
        <p:txBody>
          <a:bodyPr wrap="square" lIns="0" tIns="0" rIns="0" bIns="0" rtlCol="0" anchor="t"/>
          <a:lstStyle/>
          <a:p>
            <a:pPr marL="0" indent="0" algn="l">
              <a:buNone/>
            </a:pPr>
            <a:r>
              <a:rPr lang="en-US" sz="2000" b="1" dirty="0">
                <a:solidFill>
                  <a:srgbClr val="44546A"/>
                </a:solidFill>
                <a:latin typeface="Arial" panose="020B0604020202090204" pitchFamily="34" charset="0"/>
                <a:ea typeface="Arial" panose="020B0604020202090204" pitchFamily="34" charset="-122"/>
                <a:cs typeface="Arial" panose="020B0604020202090204" pitchFamily="34" charset="-120"/>
              </a:rPr>
              <a:t>Embedding Space Visualization</a:t>
            </a:r>
            <a:endParaRPr lang="en-US" sz="2000" dirty="0"/>
          </a:p>
        </p:txBody>
      </p:sp>
      <p:sp>
        <p:nvSpPr>
          <p:cNvPr id="7" name="Text 5"/>
          <p:cNvSpPr/>
          <p:nvPr/>
        </p:nvSpPr>
        <p:spPr>
          <a:xfrm>
            <a:off x="304800" y="498277"/>
            <a:ext cx="7124649" cy="142875"/>
          </a:xfrm>
          <a:prstGeom prst="rect">
            <a:avLst/>
          </a:prstGeom>
          <a:noFill/>
        </p:spPr>
        <p:txBody>
          <a:bodyPr wrap="square" lIns="0" tIns="0" rIns="0" bIns="0" rtlCol="0" anchor="t"/>
          <a:lstStyle/>
          <a:p>
            <a:pPr marL="0" indent="0" algn="l">
              <a:spcBef>
                <a:spcPts val="200"/>
              </a:spcBef>
              <a:buNone/>
            </a:pPr>
            <a:r>
              <a:rPr lang="en-US" sz="1000" dirty="0">
                <a:solidFill>
                  <a:srgbClr val="4472C4"/>
                </a:solidFill>
                <a:latin typeface="Arial" panose="020B0604020202090204" pitchFamily="34" charset="0"/>
                <a:ea typeface="Arial" panose="020B0604020202090204" pitchFamily="34" charset="-122"/>
                <a:cs typeface="Arial" panose="020B0604020202090204" pitchFamily="34" charset="-120"/>
              </a:rPr>
              <a:t>UMAP 2D projection of 92 rephrased proposals; X = group centroids; magenta circles = outliers (top 10% NN distance)</a:t>
            </a:r>
            <a:endParaRPr lang="en-US" sz="1000" dirty="0"/>
          </a:p>
        </p:txBody>
      </p:sp>
      <p:sp>
        <p:nvSpPr>
          <p:cNvPr id="8" name="Text 6"/>
          <p:cNvSpPr/>
          <p:nvPr/>
        </p:nvSpPr>
        <p:spPr>
          <a:xfrm>
            <a:off x="304800" y="711101"/>
            <a:ext cx="8534400" cy="25301"/>
          </a:xfrm>
          <a:prstGeom prst="rect">
            <a:avLst/>
          </a:prstGeom>
          <a:solidFill>
            <a:srgbClr val="4472C4"/>
          </a:solidFill>
        </p:spPr>
        <p:txBody>
          <a:bodyPr wrap="square" rtlCol="0" anchor="ctr"/>
          <a:lstStyle/>
          <a:p>
            <a:pPr marL="0" indent="0">
              <a:buNone/>
            </a:pPr>
            <a:endParaRPr lang="en-US" dirty="0"/>
          </a:p>
        </p:txBody>
      </p:sp>
      <p:sp>
        <p:nvSpPr>
          <p:cNvPr id="9" name="Text 7"/>
          <p:cNvSpPr/>
          <p:nvPr/>
        </p:nvSpPr>
        <p:spPr>
          <a:xfrm>
            <a:off x="5333851" y="812750"/>
            <a:ext cx="3505349" cy="761702"/>
          </a:xfrm>
          <a:prstGeom prst="roundRect">
            <a:avLst>
              <a:gd name="adj" fmla="val 8337"/>
            </a:avLst>
          </a:prstGeom>
          <a:solidFill>
            <a:srgbClr val="FFF4F4"/>
          </a:solidFill>
        </p:spPr>
        <p:txBody>
          <a:bodyPr wrap="square" rtlCol="0" anchor="ctr"/>
          <a:lstStyle/>
          <a:p>
            <a:pPr marL="0" indent="0">
              <a:buNone/>
            </a:pPr>
            <a:endParaRPr lang="en-US" dirty="0"/>
          </a:p>
        </p:txBody>
      </p:sp>
      <p:sp>
        <p:nvSpPr>
          <p:cNvPr id="10" name="Shape 8"/>
          <p:cNvSpPr/>
          <p:nvPr/>
        </p:nvSpPr>
        <p:spPr>
          <a:xfrm>
            <a:off x="5352901" y="812750"/>
            <a:ext cx="0" cy="761702"/>
          </a:xfrm>
          <a:prstGeom prst="line">
            <a:avLst/>
          </a:prstGeom>
          <a:noFill/>
          <a:ln w="38100">
            <a:solidFill>
              <a:srgbClr val="E74C3C"/>
            </a:solidFill>
            <a:prstDash val="solid"/>
          </a:ln>
        </p:spPr>
      </p:sp>
      <p:sp>
        <p:nvSpPr>
          <p:cNvPr id="11" name="Text 9"/>
          <p:cNvSpPr/>
          <p:nvPr/>
        </p:nvSpPr>
        <p:spPr>
          <a:xfrm>
            <a:off x="5498902" y="914251"/>
            <a:ext cx="3277615" cy="133350"/>
          </a:xfrm>
          <a:prstGeom prst="rect">
            <a:avLst/>
          </a:prstGeom>
          <a:noFill/>
        </p:spPr>
        <p:txBody>
          <a:bodyPr wrap="square" lIns="0" tIns="0" rIns="0" bIns="0" rtlCol="0" anchor="t"/>
          <a:lstStyle/>
          <a:p>
            <a:pPr marL="0" indent="0" algn="l">
              <a:spcAft>
                <a:spcPts val="200"/>
              </a:spcAft>
              <a:buNone/>
            </a:pPr>
            <a:r>
              <a:rPr lang="en-US" sz="950" b="1" dirty="0">
                <a:solidFill>
                  <a:srgbClr val="C0392B"/>
                </a:solidFill>
                <a:latin typeface="Arial" panose="020B0604020202090204" pitchFamily="34" charset="0"/>
                <a:ea typeface="Arial" panose="020B0604020202090204" pitchFamily="34" charset="-122"/>
                <a:cs typeface="Arial" panose="020B0604020202090204" pitchFamily="34" charset="-120"/>
              </a:rPr>
              <a:t>Human (red)</a:t>
            </a:r>
            <a:endParaRPr lang="en-US" sz="950" dirty="0"/>
          </a:p>
        </p:txBody>
      </p:sp>
      <p:sp>
        <p:nvSpPr>
          <p:cNvPr id="12" name="Text 10"/>
          <p:cNvSpPr/>
          <p:nvPr/>
        </p:nvSpPr>
        <p:spPr>
          <a:xfrm>
            <a:off x="5498902" y="1072902"/>
            <a:ext cx="3277615" cy="40005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Distributed broadly across the embedding space. Account for 5 of 9 total outliers (21.7% outlier rate). Overlap with Claude and Gemini but extend to periphery.</a:t>
            </a:r>
            <a:endParaRPr lang="en-US" sz="900" dirty="0"/>
          </a:p>
        </p:txBody>
      </p:sp>
      <p:sp>
        <p:nvSpPr>
          <p:cNvPr id="13" name="Text 11"/>
          <p:cNvSpPr/>
          <p:nvPr/>
        </p:nvSpPr>
        <p:spPr>
          <a:xfrm>
            <a:off x="5333851" y="1663303"/>
            <a:ext cx="3505349" cy="761702"/>
          </a:xfrm>
          <a:prstGeom prst="roundRect">
            <a:avLst>
              <a:gd name="adj" fmla="val 8337"/>
            </a:avLst>
          </a:prstGeom>
          <a:solidFill>
            <a:srgbClr val="EEF2FA"/>
          </a:solidFill>
        </p:spPr>
        <p:txBody>
          <a:bodyPr wrap="square" rtlCol="0" anchor="ctr"/>
          <a:lstStyle/>
          <a:p>
            <a:pPr marL="0" indent="0">
              <a:buNone/>
            </a:pPr>
            <a:endParaRPr lang="en-US" dirty="0"/>
          </a:p>
        </p:txBody>
      </p:sp>
      <p:sp>
        <p:nvSpPr>
          <p:cNvPr id="14" name="Shape 12"/>
          <p:cNvSpPr/>
          <p:nvPr/>
        </p:nvSpPr>
        <p:spPr>
          <a:xfrm>
            <a:off x="5352901" y="1663303"/>
            <a:ext cx="0" cy="761702"/>
          </a:xfrm>
          <a:prstGeom prst="line">
            <a:avLst/>
          </a:prstGeom>
          <a:noFill/>
          <a:ln w="38100">
            <a:solidFill>
              <a:srgbClr val="2980B9"/>
            </a:solidFill>
            <a:prstDash val="solid"/>
          </a:ln>
        </p:spPr>
      </p:sp>
      <p:sp>
        <p:nvSpPr>
          <p:cNvPr id="15" name="Text 13"/>
          <p:cNvSpPr/>
          <p:nvPr/>
        </p:nvSpPr>
        <p:spPr>
          <a:xfrm>
            <a:off x="5498902" y="1764804"/>
            <a:ext cx="3277615" cy="133350"/>
          </a:xfrm>
          <a:prstGeom prst="rect">
            <a:avLst/>
          </a:prstGeom>
          <a:noFill/>
        </p:spPr>
        <p:txBody>
          <a:bodyPr wrap="square" lIns="0" tIns="0" rIns="0" bIns="0" rtlCol="0" anchor="t"/>
          <a:lstStyle/>
          <a:p>
            <a:pPr marL="0" indent="0" algn="l">
              <a:spcAft>
                <a:spcPts val="200"/>
              </a:spcAft>
              <a:buNone/>
            </a:pPr>
            <a:r>
              <a:rPr lang="en-US" sz="950" b="1" dirty="0">
                <a:solidFill>
                  <a:srgbClr val="2980B9"/>
                </a:solidFill>
                <a:latin typeface="Arial" panose="020B0604020202090204" pitchFamily="34" charset="0"/>
                <a:ea typeface="Arial" panose="020B0604020202090204" pitchFamily="34" charset="-122"/>
                <a:cs typeface="Arial" panose="020B0604020202090204" pitchFamily="34" charset="-120"/>
              </a:rPr>
              <a:t>Claude (blue)</a:t>
            </a:r>
            <a:endParaRPr lang="en-US" sz="950" dirty="0"/>
          </a:p>
        </p:txBody>
      </p:sp>
      <p:sp>
        <p:nvSpPr>
          <p:cNvPr id="16" name="Text 14"/>
          <p:cNvSpPr/>
          <p:nvPr/>
        </p:nvSpPr>
        <p:spPr>
          <a:xfrm>
            <a:off x="5498902" y="1923455"/>
            <a:ext cx="3277615" cy="40005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Moderate spread; 2 outlier proposals. After rephrasing, dispersion is reduced compared to baseline — confirming that baseline Claude diversity was partly stylistic.</a:t>
            </a:r>
            <a:endParaRPr lang="en-US" sz="900" dirty="0"/>
          </a:p>
        </p:txBody>
      </p:sp>
      <p:sp>
        <p:nvSpPr>
          <p:cNvPr id="17" name="Text 15"/>
          <p:cNvSpPr/>
          <p:nvPr/>
        </p:nvSpPr>
        <p:spPr>
          <a:xfrm>
            <a:off x="5333851" y="2513856"/>
            <a:ext cx="3505349" cy="628352"/>
          </a:xfrm>
          <a:prstGeom prst="roundRect">
            <a:avLst>
              <a:gd name="adj" fmla="val 10106"/>
            </a:avLst>
          </a:prstGeom>
          <a:solidFill>
            <a:srgbClr val="F5EEF8"/>
          </a:solidFill>
        </p:spPr>
        <p:txBody>
          <a:bodyPr wrap="square" rtlCol="0" anchor="ctr"/>
          <a:lstStyle/>
          <a:p>
            <a:pPr marL="0" indent="0">
              <a:buNone/>
            </a:pPr>
            <a:endParaRPr lang="en-US" dirty="0"/>
          </a:p>
        </p:txBody>
      </p:sp>
      <p:sp>
        <p:nvSpPr>
          <p:cNvPr id="18" name="Shape 16"/>
          <p:cNvSpPr/>
          <p:nvPr/>
        </p:nvSpPr>
        <p:spPr>
          <a:xfrm>
            <a:off x="5352901" y="2513856"/>
            <a:ext cx="0" cy="628352"/>
          </a:xfrm>
          <a:prstGeom prst="line">
            <a:avLst/>
          </a:prstGeom>
          <a:noFill/>
          <a:ln w="38100">
            <a:solidFill>
              <a:srgbClr val="8E44AD"/>
            </a:solidFill>
            <a:prstDash val="solid"/>
          </a:ln>
        </p:spPr>
      </p:sp>
      <p:sp>
        <p:nvSpPr>
          <p:cNvPr id="19" name="Text 17"/>
          <p:cNvSpPr/>
          <p:nvPr/>
        </p:nvSpPr>
        <p:spPr>
          <a:xfrm>
            <a:off x="5498902" y="2615357"/>
            <a:ext cx="3277615" cy="133350"/>
          </a:xfrm>
          <a:prstGeom prst="rect">
            <a:avLst/>
          </a:prstGeom>
          <a:noFill/>
        </p:spPr>
        <p:txBody>
          <a:bodyPr wrap="square" lIns="0" tIns="0" rIns="0" bIns="0" rtlCol="0" anchor="t"/>
          <a:lstStyle/>
          <a:p>
            <a:pPr marL="0" indent="0" algn="l">
              <a:spcAft>
                <a:spcPts val="200"/>
              </a:spcAft>
              <a:buNone/>
            </a:pPr>
            <a:r>
              <a:rPr lang="en-US" sz="950" b="1" dirty="0">
                <a:solidFill>
                  <a:srgbClr val="7D3C98"/>
                </a:solidFill>
                <a:latin typeface="Arial" panose="020B0604020202090204" pitchFamily="34" charset="0"/>
                <a:ea typeface="Arial" panose="020B0604020202090204" pitchFamily="34" charset="-122"/>
                <a:cs typeface="Arial" panose="020B0604020202090204" pitchFamily="34" charset="-120"/>
              </a:rPr>
              <a:t>Gemini (purple)</a:t>
            </a:r>
            <a:endParaRPr lang="en-US" sz="950" dirty="0"/>
          </a:p>
        </p:txBody>
      </p:sp>
      <p:sp>
        <p:nvSpPr>
          <p:cNvPr id="20" name="Text 18"/>
          <p:cNvSpPr/>
          <p:nvPr/>
        </p:nvSpPr>
        <p:spPr>
          <a:xfrm>
            <a:off x="5498902" y="2774007"/>
            <a:ext cx="3277615" cy="26670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Intermediate spread. 2 outlier proposals at periphery. Overlaps with human and Claude regions.</a:t>
            </a:r>
            <a:endParaRPr lang="en-US" sz="900" dirty="0"/>
          </a:p>
        </p:txBody>
      </p:sp>
      <p:sp>
        <p:nvSpPr>
          <p:cNvPr id="21" name="Text 19"/>
          <p:cNvSpPr/>
          <p:nvPr/>
        </p:nvSpPr>
        <p:spPr>
          <a:xfrm>
            <a:off x="5333851" y="3231059"/>
            <a:ext cx="3505349" cy="761702"/>
          </a:xfrm>
          <a:prstGeom prst="roundRect">
            <a:avLst>
              <a:gd name="adj" fmla="val 8337"/>
            </a:avLst>
          </a:prstGeom>
          <a:solidFill>
            <a:srgbClr val="FEF4EC"/>
          </a:solidFill>
        </p:spPr>
        <p:txBody>
          <a:bodyPr wrap="square" rtlCol="0" anchor="ctr"/>
          <a:lstStyle/>
          <a:p>
            <a:pPr marL="0" indent="0">
              <a:buNone/>
            </a:pPr>
            <a:endParaRPr lang="en-US" dirty="0"/>
          </a:p>
        </p:txBody>
      </p:sp>
      <p:sp>
        <p:nvSpPr>
          <p:cNvPr id="22" name="Shape 20"/>
          <p:cNvSpPr/>
          <p:nvPr/>
        </p:nvSpPr>
        <p:spPr>
          <a:xfrm>
            <a:off x="5352901" y="3231059"/>
            <a:ext cx="0" cy="761702"/>
          </a:xfrm>
          <a:prstGeom prst="line">
            <a:avLst/>
          </a:prstGeom>
          <a:noFill/>
          <a:ln w="38100">
            <a:solidFill>
              <a:srgbClr val="E67E22"/>
            </a:solidFill>
            <a:prstDash val="solid"/>
          </a:ln>
        </p:spPr>
      </p:sp>
      <p:sp>
        <p:nvSpPr>
          <p:cNvPr id="23" name="Text 21"/>
          <p:cNvSpPr/>
          <p:nvPr/>
        </p:nvSpPr>
        <p:spPr>
          <a:xfrm>
            <a:off x="5498902" y="3332559"/>
            <a:ext cx="3277615" cy="133350"/>
          </a:xfrm>
          <a:prstGeom prst="rect">
            <a:avLst/>
          </a:prstGeom>
          <a:noFill/>
        </p:spPr>
        <p:txBody>
          <a:bodyPr wrap="square" lIns="0" tIns="0" rIns="0" bIns="0" rtlCol="0" anchor="t"/>
          <a:lstStyle/>
          <a:p>
            <a:pPr marL="0" indent="0" algn="l">
              <a:spcAft>
                <a:spcPts val="200"/>
              </a:spcAft>
              <a:buNone/>
            </a:pPr>
            <a:r>
              <a:rPr lang="en-US" sz="950" b="1" dirty="0">
                <a:solidFill>
                  <a:srgbClr val="C55A11"/>
                </a:solidFill>
                <a:latin typeface="Arial" panose="020B0604020202090204" pitchFamily="34" charset="0"/>
                <a:ea typeface="Arial" panose="020B0604020202090204" pitchFamily="34" charset="-122"/>
                <a:cs typeface="Arial" panose="020B0604020202090204" pitchFamily="34" charset="-120"/>
              </a:rPr>
              <a:t>GPT-5.2 (orange)</a:t>
            </a:r>
            <a:endParaRPr lang="en-US" sz="950" dirty="0"/>
          </a:p>
        </p:txBody>
      </p:sp>
      <p:sp>
        <p:nvSpPr>
          <p:cNvPr id="24" name="Text 22"/>
          <p:cNvSpPr/>
          <p:nvPr/>
        </p:nvSpPr>
        <p:spPr>
          <a:xfrm>
            <a:off x="5498902" y="3491210"/>
            <a:ext cx="3277615" cy="40005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Tight compact micro-cluster. 0 outliers. Near-zero internal spread — consistent with mode collapse in pairwise and centroid analyses.</a:t>
            </a:r>
            <a:endParaRPr lang="en-US" sz="900" dirty="0"/>
          </a:p>
        </p:txBody>
      </p:sp>
      <p:sp>
        <p:nvSpPr>
          <p:cNvPr id="25" name="Text 23"/>
          <p:cNvSpPr/>
          <p:nvPr/>
        </p:nvSpPr>
        <p:spPr>
          <a:xfrm>
            <a:off x="5333851" y="4081611"/>
            <a:ext cx="3505349" cy="609600"/>
          </a:xfrm>
          <a:prstGeom prst="roundRect">
            <a:avLst>
              <a:gd name="adj" fmla="val 8333"/>
            </a:avLst>
          </a:prstGeom>
          <a:solidFill>
            <a:srgbClr val="F4F4F4"/>
          </a:solidFill>
        </p:spPr>
        <p:txBody>
          <a:bodyPr wrap="square" rtlCol="0" anchor="ctr"/>
          <a:lstStyle/>
          <a:p>
            <a:pPr marL="0" indent="0">
              <a:buNone/>
            </a:pPr>
            <a:endParaRPr lang="en-US" dirty="0"/>
          </a:p>
        </p:txBody>
      </p:sp>
      <p:sp>
        <p:nvSpPr>
          <p:cNvPr id="26" name="Text 24"/>
          <p:cNvSpPr/>
          <p:nvPr/>
        </p:nvSpPr>
        <p:spPr>
          <a:xfrm>
            <a:off x="5460802" y="4157811"/>
            <a:ext cx="3316477" cy="457200"/>
          </a:xfrm>
          <a:prstGeom prst="rect">
            <a:avLst/>
          </a:prstGeom>
          <a:noFill/>
        </p:spPr>
        <p:txBody>
          <a:bodyPr wrap="square" lIns="0" tIns="0" rIns="0" bIns="0" rtlCol="0" anchor="t"/>
          <a:lstStyle/>
          <a:p>
            <a:pPr marL="0" indent="0" algn="l">
              <a:buNone/>
            </a:pPr>
            <a:r>
              <a:rPr lang="en-US" sz="850" b="1" dirty="0">
                <a:solidFill>
                  <a:srgbClr val="555555"/>
                </a:solidFill>
                <a:latin typeface="Arial" panose="020B0604020202090204" pitchFamily="34" charset="0"/>
                <a:ea typeface="Arial" panose="020B0604020202090204" pitchFamily="34" charset="-122"/>
                <a:cs typeface="Arial" panose="020B0604020202090204" pitchFamily="34" charset="-120"/>
              </a:rPr>
              <a:t>Caveat:</a:t>
            </a:r>
            <a:r>
              <a:rPr lang="en-US" sz="850" dirty="0">
                <a:solidFill>
                  <a:srgbClr val="555555"/>
                </a:solidFill>
                <a:latin typeface="Arial" panose="020B0604020202090204" pitchFamily="34" charset="0"/>
                <a:ea typeface="Arial" panose="020B0604020202090204" pitchFamily="34" charset="-122"/>
                <a:cs typeface="Arial" panose="020B0604020202090204" pitchFamily="34" charset="-120"/>
              </a:rPr>
              <a:t> UMAP projections distort distances in high-dimensional space. The quantitative analyses (pairwise, centroid, NN) are primary evidence; this visualization serves as a qualitative consistency check.</a:t>
            </a:r>
            <a:endParaRPr lang="en-US" sz="850" dirty="0"/>
          </a:p>
        </p:txBody>
      </p:sp>
      <p:pic>
        <p:nvPicPr>
          <p:cNvPr id="28" name="Picture 27" descr="embedding_space_tsne"/>
          <p:cNvPicPr>
            <a:picLocks noChangeAspect="1"/>
          </p:cNvPicPr>
          <p:nvPr/>
        </p:nvPicPr>
        <p:blipFill>
          <a:blip r:embed="rId1"/>
          <a:stretch>
            <a:fillRect/>
          </a:stretch>
        </p:blipFill>
        <p:spPr>
          <a:xfrm>
            <a:off x="130175" y="853440"/>
            <a:ext cx="5175250" cy="368744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4472C4"/>
          </a:solidFill>
        </p:spPr>
        <p:txBody>
          <a:bodyPr wrap="square" rtlCol="0" anchor="ctr"/>
          <a:lstStyle/>
          <a:p>
            <a:pPr marL="0" indent="0">
              <a:buNone/>
            </a:pPr>
            <a:endParaRPr lang="en-US" dirty="0"/>
          </a:p>
        </p:txBody>
      </p:sp>
      <p:sp>
        <p:nvSpPr>
          <p:cNvPr id="3" name="Text 1"/>
          <p:cNvSpPr/>
          <p:nvPr/>
        </p:nvSpPr>
        <p:spPr>
          <a:xfrm>
            <a:off x="0" y="5067300"/>
            <a:ext cx="9144000" cy="76200"/>
          </a:xfrm>
          <a:prstGeom prst="rect">
            <a:avLst/>
          </a:prstGeom>
          <a:solidFill>
            <a:srgbClr val="44546A"/>
          </a:solidFill>
        </p:spPr>
        <p:txBody>
          <a:bodyPr wrap="square" rtlCol="0" anchor="ctr"/>
          <a:lstStyle/>
          <a:p>
            <a:pPr marL="0" indent="0">
              <a:buNone/>
            </a:pPr>
            <a:endParaRPr lang="en-US" dirty="0"/>
          </a:p>
        </p:txBody>
      </p:sp>
      <p:sp>
        <p:nvSpPr>
          <p:cNvPr id="4" name="Text 2"/>
          <p:cNvSpPr/>
          <p:nvPr/>
        </p:nvSpPr>
        <p:spPr>
          <a:xfrm>
            <a:off x="7112050" y="76200"/>
            <a:ext cx="2031950" cy="355550"/>
          </a:xfrm>
          <a:prstGeom prst="rect">
            <a:avLst/>
          </a:prstGeom>
          <a:solidFill>
            <a:srgbClr val="44546A"/>
          </a:solidFill>
        </p:spPr>
        <p:txBody>
          <a:bodyPr wrap="square" rtlCol="0" anchor="ctr"/>
          <a:lstStyle/>
          <a:p>
            <a:pPr marL="0" indent="0">
              <a:buNone/>
            </a:pPr>
            <a:endParaRPr lang="en-US" dirty="0"/>
          </a:p>
        </p:txBody>
      </p:sp>
      <p:sp>
        <p:nvSpPr>
          <p:cNvPr id="5" name="Text 3"/>
          <p:cNvSpPr/>
          <p:nvPr/>
        </p:nvSpPr>
        <p:spPr>
          <a:xfrm>
            <a:off x="7612559" y="187226"/>
            <a:ext cx="1051551" cy="133350"/>
          </a:xfrm>
          <a:prstGeom prst="rect">
            <a:avLst/>
          </a:prstGeom>
          <a:noFill/>
        </p:spPr>
        <p:txBody>
          <a:bodyPr wrap="square" lIns="0" tIns="0" rIns="0" bIns="0" rtlCol="0" anchor="t"/>
          <a:lstStyle/>
          <a:p>
            <a:pPr marL="0" indent="0" algn="l">
              <a:buNone/>
            </a:pPr>
            <a:r>
              <a:rPr lang="en-US" sz="900" b="1" dirty="0">
                <a:solidFill>
                  <a:srgbClr val="FFFFFF"/>
                </a:solidFill>
                <a:latin typeface="Arial" panose="020B0604020202090204" pitchFamily="34" charset="0"/>
                <a:ea typeface="Arial" panose="020B0604020202090204" pitchFamily="34" charset="-122"/>
                <a:cs typeface="Arial" panose="020B0604020202090204" pitchFamily="34" charset="-120"/>
              </a:rPr>
              <a:t>PART II · NOVELTY</a:t>
            </a:r>
            <a:endParaRPr lang="en-US" sz="900" dirty="0"/>
          </a:p>
        </p:txBody>
      </p:sp>
      <p:sp>
        <p:nvSpPr>
          <p:cNvPr id="6" name="Text 4"/>
          <p:cNvSpPr/>
          <p:nvPr/>
        </p:nvSpPr>
        <p:spPr>
          <a:xfrm>
            <a:off x="304800" y="76200"/>
            <a:ext cx="705445" cy="190500"/>
          </a:xfrm>
          <a:prstGeom prst="roundRect">
            <a:avLst>
              <a:gd name="adj" fmla="val 20000"/>
            </a:avLst>
          </a:prstGeom>
          <a:solidFill>
            <a:srgbClr val="ED7D31"/>
          </a:solidFill>
        </p:spPr>
        <p:txBody>
          <a:bodyPr wrap="square" rtlCol="0" anchor="ctr"/>
          <a:lstStyle/>
          <a:p>
            <a:pPr marL="0" indent="0">
              <a:buNone/>
            </a:pPr>
            <a:endParaRPr lang="en-US" dirty="0"/>
          </a:p>
        </p:txBody>
      </p:sp>
      <p:sp>
        <p:nvSpPr>
          <p:cNvPr id="7" name="Text 5"/>
          <p:cNvSpPr/>
          <p:nvPr/>
        </p:nvSpPr>
        <p:spPr>
          <a:xfrm>
            <a:off x="406301" y="114300"/>
            <a:ext cx="512493" cy="114300"/>
          </a:xfrm>
          <a:prstGeom prst="rect">
            <a:avLst/>
          </a:prstGeom>
          <a:noFill/>
        </p:spPr>
        <p:txBody>
          <a:bodyPr wrap="square" lIns="0" tIns="0" rIns="0" bIns="0" rtlCol="0" anchor="t"/>
          <a:lstStyle/>
          <a:p>
            <a:pPr marL="0" indent="0" algn="l">
              <a:buNone/>
            </a:pPr>
            <a:r>
              <a:rPr lang="en-US" sz="800" b="1" dirty="0">
                <a:solidFill>
                  <a:srgbClr val="FFFFFF"/>
                </a:solidFill>
                <a:latin typeface="Arial" panose="020B0604020202090204" pitchFamily="34" charset="0"/>
                <a:ea typeface="Arial" panose="020B0604020202090204" pitchFamily="34" charset="-122"/>
                <a:cs typeface="Arial" panose="020B0604020202090204" pitchFamily="34" charset="-120"/>
              </a:rPr>
              <a:t>Analysis 2</a:t>
            </a:r>
            <a:endParaRPr lang="en-US" sz="800" dirty="0"/>
          </a:p>
        </p:txBody>
      </p:sp>
      <p:sp>
        <p:nvSpPr>
          <p:cNvPr id="8" name="Text 6"/>
          <p:cNvSpPr/>
          <p:nvPr/>
        </p:nvSpPr>
        <p:spPr>
          <a:xfrm>
            <a:off x="304800" y="381000"/>
            <a:ext cx="7124649" cy="266700"/>
          </a:xfrm>
          <a:prstGeom prst="rect">
            <a:avLst/>
          </a:prstGeom>
          <a:noFill/>
        </p:spPr>
        <p:txBody>
          <a:bodyPr wrap="square" lIns="0" tIns="0" rIns="0" bIns="0" rtlCol="0" anchor="t"/>
          <a:lstStyle/>
          <a:p>
            <a:pPr marL="0" indent="0" algn="l">
              <a:buNone/>
            </a:pPr>
            <a:r>
              <a:rPr lang="en-US" sz="1800" b="1" dirty="0">
                <a:solidFill>
                  <a:srgbClr val="44546A"/>
                </a:solidFill>
                <a:latin typeface="Arial" panose="020B0604020202090204" pitchFamily="34" charset="0"/>
                <a:ea typeface="Arial" panose="020B0604020202090204" pitchFamily="34" charset="-122"/>
                <a:cs typeface="Arial" panose="020B0604020202090204" pitchFamily="34" charset="-120"/>
              </a:rPr>
              <a:t>Novelty Analysis: Distance from Existing Literature</a:t>
            </a:r>
            <a:endParaRPr lang="en-US" sz="1800" dirty="0"/>
          </a:p>
        </p:txBody>
      </p:sp>
      <p:sp>
        <p:nvSpPr>
          <p:cNvPr id="9" name="Text 7"/>
          <p:cNvSpPr/>
          <p:nvPr/>
        </p:nvSpPr>
        <p:spPr>
          <a:xfrm>
            <a:off x="304800" y="673001"/>
            <a:ext cx="7124649" cy="142875"/>
          </a:xfrm>
          <a:prstGeom prst="rect">
            <a:avLst/>
          </a:prstGeom>
          <a:noFill/>
        </p:spPr>
        <p:txBody>
          <a:bodyPr wrap="square" lIns="0" tIns="0" rIns="0" bIns="0" rtlCol="0" anchor="t"/>
          <a:lstStyle/>
          <a:p>
            <a:pPr marL="0" indent="0" algn="l">
              <a:spcBef>
                <a:spcPts val="200"/>
              </a:spcBef>
              <a:buNone/>
            </a:pPr>
            <a:r>
              <a:rPr lang="en-US" sz="1000" dirty="0">
                <a:solidFill>
                  <a:srgbClr val="4472C4"/>
                </a:solidFill>
                <a:latin typeface="Arial" panose="020B0604020202090204" pitchFamily="34" charset="0"/>
                <a:ea typeface="Arial" panose="020B0604020202090204" pitchFamily="34" charset="-122"/>
                <a:cs typeface="Arial" panose="020B0604020202090204" pitchFamily="34" charset="-120"/>
              </a:rPr>
              <a:t>Novelty = mean cosine distance to k=10 nearest neighbors in 600 PubMed abstracts; Section 1 embeddings only</a:t>
            </a:r>
            <a:endParaRPr lang="en-US" sz="1000" dirty="0"/>
          </a:p>
        </p:txBody>
      </p:sp>
      <p:sp>
        <p:nvSpPr>
          <p:cNvPr id="10" name="Text 8"/>
          <p:cNvSpPr/>
          <p:nvPr/>
        </p:nvSpPr>
        <p:spPr>
          <a:xfrm>
            <a:off x="304800" y="812750"/>
            <a:ext cx="8534400" cy="25301"/>
          </a:xfrm>
          <a:prstGeom prst="rect">
            <a:avLst/>
          </a:prstGeom>
          <a:solidFill>
            <a:srgbClr val="4472C4"/>
          </a:solidFill>
        </p:spPr>
        <p:txBody>
          <a:bodyPr wrap="square" rtlCol="0" anchor="ctr"/>
          <a:lstStyle/>
          <a:p>
            <a:pPr marL="0" indent="0">
              <a:buNone/>
            </a:pPr>
            <a:endParaRPr lang="en-US" dirty="0"/>
          </a:p>
        </p:txBody>
      </p:sp>
      <p:sp>
        <p:nvSpPr>
          <p:cNvPr id="14" name="Text 12"/>
          <p:cNvSpPr/>
          <p:nvPr/>
        </p:nvSpPr>
        <p:spPr>
          <a:xfrm>
            <a:off x="4292501" y="914400"/>
            <a:ext cx="4546699" cy="914251"/>
          </a:xfrm>
          <a:prstGeom prst="roundRect">
            <a:avLst>
              <a:gd name="adj" fmla="val 8335"/>
            </a:avLst>
          </a:prstGeom>
          <a:solidFill>
            <a:srgbClr val="FFF4F4"/>
          </a:solidFill>
          <a:ln w="19050">
            <a:solidFill>
              <a:srgbClr val="C00000"/>
            </a:solidFill>
          </a:ln>
        </p:spPr>
        <p:txBody>
          <a:bodyPr wrap="square" rtlCol="0" anchor="ctr"/>
          <a:lstStyle/>
          <a:p>
            <a:pPr marL="0" indent="0">
              <a:buNone/>
            </a:pPr>
            <a:endParaRPr lang="en-US" dirty="0"/>
          </a:p>
        </p:txBody>
      </p:sp>
      <p:sp>
        <p:nvSpPr>
          <p:cNvPr id="15" name="Text 13"/>
          <p:cNvSpPr/>
          <p:nvPr/>
        </p:nvSpPr>
        <p:spPr>
          <a:xfrm>
            <a:off x="4489252" y="1060400"/>
            <a:ext cx="4236262" cy="171450"/>
          </a:xfrm>
          <a:prstGeom prst="rect">
            <a:avLst/>
          </a:prstGeom>
          <a:noFill/>
        </p:spPr>
        <p:txBody>
          <a:bodyPr wrap="square" lIns="0" tIns="0" rIns="0" bIns="0" rtlCol="0" anchor="t"/>
          <a:lstStyle/>
          <a:p>
            <a:pPr marL="0" indent="0" algn="l">
              <a:spcAft>
                <a:spcPts val="400"/>
              </a:spcAft>
              <a:buNone/>
            </a:pPr>
            <a:r>
              <a:rPr lang="en-US" sz="1200" b="1" dirty="0">
                <a:solidFill>
                  <a:srgbClr val="C00000"/>
                </a:solidFill>
                <a:latin typeface="Arial" panose="020B0604020202090204" pitchFamily="34" charset="0"/>
                <a:ea typeface="Arial" panose="020B0604020202090204" pitchFamily="34" charset="-122"/>
                <a:cs typeface="Arial" panose="020B0604020202090204" pitchFamily="34" charset="-120"/>
              </a:rPr>
              <a:t>Novelty Gap Disappears After Rephrasing</a:t>
            </a:r>
            <a:endParaRPr lang="en-US" sz="1200" dirty="0"/>
          </a:p>
        </p:txBody>
      </p:sp>
      <p:sp>
        <p:nvSpPr>
          <p:cNvPr id="16" name="Text 14"/>
          <p:cNvSpPr/>
          <p:nvPr/>
        </p:nvSpPr>
        <p:spPr>
          <a:xfrm>
            <a:off x="4489252" y="1282601"/>
            <a:ext cx="4236262" cy="400050"/>
          </a:xfrm>
          <a:prstGeom prst="rect">
            <a:avLst/>
          </a:prstGeom>
          <a:noFill/>
        </p:spPr>
        <p:txBody>
          <a:bodyPr wrap="square" lIns="0" tIns="0" rIns="0" bIns="0" rtlCol="0" anchor="t"/>
          <a:lstStyle/>
          <a:p>
            <a:pPr marL="0" indent="0" algn="l">
              <a:buNone/>
            </a:pPr>
            <a:r>
              <a:rPr lang="en-US" sz="950" dirty="0">
                <a:solidFill>
                  <a:srgbClr val="333333"/>
                </a:solidFill>
                <a:latin typeface="Arial" panose="020B0604020202090204" pitchFamily="34" charset="0"/>
                <a:ea typeface="Arial" panose="020B0604020202090204" pitchFamily="34" charset="-122"/>
                <a:cs typeface="Arial" panose="020B0604020202090204" pitchFamily="34" charset="-120"/>
              </a:rPr>
              <a:t>All AI vs. Human: δ = −0.132 (negligible), permutation p = 0.171. </a:t>
            </a:r>
            <a:r>
              <a:rPr lang="en-US" sz="950" b="1" dirty="0">
                <a:solidFill>
                  <a:srgbClr val="333333"/>
                </a:solidFill>
                <a:latin typeface="Arial" panose="020B0604020202090204" pitchFamily="34" charset="0"/>
                <a:ea typeface="Arial" panose="020B0604020202090204" pitchFamily="34" charset="-122"/>
                <a:cs typeface="Arial" panose="020B0604020202090204" pitchFamily="34" charset="-120"/>
              </a:rPr>
              <a:t>Not significant.</a:t>
            </a:r>
            <a:r>
              <a:rPr lang="en-US" sz="950" dirty="0">
                <a:solidFill>
                  <a:srgbClr val="333333"/>
                </a:solidFill>
                <a:latin typeface="Arial" panose="020B0604020202090204" pitchFamily="34" charset="0"/>
                <a:ea typeface="Arial" panose="020B0604020202090204" pitchFamily="34" charset="-122"/>
                <a:cs typeface="Arial" panose="020B0604020202090204" pitchFamily="34" charset="-120"/>
              </a:rPr>
              <a:t> Baseline showed δ = −0.34, p = 0.014 (significant human advantage). The gap was largely stylistic.</a:t>
            </a:r>
            <a:endParaRPr lang="en-US" sz="950" dirty="0"/>
          </a:p>
        </p:txBody>
      </p:sp>
      <p:sp>
        <p:nvSpPr>
          <p:cNvPr id="17" name="Text 15"/>
          <p:cNvSpPr/>
          <p:nvPr/>
        </p:nvSpPr>
        <p:spPr>
          <a:xfrm>
            <a:off x="4292501" y="1955602"/>
            <a:ext cx="2222599" cy="660053"/>
          </a:xfrm>
          <a:prstGeom prst="roundRect">
            <a:avLst>
              <a:gd name="adj" fmla="val 9620"/>
            </a:avLst>
          </a:prstGeom>
          <a:solidFill>
            <a:srgbClr val="F4F4F4"/>
          </a:solidFill>
        </p:spPr>
        <p:txBody>
          <a:bodyPr wrap="square" rtlCol="0" anchor="ctr"/>
          <a:lstStyle/>
          <a:p>
            <a:pPr marL="0" indent="0">
              <a:buNone/>
            </a:pPr>
            <a:endParaRPr lang="en-US" dirty="0"/>
          </a:p>
        </p:txBody>
      </p:sp>
      <p:sp>
        <p:nvSpPr>
          <p:cNvPr id="18" name="Text 16"/>
          <p:cNvSpPr/>
          <p:nvPr/>
        </p:nvSpPr>
        <p:spPr>
          <a:xfrm>
            <a:off x="4399764" y="2057102"/>
            <a:ext cx="2008072" cy="203150"/>
          </a:xfrm>
          <a:prstGeom prst="rect">
            <a:avLst/>
          </a:prstGeom>
          <a:noFill/>
        </p:spPr>
        <p:txBody>
          <a:bodyPr wrap="square" lIns="0" tIns="0" rIns="0" bIns="0" rtlCol="0" anchor="t"/>
          <a:lstStyle/>
          <a:p>
            <a:pPr marL="0" indent="0" algn="ctr">
              <a:lnSpc>
                <a:spcPts val="1600"/>
              </a:lnSpc>
              <a:buNone/>
            </a:pPr>
            <a:r>
              <a:rPr lang="en-US" sz="1600" b="1" dirty="0">
                <a:solidFill>
                  <a:srgbClr val="4472C4"/>
                </a:solidFill>
                <a:latin typeface="Arial" panose="020B0604020202090204" pitchFamily="34" charset="0"/>
                <a:ea typeface="Arial" panose="020B0604020202090204" pitchFamily="34" charset="-122"/>
                <a:cs typeface="Arial" panose="020B0604020202090204" pitchFamily="34" charset="-120"/>
              </a:rPr>
              <a:t>−0.13</a:t>
            </a:r>
            <a:endParaRPr lang="en-US" sz="1600" dirty="0"/>
          </a:p>
        </p:txBody>
      </p:sp>
      <p:sp>
        <p:nvSpPr>
          <p:cNvPr id="19" name="Text 17"/>
          <p:cNvSpPr/>
          <p:nvPr/>
        </p:nvSpPr>
        <p:spPr>
          <a:xfrm>
            <a:off x="4399764" y="2285554"/>
            <a:ext cx="2008072" cy="228600"/>
          </a:xfrm>
          <a:prstGeom prst="rect">
            <a:avLst/>
          </a:prstGeom>
          <a:noFill/>
        </p:spPr>
        <p:txBody>
          <a:bodyPr wrap="square" lIns="0" tIns="0" rIns="0" bIns="0" rtlCol="0" anchor="t"/>
          <a:lstStyle/>
          <a:p>
            <a:pPr marL="0" indent="0" algn="ctr">
              <a:spcBef>
                <a:spcPts val="200"/>
              </a:spcBef>
              <a:buNone/>
            </a:pPr>
            <a:r>
              <a:rPr lang="en-US" sz="800" dirty="0">
                <a:solidFill>
                  <a:srgbClr val="666666"/>
                </a:solidFill>
                <a:latin typeface="Arial" panose="020B0604020202090204" pitchFamily="34" charset="0"/>
                <a:ea typeface="Arial" panose="020B0604020202090204" pitchFamily="34" charset="-122"/>
                <a:cs typeface="Arial" panose="020B0604020202090204" pitchFamily="34" charset="-120"/>
              </a:rPr>
              <a:t>Cliff's δ (All AI vs Human)</a:t>
            </a:r>
            <a:endParaRPr lang="en-US" sz="800" dirty="0"/>
          </a:p>
          <a:p>
            <a:pPr marL="0" indent="0" algn="ctr">
              <a:spcBef>
                <a:spcPts val="200"/>
              </a:spcBef>
              <a:buNone/>
            </a:pPr>
            <a:r>
              <a:rPr lang="en-US" sz="800" dirty="0">
                <a:solidFill>
                  <a:srgbClr val="666666"/>
                </a:solidFill>
                <a:latin typeface="Arial" panose="020B0604020202090204" pitchFamily="34" charset="0"/>
                <a:ea typeface="Arial" panose="020B0604020202090204" pitchFamily="34" charset="-122"/>
                <a:cs typeface="Arial" panose="020B0604020202090204" pitchFamily="34" charset="-120"/>
              </a:rPr>
              <a:t>negligible, p=0.17</a:t>
            </a:r>
            <a:endParaRPr lang="en-US" sz="800" dirty="0"/>
          </a:p>
        </p:txBody>
      </p:sp>
      <p:sp>
        <p:nvSpPr>
          <p:cNvPr id="20" name="Text 18"/>
          <p:cNvSpPr/>
          <p:nvPr/>
        </p:nvSpPr>
        <p:spPr>
          <a:xfrm>
            <a:off x="6616601" y="1955602"/>
            <a:ext cx="2222599" cy="660053"/>
          </a:xfrm>
          <a:prstGeom prst="roundRect">
            <a:avLst>
              <a:gd name="adj" fmla="val 9620"/>
            </a:avLst>
          </a:prstGeom>
          <a:solidFill>
            <a:srgbClr val="F4F4F4"/>
          </a:solidFill>
        </p:spPr>
        <p:txBody>
          <a:bodyPr wrap="square" rtlCol="0" anchor="ctr"/>
          <a:lstStyle/>
          <a:p>
            <a:pPr marL="0" indent="0">
              <a:buNone/>
            </a:pPr>
            <a:endParaRPr lang="en-US" dirty="0"/>
          </a:p>
        </p:txBody>
      </p:sp>
      <p:sp>
        <p:nvSpPr>
          <p:cNvPr id="21" name="Text 19"/>
          <p:cNvSpPr/>
          <p:nvPr/>
        </p:nvSpPr>
        <p:spPr>
          <a:xfrm>
            <a:off x="6723864" y="2057102"/>
            <a:ext cx="2008072" cy="203150"/>
          </a:xfrm>
          <a:prstGeom prst="rect">
            <a:avLst/>
          </a:prstGeom>
          <a:noFill/>
        </p:spPr>
        <p:txBody>
          <a:bodyPr wrap="square" lIns="0" tIns="0" rIns="0" bIns="0" rtlCol="0" anchor="t"/>
          <a:lstStyle/>
          <a:p>
            <a:pPr marL="0" indent="0" algn="ctr">
              <a:lnSpc>
                <a:spcPts val="1600"/>
              </a:lnSpc>
              <a:buNone/>
            </a:pPr>
            <a:r>
              <a:rPr lang="en-US" sz="1600" b="1" dirty="0">
                <a:solidFill>
                  <a:srgbClr val="4472C4"/>
                </a:solidFill>
                <a:latin typeface="Arial" panose="020B0604020202090204" pitchFamily="34" charset="0"/>
                <a:ea typeface="Arial" panose="020B0604020202090204" pitchFamily="34" charset="-122"/>
                <a:cs typeface="Arial" panose="020B0604020202090204" pitchFamily="34" charset="-120"/>
              </a:rPr>
              <a:t>−0.005</a:t>
            </a:r>
            <a:endParaRPr lang="en-US" sz="1600" dirty="0"/>
          </a:p>
        </p:txBody>
      </p:sp>
      <p:sp>
        <p:nvSpPr>
          <p:cNvPr id="22" name="Text 20"/>
          <p:cNvSpPr/>
          <p:nvPr/>
        </p:nvSpPr>
        <p:spPr>
          <a:xfrm>
            <a:off x="6723864" y="2285554"/>
            <a:ext cx="2008072" cy="228600"/>
          </a:xfrm>
          <a:prstGeom prst="rect">
            <a:avLst/>
          </a:prstGeom>
          <a:noFill/>
        </p:spPr>
        <p:txBody>
          <a:bodyPr wrap="square" lIns="0" tIns="0" rIns="0" bIns="0" rtlCol="0" anchor="t"/>
          <a:lstStyle/>
          <a:p>
            <a:pPr marL="0" indent="0" algn="ctr">
              <a:spcBef>
                <a:spcPts val="200"/>
              </a:spcBef>
              <a:buNone/>
            </a:pPr>
            <a:r>
              <a:rPr lang="en-US" sz="800" dirty="0">
                <a:solidFill>
                  <a:srgbClr val="666666"/>
                </a:solidFill>
                <a:latin typeface="Arial" panose="020B0604020202090204" pitchFamily="34" charset="0"/>
                <a:ea typeface="Arial" panose="020B0604020202090204" pitchFamily="34" charset="-122"/>
                <a:cs typeface="Arial" panose="020B0604020202090204" pitchFamily="34" charset="-120"/>
              </a:rPr>
              <a:t>Mean diff (AI − Human)</a:t>
            </a:r>
            <a:endParaRPr lang="en-US" sz="800" dirty="0"/>
          </a:p>
          <a:p>
            <a:pPr marL="0" indent="0" algn="ctr">
              <a:spcBef>
                <a:spcPts val="200"/>
              </a:spcBef>
              <a:buNone/>
            </a:pPr>
            <a:r>
              <a:rPr lang="en-US" sz="800" dirty="0">
                <a:solidFill>
                  <a:srgbClr val="666666"/>
                </a:solidFill>
                <a:latin typeface="Arial" panose="020B0604020202090204" pitchFamily="34" charset="0"/>
                <a:ea typeface="Arial" panose="020B0604020202090204" pitchFamily="34" charset="-122"/>
                <a:cs typeface="Arial" panose="020B0604020202090204" pitchFamily="34" charset="-120"/>
              </a:rPr>
              <a:t>95% CI [−0.013, +0.003]</a:t>
            </a:r>
            <a:endParaRPr lang="en-US" sz="800" dirty="0"/>
          </a:p>
        </p:txBody>
      </p:sp>
      <p:sp>
        <p:nvSpPr>
          <p:cNvPr id="23" name="Text 21"/>
          <p:cNvSpPr/>
          <p:nvPr/>
        </p:nvSpPr>
        <p:spPr>
          <a:xfrm>
            <a:off x="4292501" y="2742605"/>
            <a:ext cx="4546699" cy="641152"/>
          </a:xfrm>
          <a:prstGeom prst="roundRect">
            <a:avLst>
              <a:gd name="adj" fmla="val 9904"/>
            </a:avLst>
          </a:prstGeom>
          <a:solidFill>
            <a:srgbClr val="FFFBE6"/>
          </a:solidFill>
        </p:spPr>
        <p:txBody>
          <a:bodyPr wrap="square" rtlCol="0" anchor="ctr"/>
          <a:lstStyle/>
          <a:p>
            <a:pPr marL="0" indent="0">
              <a:buNone/>
            </a:pPr>
            <a:endParaRPr lang="en-US" dirty="0"/>
          </a:p>
        </p:txBody>
      </p:sp>
      <p:sp>
        <p:nvSpPr>
          <p:cNvPr id="24" name="Shape 22"/>
          <p:cNvSpPr/>
          <p:nvPr/>
        </p:nvSpPr>
        <p:spPr>
          <a:xfrm>
            <a:off x="4311551" y="2742605"/>
            <a:ext cx="0" cy="641152"/>
          </a:xfrm>
          <a:prstGeom prst="line">
            <a:avLst/>
          </a:prstGeom>
          <a:noFill/>
          <a:ln w="38100">
            <a:solidFill>
              <a:srgbClr val="FFC000"/>
            </a:solidFill>
            <a:prstDash val="solid"/>
          </a:ln>
        </p:spPr>
      </p:sp>
      <p:sp>
        <p:nvSpPr>
          <p:cNvPr id="25" name="Text 23"/>
          <p:cNvSpPr/>
          <p:nvPr/>
        </p:nvSpPr>
        <p:spPr>
          <a:xfrm>
            <a:off x="4457551" y="2844105"/>
            <a:ext cx="4339792" cy="133350"/>
          </a:xfrm>
          <a:prstGeom prst="rect">
            <a:avLst/>
          </a:prstGeom>
          <a:noFill/>
        </p:spPr>
        <p:txBody>
          <a:bodyPr wrap="square" lIns="0" tIns="0" rIns="0" bIns="0" rtlCol="0" anchor="t"/>
          <a:lstStyle/>
          <a:p>
            <a:pPr marL="0" indent="0" algn="l">
              <a:spcAft>
                <a:spcPts val="300"/>
              </a:spcAft>
              <a:buNone/>
            </a:pPr>
            <a:r>
              <a:rPr lang="en-US" sz="950" b="1" dirty="0">
                <a:solidFill>
                  <a:srgbClr val="B8860B"/>
                </a:solidFill>
                <a:latin typeface="Arial" panose="020B0604020202090204" pitchFamily="34" charset="0"/>
                <a:ea typeface="Arial" panose="020B0604020202090204" pitchFamily="34" charset="-122"/>
                <a:cs typeface="Arial" panose="020B0604020202090204" pitchFamily="34" charset="-120"/>
              </a:rPr>
              <a:t>Most novel proposal (rephrased)</a:t>
            </a:r>
            <a:endParaRPr lang="en-US" sz="950" dirty="0"/>
          </a:p>
        </p:txBody>
      </p:sp>
      <p:sp>
        <p:nvSpPr>
          <p:cNvPr id="26" name="Text 24"/>
          <p:cNvSpPr/>
          <p:nvPr/>
        </p:nvSpPr>
        <p:spPr>
          <a:xfrm>
            <a:off x="4457551" y="3015555"/>
            <a:ext cx="4339792" cy="26670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Human: "Impact of Heat Wave Stress on Cytokinetic Bottlenecks" — novelty score 0.156. Still highest after rephrasing, suggesting genuine conceptual novelty.</a:t>
            </a:r>
            <a:endParaRPr lang="en-US" sz="900" dirty="0"/>
          </a:p>
        </p:txBody>
      </p:sp>
      <p:sp>
        <p:nvSpPr>
          <p:cNvPr id="27" name="Text 25"/>
          <p:cNvSpPr/>
          <p:nvPr/>
        </p:nvSpPr>
        <p:spPr>
          <a:xfrm>
            <a:off x="4292501" y="3472607"/>
            <a:ext cx="4546699" cy="774502"/>
          </a:xfrm>
          <a:prstGeom prst="roundRect">
            <a:avLst>
              <a:gd name="adj" fmla="val 8199"/>
            </a:avLst>
          </a:prstGeom>
          <a:solidFill>
            <a:srgbClr val="F4F4F4"/>
          </a:solidFill>
        </p:spPr>
        <p:txBody>
          <a:bodyPr wrap="square" rtlCol="0" anchor="ctr"/>
          <a:lstStyle/>
          <a:p>
            <a:pPr marL="0" indent="0">
              <a:buNone/>
            </a:pPr>
            <a:endParaRPr lang="en-US" dirty="0"/>
          </a:p>
        </p:txBody>
      </p:sp>
      <p:sp>
        <p:nvSpPr>
          <p:cNvPr id="28" name="Shape 26"/>
          <p:cNvSpPr/>
          <p:nvPr/>
        </p:nvSpPr>
        <p:spPr>
          <a:xfrm>
            <a:off x="4311551" y="3472607"/>
            <a:ext cx="0" cy="774502"/>
          </a:xfrm>
          <a:prstGeom prst="line">
            <a:avLst/>
          </a:prstGeom>
          <a:noFill/>
          <a:ln w="38100">
            <a:solidFill>
              <a:srgbClr val="A5A5A5"/>
            </a:solidFill>
            <a:prstDash val="solid"/>
          </a:ln>
        </p:spPr>
      </p:sp>
      <p:sp>
        <p:nvSpPr>
          <p:cNvPr id="29" name="Text 27"/>
          <p:cNvSpPr/>
          <p:nvPr/>
        </p:nvSpPr>
        <p:spPr>
          <a:xfrm>
            <a:off x="4457551" y="3574107"/>
            <a:ext cx="4339792" cy="133350"/>
          </a:xfrm>
          <a:prstGeom prst="rect">
            <a:avLst/>
          </a:prstGeom>
          <a:noFill/>
        </p:spPr>
        <p:txBody>
          <a:bodyPr wrap="square" lIns="0" tIns="0" rIns="0" bIns="0" rtlCol="0" anchor="t"/>
          <a:lstStyle/>
          <a:p>
            <a:pPr marL="0" indent="0" algn="l">
              <a:spcAft>
                <a:spcPts val="300"/>
              </a:spcAft>
              <a:buNone/>
            </a:pPr>
            <a:r>
              <a:rPr lang="en-US" sz="950" b="1" dirty="0">
                <a:solidFill>
                  <a:srgbClr val="44546A"/>
                </a:solidFill>
                <a:latin typeface="Arial" panose="020B0604020202090204" pitchFamily="34" charset="0"/>
                <a:ea typeface="Arial" panose="020B0604020202090204" pitchFamily="34" charset="-122"/>
                <a:cs typeface="Arial" panose="020B0604020202090204" pitchFamily="34" charset="-120"/>
              </a:rPr>
              <a:t>Literature-normalized z-scores</a:t>
            </a:r>
            <a:endParaRPr lang="en-US" sz="950" dirty="0"/>
          </a:p>
        </p:txBody>
      </p:sp>
      <p:sp>
        <p:nvSpPr>
          <p:cNvPr id="30" name="Text 28"/>
          <p:cNvSpPr/>
          <p:nvPr/>
        </p:nvSpPr>
        <p:spPr>
          <a:xfrm>
            <a:off x="4457551" y="3745557"/>
            <a:ext cx="4339792" cy="40005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All groups have z-scores below the within-literature baseline (z &lt; 0), meaning proposals are closer to existing work than articles are to each other. Human z-score marginally higher but not significant.</a:t>
            </a:r>
            <a:endParaRPr lang="en-US" sz="900" dirty="0"/>
          </a:p>
        </p:txBody>
      </p:sp>
      <p:pic>
        <p:nvPicPr>
          <p:cNvPr id="31" name="Image 0" descr="/Users/eveyhuang/Documents/NICO/human-AI-proposal-comparison/results/figures/rephrased/novelty_analysis.png"/>
          <p:cNvPicPr>
            <a:picLocks noChangeAspect="1"/>
          </p:cNvPicPr>
          <p:nvPr/>
        </p:nvPicPr>
        <p:blipFill>
          <a:blip r:embed="rId1"/>
          <a:stretch>
            <a:fillRect/>
          </a:stretch>
        </p:blipFill>
        <p:spPr>
          <a:xfrm>
            <a:off x="188595" y="952500"/>
            <a:ext cx="3810000" cy="2476500"/>
          </a:xfrm>
          <a:prstGeom prst="rect">
            <a:avLst/>
          </a:prstGeom>
        </p:spPr>
      </p:pic>
      <p:sp>
        <p:nvSpPr>
          <p:cNvPr id="32" name="Text 15"/>
          <p:cNvSpPr/>
          <p:nvPr/>
        </p:nvSpPr>
        <p:spPr>
          <a:xfrm>
            <a:off x="4292600" y="4272280"/>
            <a:ext cx="4547235" cy="751840"/>
          </a:xfrm>
          <a:prstGeom prst="roundRect">
            <a:avLst>
              <a:gd name="adj" fmla="val 6995"/>
            </a:avLst>
          </a:prstGeom>
          <a:solidFill>
            <a:srgbClr val="FFFBE6"/>
          </a:solidFill>
        </p:spPr>
        <p:txBody>
          <a:bodyPr wrap="square" rtlCol="0" anchor="ctr"/>
          <a:lstStyle/>
          <a:p>
            <a:pPr marL="0" indent="0">
              <a:buNone/>
            </a:pPr>
            <a:endParaRPr lang="en-US" dirty="0"/>
          </a:p>
        </p:txBody>
      </p:sp>
      <p:sp>
        <p:nvSpPr>
          <p:cNvPr id="33" name="Shape 16"/>
          <p:cNvSpPr/>
          <p:nvPr/>
        </p:nvSpPr>
        <p:spPr>
          <a:xfrm>
            <a:off x="4311650" y="4272280"/>
            <a:ext cx="635" cy="733425"/>
          </a:xfrm>
          <a:prstGeom prst="line">
            <a:avLst/>
          </a:prstGeom>
          <a:noFill/>
          <a:ln w="38100">
            <a:solidFill>
              <a:srgbClr val="FFC000"/>
            </a:solidFill>
            <a:prstDash val="solid"/>
          </a:ln>
        </p:spPr>
      </p:sp>
      <p:sp>
        <p:nvSpPr>
          <p:cNvPr id="34" name="Text 17"/>
          <p:cNvSpPr/>
          <p:nvPr/>
        </p:nvSpPr>
        <p:spPr>
          <a:xfrm>
            <a:off x="4457700" y="4373880"/>
            <a:ext cx="4265295" cy="133350"/>
          </a:xfrm>
          <a:prstGeom prst="rect">
            <a:avLst/>
          </a:prstGeom>
          <a:noFill/>
        </p:spPr>
        <p:txBody>
          <a:bodyPr wrap="square" lIns="0" tIns="0" rIns="0" bIns="0" rtlCol="0" anchor="t"/>
          <a:lstStyle/>
          <a:p>
            <a:pPr marL="0" indent="0" algn="l">
              <a:spcAft>
                <a:spcPts val="300"/>
              </a:spcAft>
              <a:buNone/>
            </a:pPr>
            <a:r>
              <a:rPr lang="en-US" sz="950" b="1" dirty="0">
                <a:solidFill>
                  <a:srgbClr val="B8860B"/>
                </a:solidFill>
                <a:latin typeface="Arial" panose="020B0604020202090204" pitchFamily="34" charset="0"/>
                <a:ea typeface="Arial" panose="020B0604020202090204" pitchFamily="34" charset="-122"/>
                <a:cs typeface="Arial" panose="020B0604020202090204" pitchFamily="34" charset="-120"/>
              </a:rPr>
              <a:t>Overlap with novelty top-10%</a:t>
            </a:r>
            <a:endParaRPr lang="en-US" sz="950" dirty="0"/>
          </a:p>
        </p:txBody>
      </p:sp>
      <p:sp>
        <p:nvSpPr>
          <p:cNvPr id="35" name="Text 18"/>
          <p:cNvSpPr/>
          <p:nvPr/>
        </p:nvSpPr>
        <p:spPr>
          <a:xfrm>
            <a:off x="4457700" y="4545330"/>
            <a:ext cx="4265295" cy="53340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4 of 15 proposals flagged as both NN-outliers (isolated among proposals) and literature-novel (top-10% by k-NN distance) are Human. Most novel: "Impact of Heat Wave Stress on Cytokinetic Bottlenecks" (z=+0.72).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0" y="5067300"/>
            <a:ext cx="9144000" cy="76200"/>
          </a:xfrm>
          <a:prstGeom prst="rect">
            <a:avLst/>
          </a:prstGeom>
          <a:solidFill>
            <a:srgbClr val="44546A"/>
          </a:solidFill>
        </p:spPr>
        <p:txBody>
          <a:bodyPr wrap="square" rtlCol="0" anchor="ctr"/>
          <a:lstStyle/>
          <a:p>
            <a:pPr marL="0" indent="0">
              <a:buNone/>
            </a:pPr>
            <a:endParaRPr lang="en-US" dirty="0"/>
          </a:p>
        </p:txBody>
      </p:sp>
      <p:sp>
        <p:nvSpPr>
          <p:cNvPr id="13" name="Text 11"/>
          <p:cNvSpPr/>
          <p:nvPr/>
        </p:nvSpPr>
        <p:spPr>
          <a:xfrm>
            <a:off x="5206901" y="1676102"/>
            <a:ext cx="3632299" cy="774502"/>
          </a:xfrm>
          <a:prstGeom prst="roundRect">
            <a:avLst>
              <a:gd name="adj" fmla="val 8199"/>
            </a:avLst>
          </a:prstGeom>
          <a:solidFill>
            <a:srgbClr val="FEF4EC"/>
          </a:solidFill>
        </p:spPr>
        <p:txBody>
          <a:bodyPr wrap="square" rtlCol="0" anchor="ctr"/>
          <a:lstStyle/>
          <a:p>
            <a:pPr marL="0" indent="0">
              <a:buNone/>
            </a:pPr>
            <a:endParaRPr lang="en-US" dirty="0"/>
          </a:p>
        </p:txBody>
      </p:sp>
      <p:sp>
        <p:nvSpPr>
          <p:cNvPr id="27" name="Text 10"/>
          <p:cNvSpPr/>
          <p:nvPr/>
        </p:nvSpPr>
        <p:spPr>
          <a:xfrm>
            <a:off x="111760" y="2872740"/>
            <a:ext cx="2620645" cy="378460"/>
          </a:xfrm>
          <a:prstGeom prst="rect">
            <a:avLst/>
          </a:prstGeom>
          <a:noFill/>
        </p:spPr>
        <p:txBody>
          <a:bodyPr wrap="square" lIns="0" tIns="0" rIns="0" bIns="0" rtlCol="0" anchor="t"/>
          <a:lstStyle/>
          <a:p>
            <a:pPr marL="0" indent="0" algn="l">
              <a:spcAft>
                <a:spcPts val="400"/>
              </a:spcAft>
              <a:buNone/>
            </a:pPr>
            <a:r>
              <a:rPr lang="en-US" sz="950" b="1" dirty="0">
                <a:solidFill>
                  <a:srgbClr val="4472C4"/>
                </a:solidFill>
                <a:latin typeface="Arial" panose="020B0604020202090204" pitchFamily="34" charset="0"/>
                <a:ea typeface="Arial" panose="020B0604020202090204" pitchFamily="34" charset="-122"/>
                <a:cs typeface="Arial" panose="020B0604020202090204" pitchFamily="34" charset="-120"/>
              </a:rPr>
              <a:t>Literature Corpus (Added topics from topic modeling, 350-&gt; 600)</a:t>
            </a:r>
            <a:endParaRPr lang="en-US" sz="950" dirty="0"/>
          </a:p>
        </p:txBody>
      </p:sp>
      <p:sp>
        <p:nvSpPr>
          <p:cNvPr id="28" name="Text 11"/>
          <p:cNvSpPr/>
          <p:nvPr/>
        </p:nvSpPr>
        <p:spPr>
          <a:xfrm>
            <a:off x="111760" y="3251200"/>
            <a:ext cx="2510790" cy="762000"/>
          </a:xfrm>
          <a:prstGeom prst="rect">
            <a:avLst/>
          </a:prstGeom>
          <a:noFill/>
        </p:spPr>
        <p:txBody>
          <a:bodyPr wrap="square" lIns="88900" tIns="0" rIns="0" bIns="0" rtlCol="0" anchor="t"/>
          <a:lstStyle/>
          <a:p>
            <a:pPr marL="88900" indent="-88900" algn="l">
              <a:spcAft>
                <a:spcPts val="200"/>
              </a:spcAft>
              <a:buSzPct val="100000"/>
              <a:buChar char="•"/>
            </a:pPr>
            <a:r>
              <a:rPr lang="en-US" sz="850" dirty="0">
                <a:solidFill>
                  <a:srgbClr val="444444"/>
                </a:solidFill>
                <a:latin typeface="Arial" panose="020B0604020202090204" pitchFamily="34" charset="0"/>
                <a:ea typeface="Arial" panose="020B0604020202090204" pitchFamily="34" charset="-122"/>
                <a:cs typeface="Arial" panose="020B0604020202090204" pitchFamily="34" charset="-120"/>
              </a:rPr>
              <a:t>600 PubMed abstracts, 14 targeted queries</a:t>
            </a:r>
            <a:endParaRPr lang="en-US" sz="850" dirty="0"/>
          </a:p>
          <a:p>
            <a:pPr marL="88900" indent="-88900" algn="l">
              <a:spcAft>
                <a:spcPts val="200"/>
              </a:spcAft>
              <a:buSzPct val="100000"/>
              <a:buChar char="•"/>
            </a:pPr>
            <a:r>
              <a:rPr lang="en-US" sz="850" dirty="0">
                <a:solidFill>
                  <a:srgbClr val="444444"/>
                </a:solidFill>
                <a:latin typeface="Arial" panose="020B0604020202090204" pitchFamily="34" charset="0"/>
                <a:ea typeface="Arial" panose="020B0604020202090204" pitchFamily="34" charset="-122"/>
                <a:cs typeface="Arial" panose="020B0604020202090204" pitchFamily="34" charset="-120"/>
              </a:rPr>
              <a:t>Topics: emergent phenomena, condensates, omics, AI/ML, systems biology</a:t>
            </a:r>
            <a:endParaRPr lang="en-US" sz="850" dirty="0"/>
          </a:p>
          <a:p>
            <a:pPr marL="88900" indent="-88900" algn="l">
              <a:spcAft>
                <a:spcPts val="200"/>
              </a:spcAft>
              <a:buSzPct val="100000"/>
              <a:buChar char="•"/>
            </a:pPr>
            <a:r>
              <a:rPr lang="en-US" sz="850" dirty="0">
                <a:solidFill>
                  <a:srgbClr val="444444"/>
                </a:solidFill>
                <a:latin typeface="Arial" panose="020B0604020202090204" pitchFamily="34" charset="0"/>
                <a:ea typeface="Arial" panose="020B0604020202090204" pitchFamily="34" charset="-122"/>
                <a:cs typeface="Arial" panose="020B0604020202090204" pitchFamily="34" charset="-120"/>
              </a:rPr>
              <a:t>Within-corpus mean NN dist: 0.111 ± 0.063</a:t>
            </a:r>
            <a:endParaRPr lang="en-US" sz="850" dirty="0"/>
          </a:p>
          <a:p>
            <a:pPr marL="88900" indent="-88900" algn="l">
              <a:spcAft>
                <a:spcPts val="200"/>
              </a:spcAft>
              <a:buSzPct val="100000"/>
              <a:buChar char="•"/>
            </a:pPr>
            <a:r>
              <a:rPr lang="en-US" sz="850" dirty="0">
                <a:solidFill>
                  <a:srgbClr val="444444"/>
                </a:solidFill>
                <a:latin typeface="Arial" panose="020B0604020202090204" pitchFamily="34" charset="0"/>
                <a:ea typeface="Arial" panose="020B0604020202090204" pitchFamily="34" charset="-122"/>
                <a:cs typeface="Arial" panose="020B0604020202090204" pitchFamily="34" charset="-120"/>
              </a:rPr>
              <a:t>Proposals embedded using Section 1 only (fair comparison with abstracts)</a:t>
            </a:r>
            <a:endParaRPr lang="en-US" sz="850" dirty="0"/>
          </a:p>
        </p:txBody>
      </p:sp>
      <p:pic>
        <p:nvPicPr>
          <p:cNvPr id="29" name="Picture 28" descr="literature_corpus_overview"/>
          <p:cNvPicPr>
            <a:picLocks noChangeAspect="1"/>
          </p:cNvPicPr>
          <p:nvPr/>
        </p:nvPicPr>
        <p:blipFill>
          <a:blip r:embed="rId1"/>
          <a:stretch>
            <a:fillRect/>
          </a:stretch>
        </p:blipFill>
        <p:spPr>
          <a:xfrm>
            <a:off x="2634615" y="0"/>
            <a:ext cx="6440805" cy="480441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6" name="Picture 25" descr="proposals_in_literature_space_by_year"/>
          <p:cNvPicPr>
            <a:picLocks noChangeAspect="1"/>
          </p:cNvPicPr>
          <p:nvPr/>
        </p:nvPicPr>
        <p:blipFill>
          <a:blip r:embed="rId1"/>
          <a:srcRect t="6680"/>
          <a:stretch>
            <a:fillRect/>
          </a:stretch>
        </p:blipFill>
        <p:spPr>
          <a:xfrm>
            <a:off x="304800" y="806450"/>
            <a:ext cx="8021955" cy="3592830"/>
          </a:xfrm>
          <a:prstGeom prst="rect">
            <a:avLst/>
          </a:prstGeom>
        </p:spPr>
      </p:pic>
      <p:sp>
        <p:nvSpPr>
          <p:cNvPr id="2" name="Text 0"/>
          <p:cNvSpPr/>
          <p:nvPr/>
        </p:nvSpPr>
        <p:spPr>
          <a:xfrm>
            <a:off x="0" y="0"/>
            <a:ext cx="9144000" cy="76200"/>
          </a:xfrm>
          <a:prstGeom prst="rect">
            <a:avLst/>
          </a:prstGeom>
          <a:solidFill>
            <a:srgbClr val="4472C4"/>
          </a:solidFill>
        </p:spPr>
        <p:txBody>
          <a:bodyPr wrap="square" rtlCol="0" anchor="ctr"/>
          <a:lstStyle/>
          <a:p>
            <a:pPr marL="0" indent="0">
              <a:buNone/>
            </a:pPr>
            <a:endParaRPr lang="en-US" dirty="0"/>
          </a:p>
        </p:txBody>
      </p:sp>
      <p:sp>
        <p:nvSpPr>
          <p:cNvPr id="4" name="Text 2"/>
          <p:cNvSpPr/>
          <p:nvPr/>
        </p:nvSpPr>
        <p:spPr>
          <a:xfrm>
            <a:off x="7112050" y="76200"/>
            <a:ext cx="2031950" cy="355550"/>
          </a:xfrm>
          <a:prstGeom prst="rect">
            <a:avLst/>
          </a:prstGeom>
          <a:solidFill>
            <a:srgbClr val="44546A"/>
          </a:solidFill>
        </p:spPr>
        <p:txBody>
          <a:bodyPr wrap="square" rtlCol="0" anchor="ctr"/>
          <a:lstStyle/>
          <a:p>
            <a:pPr marL="0" indent="0">
              <a:buNone/>
            </a:pPr>
            <a:endParaRPr lang="en-US" dirty="0"/>
          </a:p>
        </p:txBody>
      </p:sp>
      <p:sp>
        <p:nvSpPr>
          <p:cNvPr id="5" name="Text 3"/>
          <p:cNvSpPr/>
          <p:nvPr/>
        </p:nvSpPr>
        <p:spPr>
          <a:xfrm>
            <a:off x="7612559" y="187226"/>
            <a:ext cx="1051551" cy="133350"/>
          </a:xfrm>
          <a:prstGeom prst="rect">
            <a:avLst/>
          </a:prstGeom>
          <a:noFill/>
        </p:spPr>
        <p:txBody>
          <a:bodyPr wrap="square" lIns="0" tIns="0" rIns="0" bIns="0" rtlCol="0" anchor="t"/>
          <a:lstStyle/>
          <a:p>
            <a:pPr marL="0" indent="0" algn="l">
              <a:buNone/>
            </a:pPr>
            <a:r>
              <a:rPr lang="en-US" sz="900" b="1" dirty="0">
                <a:solidFill>
                  <a:srgbClr val="FFFFFF"/>
                </a:solidFill>
                <a:latin typeface="Arial" panose="020B0604020202090204" pitchFamily="34" charset="0"/>
                <a:ea typeface="Arial" panose="020B0604020202090204" pitchFamily="34" charset="-122"/>
                <a:cs typeface="Arial" panose="020B0604020202090204" pitchFamily="34" charset="-120"/>
              </a:rPr>
              <a:t>PART II · NOVELTY</a:t>
            </a:r>
            <a:endParaRPr lang="en-US" sz="900" dirty="0"/>
          </a:p>
        </p:txBody>
      </p:sp>
      <p:sp>
        <p:nvSpPr>
          <p:cNvPr id="6" name="Text 4"/>
          <p:cNvSpPr/>
          <p:nvPr/>
        </p:nvSpPr>
        <p:spPr>
          <a:xfrm>
            <a:off x="304800" y="177701"/>
            <a:ext cx="7124649" cy="295275"/>
          </a:xfrm>
          <a:prstGeom prst="rect">
            <a:avLst/>
          </a:prstGeom>
          <a:noFill/>
        </p:spPr>
        <p:txBody>
          <a:bodyPr wrap="square" lIns="0" tIns="0" rIns="0" bIns="0" rtlCol="0" anchor="t"/>
          <a:lstStyle/>
          <a:p>
            <a:pPr marL="0" indent="0" algn="l">
              <a:buNone/>
            </a:pPr>
            <a:r>
              <a:rPr lang="en-US" sz="2000" b="1" dirty="0">
                <a:solidFill>
                  <a:srgbClr val="44546A"/>
                </a:solidFill>
                <a:latin typeface="Arial" panose="020B0604020202090204" pitchFamily="34" charset="0"/>
                <a:ea typeface="Arial" panose="020B0604020202090204" pitchFamily="34" charset="-122"/>
                <a:cs typeface="Arial" panose="020B0604020202090204" pitchFamily="34" charset="-120"/>
              </a:rPr>
              <a:t>Proposals in Literature Embedding Space</a:t>
            </a:r>
            <a:endParaRPr lang="en-US" sz="2000" dirty="0"/>
          </a:p>
        </p:txBody>
      </p:sp>
      <p:sp>
        <p:nvSpPr>
          <p:cNvPr id="7" name="Text 5"/>
          <p:cNvSpPr/>
          <p:nvPr/>
        </p:nvSpPr>
        <p:spPr>
          <a:xfrm>
            <a:off x="304800" y="498277"/>
            <a:ext cx="7124649" cy="142875"/>
          </a:xfrm>
          <a:prstGeom prst="rect">
            <a:avLst/>
          </a:prstGeom>
          <a:noFill/>
        </p:spPr>
        <p:txBody>
          <a:bodyPr wrap="square" lIns="0" tIns="0" rIns="0" bIns="0" rtlCol="0" anchor="t"/>
          <a:lstStyle/>
          <a:p>
            <a:pPr marL="0" indent="0" algn="l">
              <a:spcBef>
                <a:spcPts val="200"/>
              </a:spcBef>
              <a:buNone/>
            </a:pPr>
            <a:r>
              <a:rPr lang="en-US" sz="1000" dirty="0">
                <a:solidFill>
                  <a:srgbClr val="4472C4"/>
                </a:solidFill>
                <a:latin typeface="Arial" panose="020B0604020202090204" pitchFamily="34" charset="0"/>
                <a:ea typeface="Arial" panose="020B0604020202090204" pitchFamily="34" charset="-122"/>
                <a:cs typeface="Arial" panose="020B0604020202090204" pitchFamily="34" charset="-120"/>
              </a:rPr>
              <a:t>UMAP fit on 600 PubMed articles (gray); proposals projected into literature coordinate system</a:t>
            </a:r>
            <a:endParaRPr lang="en-US" sz="1000" dirty="0"/>
          </a:p>
        </p:txBody>
      </p:sp>
      <p:sp>
        <p:nvSpPr>
          <p:cNvPr id="8" name="Text 6"/>
          <p:cNvSpPr/>
          <p:nvPr/>
        </p:nvSpPr>
        <p:spPr>
          <a:xfrm>
            <a:off x="304800" y="711101"/>
            <a:ext cx="8534400" cy="25301"/>
          </a:xfrm>
          <a:prstGeom prst="rect">
            <a:avLst/>
          </a:prstGeom>
          <a:solidFill>
            <a:srgbClr val="4472C4"/>
          </a:solidFill>
        </p:spPr>
        <p:txBody>
          <a:bodyPr wrap="square" rtlCol="0" anchor="ctr"/>
          <a:lstStyle/>
          <a:p>
            <a:pPr marL="0" indent="0">
              <a:buNone/>
            </a:pPr>
            <a:endParaRPr lang="en-US" dirty="0"/>
          </a:p>
        </p:txBody>
      </p:sp>
      <p:sp>
        <p:nvSpPr>
          <p:cNvPr id="9" name="Text 7"/>
          <p:cNvSpPr/>
          <p:nvPr/>
        </p:nvSpPr>
        <p:spPr>
          <a:xfrm>
            <a:off x="50701" y="4367480"/>
            <a:ext cx="3632299" cy="774502"/>
          </a:xfrm>
          <a:prstGeom prst="roundRect">
            <a:avLst>
              <a:gd name="adj" fmla="val 8199"/>
            </a:avLst>
          </a:prstGeom>
          <a:solidFill>
            <a:srgbClr val="EEF2FA"/>
          </a:solidFill>
        </p:spPr>
        <p:txBody>
          <a:bodyPr wrap="square" rtlCol="0" anchor="ctr"/>
          <a:lstStyle/>
          <a:p>
            <a:pPr marL="0" indent="0">
              <a:buNone/>
            </a:pPr>
            <a:endParaRPr lang="en-US" dirty="0"/>
          </a:p>
        </p:txBody>
      </p:sp>
      <p:sp>
        <p:nvSpPr>
          <p:cNvPr id="10" name="Shape 8"/>
          <p:cNvSpPr/>
          <p:nvPr/>
        </p:nvSpPr>
        <p:spPr>
          <a:xfrm>
            <a:off x="69751" y="4367480"/>
            <a:ext cx="0" cy="774502"/>
          </a:xfrm>
          <a:prstGeom prst="line">
            <a:avLst/>
          </a:prstGeom>
          <a:noFill/>
          <a:ln w="38100">
            <a:solidFill>
              <a:srgbClr val="4472C4"/>
            </a:solidFill>
            <a:prstDash val="solid"/>
          </a:ln>
        </p:spPr>
      </p:sp>
      <p:sp>
        <p:nvSpPr>
          <p:cNvPr id="11" name="Text 9"/>
          <p:cNvSpPr/>
          <p:nvPr/>
        </p:nvSpPr>
        <p:spPr>
          <a:xfrm>
            <a:off x="215751" y="4468981"/>
            <a:ext cx="3407104" cy="133350"/>
          </a:xfrm>
          <a:prstGeom prst="rect">
            <a:avLst/>
          </a:prstGeom>
          <a:noFill/>
        </p:spPr>
        <p:txBody>
          <a:bodyPr wrap="square" lIns="0" tIns="0" rIns="0" bIns="0" rtlCol="0" anchor="t"/>
          <a:lstStyle/>
          <a:p>
            <a:pPr marL="0" indent="0" algn="l">
              <a:spcAft>
                <a:spcPts val="300"/>
              </a:spcAft>
              <a:buNone/>
            </a:pPr>
            <a:r>
              <a:rPr lang="en-US" sz="950" b="1" dirty="0">
                <a:solidFill>
                  <a:srgbClr val="4472C4"/>
                </a:solidFill>
                <a:latin typeface="Arial" panose="020B0604020202090204" pitchFamily="34" charset="0"/>
                <a:ea typeface="Arial" panose="020B0604020202090204" pitchFamily="34" charset="-122"/>
                <a:cs typeface="Arial" panose="020B0604020202090204" pitchFamily="34" charset="-120"/>
              </a:rPr>
              <a:t>Mixed peripheral positioning</a:t>
            </a:r>
            <a:endParaRPr lang="en-US" sz="950" dirty="0"/>
          </a:p>
        </p:txBody>
      </p:sp>
      <p:sp>
        <p:nvSpPr>
          <p:cNvPr id="12" name="Text 10"/>
          <p:cNvSpPr/>
          <p:nvPr/>
        </p:nvSpPr>
        <p:spPr>
          <a:xfrm>
            <a:off x="215751" y="4640431"/>
            <a:ext cx="3407104" cy="40005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Human proposals are no longer clearly more peripheral than AI proposals after rephrasing. All groups sit at the edges of dense literature regions, consistent with the non-significant novelty test.</a:t>
            </a:r>
            <a:endParaRPr lang="en-US" sz="900" dirty="0"/>
          </a:p>
        </p:txBody>
      </p:sp>
      <p:sp>
        <p:nvSpPr>
          <p:cNvPr id="14" name="Shape 12"/>
          <p:cNvSpPr/>
          <p:nvPr/>
        </p:nvSpPr>
        <p:spPr>
          <a:xfrm>
            <a:off x="3768626" y="4367232"/>
            <a:ext cx="0" cy="774502"/>
          </a:xfrm>
          <a:prstGeom prst="line">
            <a:avLst/>
          </a:prstGeom>
          <a:noFill/>
          <a:ln w="38100">
            <a:solidFill>
              <a:srgbClr val="ED7D31"/>
            </a:solidFill>
            <a:prstDash val="solid"/>
          </a:ln>
        </p:spPr>
      </p:sp>
      <p:sp>
        <p:nvSpPr>
          <p:cNvPr id="15" name="Text 13"/>
          <p:cNvSpPr/>
          <p:nvPr/>
        </p:nvSpPr>
        <p:spPr>
          <a:xfrm>
            <a:off x="3914626" y="4468733"/>
            <a:ext cx="3407104" cy="133350"/>
          </a:xfrm>
          <a:prstGeom prst="rect">
            <a:avLst/>
          </a:prstGeom>
          <a:noFill/>
        </p:spPr>
        <p:txBody>
          <a:bodyPr wrap="square" lIns="0" tIns="0" rIns="0" bIns="0" rtlCol="0" anchor="t"/>
          <a:lstStyle/>
          <a:p>
            <a:pPr marL="0" indent="0" algn="l">
              <a:spcAft>
                <a:spcPts val="300"/>
              </a:spcAft>
              <a:buNone/>
            </a:pPr>
            <a:r>
              <a:rPr lang="en-US" sz="950" b="1" dirty="0">
                <a:solidFill>
                  <a:srgbClr val="C55A11"/>
                </a:solidFill>
                <a:latin typeface="Arial" panose="020B0604020202090204" pitchFamily="34" charset="0"/>
                <a:ea typeface="Arial" panose="020B0604020202090204" pitchFamily="34" charset="-122"/>
                <a:cs typeface="Arial" panose="020B0604020202090204" pitchFamily="34" charset="-120"/>
              </a:rPr>
              <a:t>GPT-5.2 compact cluster</a:t>
            </a:r>
            <a:endParaRPr lang="en-US" sz="950" dirty="0"/>
          </a:p>
        </p:txBody>
      </p:sp>
      <p:sp>
        <p:nvSpPr>
          <p:cNvPr id="16" name="Text 14"/>
          <p:cNvSpPr/>
          <p:nvPr/>
        </p:nvSpPr>
        <p:spPr>
          <a:xfrm>
            <a:off x="3914626" y="4640183"/>
            <a:ext cx="3407104" cy="40005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GPT proposals remain tightly clustered in one region of literature space, consistent with the mode collapse seen in diversity analyses. They occupy well-covered literature territory.</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4472C4"/>
          </a:solidFill>
        </p:spPr>
        <p:txBody>
          <a:bodyPr wrap="square" rtlCol="0" anchor="ctr"/>
          <a:lstStyle/>
          <a:p>
            <a:pPr marL="0" indent="0">
              <a:buNone/>
            </a:pPr>
            <a:endParaRPr lang="en-US" dirty="0"/>
          </a:p>
        </p:txBody>
      </p:sp>
      <p:sp>
        <p:nvSpPr>
          <p:cNvPr id="3" name="Text 1"/>
          <p:cNvSpPr/>
          <p:nvPr/>
        </p:nvSpPr>
        <p:spPr>
          <a:xfrm>
            <a:off x="0" y="5067300"/>
            <a:ext cx="9144000" cy="76200"/>
          </a:xfrm>
          <a:prstGeom prst="rect">
            <a:avLst/>
          </a:prstGeom>
          <a:solidFill>
            <a:srgbClr val="44546A"/>
          </a:solidFill>
        </p:spPr>
        <p:txBody>
          <a:bodyPr wrap="square" rtlCol="0" anchor="ctr"/>
          <a:lstStyle/>
          <a:p>
            <a:pPr marL="0" indent="0">
              <a:buNone/>
            </a:pPr>
            <a:endParaRPr lang="en-US" dirty="0"/>
          </a:p>
        </p:txBody>
      </p:sp>
      <p:sp>
        <p:nvSpPr>
          <p:cNvPr id="4" name="Text 2"/>
          <p:cNvSpPr/>
          <p:nvPr/>
        </p:nvSpPr>
        <p:spPr>
          <a:xfrm>
            <a:off x="7112050" y="76200"/>
            <a:ext cx="2031950" cy="355550"/>
          </a:xfrm>
          <a:prstGeom prst="rect">
            <a:avLst/>
          </a:prstGeom>
          <a:solidFill>
            <a:srgbClr val="44546A"/>
          </a:solidFill>
        </p:spPr>
        <p:txBody>
          <a:bodyPr wrap="square" rtlCol="0" anchor="ctr"/>
          <a:lstStyle/>
          <a:p>
            <a:pPr marL="0" indent="0">
              <a:buNone/>
            </a:pPr>
            <a:endParaRPr lang="en-US" dirty="0"/>
          </a:p>
        </p:txBody>
      </p:sp>
      <p:sp>
        <p:nvSpPr>
          <p:cNvPr id="5" name="Text 3"/>
          <p:cNvSpPr/>
          <p:nvPr/>
        </p:nvSpPr>
        <p:spPr>
          <a:xfrm>
            <a:off x="7571333" y="187226"/>
            <a:ext cx="1135651" cy="133350"/>
          </a:xfrm>
          <a:prstGeom prst="rect">
            <a:avLst/>
          </a:prstGeom>
          <a:noFill/>
        </p:spPr>
        <p:txBody>
          <a:bodyPr wrap="square" lIns="0" tIns="0" rIns="0" bIns="0" rtlCol="0" anchor="t"/>
          <a:lstStyle/>
          <a:p>
            <a:pPr marL="0" indent="0" algn="l">
              <a:buNone/>
            </a:pPr>
            <a:r>
              <a:rPr lang="en-US" sz="900" b="1" dirty="0">
                <a:solidFill>
                  <a:srgbClr val="FFFFFF"/>
                </a:solidFill>
                <a:latin typeface="Arial" panose="020B0604020202090204" pitchFamily="34" charset="0"/>
                <a:ea typeface="Arial" panose="020B0604020202090204" pitchFamily="34" charset="-122"/>
                <a:cs typeface="Arial" panose="020B0604020202090204" pitchFamily="34" charset="-120"/>
              </a:rPr>
              <a:t>PART III · THEMATIC</a:t>
            </a:r>
            <a:endParaRPr lang="en-US" sz="900" dirty="0"/>
          </a:p>
        </p:txBody>
      </p:sp>
      <p:sp>
        <p:nvSpPr>
          <p:cNvPr id="6" name="Text 4"/>
          <p:cNvSpPr/>
          <p:nvPr/>
        </p:nvSpPr>
        <p:spPr>
          <a:xfrm>
            <a:off x="304800" y="76200"/>
            <a:ext cx="1015901" cy="190500"/>
          </a:xfrm>
          <a:prstGeom prst="roundRect">
            <a:avLst>
              <a:gd name="adj" fmla="val 20000"/>
            </a:avLst>
          </a:prstGeom>
          <a:solidFill>
            <a:srgbClr val="70AD47"/>
          </a:solidFill>
        </p:spPr>
        <p:txBody>
          <a:bodyPr wrap="square" rtlCol="0" anchor="ctr"/>
          <a:lstStyle/>
          <a:p>
            <a:pPr marL="0" indent="0">
              <a:buNone/>
            </a:pPr>
            <a:endParaRPr lang="en-US" dirty="0"/>
          </a:p>
        </p:txBody>
      </p:sp>
      <p:sp>
        <p:nvSpPr>
          <p:cNvPr id="7" name="Text 5"/>
          <p:cNvSpPr/>
          <p:nvPr/>
        </p:nvSpPr>
        <p:spPr>
          <a:xfrm>
            <a:off x="406301" y="114300"/>
            <a:ext cx="829157" cy="114300"/>
          </a:xfrm>
          <a:prstGeom prst="rect">
            <a:avLst/>
          </a:prstGeom>
          <a:noFill/>
        </p:spPr>
        <p:txBody>
          <a:bodyPr wrap="square" lIns="0" tIns="0" rIns="0" bIns="0" rtlCol="0" anchor="t"/>
          <a:lstStyle/>
          <a:p>
            <a:pPr marL="0" indent="0" algn="l">
              <a:buNone/>
            </a:pPr>
            <a:r>
              <a:rPr lang="en-US" sz="800" b="1" dirty="0">
                <a:solidFill>
                  <a:srgbClr val="FFFFFF"/>
                </a:solidFill>
                <a:latin typeface="Arial" panose="020B0604020202090204" pitchFamily="34" charset="0"/>
                <a:ea typeface="Arial" panose="020B0604020202090204" pitchFamily="34" charset="-122"/>
                <a:cs typeface="Arial" panose="020B0604020202090204" pitchFamily="34" charset="-120"/>
              </a:rPr>
              <a:t>Analyses 3.1–3.4</a:t>
            </a:r>
            <a:endParaRPr lang="en-US" sz="800" dirty="0"/>
          </a:p>
        </p:txBody>
      </p:sp>
      <p:sp>
        <p:nvSpPr>
          <p:cNvPr id="8" name="Text 6"/>
          <p:cNvSpPr/>
          <p:nvPr/>
        </p:nvSpPr>
        <p:spPr>
          <a:xfrm>
            <a:off x="304800" y="381000"/>
            <a:ext cx="7124649" cy="266700"/>
          </a:xfrm>
          <a:prstGeom prst="rect">
            <a:avLst/>
          </a:prstGeom>
          <a:noFill/>
        </p:spPr>
        <p:txBody>
          <a:bodyPr wrap="square" lIns="0" tIns="0" rIns="0" bIns="0" rtlCol="0" anchor="t"/>
          <a:lstStyle/>
          <a:p>
            <a:pPr marL="0" indent="0" algn="l">
              <a:buNone/>
            </a:pPr>
            <a:r>
              <a:rPr lang="en-US" sz="1800" b="1" dirty="0">
                <a:solidFill>
                  <a:srgbClr val="44546A"/>
                </a:solidFill>
                <a:latin typeface="Arial" panose="020B0604020202090204" pitchFamily="34" charset="0"/>
                <a:ea typeface="Arial" panose="020B0604020202090204" pitchFamily="34" charset="-122"/>
                <a:cs typeface="Arial" panose="020B0604020202090204" pitchFamily="34" charset="-120"/>
              </a:rPr>
              <a:t>Thematic &amp; Cluster Analysis</a:t>
            </a:r>
            <a:endParaRPr lang="en-US" sz="1800" dirty="0"/>
          </a:p>
        </p:txBody>
      </p:sp>
      <p:sp>
        <p:nvSpPr>
          <p:cNvPr id="9" name="Text 7"/>
          <p:cNvSpPr/>
          <p:nvPr/>
        </p:nvSpPr>
        <p:spPr>
          <a:xfrm>
            <a:off x="304800" y="673001"/>
            <a:ext cx="7124649" cy="142875"/>
          </a:xfrm>
          <a:prstGeom prst="rect">
            <a:avLst/>
          </a:prstGeom>
          <a:noFill/>
        </p:spPr>
        <p:txBody>
          <a:bodyPr wrap="square" lIns="0" tIns="0" rIns="0" bIns="0" rtlCol="0" anchor="t"/>
          <a:lstStyle/>
          <a:p>
            <a:pPr marL="0" indent="0" algn="l">
              <a:spcBef>
                <a:spcPts val="200"/>
              </a:spcBef>
              <a:buNone/>
            </a:pPr>
            <a:r>
              <a:rPr lang="en-US" sz="1000" dirty="0">
                <a:solidFill>
                  <a:srgbClr val="4472C4"/>
                </a:solidFill>
                <a:latin typeface="Arial" panose="020B0604020202090204" pitchFamily="34" charset="0"/>
                <a:ea typeface="Arial" panose="020B0604020202090204" pitchFamily="34" charset="-122"/>
                <a:cs typeface="Arial" panose="020B0604020202090204" pitchFamily="34" charset="-120"/>
              </a:rPr>
              <a:t>LDA topic modeling (k=5) and GMM clustering (k=3, BIC) on rephrased proposals</a:t>
            </a:r>
            <a:endParaRPr lang="en-US" sz="1000" dirty="0"/>
          </a:p>
        </p:txBody>
      </p:sp>
      <p:sp>
        <p:nvSpPr>
          <p:cNvPr id="10" name="Text 8"/>
          <p:cNvSpPr/>
          <p:nvPr/>
        </p:nvSpPr>
        <p:spPr>
          <a:xfrm>
            <a:off x="304800" y="812750"/>
            <a:ext cx="8534400" cy="25301"/>
          </a:xfrm>
          <a:prstGeom prst="rect">
            <a:avLst/>
          </a:prstGeom>
          <a:solidFill>
            <a:srgbClr val="4472C4"/>
          </a:solidFill>
        </p:spPr>
        <p:txBody>
          <a:bodyPr wrap="square" rtlCol="0" anchor="ctr"/>
          <a:lstStyle/>
          <a:p>
            <a:pPr marL="0" indent="0">
              <a:buNone/>
            </a:pPr>
            <a:endParaRPr lang="en-US" dirty="0"/>
          </a:p>
        </p:txBody>
      </p:sp>
      <p:sp>
        <p:nvSpPr>
          <p:cNvPr id="11" name="Text 9"/>
          <p:cNvSpPr/>
          <p:nvPr/>
        </p:nvSpPr>
        <p:spPr>
          <a:xfrm>
            <a:off x="269240" y="3086100"/>
            <a:ext cx="3627069" cy="114300"/>
          </a:xfrm>
          <a:prstGeom prst="rect">
            <a:avLst/>
          </a:prstGeom>
          <a:noFill/>
        </p:spPr>
        <p:txBody>
          <a:bodyPr wrap="square" lIns="0" tIns="0" rIns="0" bIns="0" rtlCol="0" anchor="t"/>
          <a:lstStyle/>
          <a:p>
            <a:pPr marL="0" indent="0" algn="ctr">
              <a:spcBef>
                <a:spcPts val="300"/>
              </a:spcBef>
              <a:spcAft>
                <a:spcPts val="600"/>
              </a:spcAft>
              <a:buNone/>
            </a:pPr>
            <a:r>
              <a:rPr lang="en-US" sz="800" dirty="0">
                <a:solidFill>
                  <a:srgbClr val="666666"/>
                </a:solidFill>
                <a:latin typeface="Arial" panose="020B0604020202090204" pitchFamily="34" charset="0"/>
                <a:ea typeface="Arial" panose="020B0604020202090204" pitchFamily="34" charset="-122"/>
                <a:cs typeface="Arial" panose="020B0604020202090204" pitchFamily="34" charset="-120"/>
              </a:rPr>
              <a:t>Topic distribution (soft assignment, &gt;20% probability threshold)</a:t>
            </a:r>
            <a:endParaRPr lang="en-US" sz="800" dirty="0"/>
          </a:p>
        </p:txBody>
      </p:sp>
      <p:sp>
        <p:nvSpPr>
          <p:cNvPr id="12" name="Text 10"/>
          <p:cNvSpPr/>
          <p:nvPr/>
        </p:nvSpPr>
        <p:spPr>
          <a:xfrm>
            <a:off x="4038451" y="914400"/>
            <a:ext cx="4800749" cy="774502"/>
          </a:xfrm>
          <a:prstGeom prst="roundRect">
            <a:avLst>
              <a:gd name="adj" fmla="val 8199"/>
            </a:avLst>
          </a:prstGeom>
          <a:solidFill>
            <a:srgbClr val="EEF6E8"/>
          </a:solidFill>
        </p:spPr>
        <p:txBody>
          <a:bodyPr wrap="square" rtlCol="0" anchor="ctr"/>
          <a:lstStyle/>
          <a:p>
            <a:pPr marL="0" indent="0">
              <a:buNone/>
            </a:pPr>
            <a:endParaRPr lang="en-US" dirty="0"/>
          </a:p>
        </p:txBody>
      </p:sp>
      <p:sp>
        <p:nvSpPr>
          <p:cNvPr id="13" name="Shape 11"/>
          <p:cNvSpPr/>
          <p:nvPr/>
        </p:nvSpPr>
        <p:spPr>
          <a:xfrm>
            <a:off x="4057501" y="914400"/>
            <a:ext cx="0" cy="774502"/>
          </a:xfrm>
          <a:prstGeom prst="line">
            <a:avLst/>
          </a:prstGeom>
          <a:noFill/>
          <a:ln w="38100">
            <a:solidFill>
              <a:srgbClr val="70AD47"/>
            </a:solidFill>
            <a:prstDash val="solid"/>
          </a:ln>
        </p:spPr>
      </p:sp>
      <p:sp>
        <p:nvSpPr>
          <p:cNvPr id="14" name="Text 12"/>
          <p:cNvSpPr/>
          <p:nvPr/>
        </p:nvSpPr>
        <p:spPr>
          <a:xfrm>
            <a:off x="4203502" y="1015901"/>
            <a:ext cx="4598923" cy="133350"/>
          </a:xfrm>
          <a:prstGeom prst="rect">
            <a:avLst/>
          </a:prstGeom>
          <a:noFill/>
        </p:spPr>
        <p:txBody>
          <a:bodyPr wrap="square" lIns="0" tIns="0" rIns="0" bIns="0" rtlCol="0" anchor="t"/>
          <a:lstStyle/>
          <a:p>
            <a:pPr marL="0" indent="0" algn="l">
              <a:spcAft>
                <a:spcPts val="300"/>
              </a:spcAft>
              <a:buNone/>
            </a:pPr>
            <a:r>
              <a:rPr lang="en-US" sz="950" b="1" dirty="0">
                <a:solidFill>
                  <a:srgbClr val="385C1F"/>
                </a:solidFill>
                <a:latin typeface="Arial" panose="020B0604020202090204" pitchFamily="34" charset="0"/>
                <a:ea typeface="Arial" panose="020B0604020202090204" pitchFamily="34" charset="-122"/>
                <a:cs typeface="Arial" panose="020B0604020202090204" pitchFamily="34" charset="-120"/>
              </a:rPr>
              <a:t>Strong thematic separation persists</a:t>
            </a:r>
            <a:endParaRPr lang="en-US" sz="950" dirty="0"/>
          </a:p>
        </p:txBody>
      </p:sp>
      <p:sp>
        <p:nvSpPr>
          <p:cNvPr id="15" name="Text 13"/>
          <p:cNvSpPr/>
          <p:nvPr/>
        </p:nvSpPr>
        <p:spPr>
          <a:xfrm>
            <a:off x="4203502" y="1187351"/>
            <a:ext cx="4598923" cy="40005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Overall distribution difference: chi-square permutation p &lt; 0.0001. Topic 2 is Human-dominated (95.7% human); Topic 4 is AI-exclusive (0% human). Subsample validation (1,000 resamples): Topics 2 and 4 are robust.</a:t>
            </a:r>
            <a:endParaRPr lang="en-US" sz="900" dirty="0"/>
          </a:p>
        </p:txBody>
      </p:sp>
      <p:sp>
        <p:nvSpPr>
          <p:cNvPr id="16" name="Text 14"/>
          <p:cNvSpPr/>
          <p:nvPr/>
        </p:nvSpPr>
        <p:spPr>
          <a:xfrm>
            <a:off x="4038451" y="1777752"/>
            <a:ext cx="1532483" cy="622102"/>
          </a:xfrm>
          <a:prstGeom prst="roundRect">
            <a:avLst>
              <a:gd name="adj" fmla="val 10207"/>
            </a:avLst>
          </a:prstGeom>
          <a:solidFill>
            <a:srgbClr val="EEF6E8"/>
          </a:solidFill>
          <a:ln w="9525">
            <a:solidFill>
              <a:srgbClr val="70AD47"/>
            </a:solidFill>
          </a:ln>
        </p:spPr>
        <p:txBody>
          <a:bodyPr wrap="square" rtlCol="0" anchor="ctr"/>
          <a:lstStyle/>
          <a:p>
            <a:pPr marL="0" indent="0">
              <a:buNone/>
            </a:pPr>
            <a:endParaRPr lang="en-US" dirty="0"/>
          </a:p>
        </p:txBody>
      </p:sp>
      <p:sp>
        <p:nvSpPr>
          <p:cNvPr id="17" name="Text 15"/>
          <p:cNvSpPr/>
          <p:nvPr/>
        </p:nvSpPr>
        <p:spPr>
          <a:xfrm>
            <a:off x="4174927" y="1888778"/>
            <a:ext cx="1284723" cy="133350"/>
          </a:xfrm>
          <a:prstGeom prst="rect">
            <a:avLst/>
          </a:prstGeom>
          <a:noFill/>
        </p:spPr>
        <p:txBody>
          <a:bodyPr wrap="square" lIns="0" tIns="0" rIns="0" bIns="0" rtlCol="0" anchor="t"/>
          <a:lstStyle/>
          <a:p>
            <a:pPr marL="0" indent="0" algn="l">
              <a:spcAft>
                <a:spcPts val="300"/>
              </a:spcAft>
              <a:buNone/>
            </a:pPr>
            <a:r>
              <a:rPr lang="en-US" sz="900" b="1" dirty="0">
                <a:solidFill>
                  <a:srgbClr val="385C1F"/>
                </a:solidFill>
                <a:latin typeface="Arial" panose="020B0604020202090204" pitchFamily="34" charset="0"/>
                <a:ea typeface="Arial" panose="020B0604020202090204" pitchFamily="34" charset="-122"/>
                <a:cs typeface="Arial" panose="020B0604020202090204" pitchFamily="34" charset="-120"/>
              </a:rPr>
              <a:t>Cluster 0 (n=19)</a:t>
            </a:r>
            <a:endParaRPr lang="en-US" sz="900" dirty="0"/>
          </a:p>
        </p:txBody>
      </p:sp>
      <p:sp>
        <p:nvSpPr>
          <p:cNvPr id="18" name="Text 16"/>
          <p:cNvSpPr/>
          <p:nvPr/>
        </p:nvSpPr>
        <p:spPr>
          <a:xfrm>
            <a:off x="4174927" y="2060228"/>
            <a:ext cx="1284723" cy="228600"/>
          </a:xfrm>
          <a:prstGeom prst="rect">
            <a:avLst/>
          </a:prstGeom>
          <a:noFill/>
        </p:spPr>
        <p:txBody>
          <a:bodyPr wrap="square" lIns="0" tIns="0" rIns="0" bIns="0" rtlCol="0" anchor="t"/>
          <a:lstStyle/>
          <a:p>
            <a:pPr marL="0" indent="0" algn="l">
              <a:buNone/>
            </a:pPr>
            <a:r>
              <a:rPr lang="en-US" sz="850" dirty="0">
                <a:solidFill>
                  <a:srgbClr val="444444"/>
                </a:solidFill>
                <a:latin typeface="Arial" panose="020B0604020202090204" pitchFamily="34" charset="0"/>
                <a:ea typeface="Arial" panose="020B0604020202090204" pitchFamily="34" charset="-122"/>
                <a:cs typeface="Arial" panose="020B0604020202090204" pitchFamily="34" charset="-120"/>
              </a:rPr>
              <a:t>Mixed: 15.8% Human, 84.2% AI</a:t>
            </a:r>
            <a:endParaRPr lang="en-US" sz="850" dirty="0"/>
          </a:p>
        </p:txBody>
      </p:sp>
      <p:sp>
        <p:nvSpPr>
          <p:cNvPr id="19" name="Text 17"/>
          <p:cNvSpPr/>
          <p:nvPr/>
        </p:nvSpPr>
        <p:spPr>
          <a:xfrm>
            <a:off x="5672435" y="1777752"/>
            <a:ext cx="1532632" cy="622102"/>
          </a:xfrm>
          <a:prstGeom prst="roundRect">
            <a:avLst>
              <a:gd name="adj" fmla="val 10207"/>
            </a:avLst>
          </a:prstGeom>
          <a:solidFill>
            <a:srgbClr val="EEF2FA"/>
          </a:solidFill>
          <a:ln w="9525">
            <a:solidFill>
              <a:srgbClr val="4472C4"/>
            </a:solidFill>
          </a:ln>
        </p:spPr>
        <p:txBody>
          <a:bodyPr wrap="square" rtlCol="0" anchor="ctr"/>
          <a:lstStyle/>
          <a:p>
            <a:pPr marL="0" indent="0">
              <a:buNone/>
            </a:pPr>
            <a:endParaRPr lang="en-US" dirty="0"/>
          </a:p>
        </p:txBody>
      </p:sp>
      <p:sp>
        <p:nvSpPr>
          <p:cNvPr id="20" name="Text 18"/>
          <p:cNvSpPr/>
          <p:nvPr/>
        </p:nvSpPr>
        <p:spPr>
          <a:xfrm>
            <a:off x="5808911" y="1888778"/>
            <a:ext cx="1284875" cy="133350"/>
          </a:xfrm>
          <a:prstGeom prst="rect">
            <a:avLst/>
          </a:prstGeom>
          <a:noFill/>
        </p:spPr>
        <p:txBody>
          <a:bodyPr wrap="square" lIns="0" tIns="0" rIns="0" bIns="0" rtlCol="0" anchor="t"/>
          <a:lstStyle/>
          <a:p>
            <a:pPr marL="0" indent="0" algn="l">
              <a:spcAft>
                <a:spcPts val="300"/>
              </a:spcAft>
              <a:buNone/>
            </a:pPr>
            <a:r>
              <a:rPr lang="en-US" sz="900" b="1" dirty="0">
                <a:solidFill>
                  <a:srgbClr val="4472C4"/>
                </a:solidFill>
                <a:latin typeface="Arial" panose="020B0604020202090204" pitchFamily="34" charset="0"/>
                <a:ea typeface="Arial" panose="020B0604020202090204" pitchFamily="34" charset="-122"/>
                <a:cs typeface="Arial" panose="020B0604020202090204" pitchFamily="34" charset="-120"/>
              </a:rPr>
              <a:t>Cluster 1 (n=58)</a:t>
            </a:r>
            <a:endParaRPr lang="en-US" sz="900" dirty="0"/>
          </a:p>
        </p:txBody>
      </p:sp>
      <p:sp>
        <p:nvSpPr>
          <p:cNvPr id="21" name="Text 19"/>
          <p:cNvSpPr/>
          <p:nvPr/>
        </p:nvSpPr>
        <p:spPr>
          <a:xfrm>
            <a:off x="5808911" y="2060228"/>
            <a:ext cx="1284875" cy="228600"/>
          </a:xfrm>
          <a:prstGeom prst="rect">
            <a:avLst/>
          </a:prstGeom>
          <a:noFill/>
        </p:spPr>
        <p:txBody>
          <a:bodyPr wrap="square" lIns="0" tIns="0" rIns="0" bIns="0" rtlCol="0" anchor="t"/>
          <a:lstStyle/>
          <a:p>
            <a:pPr marL="0" indent="0" algn="l">
              <a:buNone/>
            </a:pPr>
            <a:r>
              <a:rPr lang="en-US" sz="850" dirty="0">
                <a:solidFill>
                  <a:srgbClr val="444444"/>
                </a:solidFill>
                <a:latin typeface="Arial" panose="020B0604020202090204" pitchFamily="34" charset="0"/>
                <a:ea typeface="Arial" panose="020B0604020202090204" pitchFamily="34" charset="-122"/>
                <a:cs typeface="Arial" panose="020B0604020202090204" pitchFamily="34" charset="-120"/>
              </a:rPr>
              <a:t>AI-dominated: 8.6% Human, 91.4% AI</a:t>
            </a:r>
            <a:endParaRPr lang="en-US" sz="850" dirty="0"/>
          </a:p>
        </p:txBody>
      </p:sp>
      <p:sp>
        <p:nvSpPr>
          <p:cNvPr id="22" name="Text 20"/>
          <p:cNvSpPr/>
          <p:nvPr/>
        </p:nvSpPr>
        <p:spPr>
          <a:xfrm>
            <a:off x="7306568" y="1777752"/>
            <a:ext cx="1532632" cy="622102"/>
          </a:xfrm>
          <a:prstGeom prst="roundRect">
            <a:avLst>
              <a:gd name="adj" fmla="val 10207"/>
            </a:avLst>
          </a:prstGeom>
          <a:solidFill>
            <a:srgbClr val="EEF6E8"/>
          </a:solidFill>
          <a:ln w="9525">
            <a:solidFill>
              <a:srgbClr val="70AD47"/>
            </a:solidFill>
          </a:ln>
        </p:spPr>
        <p:txBody>
          <a:bodyPr wrap="square" rtlCol="0" anchor="ctr"/>
          <a:lstStyle/>
          <a:p>
            <a:pPr marL="0" indent="0">
              <a:buNone/>
            </a:pPr>
            <a:endParaRPr lang="en-US" dirty="0"/>
          </a:p>
        </p:txBody>
      </p:sp>
      <p:sp>
        <p:nvSpPr>
          <p:cNvPr id="23" name="Text 21"/>
          <p:cNvSpPr/>
          <p:nvPr/>
        </p:nvSpPr>
        <p:spPr>
          <a:xfrm>
            <a:off x="7443043" y="1888778"/>
            <a:ext cx="1284875" cy="133350"/>
          </a:xfrm>
          <a:prstGeom prst="rect">
            <a:avLst/>
          </a:prstGeom>
          <a:noFill/>
        </p:spPr>
        <p:txBody>
          <a:bodyPr wrap="square" lIns="0" tIns="0" rIns="0" bIns="0" rtlCol="0" anchor="t"/>
          <a:lstStyle/>
          <a:p>
            <a:pPr marL="0" indent="0" algn="l">
              <a:spcAft>
                <a:spcPts val="300"/>
              </a:spcAft>
              <a:buNone/>
            </a:pPr>
            <a:r>
              <a:rPr lang="en-US" sz="900" b="1" dirty="0">
                <a:solidFill>
                  <a:srgbClr val="385C1F"/>
                </a:solidFill>
                <a:latin typeface="Arial" panose="020B0604020202090204" pitchFamily="34" charset="0"/>
                <a:ea typeface="Arial" panose="020B0604020202090204" pitchFamily="34" charset="-122"/>
                <a:cs typeface="Arial" panose="020B0604020202090204" pitchFamily="34" charset="-120"/>
              </a:rPr>
              <a:t>Cluster 2 (n=15)</a:t>
            </a:r>
            <a:endParaRPr lang="en-US" sz="900" dirty="0"/>
          </a:p>
        </p:txBody>
      </p:sp>
      <p:sp>
        <p:nvSpPr>
          <p:cNvPr id="24" name="Text 22"/>
          <p:cNvSpPr/>
          <p:nvPr/>
        </p:nvSpPr>
        <p:spPr>
          <a:xfrm>
            <a:off x="7443043" y="2060228"/>
            <a:ext cx="1284875" cy="228600"/>
          </a:xfrm>
          <a:prstGeom prst="rect">
            <a:avLst/>
          </a:prstGeom>
          <a:noFill/>
        </p:spPr>
        <p:txBody>
          <a:bodyPr wrap="square" lIns="0" tIns="0" rIns="0" bIns="0" rtlCol="0" anchor="t"/>
          <a:lstStyle/>
          <a:p>
            <a:pPr marL="0" indent="0" algn="l">
              <a:buNone/>
            </a:pPr>
            <a:r>
              <a:rPr lang="en-US" sz="850" dirty="0">
                <a:solidFill>
                  <a:srgbClr val="444444"/>
                </a:solidFill>
                <a:latin typeface="Arial" panose="020B0604020202090204" pitchFamily="34" charset="0"/>
                <a:ea typeface="Arial" panose="020B0604020202090204" pitchFamily="34" charset="-122"/>
                <a:cs typeface="Arial" panose="020B0604020202090204" pitchFamily="34" charset="-120"/>
              </a:rPr>
              <a:t>Human-heavy: 60% Human, 40% AI</a:t>
            </a:r>
            <a:endParaRPr lang="en-US" sz="850" dirty="0"/>
          </a:p>
        </p:txBody>
      </p:sp>
      <p:sp>
        <p:nvSpPr>
          <p:cNvPr id="25" name="Text 23"/>
          <p:cNvSpPr/>
          <p:nvPr/>
        </p:nvSpPr>
        <p:spPr>
          <a:xfrm>
            <a:off x="4038451" y="2501354"/>
            <a:ext cx="4800749" cy="971550"/>
          </a:xfrm>
          <a:prstGeom prst="roundRect">
            <a:avLst>
              <a:gd name="adj" fmla="val 5229"/>
            </a:avLst>
          </a:prstGeom>
          <a:solidFill>
            <a:srgbClr val="F4F4F4"/>
          </a:solidFill>
        </p:spPr>
        <p:txBody>
          <a:bodyPr wrap="square" rtlCol="0" anchor="ctr"/>
          <a:lstStyle/>
          <a:p>
            <a:pPr marL="0" indent="0">
              <a:buNone/>
            </a:pPr>
            <a:endParaRPr lang="en-US" dirty="0"/>
          </a:p>
        </p:txBody>
      </p:sp>
      <p:sp>
        <p:nvSpPr>
          <p:cNvPr id="26" name="Text 24"/>
          <p:cNvSpPr/>
          <p:nvPr/>
        </p:nvSpPr>
        <p:spPr>
          <a:xfrm>
            <a:off x="4165402" y="2577554"/>
            <a:ext cx="4637785" cy="133350"/>
          </a:xfrm>
          <a:prstGeom prst="rect">
            <a:avLst/>
          </a:prstGeom>
          <a:noFill/>
        </p:spPr>
        <p:txBody>
          <a:bodyPr wrap="square" lIns="0" tIns="0" rIns="0" bIns="0" rtlCol="0" anchor="t"/>
          <a:lstStyle/>
          <a:p>
            <a:pPr marL="0" indent="0" algn="l">
              <a:spcAft>
                <a:spcPts val="300"/>
              </a:spcAft>
              <a:buNone/>
            </a:pPr>
            <a:r>
              <a:rPr lang="en-US" sz="900" b="1" dirty="0">
                <a:solidFill>
                  <a:srgbClr val="333333"/>
                </a:solidFill>
                <a:latin typeface="Arial" panose="020B0604020202090204" pitchFamily="34" charset="0"/>
                <a:ea typeface="Arial" panose="020B0604020202090204" pitchFamily="34" charset="-122"/>
                <a:cs typeface="Arial" panose="020B0604020202090204" pitchFamily="34" charset="-120"/>
              </a:rPr>
              <a:t>Segregation metrics (k=3 GMM, BIC selection)</a:t>
            </a:r>
            <a:endParaRPr lang="en-US" sz="900" dirty="0"/>
          </a:p>
        </p:txBody>
      </p:sp>
      <p:sp>
        <p:nvSpPr>
          <p:cNvPr id="27" name="Text 25"/>
          <p:cNvSpPr/>
          <p:nvPr/>
        </p:nvSpPr>
        <p:spPr>
          <a:xfrm>
            <a:off x="4165402" y="2749004"/>
            <a:ext cx="4637785" cy="133350"/>
          </a:xfrm>
          <a:prstGeom prst="rect">
            <a:avLst/>
          </a:prstGeom>
          <a:noFill/>
        </p:spPr>
        <p:txBody>
          <a:bodyPr wrap="square" lIns="0" tIns="0" rIns="0" bIns="0" rtlCol="0" anchor="t"/>
          <a:lstStyle/>
          <a:p>
            <a:pPr marL="0" indent="0" algn="l">
              <a:spcAft>
                <a:spcPts val="300"/>
              </a:spcAft>
              <a:buNone/>
            </a:pPr>
            <a:r>
              <a:rPr lang="en-US" sz="900" dirty="0">
                <a:solidFill>
                  <a:srgbClr val="333333"/>
                </a:solidFill>
                <a:latin typeface="Arial" panose="020B0604020202090204" pitchFamily="34" charset="0"/>
                <a:ea typeface="Arial" panose="020B0604020202090204" pitchFamily="34" charset="-122"/>
                <a:cs typeface="Arial" panose="020B0604020202090204" pitchFamily="34" charset="-120"/>
              </a:rPr>
              <a:t>NMI = 0.389, p &lt; 0.0001 — clusters predict source better than chance</a:t>
            </a:r>
            <a:endParaRPr lang="en-US" sz="900" dirty="0"/>
          </a:p>
        </p:txBody>
      </p:sp>
      <p:sp>
        <p:nvSpPr>
          <p:cNvPr id="28" name="Text 26"/>
          <p:cNvSpPr/>
          <p:nvPr/>
        </p:nvSpPr>
        <p:spPr>
          <a:xfrm>
            <a:off x="4165402" y="2920454"/>
            <a:ext cx="4637785" cy="133350"/>
          </a:xfrm>
          <a:prstGeom prst="rect">
            <a:avLst/>
          </a:prstGeom>
          <a:noFill/>
        </p:spPr>
        <p:txBody>
          <a:bodyPr wrap="square" lIns="0" tIns="0" rIns="0" bIns="0" rtlCol="0" anchor="t"/>
          <a:lstStyle/>
          <a:p>
            <a:pPr marL="0" indent="0" algn="l">
              <a:spcAft>
                <a:spcPts val="300"/>
              </a:spcAft>
              <a:buNone/>
            </a:pPr>
            <a:r>
              <a:rPr lang="en-US" sz="900" dirty="0">
                <a:solidFill>
                  <a:srgbClr val="333333"/>
                </a:solidFill>
                <a:latin typeface="Arial" panose="020B0604020202090204" pitchFamily="34" charset="0"/>
                <a:ea typeface="Arial" panose="020B0604020202090204" pitchFamily="34" charset="-122"/>
                <a:cs typeface="Arial" panose="020B0604020202090204" pitchFamily="34" charset="-120"/>
              </a:rPr>
              <a:t>ARI = 0.392, p &lt; 0.0001 — significant cluster-source agreement</a:t>
            </a:r>
            <a:endParaRPr lang="en-US" sz="900" dirty="0"/>
          </a:p>
        </p:txBody>
      </p:sp>
      <p:sp>
        <p:nvSpPr>
          <p:cNvPr id="29" name="Text 27"/>
          <p:cNvSpPr/>
          <p:nvPr/>
        </p:nvSpPr>
        <p:spPr>
          <a:xfrm>
            <a:off x="4165402" y="3091904"/>
            <a:ext cx="4637785" cy="266700"/>
          </a:xfrm>
          <a:prstGeom prst="rect">
            <a:avLst/>
          </a:prstGeom>
          <a:noFill/>
        </p:spPr>
        <p:txBody>
          <a:bodyPr wrap="square" lIns="0" tIns="0" rIns="0" bIns="0" rtlCol="0" anchor="t"/>
          <a:lstStyle/>
          <a:p>
            <a:pPr marL="0" indent="0" algn="l">
              <a:spcAft>
                <a:spcPts val="300"/>
              </a:spcAft>
              <a:buNone/>
            </a:pPr>
            <a:r>
              <a:rPr lang="en-US" sz="900" dirty="0">
                <a:solidFill>
                  <a:srgbClr val="333333"/>
                </a:solidFill>
                <a:latin typeface="Arial" panose="020B0604020202090204" pitchFamily="34" charset="0"/>
                <a:ea typeface="Arial" panose="020B0604020202090204" pitchFamily="34" charset="-122"/>
                <a:cs typeface="Arial" panose="020B0604020202090204" pitchFamily="34" charset="-120"/>
              </a:rPr>
              <a:t>Between/within distance ratio = 1.146, p = 0.001 — Human and AI more distant from each other than from own group</a:t>
            </a:r>
            <a:endParaRPr lang="en-US" sz="900" dirty="0"/>
          </a:p>
        </p:txBody>
      </p:sp>
      <p:sp>
        <p:nvSpPr>
          <p:cNvPr id="30" name="Text 28"/>
          <p:cNvSpPr/>
          <p:nvPr/>
        </p:nvSpPr>
        <p:spPr>
          <a:xfrm>
            <a:off x="4038451" y="3561755"/>
            <a:ext cx="4800749" cy="774502"/>
          </a:xfrm>
          <a:prstGeom prst="roundRect">
            <a:avLst>
              <a:gd name="adj" fmla="val 8199"/>
            </a:avLst>
          </a:prstGeom>
          <a:solidFill>
            <a:srgbClr val="FEF4EC"/>
          </a:solidFill>
        </p:spPr>
        <p:txBody>
          <a:bodyPr wrap="square" rtlCol="0" anchor="ctr"/>
          <a:lstStyle/>
          <a:p>
            <a:pPr marL="0" indent="0">
              <a:buNone/>
            </a:pPr>
            <a:endParaRPr lang="en-US" dirty="0"/>
          </a:p>
        </p:txBody>
      </p:sp>
      <p:sp>
        <p:nvSpPr>
          <p:cNvPr id="31" name="Shape 29"/>
          <p:cNvSpPr/>
          <p:nvPr/>
        </p:nvSpPr>
        <p:spPr>
          <a:xfrm>
            <a:off x="4057501" y="3561755"/>
            <a:ext cx="0" cy="774502"/>
          </a:xfrm>
          <a:prstGeom prst="line">
            <a:avLst/>
          </a:prstGeom>
          <a:noFill/>
          <a:ln w="38100">
            <a:solidFill>
              <a:srgbClr val="ED7D31"/>
            </a:solidFill>
            <a:prstDash val="solid"/>
          </a:ln>
        </p:spPr>
      </p:sp>
      <p:sp>
        <p:nvSpPr>
          <p:cNvPr id="32" name="Text 30"/>
          <p:cNvSpPr/>
          <p:nvPr/>
        </p:nvSpPr>
        <p:spPr>
          <a:xfrm>
            <a:off x="4203502" y="3663255"/>
            <a:ext cx="4598923" cy="133350"/>
          </a:xfrm>
          <a:prstGeom prst="rect">
            <a:avLst/>
          </a:prstGeom>
          <a:noFill/>
        </p:spPr>
        <p:txBody>
          <a:bodyPr wrap="square" lIns="0" tIns="0" rIns="0" bIns="0" rtlCol="0" anchor="t"/>
          <a:lstStyle/>
          <a:p>
            <a:pPr marL="0" indent="0" algn="l">
              <a:spcAft>
                <a:spcPts val="300"/>
              </a:spcAft>
              <a:buNone/>
            </a:pPr>
            <a:r>
              <a:rPr lang="en-US" sz="950" b="1" dirty="0">
                <a:solidFill>
                  <a:srgbClr val="C55A11"/>
                </a:solidFill>
                <a:latin typeface="Arial" panose="020B0604020202090204" pitchFamily="34" charset="0"/>
                <a:ea typeface="Arial" panose="020B0604020202090204" pitchFamily="34" charset="-122"/>
                <a:cs typeface="Arial" panose="020B0604020202090204" pitchFamily="34" charset="-120"/>
              </a:rPr>
              <a:t>Stronger segregation than baseline</a:t>
            </a:r>
            <a:endParaRPr lang="en-US" sz="950" dirty="0"/>
          </a:p>
        </p:txBody>
      </p:sp>
      <p:sp>
        <p:nvSpPr>
          <p:cNvPr id="33" name="Text 31"/>
          <p:cNvSpPr/>
          <p:nvPr/>
        </p:nvSpPr>
        <p:spPr>
          <a:xfrm>
            <a:off x="4203502" y="3834705"/>
            <a:ext cx="4598923" cy="40005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Baseline NMI = 0.197; rephrased NMI = 0.389. After removing style, remaining embedding differences are more cleanly semantic — clusters are better defined. ARI also improves from −0.035 to +0.392.</a:t>
            </a:r>
            <a:endParaRPr lang="en-US" sz="900" dirty="0"/>
          </a:p>
        </p:txBody>
      </p:sp>
      <p:pic>
        <p:nvPicPr>
          <p:cNvPr id="34" name="Image 0" descr="/Users/eveyhuang/Documents/NICO/human-AI-proposal-comparison/results/figures/rephrased/topic_distribution_comparison.png"/>
          <p:cNvPicPr>
            <a:picLocks noChangeAspect="1"/>
          </p:cNvPicPr>
          <p:nvPr/>
        </p:nvPicPr>
        <p:blipFill>
          <a:blip r:embed="rId1"/>
          <a:stretch>
            <a:fillRect/>
          </a:stretch>
        </p:blipFill>
        <p:spPr>
          <a:xfrm>
            <a:off x="304800" y="914400"/>
            <a:ext cx="3555950" cy="21336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4472C4"/>
          </a:solidFill>
        </p:spPr>
        <p:txBody>
          <a:bodyPr wrap="square" rtlCol="0" anchor="ctr"/>
          <a:lstStyle/>
          <a:p>
            <a:pPr marL="0" indent="0">
              <a:buNone/>
            </a:pPr>
            <a:endParaRPr lang="en-US" dirty="0"/>
          </a:p>
        </p:txBody>
      </p:sp>
      <p:sp>
        <p:nvSpPr>
          <p:cNvPr id="3" name="Text 1"/>
          <p:cNvSpPr/>
          <p:nvPr/>
        </p:nvSpPr>
        <p:spPr>
          <a:xfrm>
            <a:off x="0" y="5067300"/>
            <a:ext cx="9144000" cy="76200"/>
          </a:xfrm>
          <a:prstGeom prst="rect">
            <a:avLst/>
          </a:prstGeom>
          <a:solidFill>
            <a:srgbClr val="44546A"/>
          </a:solidFill>
        </p:spPr>
        <p:txBody>
          <a:bodyPr wrap="square" rtlCol="0" anchor="ctr"/>
          <a:lstStyle/>
          <a:p>
            <a:pPr marL="0" indent="0">
              <a:buNone/>
            </a:pPr>
            <a:endParaRPr lang="en-US" dirty="0"/>
          </a:p>
        </p:txBody>
      </p:sp>
      <p:sp>
        <p:nvSpPr>
          <p:cNvPr id="4" name="Text 2"/>
          <p:cNvSpPr/>
          <p:nvPr/>
        </p:nvSpPr>
        <p:spPr>
          <a:xfrm>
            <a:off x="7112050" y="76200"/>
            <a:ext cx="2031950" cy="355550"/>
          </a:xfrm>
          <a:prstGeom prst="rect">
            <a:avLst/>
          </a:prstGeom>
          <a:solidFill>
            <a:srgbClr val="44546A"/>
          </a:solidFill>
        </p:spPr>
        <p:txBody>
          <a:bodyPr wrap="square" rtlCol="0" anchor="ctr"/>
          <a:lstStyle/>
          <a:p>
            <a:pPr marL="0" indent="0">
              <a:buNone/>
            </a:pPr>
            <a:endParaRPr lang="en-US" dirty="0"/>
          </a:p>
        </p:txBody>
      </p:sp>
      <p:sp>
        <p:nvSpPr>
          <p:cNvPr id="5" name="Text 3"/>
          <p:cNvSpPr/>
          <p:nvPr/>
        </p:nvSpPr>
        <p:spPr>
          <a:xfrm>
            <a:off x="7678192" y="187226"/>
            <a:ext cx="917659" cy="133350"/>
          </a:xfrm>
          <a:prstGeom prst="rect">
            <a:avLst/>
          </a:prstGeom>
          <a:noFill/>
        </p:spPr>
        <p:txBody>
          <a:bodyPr wrap="square" lIns="0" tIns="0" rIns="0" bIns="0" rtlCol="0" anchor="t"/>
          <a:lstStyle/>
          <a:p>
            <a:pPr marL="0" indent="0" algn="l">
              <a:buNone/>
            </a:pPr>
            <a:r>
              <a:rPr lang="en-US" sz="900" b="1" dirty="0">
                <a:solidFill>
                  <a:srgbClr val="FFFFFF"/>
                </a:solidFill>
                <a:latin typeface="Arial" panose="020B0604020202090204" pitchFamily="34" charset="0"/>
                <a:ea typeface="Arial" panose="020B0604020202090204" pitchFamily="34" charset="-122"/>
                <a:cs typeface="Arial" panose="020B0604020202090204" pitchFamily="34" charset="-120"/>
              </a:rPr>
              <a:t>PART III · STYLE</a:t>
            </a:r>
            <a:endParaRPr lang="en-US" sz="900" dirty="0"/>
          </a:p>
        </p:txBody>
      </p:sp>
      <p:sp>
        <p:nvSpPr>
          <p:cNvPr id="6" name="Text 4"/>
          <p:cNvSpPr/>
          <p:nvPr/>
        </p:nvSpPr>
        <p:spPr>
          <a:xfrm>
            <a:off x="304800" y="98425"/>
            <a:ext cx="6562090" cy="590550"/>
          </a:xfrm>
          <a:prstGeom prst="rect">
            <a:avLst/>
          </a:prstGeom>
          <a:noFill/>
        </p:spPr>
        <p:txBody>
          <a:bodyPr wrap="square" lIns="0" tIns="0" rIns="0" bIns="0" rtlCol="0" anchor="t"/>
          <a:lstStyle/>
          <a:p>
            <a:pPr marL="0" indent="0" algn="l">
              <a:buNone/>
            </a:pPr>
            <a:r>
              <a:rPr lang="en-US" sz="2000" b="1" dirty="0">
                <a:solidFill>
                  <a:srgbClr val="44546A"/>
                </a:solidFill>
                <a:latin typeface="Arial" panose="020B0604020202090204" pitchFamily="34" charset="0"/>
                <a:ea typeface="Arial" panose="020B0604020202090204" pitchFamily="34" charset="-122"/>
                <a:cs typeface="Arial" panose="020B0604020202090204" pitchFamily="34" charset="-120"/>
              </a:rPr>
              <a:t>Style Baseline: How Much Style Remains After Rephrasing?</a:t>
            </a:r>
            <a:endParaRPr lang="en-US" sz="2000" dirty="0"/>
          </a:p>
        </p:txBody>
      </p:sp>
      <p:sp>
        <p:nvSpPr>
          <p:cNvPr id="8" name="Text 6"/>
          <p:cNvSpPr/>
          <p:nvPr/>
        </p:nvSpPr>
        <p:spPr>
          <a:xfrm>
            <a:off x="304800" y="711101"/>
            <a:ext cx="8534400" cy="25301"/>
          </a:xfrm>
          <a:prstGeom prst="rect">
            <a:avLst/>
          </a:prstGeom>
          <a:solidFill>
            <a:srgbClr val="4472C4"/>
          </a:solidFill>
        </p:spPr>
        <p:txBody>
          <a:bodyPr wrap="square" rtlCol="0" anchor="ctr"/>
          <a:lstStyle/>
          <a:p>
            <a:pPr marL="0" indent="0">
              <a:buNone/>
            </a:pPr>
            <a:endParaRPr lang="en-US" dirty="0"/>
          </a:p>
        </p:txBody>
      </p:sp>
      <p:sp>
        <p:nvSpPr>
          <p:cNvPr id="9" name="Text 7"/>
          <p:cNvSpPr/>
          <p:nvPr/>
        </p:nvSpPr>
        <p:spPr>
          <a:xfrm>
            <a:off x="313055" y="3712012"/>
            <a:ext cx="1917650" cy="853083"/>
          </a:xfrm>
          <a:prstGeom prst="roundRect">
            <a:avLst>
              <a:gd name="adj" fmla="val 8932"/>
            </a:avLst>
          </a:prstGeom>
          <a:solidFill>
            <a:srgbClr val="FFF4F4"/>
          </a:solidFill>
          <a:ln w="19050">
            <a:solidFill>
              <a:srgbClr val="C00000"/>
            </a:solidFill>
          </a:ln>
        </p:spPr>
        <p:txBody>
          <a:bodyPr wrap="square" rtlCol="0" anchor="ctr"/>
          <a:lstStyle/>
          <a:p>
            <a:pPr marL="0" indent="0">
              <a:buNone/>
            </a:pPr>
            <a:endParaRPr lang="en-US" dirty="0"/>
          </a:p>
        </p:txBody>
      </p:sp>
      <p:sp>
        <p:nvSpPr>
          <p:cNvPr id="10" name="Text 8"/>
          <p:cNvSpPr/>
          <p:nvPr/>
        </p:nvSpPr>
        <p:spPr>
          <a:xfrm>
            <a:off x="468757" y="3858012"/>
            <a:ext cx="1606245" cy="307181"/>
          </a:xfrm>
          <a:prstGeom prst="rect">
            <a:avLst/>
          </a:prstGeom>
          <a:noFill/>
        </p:spPr>
        <p:txBody>
          <a:bodyPr wrap="square" lIns="0" tIns="0" rIns="0" bIns="0" rtlCol="0" anchor="t"/>
          <a:lstStyle/>
          <a:p>
            <a:pPr marL="0" indent="0" algn="ctr">
              <a:lnSpc>
                <a:spcPts val="2420"/>
              </a:lnSpc>
              <a:buNone/>
            </a:pPr>
            <a:r>
              <a:rPr lang="en-US" sz="2200" b="1" dirty="0">
                <a:solidFill>
                  <a:srgbClr val="C00000"/>
                </a:solidFill>
                <a:latin typeface="Arial" panose="020B0604020202090204" pitchFamily="34" charset="0"/>
                <a:ea typeface="Arial" panose="020B0604020202090204" pitchFamily="34" charset="-122"/>
                <a:cs typeface="Arial" panose="020B0604020202090204" pitchFamily="34" charset="-120"/>
              </a:rPr>
              <a:t>1.000</a:t>
            </a:r>
            <a:endParaRPr lang="en-US" sz="2200" dirty="0"/>
          </a:p>
        </p:txBody>
      </p:sp>
      <p:sp>
        <p:nvSpPr>
          <p:cNvPr id="11" name="Text 9"/>
          <p:cNvSpPr/>
          <p:nvPr/>
        </p:nvSpPr>
        <p:spPr>
          <a:xfrm>
            <a:off x="468757" y="4190494"/>
            <a:ext cx="1606245" cy="228600"/>
          </a:xfrm>
          <a:prstGeom prst="rect">
            <a:avLst/>
          </a:prstGeom>
          <a:noFill/>
        </p:spPr>
        <p:txBody>
          <a:bodyPr wrap="square" lIns="0" tIns="0" rIns="0" bIns="0" rtlCol="0" anchor="t"/>
          <a:lstStyle/>
          <a:p>
            <a:pPr marL="0" indent="0" algn="ctr">
              <a:spcBef>
                <a:spcPts val="200"/>
              </a:spcBef>
              <a:buNone/>
            </a:pPr>
            <a:r>
              <a:rPr lang="en-US" sz="800" dirty="0">
                <a:solidFill>
                  <a:srgbClr val="555555"/>
                </a:solidFill>
                <a:latin typeface="Arial" panose="020B0604020202090204" pitchFamily="34" charset="0"/>
                <a:ea typeface="Arial" panose="020B0604020202090204" pitchFamily="34" charset="-122"/>
                <a:cs typeface="Arial" panose="020B0604020202090204" pitchFamily="34" charset="-120"/>
              </a:rPr>
              <a:t>Baseline AUROC</a:t>
            </a:r>
            <a:endParaRPr lang="en-US" sz="800" dirty="0"/>
          </a:p>
          <a:p>
            <a:pPr marL="0" indent="0" algn="ctr">
              <a:spcBef>
                <a:spcPts val="200"/>
              </a:spcBef>
              <a:buNone/>
            </a:pPr>
            <a:r>
              <a:rPr lang="en-US" sz="800" dirty="0">
                <a:solidFill>
                  <a:srgbClr val="555555"/>
                </a:solidFill>
                <a:latin typeface="Arial" panose="020B0604020202090204" pitchFamily="34" charset="0"/>
                <a:ea typeface="Arial" panose="020B0604020202090204" pitchFamily="34" charset="-122"/>
                <a:cs typeface="Arial" panose="020B0604020202090204" pitchFamily="34" charset="-120"/>
              </a:rPr>
              <a:t>(original proposals)</a:t>
            </a:r>
            <a:endParaRPr lang="en-US" sz="800" dirty="0"/>
          </a:p>
        </p:txBody>
      </p:sp>
      <p:sp>
        <p:nvSpPr>
          <p:cNvPr id="12" name="Text 10"/>
          <p:cNvSpPr/>
          <p:nvPr/>
        </p:nvSpPr>
        <p:spPr>
          <a:xfrm>
            <a:off x="2357656" y="4005203"/>
            <a:ext cx="233172" cy="266700"/>
          </a:xfrm>
          <a:prstGeom prst="rect">
            <a:avLst/>
          </a:prstGeom>
          <a:noFill/>
        </p:spPr>
        <p:txBody>
          <a:bodyPr wrap="square" lIns="0" tIns="0" rIns="0" bIns="0" rtlCol="0" anchor="t"/>
          <a:lstStyle/>
          <a:p>
            <a:pPr marL="0" indent="0" algn="l">
              <a:buNone/>
            </a:pPr>
            <a:r>
              <a:rPr lang="en-US" sz="1800" dirty="0">
                <a:solidFill>
                  <a:srgbClr val="70AD47"/>
                </a:solidFill>
                <a:latin typeface="Arial" panose="020B0604020202090204" pitchFamily="34" charset="0"/>
                <a:ea typeface="Arial" panose="020B0604020202090204" pitchFamily="34" charset="-122"/>
                <a:cs typeface="Arial" panose="020B0604020202090204" pitchFamily="34" charset="-120"/>
              </a:rPr>
              <a:t>→</a:t>
            </a:r>
            <a:endParaRPr lang="en-US" sz="1800" dirty="0"/>
          </a:p>
        </p:txBody>
      </p:sp>
      <p:sp>
        <p:nvSpPr>
          <p:cNvPr id="13" name="Text 11"/>
          <p:cNvSpPr/>
          <p:nvPr/>
        </p:nvSpPr>
        <p:spPr>
          <a:xfrm>
            <a:off x="2713206" y="3712012"/>
            <a:ext cx="1917799" cy="853083"/>
          </a:xfrm>
          <a:prstGeom prst="roundRect">
            <a:avLst>
              <a:gd name="adj" fmla="val 8932"/>
            </a:avLst>
          </a:prstGeom>
          <a:solidFill>
            <a:srgbClr val="EEF6E8"/>
          </a:solidFill>
          <a:ln w="19050">
            <a:solidFill>
              <a:srgbClr val="70AD47"/>
            </a:solidFill>
          </a:ln>
        </p:spPr>
        <p:txBody>
          <a:bodyPr wrap="square" rtlCol="0" anchor="ctr"/>
          <a:lstStyle/>
          <a:p>
            <a:pPr marL="0" indent="0">
              <a:buNone/>
            </a:pPr>
            <a:endParaRPr lang="en-US" dirty="0"/>
          </a:p>
        </p:txBody>
      </p:sp>
      <p:sp>
        <p:nvSpPr>
          <p:cNvPr id="14" name="Text 12"/>
          <p:cNvSpPr/>
          <p:nvPr/>
        </p:nvSpPr>
        <p:spPr>
          <a:xfrm>
            <a:off x="2868907" y="3858012"/>
            <a:ext cx="1606397" cy="307181"/>
          </a:xfrm>
          <a:prstGeom prst="rect">
            <a:avLst/>
          </a:prstGeom>
          <a:noFill/>
        </p:spPr>
        <p:txBody>
          <a:bodyPr wrap="square" lIns="0" tIns="0" rIns="0" bIns="0" rtlCol="0" anchor="t"/>
          <a:lstStyle/>
          <a:p>
            <a:pPr marL="0" indent="0" algn="ctr">
              <a:lnSpc>
                <a:spcPts val="2420"/>
              </a:lnSpc>
              <a:buNone/>
            </a:pPr>
            <a:r>
              <a:rPr lang="en-US" sz="2200" b="1" dirty="0">
                <a:solidFill>
                  <a:srgbClr val="385C1F"/>
                </a:solidFill>
                <a:latin typeface="Arial" panose="020B0604020202090204" pitchFamily="34" charset="0"/>
                <a:ea typeface="Arial" panose="020B0604020202090204" pitchFamily="34" charset="-122"/>
                <a:cs typeface="Arial" panose="020B0604020202090204" pitchFamily="34" charset="-120"/>
              </a:rPr>
              <a:t>0.772</a:t>
            </a:r>
            <a:endParaRPr lang="en-US" sz="2200" dirty="0"/>
          </a:p>
        </p:txBody>
      </p:sp>
      <p:sp>
        <p:nvSpPr>
          <p:cNvPr id="15" name="Text 13"/>
          <p:cNvSpPr/>
          <p:nvPr/>
        </p:nvSpPr>
        <p:spPr>
          <a:xfrm>
            <a:off x="2868907" y="4190494"/>
            <a:ext cx="1606397" cy="228600"/>
          </a:xfrm>
          <a:prstGeom prst="rect">
            <a:avLst/>
          </a:prstGeom>
          <a:noFill/>
        </p:spPr>
        <p:txBody>
          <a:bodyPr wrap="square" lIns="0" tIns="0" rIns="0" bIns="0" rtlCol="0" anchor="t"/>
          <a:lstStyle/>
          <a:p>
            <a:pPr marL="0" indent="0" algn="ctr">
              <a:spcBef>
                <a:spcPts val="200"/>
              </a:spcBef>
              <a:buNone/>
            </a:pPr>
            <a:r>
              <a:rPr lang="en-US" sz="800" dirty="0">
                <a:solidFill>
                  <a:srgbClr val="555555"/>
                </a:solidFill>
                <a:latin typeface="Arial" panose="020B0604020202090204" pitchFamily="34" charset="0"/>
                <a:ea typeface="Arial" panose="020B0604020202090204" pitchFamily="34" charset="-122"/>
                <a:cs typeface="Arial" panose="020B0604020202090204" pitchFamily="34" charset="-120"/>
              </a:rPr>
              <a:t>Rephrased AUROC</a:t>
            </a:r>
            <a:endParaRPr lang="en-US" sz="800" dirty="0"/>
          </a:p>
          <a:p>
            <a:pPr marL="0" indent="0" algn="ctr">
              <a:spcBef>
                <a:spcPts val="200"/>
              </a:spcBef>
              <a:buNone/>
            </a:pPr>
            <a:r>
              <a:rPr lang="en-US" sz="800" dirty="0">
                <a:solidFill>
                  <a:srgbClr val="555555"/>
                </a:solidFill>
                <a:latin typeface="Arial" panose="020B0604020202090204" pitchFamily="34" charset="0"/>
                <a:ea typeface="Arial" panose="020B0604020202090204" pitchFamily="34" charset="-122"/>
                <a:cs typeface="Arial" panose="020B0604020202090204" pitchFamily="34" charset="-120"/>
              </a:rPr>
              <a:t>(style-controlled)</a:t>
            </a:r>
            <a:endParaRPr lang="en-US" sz="800" dirty="0"/>
          </a:p>
        </p:txBody>
      </p:sp>
      <p:sp>
        <p:nvSpPr>
          <p:cNvPr id="16" name="Text 14"/>
          <p:cNvSpPr/>
          <p:nvPr/>
        </p:nvSpPr>
        <p:spPr>
          <a:xfrm>
            <a:off x="4800451" y="812750"/>
            <a:ext cx="4038749" cy="774502"/>
          </a:xfrm>
          <a:prstGeom prst="roundRect">
            <a:avLst>
              <a:gd name="adj" fmla="val 8199"/>
            </a:avLst>
          </a:prstGeom>
          <a:solidFill>
            <a:srgbClr val="EEF6E8"/>
          </a:solidFill>
        </p:spPr>
        <p:txBody>
          <a:bodyPr wrap="square" rtlCol="0" anchor="ctr"/>
          <a:lstStyle/>
          <a:p>
            <a:pPr marL="0" indent="0">
              <a:buNone/>
            </a:pPr>
            <a:endParaRPr lang="en-US" dirty="0"/>
          </a:p>
        </p:txBody>
      </p:sp>
      <p:sp>
        <p:nvSpPr>
          <p:cNvPr id="17" name="Shape 15"/>
          <p:cNvSpPr/>
          <p:nvPr/>
        </p:nvSpPr>
        <p:spPr>
          <a:xfrm>
            <a:off x="4819501" y="812750"/>
            <a:ext cx="0" cy="774502"/>
          </a:xfrm>
          <a:prstGeom prst="line">
            <a:avLst/>
          </a:prstGeom>
          <a:noFill/>
          <a:ln w="38100">
            <a:solidFill>
              <a:srgbClr val="70AD47"/>
            </a:solidFill>
            <a:prstDash val="solid"/>
          </a:ln>
        </p:spPr>
      </p:sp>
      <p:sp>
        <p:nvSpPr>
          <p:cNvPr id="18" name="Text 16"/>
          <p:cNvSpPr/>
          <p:nvPr/>
        </p:nvSpPr>
        <p:spPr>
          <a:xfrm>
            <a:off x="4965502" y="914251"/>
            <a:ext cx="3821683" cy="133350"/>
          </a:xfrm>
          <a:prstGeom prst="rect">
            <a:avLst/>
          </a:prstGeom>
          <a:noFill/>
        </p:spPr>
        <p:txBody>
          <a:bodyPr wrap="square" lIns="0" tIns="0" rIns="0" bIns="0" rtlCol="0" anchor="t"/>
          <a:lstStyle/>
          <a:p>
            <a:pPr marL="0" indent="0" algn="l">
              <a:spcAft>
                <a:spcPts val="300"/>
              </a:spcAft>
              <a:buNone/>
            </a:pPr>
            <a:r>
              <a:rPr lang="en-US" sz="950" b="1" dirty="0">
                <a:solidFill>
                  <a:srgbClr val="385C1F"/>
                </a:solidFill>
                <a:latin typeface="Arial" panose="020B0604020202090204" pitchFamily="34" charset="0"/>
                <a:ea typeface="Arial" panose="020B0604020202090204" pitchFamily="34" charset="-122"/>
                <a:cs typeface="Arial" panose="020B0604020202090204" pitchFamily="34" charset="-120"/>
              </a:rPr>
              <a:t>Rephrasing substantially reduces stylistic separability</a:t>
            </a:r>
            <a:endParaRPr lang="en-US" sz="950" dirty="0"/>
          </a:p>
        </p:txBody>
      </p:sp>
      <p:sp>
        <p:nvSpPr>
          <p:cNvPr id="19" name="Text 17"/>
          <p:cNvSpPr/>
          <p:nvPr/>
        </p:nvSpPr>
        <p:spPr>
          <a:xfrm>
            <a:off x="4965502" y="1085701"/>
            <a:ext cx="3821683" cy="40005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AUROC drops from 1.000 (perfect) to 0.772 (±0.096). Permutation p = 0.002 — still significantly above chance but far less extreme than baseline. The template enforces near-uniform structure.</a:t>
            </a:r>
            <a:endParaRPr lang="en-US" sz="900" dirty="0"/>
          </a:p>
        </p:txBody>
      </p:sp>
      <p:sp>
        <p:nvSpPr>
          <p:cNvPr id="20" name="Text 18"/>
          <p:cNvSpPr/>
          <p:nvPr/>
        </p:nvSpPr>
        <p:spPr>
          <a:xfrm>
            <a:off x="4800451" y="1676102"/>
            <a:ext cx="4038749" cy="774502"/>
          </a:xfrm>
          <a:prstGeom prst="roundRect">
            <a:avLst>
              <a:gd name="adj" fmla="val 8199"/>
            </a:avLst>
          </a:prstGeom>
          <a:solidFill>
            <a:srgbClr val="EEF2FA"/>
          </a:solidFill>
        </p:spPr>
        <p:txBody>
          <a:bodyPr wrap="square" rtlCol="0" anchor="ctr"/>
          <a:lstStyle/>
          <a:p>
            <a:pPr marL="0" indent="0">
              <a:buNone/>
            </a:pPr>
            <a:endParaRPr lang="en-US" dirty="0"/>
          </a:p>
        </p:txBody>
      </p:sp>
      <p:sp>
        <p:nvSpPr>
          <p:cNvPr id="21" name="Shape 19"/>
          <p:cNvSpPr/>
          <p:nvPr/>
        </p:nvSpPr>
        <p:spPr>
          <a:xfrm>
            <a:off x="4819501" y="1676102"/>
            <a:ext cx="0" cy="774502"/>
          </a:xfrm>
          <a:prstGeom prst="line">
            <a:avLst/>
          </a:prstGeom>
          <a:noFill/>
          <a:ln w="38100">
            <a:solidFill>
              <a:srgbClr val="4472C4"/>
            </a:solidFill>
            <a:prstDash val="solid"/>
          </a:ln>
        </p:spPr>
      </p:sp>
      <p:sp>
        <p:nvSpPr>
          <p:cNvPr id="22" name="Text 20"/>
          <p:cNvSpPr/>
          <p:nvPr/>
        </p:nvSpPr>
        <p:spPr>
          <a:xfrm>
            <a:off x="4965502" y="1777603"/>
            <a:ext cx="3821683" cy="133350"/>
          </a:xfrm>
          <a:prstGeom prst="rect">
            <a:avLst/>
          </a:prstGeom>
          <a:noFill/>
        </p:spPr>
        <p:txBody>
          <a:bodyPr wrap="square" lIns="0" tIns="0" rIns="0" bIns="0" rtlCol="0" anchor="t"/>
          <a:lstStyle/>
          <a:p>
            <a:pPr marL="0" indent="0" algn="l">
              <a:spcAft>
                <a:spcPts val="300"/>
              </a:spcAft>
              <a:buNone/>
            </a:pPr>
            <a:r>
              <a:rPr lang="en-US" sz="950" b="1" dirty="0">
                <a:solidFill>
                  <a:srgbClr val="4472C4"/>
                </a:solidFill>
                <a:latin typeface="Arial" panose="020B0604020202090204" pitchFamily="34" charset="0"/>
                <a:ea typeface="Arial" panose="020B0604020202090204" pitchFamily="34" charset="-122"/>
                <a:cs typeface="Arial" panose="020B0604020202090204" pitchFamily="34" charset="-120"/>
              </a:rPr>
              <a:t>Residual style is not random</a:t>
            </a:r>
            <a:endParaRPr lang="en-US" sz="950" dirty="0"/>
          </a:p>
        </p:txBody>
      </p:sp>
      <p:sp>
        <p:nvSpPr>
          <p:cNvPr id="23" name="Text 21"/>
          <p:cNvSpPr/>
          <p:nvPr/>
        </p:nvSpPr>
        <p:spPr>
          <a:xfrm>
            <a:off x="4965502" y="1949053"/>
            <a:ext cx="3821683" cy="40005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Permutation null AUROC = 0.492 ± 0.099. The observed 0.772 is well above chance — some stylistic trace remains despite standardization, likely from section-level content density variation.</a:t>
            </a:r>
            <a:endParaRPr lang="en-US" sz="900" dirty="0"/>
          </a:p>
        </p:txBody>
      </p:sp>
      <p:sp>
        <p:nvSpPr>
          <p:cNvPr id="24" name="Text 22"/>
          <p:cNvSpPr/>
          <p:nvPr/>
        </p:nvSpPr>
        <p:spPr>
          <a:xfrm>
            <a:off x="4800451" y="2539454"/>
            <a:ext cx="4038749" cy="774502"/>
          </a:xfrm>
          <a:prstGeom prst="roundRect">
            <a:avLst>
              <a:gd name="adj" fmla="val 8199"/>
            </a:avLst>
          </a:prstGeom>
          <a:solidFill>
            <a:srgbClr val="FEF4EC"/>
          </a:solidFill>
        </p:spPr>
        <p:txBody>
          <a:bodyPr wrap="square" rtlCol="0" anchor="ctr"/>
          <a:lstStyle/>
          <a:p>
            <a:pPr marL="0" indent="0">
              <a:buNone/>
            </a:pPr>
            <a:endParaRPr lang="en-US" dirty="0"/>
          </a:p>
        </p:txBody>
      </p:sp>
      <p:sp>
        <p:nvSpPr>
          <p:cNvPr id="25" name="Shape 23"/>
          <p:cNvSpPr/>
          <p:nvPr/>
        </p:nvSpPr>
        <p:spPr>
          <a:xfrm>
            <a:off x="4819501" y="2539454"/>
            <a:ext cx="0" cy="774502"/>
          </a:xfrm>
          <a:prstGeom prst="line">
            <a:avLst/>
          </a:prstGeom>
          <a:noFill/>
          <a:ln w="38100">
            <a:solidFill>
              <a:srgbClr val="ED7D31"/>
            </a:solidFill>
            <a:prstDash val="solid"/>
          </a:ln>
        </p:spPr>
      </p:sp>
      <p:sp>
        <p:nvSpPr>
          <p:cNvPr id="26" name="Text 24"/>
          <p:cNvSpPr/>
          <p:nvPr/>
        </p:nvSpPr>
        <p:spPr>
          <a:xfrm>
            <a:off x="4965502" y="2640955"/>
            <a:ext cx="3821683" cy="133350"/>
          </a:xfrm>
          <a:prstGeom prst="rect">
            <a:avLst/>
          </a:prstGeom>
          <a:noFill/>
        </p:spPr>
        <p:txBody>
          <a:bodyPr wrap="square" lIns="0" tIns="0" rIns="0" bIns="0" rtlCol="0" anchor="t"/>
          <a:lstStyle/>
          <a:p>
            <a:pPr marL="0" indent="0" algn="l">
              <a:spcAft>
                <a:spcPts val="300"/>
              </a:spcAft>
              <a:buNone/>
            </a:pPr>
            <a:r>
              <a:rPr lang="en-US" sz="950" b="1" dirty="0">
                <a:solidFill>
                  <a:srgbClr val="C55A11"/>
                </a:solidFill>
                <a:latin typeface="Arial" panose="020B0604020202090204" pitchFamily="34" charset="0"/>
                <a:ea typeface="Arial" panose="020B0604020202090204" pitchFamily="34" charset="-122"/>
                <a:cs typeface="Arial" panose="020B0604020202090204" pitchFamily="34" charset="-120"/>
              </a:rPr>
              <a:t>Top predictive features (after rephrasing)</a:t>
            </a:r>
            <a:endParaRPr lang="en-US" sz="950" dirty="0"/>
          </a:p>
        </p:txBody>
      </p:sp>
      <p:sp>
        <p:nvSpPr>
          <p:cNvPr id="27" name="Text 25"/>
          <p:cNvSpPr/>
          <p:nvPr/>
        </p:nvSpPr>
        <p:spPr>
          <a:xfrm>
            <a:off x="4965502" y="2812405"/>
            <a:ext cx="3821683" cy="40005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Type-token ratio (coef = +1.20), avg sentence length (+0.69), and word count (+0.60) are strongest AI predictors. Dash frequency (−0.77) and hedging (−0.30) predict Human. Content-driven variation, not formatting.</a:t>
            </a:r>
            <a:endParaRPr lang="en-US" sz="900" dirty="0"/>
          </a:p>
        </p:txBody>
      </p:sp>
      <p:sp>
        <p:nvSpPr>
          <p:cNvPr id="28" name="Text 26"/>
          <p:cNvSpPr/>
          <p:nvPr/>
        </p:nvSpPr>
        <p:spPr>
          <a:xfrm>
            <a:off x="4800451" y="3402806"/>
            <a:ext cx="4038749" cy="1402705"/>
          </a:xfrm>
          <a:prstGeom prst="roundRect">
            <a:avLst>
              <a:gd name="adj" fmla="val 3622"/>
            </a:avLst>
          </a:prstGeom>
          <a:solidFill>
            <a:srgbClr val="F4F4F4"/>
          </a:solidFill>
        </p:spPr>
        <p:txBody>
          <a:bodyPr wrap="square" rtlCol="0" anchor="ctr"/>
          <a:lstStyle/>
          <a:p>
            <a:pPr marL="0" indent="0">
              <a:buNone/>
            </a:pPr>
            <a:endParaRPr lang="en-US" dirty="0"/>
          </a:p>
        </p:txBody>
      </p:sp>
      <p:sp>
        <p:nvSpPr>
          <p:cNvPr id="29" name="Text 27"/>
          <p:cNvSpPr/>
          <p:nvPr/>
        </p:nvSpPr>
        <p:spPr>
          <a:xfrm>
            <a:off x="4927402" y="3479006"/>
            <a:ext cx="3860545" cy="133350"/>
          </a:xfrm>
          <a:prstGeom prst="rect">
            <a:avLst/>
          </a:prstGeom>
          <a:noFill/>
        </p:spPr>
        <p:txBody>
          <a:bodyPr wrap="square" lIns="0" tIns="0" rIns="0" bIns="0" rtlCol="0" anchor="t"/>
          <a:lstStyle/>
          <a:p>
            <a:pPr marL="0" indent="0" algn="l">
              <a:spcAft>
                <a:spcPts val="400"/>
              </a:spcAft>
              <a:buNone/>
            </a:pPr>
            <a:r>
              <a:rPr lang="en-US" sz="900" b="1" dirty="0">
                <a:solidFill>
                  <a:srgbClr val="44546A"/>
                </a:solidFill>
                <a:latin typeface="Arial" panose="020B0604020202090204" pitchFamily="34" charset="0"/>
                <a:ea typeface="Arial" panose="020B0604020202090204" pitchFamily="34" charset="-122"/>
                <a:cs typeface="Arial" panose="020B0604020202090204" pitchFamily="34" charset="-120"/>
              </a:rPr>
              <a:t>Style Feature Means After Rephrasing</a:t>
            </a:r>
            <a:endParaRPr lang="en-US" sz="900" dirty="0"/>
          </a:p>
        </p:txBody>
      </p:sp>
      <p:sp>
        <p:nvSpPr>
          <p:cNvPr id="30" name="Text 28"/>
          <p:cNvSpPr/>
          <p:nvPr/>
        </p:nvSpPr>
        <p:spPr>
          <a:xfrm>
            <a:off x="4927402" y="3771007"/>
            <a:ext cx="1026200" cy="114300"/>
          </a:xfrm>
          <a:prstGeom prst="rect">
            <a:avLst/>
          </a:prstGeom>
          <a:noFill/>
        </p:spPr>
        <p:txBody>
          <a:bodyPr wrap="square" lIns="0" tIns="0" rIns="0" bIns="0" rtlCol="0" anchor="t"/>
          <a:lstStyle/>
          <a:p>
            <a:pPr marL="0" indent="0" algn="l">
              <a:spcBef>
                <a:spcPts val="850"/>
              </a:spcBef>
              <a:spcAft>
                <a:spcPts val="850"/>
              </a:spcAft>
              <a:buNone/>
            </a:pPr>
            <a:r>
              <a:rPr lang="en-US" sz="850" dirty="0">
                <a:solidFill>
                  <a:srgbClr val="444444"/>
                </a:solidFill>
                <a:latin typeface="Arial" panose="020B0604020202090204" pitchFamily="34" charset="0"/>
                <a:ea typeface="Arial" panose="020B0604020202090204" pitchFamily="34" charset="-122"/>
                <a:cs typeface="Arial" panose="020B0604020202090204" pitchFamily="34" charset="-120"/>
              </a:rPr>
              <a:t>Avg sentence length:</a:t>
            </a:r>
            <a:endParaRPr lang="en-US" sz="850" dirty="0"/>
          </a:p>
        </p:txBody>
      </p:sp>
      <p:sp>
        <p:nvSpPr>
          <p:cNvPr id="31" name="Text 29"/>
          <p:cNvSpPr/>
          <p:nvPr/>
        </p:nvSpPr>
        <p:spPr>
          <a:xfrm>
            <a:off x="7386340" y="3771007"/>
            <a:ext cx="1352428" cy="114300"/>
          </a:xfrm>
          <a:prstGeom prst="rect">
            <a:avLst/>
          </a:prstGeom>
          <a:noFill/>
        </p:spPr>
        <p:txBody>
          <a:bodyPr wrap="square" lIns="0" tIns="0" rIns="0" bIns="0" rtlCol="0" anchor="t"/>
          <a:lstStyle/>
          <a:p>
            <a:pPr marL="0" indent="0" algn="l">
              <a:spcBef>
                <a:spcPts val="850"/>
              </a:spcBef>
              <a:spcAft>
                <a:spcPts val="850"/>
              </a:spcAft>
              <a:buNone/>
            </a:pPr>
            <a:r>
              <a:rPr lang="en-US" sz="850" dirty="0">
                <a:solidFill>
                  <a:srgbClr val="444444"/>
                </a:solidFill>
                <a:latin typeface="Arial" panose="020B0604020202090204" pitchFamily="34" charset="0"/>
                <a:ea typeface="Arial" panose="020B0604020202090204" pitchFamily="34" charset="-122"/>
                <a:cs typeface="Arial" panose="020B0604020202090204" pitchFamily="34" charset="-120"/>
              </a:rPr>
              <a:t>AI = 16.6w, Human = 15.7w</a:t>
            </a:r>
            <a:endParaRPr lang="en-US" sz="850" dirty="0"/>
          </a:p>
        </p:txBody>
      </p:sp>
      <p:sp>
        <p:nvSpPr>
          <p:cNvPr id="32" name="Text 30"/>
          <p:cNvSpPr/>
          <p:nvPr/>
        </p:nvSpPr>
        <p:spPr>
          <a:xfrm>
            <a:off x="4927402" y="4126409"/>
            <a:ext cx="1021949" cy="114300"/>
          </a:xfrm>
          <a:prstGeom prst="rect">
            <a:avLst/>
          </a:prstGeom>
          <a:noFill/>
        </p:spPr>
        <p:txBody>
          <a:bodyPr wrap="square" lIns="0" tIns="0" rIns="0" bIns="0" rtlCol="0" anchor="t"/>
          <a:lstStyle/>
          <a:p>
            <a:pPr marL="0" indent="0" algn="l">
              <a:spcBef>
                <a:spcPts val="850"/>
              </a:spcBef>
              <a:spcAft>
                <a:spcPts val="850"/>
              </a:spcAft>
              <a:buNone/>
            </a:pPr>
            <a:r>
              <a:rPr lang="en-US" sz="850" dirty="0">
                <a:solidFill>
                  <a:srgbClr val="444444"/>
                </a:solidFill>
                <a:latin typeface="Arial" panose="020B0604020202090204" pitchFamily="34" charset="0"/>
                <a:ea typeface="Arial" panose="020B0604020202090204" pitchFamily="34" charset="-122"/>
                <a:cs typeface="Arial" panose="020B0604020202090204" pitchFamily="34" charset="-120"/>
              </a:rPr>
              <a:t>Flesch reading ease:</a:t>
            </a:r>
            <a:endParaRPr lang="en-US" sz="850" dirty="0"/>
          </a:p>
        </p:txBody>
      </p:sp>
      <p:sp>
        <p:nvSpPr>
          <p:cNvPr id="33" name="Text 31"/>
          <p:cNvSpPr/>
          <p:nvPr/>
        </p:nvSpPr>
        <p:spPr>
          <a:xfrm>
            <a:off x="7536359" y="4126409"/>
            <a:ext cx="1199409" cy="114300"/>
          </a:xfrm>
          <a:prstGeom prst="rect">
            <a:avLst/>
          </a:prstGeom>
          <a:noFill/>
        </p:spPr>
        <p:txBody>
          <a:bodyPr wrap="square" lIns="0" tIns="0" rIns="0" bIns="0" rtlCol="0" anchor="t"/>
          <a:lstStyle/>
          <a:p>
            <a:pPr marL="0" indent="0" algn="l">
              <a:spcBef>
                <a:spcPts val="850"/>
              </a:spcBef>
              <a:spcAft>
                <a:spcPts val="850"/>
              </a:spcAft>
              <a:buNone/>
            </a:pPr>
            <a:r>
              <a:rPr lang="en-US" sz="850" dirty="0">
                <a:solidFill>
                  <a:srgbClr val="444444"/>
                </a:solidFill>
                <a:latin typeface="Arial" panose="020B0604020202090204" pitchFamily="34" charset="0"/>
                <a:ea typeface="Arial" panose="020B0604020202090204" pitchFamily="34" charset="-122"/>
                <a:cs typeface="Arial" panose="020B0604020202090204" pitchFamily="34" charset="-120"/>
              </a:rPr>
              <a:t>AI = 17.0, Human = 16.5</a:t>
            </a:r>
            <a:endParaRPr lang="en-US" sz="850" dirty="0"/>
          </a:p>
        </p:txBody>
      </p:sp>
      <p:sp>
        <p:nvSpPr>
          <p:cNvPr id="34" name="Text 32"/>
          <p:cNvSpPr/>
          <p:nvPr/>
        </p:nvSpPr>
        <p:spPr>
          <a:xfrm>
            <a:off x="4927402" y="4481810"/>
            <a:ext cx="715911" cy="114300"/>
          </a:xfrm>
          <a:prstGeom prst="rect">
            <a:avLst/>
          </a:prstGeom>
          <a:noFill/>
        </p:spPr>
        <p:txBody>
          <a:bodyPr wrap="square" lIns="0" tIns="0" rIns="0" bIns="0" rtlCol="0" anchor="t"/>
          <a:lstStyle/>
          <a:p>
            <a:pPr marL="0" indent="0" algn="l">
              <a:spcBef>
                <a:spcPts val="850"/>
              </a:spcBef>
              <a:spcAft>
                <a:spcPts val="850"/>
              </a:spcAft>
              <a:buNone/>
            </a:pPr>
            <a:r>
              <a:rPr lang="en-US" sz="850" dirty="0">
                <a:solidFill>
                  <a:srgbClr val="444444"/>
                </a:solidFill>
                <a:latin typeface="Arial" panose="020B0604020202090204" pitchFamily="34" charset="0"/>
                <a:ea typeface="Arial" panose="020B0604020202090204" pitchFamily="34" charset="-122"/>
                <a:cs typeface="Arial" panose="020B0604020202090204" pitchFamily="34" charset="-120"/>
              </a:rPr>
              <a:t>Stopword rate:</a:t>
            </a:r>
            <a:endParaRPr lang="en-US" sz="850" dirty="0"/>
          </a:p>
        </p:txBody>
      </p:sp>
      <p:sp>
        <p:nvSpPr>
          <p:cNvPr id="35" name="Text 33"/>
          <p:cNvSpPr/>
          <p:nvPr/>
        </p:nvSpPr>
        <p:spPr>
          <a:xfrm>
            <a:off x="7416254" y="4481810"/>
            <a:ext cx="1321915" cy="114300"/>
          </a:xfrm>
          <a:prstGeom prst="rect">
            <a:avLst/>
          </a:prstGeom>
          <a:noFill/>
        </p:spPr>
        <p:txBody>
          <a:bodyPr wrap="square" lIns="0" tIns="0" rIns="0" bIns="0" rtlCol="0" anchor="t"/>
          <a:lstStyle/>
          <a:p>
            <a:pPr marL="0" indent="0" algn="l">
              <a:spcBef>
                <a:spcPts val="850"/>
              </a:spcBef>
              <a:spcAft>
                <a:spcPts val="850"/>
              </a:spcAft>
              <a:buNone/>
            </a:pPr>
            <a:r>
              <a:rPr lang="en-US" sz="850" dirty="0">
                <a:solidFill>
                  <a:srgbClr val="444444"/>
                </a:solidFill>
                <a:latin typeface="Arial" panose="020B0604020202090204" pitchFamily="34" charset="0"/>
                <a:ea typeface="Arial" panose="020B0604020202090204" pitchFamily="34" charset="-122"/>
                <a:cs typeface="Arial" panose="020B0604020202090204" pitchFamily="34" charset="-120"/>
              </a:rPr>
              <a:t>AI = 0.290, Human = 0.292</a:t>
            </a:r>
            <a:endParaRPr lang="en-US" sz="850" dirty="0"/>
          </a:p>
        </p:txBody>
      </p:sp>
      <p:pic>
        <p:nvPicPr>
          <p:cNvPr id="36" name="Image 0" descr="/Users/eveyhuang/Documents/NICO/human-AI-proposal-comparison/results/figures/rephrased/style_only_baseline_viz.png"/>
          <p:cNvPicPr>
            <a:picLocks noChangeAspect="1"/>
          </p:cNvPicPr>
          <p:nvPr/>
        </p:nvPicPr>
        <p:blipFill>
          <a:blip r:embed="rId1"/>
          <a:stretch>
            <a:fillRect/>
          </a:stretch>
        </p:blipFill>
        <p:spPr>
          <a:xfrm>
            <a:off x="313055" y="1045160"/>
            <a:ext cx="4317950" cy="2539901"/>
          </a:xfrm>
          <a:prstGeom prst="rect">
            <a:avLst/>
          </a:prstGeom>
        </p:spPr>
      </p:pic>
      <p:sp>
        <p:nvSpPr>
          <p:cNvPr id="7" name="Text 5"/>
          <p:cNvSpPr/>
          <p:nvPr/>
        </p:nvSpPr>
        <p:spPr>
          <a:xfrm>
            <a:off x="304800" y="793552"/>
            <a:ext cx="7124649" cy="142875"/>
          </a:xfrm>
          <a:prstGeom prst="rect">
            <a:avLst/>
          </a:prstGeom>
          <a:noFill/>
        </p:spPr>
        <p:txBody>
          <a:bodyPr wrap="square" lIns="0" tIns="0" rIns="0" bIns="0" rtlCol="0" anchor="t"/>
          <a:lstStyle/>
          <a:p>
            <a:pPr marL="0" indent="0" algn="l">
              <a:spcBef>
                <a:spcPts val="200"/>
              </a:spcBef>
              <a:buNone/>
            </a:pPr>
            <a:r>
              <a:rPr lang="en-US" sz="1000" dirty="0">
                <a:solidFill>
                  <a:srgbClr val="4472C4"/>
                </a:solidFill>
                <a:latin typeface="Arial" panose="020B0604020202090204" pitchFamily="34" charset="0"/>
                <a:ea typeface="Arial" panose="020B0604020202090204" pitchFamily="34" charset="-122"/>
                <a:cs typeface="Arial" panose="020B0604020202090204" pitchFamily="34" charset="-120"/>
              </a:rPr>
              <a:t>Logistic regression on 18 stylistic features; 5-fold CV with permutation test (1,000 shuffles)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4472C4"/>
          </a:solidFill>
        </p:spPr>
        <p:txBody>
          <a:bodyPr wrap="square" rtlCol="0" anchor="ctr"/>
          <a:lstStyle/>
          <a:p>
            <a:pPr marL="0" indent="0">
              <a:buNone/>
            </a:pPr>
            <a:endParaRPr lang="en-US" dirty="0"/>
          </a:p>
        </p:txBody>
      </p:sp>
      <p:sp>
        <p:nvSpPr>
          <p:cNvPr id="3" name="Text 1"/>
          <p:cNvSpPr/>
          <p:nvPr/>
        </p:nvSpPr>
        <p:spPr>
          <a:xfrm>
            <a:off x="0" y="5067300"/>
            <a:ext cx="9144000" cy="76200"/>
          </a:xfrm>
          <a:prstGeom prst="rect">
            <a:avLst/>
          </a:prstGeom>
          <a:solidFill>
            <a:srgbClr val="44546A"/>
          </a:solidFill>
        </p:spPr>
        <p:txBody>
          <a:bodyPr wrap="square" rtlCol="0" anchor="ctr"/>
          <a:lstStyle/>
          <a:p>
            <a:pPr marL="0" indent="0">
              <a:buNone/>
            </a:pPr>
            <a:endParaRPr lang="en-US" dirty="0"/>
          </a:p>
        </p:txBody>
      </p:sp>
      <p:sp>
        <p:nvSpPr>
          <p:cNvPr id="4" name="Text 2"/>
          <p:cNvSpPr/>
          <p:nvPr/>
        </p:nvSpPr>
        <p:spPr>
          <a:xfrm>
            <a:off x="7112050" y="76200"/>
            <a:ext cx="2031950" cy="355550"/>
          </a:xfrm>
          <a:prstGeom prst="rect">
            <a:avLst/>
          </a:prstGeom>
          <a:solidFill>
            <a:srgbClr val="44546A"/>
          </a:solidFill>
        </p:spPr>
        <p:txBody>
          <a:bodyPr wrap="square" rtlCol="0" anchor="ctr"/>
          <a:lstStyle/>
          <a:p>
            <a:pPr marL="0" indent="0">
              <a:buNone/>
            </a:pPr>
            <a:endParaRPr lang="en-US" dirty="0"/>
          </a:p>
        </p:txBody>
      </p:sp>
      <p:sp>
        <p:nvSpPr>
          <p:cNvPr id="5" name="Text 3"/>
          <p:cNvSpPr/>
          <p:nvPr/>
        </p:nvSpPr>
        <p:spPr>
          <a:xfrm>
            <a:off x="7379791" y="187226"/>
            <a:ext cx="1526396" cy="133350"/>
          </a:xfrm>
          <a:prstGeom prst="rect">
            <a:avLst/>
          </a:prstGeom>
          <a:noFill/>
        </p:spPr>
        <p:txBody>
          <a:bodyPr wrap="square" lIns="0" tIns="0" rIns="0" bIns="0" rtlCol="0" anchor="t"/>
          <a:lstStyle/>
          <a:p>
            <a:pPr marL="0" indent="0" algn="l">
              <a:buNone/>
            </a:pPr>
            <a:r>
              <a:rPr lang="en-US" sz="900" b="1" dirty="0">
                <a:solidFill>
                  <a:srgbClr val="FFFFFF"/>
                </a:solidFill>
                <a:latin typeface="Arial" panose="020B0604020202090204" pitchFamily="34" charset="0"/>
                <a:ea typeface="Arial" panose="020B0604020202090204" pitchFamily="34" charset="-122"/>
                <a:cs typeface="Arial" panose="020B0604020202090204" pitchFamily="34" charset="-120"/>
              </a:rPr>
              <a:t>PART III · STYLE CONTROL</a:t>
            </a:r>
            <a:endParaRPr lang="en-US" sz="900" dirty="0"/>
          </a:p>
        </p:txBody>
      </p:sp>
      <p:sp>
        <p:nvSpPr>
          <p:cNvPr id="6" name="Text 4"/>
          <p:cNvSpPr/>
          <p:nvPr/>
        </p:nvSpPr>
        <p:spPr>
          <a:xfrm>
            <a:off x="304800" y="177701"/>
            <a:ext cx="7124649" cy="533400"/>
          </a:xfrm>
          <a:prstGeom prst="rect">
            <a:avLst/>
          </a:prstGeom>
          <a:noFill/>
        </p:spPr>
        <p:txBody>
          <a:bodyPr wrap="square" lIns="0" tIns="0" rIns="0" bIns="0" rtlCol="0" anchor="t"/>
          <a:lstStyle/>
          <a:p>
            <a:pPr marL="0" indent="0" algn="l">
              <a:buNone/>
            </a:pPr>
            <a:r>
              <a:rPr lang="en-US" sz="1800" b="1" dirty="0">
                <a:solidFill>
                  <a:srgbClr val="44546A"/>
                </a:solidFill>
                <a:latin typeface="Arial" panose="020B0604020202090204" pitchFamily="34" charset="0"/>
                <a:ea typeface="Arial" panose="020B0604020202090204" pitchFamily="34" charset="-122"/>
                <a:cs typeface="Arial" panose="020B0604020202090204" pitchFamily="34" charset="-120"/>
              </a:rPr>
              <a:t>Style-Adjusted Centroid Dispersion &amp; Nearest-Neighbor Analysis</a:t>
            </a:r>
            <a:endParaRPr lang="en-US" sz="1800" dirty="0"/>
          </a:p>
        </p:txBody>
      </p:sp>
      <p:sp>
        <p:nvSpPr>
          <p:cNvPr id="7" name="Text 5"/>
          <p:cNvSpPr/>
          <p:nvPr/>
        </p:nvSpPr>
        <p:spPr>
          <a:xfrm>
            <a:off x="304800" y="736402"/>
            <a:ext cx="7124649" cy="142875"/>
          </a:xfrm>
          <a:prstGeom prst="rect">
            <a:avLst/>
          </a:prstGeom>
          <a:noFill/>
        </p:spPr>
        <p:txBody>
          <a:bodyPr wrap="square" lIns="0" tIns="0" rIns="0" bIns="0" rtlCol="0" anchor="t"/>
          <a:lstStyle/>
          <a:p>
            <a:pPr marL="0" indent="0" algn="l">
              <a:spcBef>
                <a:spcPts val="200"/>
              </a:spcBef>
              <a:buNone/>
            </a:pPr>
            <a:r>
              <a:rPr lang="en-US" sz="1000" dirty="0">
                <a:solidFill>
                  <a:srgbClr val="4472C4"/>
                </a:solidFill>
                <a:latin typeface="Arial" panose="020B0604020202090204" pitchFamily="34" charset="0"/>
                <a:ea typeface="Arial" panose="020B0604020202090204" pitchFamily="34" charset="-122"/>
                <a:cs typeface="Arial" panose="020B0604020202090204" pitchFamily="34" charset="-120"/>
              </a:rPr>
              <a:t>Residualization: fit embedding distance ~ style features; test on residual. Removes linear style contribution.</a:t>
            </a:r>
            <a:endParaRPr lang="en-US" sz="1000" dirty="0"/>
          </a:p>
        </p:txBody>
      </p:sp>
      <p:sp>
        <p:nvSpPr>
          <p:cNvPr id="8" name="Text 6"/>
          <p:cNvSpPr/>
          <p:nvPr/>
        </p:nvSpPr>
        <p:spPr>
          <a:xfrm>
            <a:off x="304800" y="711101"/>
            <a:ext cx="8534400" cy="25301"/>
          </a:xfrm>
          <a:prstGeom prst="rect">
            <a:avLst/>
          </a:prstGeom>
          <a:solidFill>
            <a:srgbClr val="4472C4"/>
          </a:solidFill>
        </p:spPr>
        <p:txBody>
          <a:bodyPr wrap="square" rtlCol="0" anchor="ctr"/>
          <a:lstStyle/>
          <a:p>
            <a:pPr marL="0" indent="0">
              <a:buNone/>
            </a:pPr>
            <a:endParaRPr lang="en-US" dirty="0"/>
          </a:p>
        </p:txBody>
      </p:sp>
      <p:sp>
        <p:nvSpPr>
          <p:cNvPr id="9" name="Text 7"/>
          <p:cNvSpPr/>
          <p:nvPr/>
        </p:nvSpPr>
        <p:spPr>
          <a:xfrm>
            <a:off x="304800" y="3149352"/>
            <a:ext cx="4191000" cy="774502"/>
          </a:xfrm>
          <a:prstGeom prst="roundRect">
            <a:avLst>
              <a:gd name="adj" fmla="val 8199"/>
            </a:avLst>
          </a:prstGeom>
          <a:solidFill>
            <a:srgbClr val="F4F4F4"/>
          </a:solidFill>
        </p:spPr>
        <p:txBody>
          <a:bodyPr wrap="square" rtlCol="0" anchor="ctr"/>
          <a:lstStyle/>
          <a:p>
            <a:pPr marL="0" indent="0">
              <a:buNone/>
            </a:pPr>
            <a:endParaRPr lang="en-US" dirty="0"/>
          </a:p>
        </p:txBody>
      </p:sp>
      <p:sp>
        <p:nvSpPr>
          <p:cNvPr id="10" name="Shape 8"/>
          <p:cNvSpPr/>
          <p:nvPr/>
        </p:nvSpPr>
        <p:spPr>
          <a:xfrm>
            <a:off x="321945" y="3352552"/>
            <a:ext cx="0" cy="774502"/>
          </a:xfrm>
          <a:prstGeom prst="line">
            <a:avLst/>
          </a:prstGeom>
          <a:noFill/>
          <a:ln w="38100">
            <a:solidFill>
              <a:srgbClr val="A5A5A5"/>
            </a:solidFill>
            <a:prstDash val="solid"/>
          </a:ln>
        </p:spPr>
      </p:sp>
      <p:sp>
        <p:nvSpPr>
          <p:cNvPr id="11" name="Text 9"/>
          <p:cNvSpPr/>
          <p:nvPr/>
        </p:nvSpPr>
        <p:spPr>
          <a:xfrm>
            <a:off x="467945" y="3454053"/>
            <a:ext cx="3976979" cy="133350"/>
          </a:xfrm>
          <a:prstGeom prst="rect">
            <a:avLst/>
          </a:prstGeom>
          <a:noFill/>
        </p:spPr>
        <p:txBody>
          <a:bodyPr wrap="square" lIns="0" tIns="0" rIns="0" bIns="0" rtlCol="0" anchor="t"/>
          <a:lstStyle/>
          <a:p>
            <a:pPr marL="0" indent="0" algn="l">
              <a:spcAft>
                <a:spcPts val="300"/>
              </a:spcAft>
              <a:buNone/>
            </a:pPr>
            <a:r>
              <a:rPr lang="en-US" sz="950" b="1" dirty="0">
                <a:solidFill>
                  <a:srgbClr val="44546A"/>
                </a:solidFill>
                <a:latin typeface="Arial" panose="020B0604020202090204" pitchFamily="34" charset="0"/>
                <a:ea typeface="Arial" panose="020B0604020202090204" pitchFamily="34" charset="-122"/>
                <a:cs typeface="Arial" panose="020B0604020202090204" pitchFamily="34" charset="-120"/>
              </a:rPr>
              <a:t>Residualization diagnostic</a:t>
            </a:r>
            <a:endParaRPr lang="en-US" sz="950" dirty="0"/>
          </a:p>
        </p:txBody>
      </p:sp>
      <p:sp>
        <p:nvSpPr>
          <p:cNvPr id="12" name="Text 10"/>
          <p:cNvSpPr/>
          <p:nvPr/>
        </p:nvSpPr>
        <p:spPr>
          <a:xfrm>
            <a:off x="467945" y="3625503"/>
            <a:ext cx="3976979" cy="40005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Mean |corr(style covariate, PC score)| drops from 0.097 (raw) to 0.033 (residualized), confirming effective style removal. Human/AI neighborhood asymmetry persists: AI same-group NN = 94.2%.</a:t>
            </a:r>
            <a:endParaRPr lang="en-US" sz="900" dirty="0"/>
          </a:p>
        </p:txBody>
      </p:sp>
      <p:sp>
        <p:nvSpPr>
          <p:cNvPr id="13" name="Text 11"/>
          <p:cNvSpPr/>
          <p:nvPr/>
        </p:nvSpPr>
        <p:spPr>
          <a:xfrm>
            <a:off x="4673501" y="1127075"/>
            <a:ext cx="4165699" cy="907852"/>
          </a:xfrm>
          <a:prstGeom prst="roundRect">
            <a:avLst>
              <a:gd name="adj" fmla="val 6995"/>
            </a:avLst>
          </a:prstGeom>
          <a:solidFill>
            <a:srgbClr val="EEF2FA"/>
          </a:solidFill>
        </p:spPr>
        <p:txBody>
          <a:bodyPr wrap="square" rtlCol="0" anchor="ctr"/>
          <a:lstStyle/>
          <a:p>
            <a:pPr marL="0" indent="0">
              <a:buNone/>
            </a:pPr>
            <a:endParaRPr lang="en-US" dirty="0"/>
          </a:p>
        </p:txBody>
      </p:sp>
      <p:sp>
        <p:nvSpPr>
          <p:cNvPr id="14" name="Shape 12"/>
          <p:cNvSpPr/>
          <p:nvPr/>
        </p:nvSpPr>
        <p:spPr>
          <a:xfrm>
            <a:off x="4692551" y="1126440"/>
            <a:ext cx="0" cy="907852"/>
          </a:xfrm>
          <a:prstGeom prst="line">
            <a:avLst/>
          </a:prstGeom>
          <a:noFill/>
          <a:ln w="38100">
            <a:solidFill>
              <a:srgbClr val="4472C4"/>
            </a:solidFill>
            <a:prstDash val="solid"/>
          </a:ln>
        </p:spPr>
      </p:sp>
      <p:sp>
        <p:nvSpPr>
          <p:cNvPr id="15" name="Text 13"/>
          <p:cNvSpPr/>
          <p:nvPr/>
        </p:nvSpPr>
        <p:spPr>
          <a:xfrm>
            <a:off x="4838551" y="1228576"/>
            <a:ext cx="3951172" cy="133350"/>
          </a:xfrm>
          <a:prstGeom prst="rect">
            <a:avLst/>
          </a:prstGeom>
          <a:noFill/>
        </p:spPr>
        <p:txBody>
          <a:bodyPr wrap="square" lIns="0" tIns="0" rIns="0" bIns="0" rtlCol="0" anchor="t"/>
          <a:lstStyle/>
          <a:p>
            <a:pPr marL="0" indent="0" algn="l">
              <a:spcAft>
                <a:spcPts val="300"/>
              </a:spcAft>
              <a:buNone/>
            </a:pPr>
            <a:r>
              <a:rPr lang="en-US" sz="950" b="1" dirty="0">
                <a:solidFill>
                  <a:srgbClr val="4472C4"/>
                </a:solidFill>
                <a:latin typeface="Arial" panose="020B0604020202090204" pitchFamily="34" charset="0"/>
                <a:ea typeface="Arial" panose="020B0604020202090204" pitchFamily="34" charset="-122"/>
                <a:cs typeface="Arial" panose="020B0604020202090204" pitchFamily="34" charset="-120"/>
              </a:rPr>
              <a:t>Style-adjusted centroid dispersion: Human still more spread</a:t>
            </a:r>
            <a:endParaRPr lang="en-US" sz="950" dirty="0"/>
          </a:p>
        </p:txBody>
      </p:sp>
      <p:sp>
        <p:nvSpPr>
          <p:cNvPr id="16" name="Text 14"/>
          <p:cNvSpPr/>
          <p:nvPr/>
        </p:nvSpPr>
        <p:spPr>
          <a:xfrm>
            <a:off x="4838551" y="1400026"/>
            <a:ext cx="3951172" cy="53340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After residualization: AI indicator coef = −0.014, permutation p = 0.0003. Human proposals remain significantly more dispersed from centroid even after removing style-predictable variance. MW δ = −0.313 (small-medium effect).</a:t>
            </a:r>
            <a:endParaRPr lang="en-US" sz="900" dirty="0"/>
          </a:p>
        </p:txBody>
      </p:sp>
      <p:sp>
        <p:nvSpPr>
          <p:cNvPr id="17" name="Text 15"/>
          <p:cNvSpPr/>
          <p:nvPr/>
        </p:nvSpPr>
        <p:spPr>
          <a:xfrm>
            <a:off x="4692551" y="2104678"/>
            <a:ext cx="4165699" cy="907852"/>
          </a:xfrm>
          <a:prstGeom prst="roundRect">
            <a:avLst>
              <a:gd name="adj" fmla="val 6995"/>
            </a:avLst>
          </a:prstGeom>
          <a:solidFill>
            <a:srgbClr val="FEF4EC"/>
          </a:solidFill>
        </p:spPr>
        <p:txBody>
          <a:bodyPr wrap="square" rtlCol="0" anchor="ctr"/>
          <a:lstStyle/>
          <a:p>
            <a:pPr marL="0" indent="0">
              <a:buNone/>
            </a:pPr>
            <a:endParaRPr lang="en-US" dirty="0"/>
          </a:p>
        </p:txBody>
      </p:sp>
      <p:sp>
        <p:nvSpPr>
          <p:cNvPr id="18" name="Shape 16"/>
          <p:cNvSpPr/>
          <p:nvPr/>
        </p:nvSpPr>
        <p:spPr>
          <a:xfrm>
            <a:off x="4692551" y="2136428"/>
            <a:ext cx="0" cy="907852"/>
          </a:xfrm>
          <a:prstGeom prst="line">
            <a:avLst/>
          </a:prstGeom>
          <a:noFill/>
          <a:ln w="38100">
            <a:solidFill>
              <a:srgbClr val="ED7D31"/>
            </a:solidFill>
            <a:prstDash val="solid"/>
          </a:ln>
        </p:spPr>
      </p:sp>
      <p:sp>
        <p:nvSpPr>
          <p:cNvPr id="19" name="Text 17"/>
          <p:cNvSpPr/>
          <p:nvPr/>
        </p:nvSpPr>
        <p:spPr>
          <a:xfrm>
            <a:off x="4838551" y="2237929"/>
            <a:ext cx="3951172" cy="133350"/>
          </a:xfrm>
          <a:prstGeom prst="rect">
            <a:avLst/>
          </a:prstGeom>
          <a:noFill/>
        </p:spPr>
        <p:txBody>
          <a:bodyPr wrap="square" lIns="0" tIns="0" rIns="0" bIns="0" rtlCol="0" anchor="t"/>
          <a:lstStyle/>
          <a:p>
            <a:pPr marL="0" indent="0" algn="l">
              <a:spcAft>
                <a:spcPts val="300"/>
              </a:spcAft>
              <a:buNone/>
            </a:pPr>
            <a:r>
              <a:rPr lang="en-US" sz="950" b="1" dirty="0">
                <a:solidFill>
                  <a:srgbClr val="C55A11"/>
                </a:solidFill>
                <a:latin typeface="Arial" panose="020B0604020202090204" pitchFamily="34" charset="0"/>
                <a:ea typeface="Arial" panose="020B0604020202090204" pitchFamily="34" charset="-122"/>
                <a:cs typeface="Arial" panose="020B0604020202090204" pitchFamily="34" charset="-120"/>
              </a:rPr>
              <a:t>Style-adjusted NN outlier rates</a:t>
            </a:r>
            <a:endParaRPr lang="en-US" sz="950" dirty="0"/>
          </a:p>
        </p:txBody>
      </p:sp>
      <p:sp>
        <p:nvSpPr>
          <p:cNvPr id="20" name="Text 18"/>
          <p:cNvSpPr/>
          <p:nvPr/>
        </p:nvSpPr>
        <p:spPr>
          <a:xfrm>
            <a:off x="4838551" y="2409379"/>
            <a:ext cx="3951172" cy="53340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Outlier threshold (90th pct): 0.741. Human = 5 outliers (21.7%), Claude = 2 (8.7%), GPT-5.2 = 2 (8.7%), Gemini = 1 (4.3%). Pattern shifts: GPT-5.2 gains outliers in residual space while Claude loses them — GPT is conceptually isolated, Claude's isolation was stylistic.</a:t>
            </a:r>
            <a:endParaRPr lang="en-US" sz="900" dirty="0"/>
          </a:p>
        </p:txBody>
      </p:sp>
      <p:sp>
        <p:nvSpPr>
          <p:cNvPr id="21" name="Text 19"/>
          <p:cNvSpPr/>
          <p:nvPr/>
        </p:nvSpPr>
        <p:spPr>
          <a:xfrm>
            <a:off x="4673501" y="3145780"/>
            <a:ext cx="4249013" cy="133350"/>
          </a:xfrm>
          <a:prstGeom prst="rect">
            <a:avLst/>
          </a:prstGeom>
          <a:noFill/>
        </p:spPr>
        <p:txBody>
          <a:bodyPr wrap="square" lIns="0" tIns="0" rIns="0" bIns="0" rtlCol="0" anchor="t"/>
          <a:lstStyle/>
          <a:p>
            <a:pPr marL="0" indent="0" algn="l">
              <a:spcAft>
                <a:spcPts val="600"/>
              </a:spcAft>
              <a:buNone/>
            </a:pPr>
            <a:r>
              <a:rPr lang="en-US" sz="900" b="1" dirty="0">
                <a:solidFill>
                  <a:srgbClr val="44546A"/>
                </a:solidFill>
                <a:latin typeface="Arial" panose="020B0604020202090204" pitchFamily="34" charset="0"/>
                <a:ea typeface="Arial" panose="020B0604020202090204" pitchFamily="34" charset="-122"/>
                <a:cs typeface="Arial" panose="020B0604020202090204" pitchFamily="34" charset="-120"/>
              </a:rPr>
              <a:t>Style-Adjusted NN Outlier Rates</a:t>
            </a:r>
            <a:endParaRPr lang="en-US" sz="900" dirty="0"/>
          </a:p>
        </p:txBody>
      </p:sp>
      <p:sp>
        <p:nvSpPr>
          <p:cNvPr id="22" name="Text 20"/>
          <p:cNvSpPr/>
          <p:nvPr/>
        </p:nvSpPr>
        <p:spPr>
          <a:xfrm>
            <a:off x="4673501" y="3355330"/>
            <a:ext cx="984200" cy="463451"/>
          </a:xfrm>
          <a:prstGeom prst="roundRect">
            <a:avLst>
              <a:gd name="adj" fmla="val 10961"/>
            </a:avLst>
          </a:prstGeom>
          <a:solidFill>
            <a:srgbClr val="FFF4F4"/>
          </a:solidFill>
          <a:ln w="9525">
            <a:solidFill>
              <a:srgbClr val="C00000"/>
            </a:solidFill>
          </a:ln>
        </p:spPr>
        <p:txBody>
          <a:bodyPr wrap="square" rtlCol="0" anchor="ctr"/>
          <a:lstStyle/>
          <a:p>
            <a:pPr marL="0" indent="0">
              <a:buNone/>
            </a:pPr>
            <a:endParaRPr lang="en-US" dirty="0"/>
          </a:p>
        </p:txBody>
      </p:sp>
      <p:sp>
        <p:nvSpPr>
          <p:cNvPr id="23" name="Text 21"/>
          <p:cNvSpPr/>
          <p:nvPr/>
        </p:nvSpPr>
        <p:spPr>
          <a:xfrm>
            <a:off x="4776905" y="3441055"/>
            <a:ext cx="777392" cy="152400"/>
          </a:xfrm>
          <a:prstGeom prst="rect">
            <a:avLst/>
          </a:prstGeom>
          <a:noFill/>
        </p:spPr>
        <p:txBody>
          <a:bodyPr wrap="square" lIns="0" tIns="0" rIns="0" bIns="0" rtlCol="0" anchor="t"/>
          <a:lstStyle/>
          <a:p>
            <a:pPr marL="0" indent="0" algn="ctr">
              <a:lnSpc>
                <a:spcPts val="1200"/>
              </a:lnSpc>
              <a:buNone/>
            </a:pPr>
            <a:r>
              <a:rPr lang="en-US" sz="1200" b="1" dirty="0">
                <a:solidFill>
                  <a:srgbClr val="C00000"/>
                </a:solidFill>
                <a:latin typeface="Arial" panose="020B0604020202090204" pitchFamily="34" charset="0"/>
                <a:ea typeface="Arial" panose="020B0604020202090204" pitchFamily="34" charset="-122"/>
                <a:cs typeface="Arial" panose="020B0604020202090204" pitchFamily="34" charset="-120"/>
              </a:rPr>
              <a:t>21.7%</a:t>
            </a:r>
            <a:endParaRPr lang="en-US" sz="1200" dirty="0"/>
          </a:p>
        </p:txBody>
      </p:sp>
      <p:sp>
        <p:nvSpPr>
          <p:cNvPr id="24" name="Text 22"/>
          <p:cNvSpPr/>
          <p:nvPr/>
        </p:nvSpPr>
        <p:spPr>
          <a:xfrm>
            <a:off x="4776905" y="3618756"/>
            <a:ext cx="777392" cy="114300"/>
          </a:xfrm>
          <a:prstGeom prst="rect">
            <a:avLst/>
          </a:prstGeom>
          <a:noFill/>
        </p:spPr>
        <p:txBody>
          <a:bodyPr wrap="square" lIns="0" tIns="0" rIns="0" bIns="0" rtlCol="0" anchor="t"/>
          <a:lstStyle/>
          <a:p>
            <a:pPr marL="0" indent="0" algn="ctr">
              <a:spcBef>
                <a:spcPts val="200"/>
              </a:spcBef>
              <a:buNone/>
            </a:pPr>
            <a:r>
              <a:rPr lang="en-US" sz="800" dirty="0">
                <a:solidFill>
                  <a:srgbClr val="666666"/>
                </a:solidFill>
                <a:latin typeface="Arial" panose="020B0604020202090204" pitchFamily="34" charset="0"/>
                <a:ea typeface="Arial" panose="020B0604020202090204" pitchFamily="34" charset="-122"/>
                <a:cs typeface="Arial" panose="020B0604020202090204" pitchFamily="34" charset="-120"/>
              </a:rPr>
              <a:t>Human</a:t>
            </a:r>
            <a:endParaRPr lang="en-US" sz="800" dirty="0"/>
          </a:p>
        </p:txBody>
      </p:sp>
      <p:sp>
        <p:nvSpPr>
          <p:cNvPr id="25" name="Text 23"/>
          <p:cNvSpPr/>
          <p:nvPr/>
        </p:nvSpPr>
        <p:spPr>
          <a:xfrm>
            <a:off x="5733901" y="3355330"/>
            <a:ext cx="984349" cy="463451"/>
          </a:xfrm>
          <a:prstGeom prst="roundRect">
            <a:avLst>
              <a:gd name="adj" fmla="val 10961"/>
            </a:avLst>
          </a:prstGeom>
          <a:solidFill>
            <a:srgbClr val="EEF2FA"/>
          </a:solidFill>
          <a:ln w="9525">
            <a:solidFill>
              <a:srgbClr val="4472C4"/>
            </a:solidFill>
          </a:ln>
        </p:spPr>
        <p:txBody>
          <a:bodyPr wrap="square" rtlCol="0" anchor="ctr"/>
          <a:lstStyle/>
          <a:p>
            <a:pPr marL="0" indent="0">
              <a:buNone/>
            </a:pPr>
            <a:endParaRPr lang="en-US" dirty="0"/>
          </a:p>
        </p:txBody>
      </p:sp>
      <p:sp>
        <p:nvSpPr>
          <p:cNvPr id="26" name="Text 24"/>
          <p:cNvSpPr/>
          <p:nvPr/>
        </p:nvSpPr>
        <p:spPr>
          <a:xfrm>
            <a:off x="5886199" y="3424545"/>
            <a:ext cx="777544" cy="152400"/>
          </a:xfrm>
          <a:prstGeom prst="rect">
            <a:avLst/>
          </a:prstGeom>
          <a:noFill/>
        </p:spPr>
        <p:txBody>
          <a:bodyPr wrap="square" lIns="0" tIns="0" rIns="0" bIns="0" rtlCol="0" anchor="t"/>
          <a:lstStyle/>
          <a:p>
            <a:pPr marL="0" indent="0" algn="ctr">
              <a:lnSpc>
                <a:spcPts val="1200"/>
              </a:lnSpc>
              <a:buNone/>
            </a:pPr>
            <a:r>
              <a:rPr lang="en-US" sz="1200" b="1" dirty="0">
                <a:solidFill>
                  <a:srgbClr val="4472C4"/>
                </a:solidFill>
                <a:latin typeface="Arial" panose="020B0604020202090204" pitchFamily="34" charset="0"/>
                <a:ea typeface="Arial" panose="020B0604020202090204" pitchFamily="34" charset="-122"/>
                <a:cs typeface="Arial" panose="020B0604020202090204" pitchFamily="34" charset="-120"/>
              </a:rPr>
              <a:t>8.7%</a:t>
            </a:r>
            <a:endParaRPr lang="en-US" sz="1200" dirty="0"/>
          </a:p>
        </p:txBody>
      </p:sp>
      <p:sp>
        <p:nvSpPr>
          <p:cNvPr id="27" name="Text 25"/>
          <p:cNvSpPr/>
          <p:nvPr/>
        </p:nvSpPr>
        <p:spPr>
          <a:xfrm>
            <a:off x="5837304" y="3618756"/>
            <a:ext cx="777544" cy="114300"/>
          </a:xfrm>
          <a:prstGeom prst="rect">
            <a:avLst/>
          </a:prstGeom>
          <a:noFill/>
        </p:spPr>
        <p:txBody>
          <a:bodyPr wrap="square" lIns="0" tIns="0" rIns="0" bIns="0" rtlCol="0" anchor="t"/>
          <a:lstStyle/>
          <a:p>
            <a:pPr marL="0" indent="0" algn="ctr">
              <a:spcBef>
                <a:spcPts val="200"/>
              </a:spcBef>
              <a:buNone/>
            </a:pPr>
            <a:r>
              <a:rPr lang="en-US" sz="800" dirty="0">
                <a:solidFill>
                  <a:srgbClr val="666666"/>
                </a:solidFill>
                <a:latin typeface="Arial" panose="020B0604020202090204" pitchFamily="34" charset="0"/>
                <a:ea typeface="Arial" panose="020B0604020202090204" pitchFamily="34" charset="-122"/>
                <a:cs typeface="Arial" panose="020B0604020202090204" pitchFamily="34" charset="-120"/>
              </a:rPr>
              <a:t>Claude</a:t>
            </a:r>
            <a:endParaRPr lang="en-US" sz="800" dirty="0"/>
          </a:p>
        </p:txBody>
      </p:sp>
      <p:sp>
        <p:nvSpPr>
          <p:cNvPr id="28" name="Text 26"/>
          <p:cNvSpPr/>
          <p:nvPr/>
        </p:nvSpPr>
        <p:spPr>
          <a:xfrm>
            <a:off x="6794450" y="3355330"/>
            <a:ext cx="984200" cy="463451"/>
          </a:xfrm>
          <a:prstGeom prst="roundRect">
            <a:avLst>
              <a:gd name="adj" fmla="val 10961"/>
            </a:avLst>
          </a:prstGeom>
          <a:solidFill>
            <a:srgbClr val="F5EEF8"/>
          </a:solidFill>
          <a:ln w="9525">
            <a:solidFill>
              <a:srgbClr val="8E44AD"/>
            </a:solidFill>
          </a:ln>
        </p:spPr>
        <p:txBody>
          <a:bodyPr wrap="square" rtlCol="0" anchor="ctr"/>
          <a:lstStyle/>
          <a:p>
            <a:pPr marL="0" indent="0">
              <a:buNone/>
            </a:pPr>
            <a:endParaRPr lang="en-US" dirty="0"/>
          </a:p>
        </p:txBody>
      </p:sp>
      <p:sp>
        <p:nvSpPr>
          <p:cNvPr id="29" name="Text 27"/>
          <p:cNvSpPr/>
          <p:nvPr/>
        </p:nvSpPr>
        <p:spPr>
          <a:xfrm>
            <a:off x="6897855" y="3441055"/>
            <a:ext cx="777392" cy="152400"/>
          </a:xfrm>
          <a:prstGeom prst="rect">
            <a:avLst/>
          </a:prstGeom>
          <a:noFill/>
        </p:spPr>
        <p:txBody>
          <a:bodyPr wrap="square" lIns="0" tIns="0" rIns="0" bIns="0" rtlCol="0" anchor="t"/>
          <a:lstStyle/>
          <a:p>
            <a:pPr marL="0" indent="0" algn="ctr">
              <a:lnSpc>
                <a:spcPts val="1200"/>
              </a:lnSpc>
              <a:buNone/>
            </a:pPr>
            <a:r>
              <a:rPr lang="en-US" sz="1200" b="1" dirty="0">
                <a:solidFill>
                  <a:srgbClr val="8E44AD"/>
                </a:solidFill>
                <a:latin typeface="Arial" panose="020B0604020202090204" pitchFamily="34" charset="0"/>
                <a:ea typeface="Arial" panose="020B0604020202090204" pitchFamily="34" charset="-122"/>
                <a:cs typeface="Arial" panose="020B0604020202090204" pitchFamily="34" charset="-120"/>
              </a:rPr>
              <a:t>4.3%</a:t>
            </a:r>
            <a:endParaRPr lang="en-US" sz="1200" dirty="0"/>
          </a:p>
        </p:txBody>
      </p:sp>
      <p:sp>
        <p:nvSpPr>
          <p:cNvPr id="30" name="Text 28"/>
          <p:cNvSpPr/>
          <p:nvPr/>
        </p:nvSpPr>
        <p:spPr>
          <a:xfrm>
            <a:off x="6891505" y="3635901"/>
            <a:ext cx="777392" cy="114300"/>
          </a:xfrm>
          <a:prstGeom prst="rect">
            <a:avLst/>
          </a:prstGeom>
          <a:noFill/>
        </p:spPr>
        <p:txBody>
          <a:bodyPr wrap="square" lIns="0" tIns="0" rIns="0" bIns="0" rtlCol="0" anchor="t"/>
          <a:lstStyle/>
          <a:p>
            <a:pPr marL="0" indent="0" algn="ctr">
              <a:spcBef>
                <a:spcPts val="200"/>
              </a:spcBef>
              <a:buNone/>
            </a:pPr>
            <a:r>
              <a:rPr lang="en-US" sz="800" dirty="0">
                <a:solidFill>
                  <a:srgbClr val="666666"/>
                </a:solidFill>
                <a:latin typeface="Arial" panose="020B0604020202090204" pitchFamily="34" charset="0"/>
                <a:ea typeface="Arial" panose="020B0604020202090204" pitchFamily="34" charset="-122"/>
                <a:cs typeface="Arial" panose="020B0604020202090204" pitchFamily="34" charset="-120"/>
              </a:rPr>
              <a:t>Gemini</a:t>
            </a:r>
            <a:endParaRPr lang="en-US" sz="800" dirty="0"/>
          </a:p>
        </p:txBody>
      </p:sp>
      <p:sp>
        <p:nvSpPr>
          <p:cNvPr id="31" name="Text 29"/>
          <p:cNvSpPr/>
          <p:nvPr/>
        </p:nvSpPr>
        <p:spPr>
          <a:xfrm>
            <a:off x="7854851" y="3355330"/>
            <a:ext cx="984349" cy="463451"/>
          </a:xfrm>
          <a:prstGeom prst="roundRect">
            <a:avLst>
              <a:gd name="adj" fmla="val 10961"/>
            </a:avLst>
          </a:prstGeom>
          <a:solidFill>
            <a:srgbClr val="FEF4EC"/>
          </a:solidFill>
          <a:ln w="9525">
            <a:solidFill>
              <a:srgbClr val="ED7D31"/>
            </a:solidFill>
          </a:ln>
        </p:spPr>
        <p:txBody>
          <a:bodyPr wrap="square" rtlCol="0" anchor="ctr"/>
          <a:lstStyle/>
          <a:p>
            <a:pPr marL="0" indent="0">
              <a:buNone/>
            </a:pPr>
            <a:endParaRPr lang="en-US" dirty="0"/>
          </a:p>
        </p:txBody>
      </p:sp>
      <p:sp>
        <p:nvSpPr>
          <p:cNvPr id="32" name="Text 30"/>
          <p:cNvSpPr/>
          <p:nvPr/>
        </p:nvSpPr>
        <p:spPr>
          <a:xfrm>
            <a:off x="7958254" y="3441055"/>
            <a:ext cx="777544" cy="152400"/>
          </a:xfrm>
          <a:prstGeom prst="rect">
            <a:avLst/>
          </a:prstGeom>
          <a:noFill/>
        </p:spPr>
        <p:txBody>
          <a:bodyPr wrap="square" lIns="0" tIns="0" rIns="0" bIns="0" rtlCol="0" anchor="t"/>
          <a:lstStyle/>
          <a:p>
            <a:pPr marL="0" indent="0" algn="ctr">
              <a:lnSpc>
                <a:spcPts val="1200"/>
              </a:lnSpc>
              <a:buNone/>
            </a:pPr>
            <a:r>
              <a:rPr lang="en-US" sz="1200" b="1" dirty="0">
                <a:solidFill>
                  <a:srgbClr val="E67E22"/>
                </a:solidFill>
                <a:latin typeface="Arial" panose="020B0604020202090204" pitchFamily="34" charset="0"/>
                <a:ea typeface="Arial" panose="020B0604020202090204" pitchFamily="34" charset="-122"/>
                <a:cs typeface="Arial" panose="020B0604020202090204" pitchFamily="34" charset="-120"/>
              </a:rPr>
              <a:t>8.7%</a:t>
            </a:r>
            <a:endParaRPr lang="en-US" sz="1200" dirty="0"/>
          </a:p>
        </p:txBody>
      </p:sp>
      <p:sp>
        <p:nvSpPr>
          <p:cNvPr id="33" name="Text 31"/>
          <p:cNvSpPr/>
          <p:nvPr/>
        </p:nvSpPr>
        <p:spPr>
          <a:xfrm>
            <a:off x="7958254" y="3618756"/>
            <a:ext cx="777544" cy="114300"/>
          </a:xfrm>
          <a:prstGeom prst="rect">
            <a:avLst/>
          </a:prstGeom>
          <a:noFill/>
        </p:spPr>
        <p:txBody>
          <a:bodyPr wrap="square" lIns="0" tIns="0" rIns="0" bIns="0" rtlCol="0" anchor="t"/>
          <a:lstStyle/>
          <a:p>
            <a:pPr marL="0" indent="0" algn="ctr">
              <a:spcBef>
                <a:spcPts val="200"/>
              </a:spcBef>
              <a:buNone/>
            </a:pPr>
            <a:r>
              <a:rPr lang="en-US" sz="800" dirty="0">
                <a:solidFill>
                  <a:srgbClr val="666666"/>
                </a:solidFill>
                <a:latin typeface="Arial" panose="020B0604020202090204" pitchFamily="34" charset="0"/>
                <a:ea typeface="Arial" panose="020B0604020202090204" pitchFamily="34" charset="-122"/>
                <a:cs typeface="Arial" panose="020B0604020202090204" pitchFamily="34" charset="-120"/>
              </a:rPr>
              <a:t>GPT-5.2</a:t>
            </a:r>
            <a:endParaRPr lang="en-US" sz="800" dirty="0"/>
          </a:p>
        </p:txBody>
      </p:sp>
      <p:sp>
        <p:nvSpPr>
          <p:cNvPr id="34" name="Text 32"/>
          <p:cNvSpPr/>
          <p:nvPr/>
        </p:nvSpPr>
        <p:spPr>
          <a:xfrm>
            <a:off x="4673501" y="3942507"/>
            <a:ext cx="4165699" cy="774502"/>
          </a:xfrm>
          <a:prstGeom prst="roundRect">
            <a:avLst>
              <a:gd name="adj" fmla="val 8199"/>
            </a:avLst>
          </a:prstGeom>
          <a:solidFill>
            <a:srgbClr val="EEF6E8"/>
          </a:solidFill>
        </p:spPr>
        <p:txBody>
          <a:bodyPr wrap="square" rtlCol="0" anchor="ctr"/>
          <a:lstStyle/>
          <a:p>
            <a:pPr marL="0" indent="0">
              <a:buNone/>
            </a:pPr>
            <a:endParaRPr lang="en-US" dirty="0"/>
          </a:p>
        </p:txBody>
      </p:sp>
      <p:sp>
        <p:nvSpPr>
          <p:cNvPr id="35" name="Shape 33"/>
          <p:cNvSpPr/>
          <p:nvPr/>
        </p:nvSpPr>
        <p:spPr>
          <a:xfrm>
            <a:off x="4692551" y="3920282"/>
            <a:ext cx="0" cy="774502"/>
          </a:xfrm>
          <a:prstGeom prst="line">
            <a:avLst/>
          </a:prstGeom>
          <a:noFill/>
          <a:ln w="38100">
            <a:solidFill>
              <a:srgbClr val="70AD47"/>
            </a:solidFill>
            <a:prstDash val="solid"/>
          </a:ln>
        </p:spPr>
      </p:sp>
      <p:sp>
        <p:nvSpPr>
          <p:cNvPr id="36" name="Text 34"/>
          <p:cNvSpPr/>
          <p:nvPr/>
        </p:nvSpPr>
        <p:spPr>
          <a:xfrm>
            <a:off x="4838551" y="4021782"/>
            <a:ext cx="3951172" cy="133350"/>
          </a:xfrm>
          <a:prstGeom prst="rect">
            <a:avLst/>
          </a:prstGeom>
          <a:noFill/>
        </p:spPr>
        <p:txBody>
          <a:bodyPr wrap="square" lIns="0" tIns="0" rIns="0" bIns="0" rtlCol="0" anchor="t"/>
          <a:lstStyle/>
          <a:p>
            <a:pPr marL="0" indent="0" algn="l">
              <a:spcAft>
                <a:spcPts val="300"/>
              </a:spcAft>
              <a:buNone/>
            </a:pPr>
            <a:r>
              <a:rPr lang="en-US" sz="950" b="1" dirty="0">
                <a:solidFill>
                  <a:srgbClr val="385C1F"/>
                </a:solidFill>
                <a:latin typeface="Arial" panose="020B0604020202090204" pitchFamily="34" charset="0"/>
                <a:ea typeface="Arial" panose="020B0604020202090204" pitchFamily="34" charset="-122"/>
                <a:cs typeface="Arial" panose="020B0604020202090204" pitchFamily="34" charset="-120"/>
              </a:rPr>
              <a:t>Semantic separation confirmed</a:t>
            </a:r>
            <a:endParaRPr lang="en-US" sz="950" dirty="0"/>
          </a:p>
        </p:txBody>
      </p:sp>
      <p:sp>
        <p:nvSpPr>
          <p:cNvPr id="37" name="Text 35"/>
          <p:cNvSpPr/>
          <p:nvPr/>
        </p:nvSpPr>
        <p:spPr>
          <a:xfrm>
            <a:off x="4838551" y="4193232"/>
            <a:ext cx="3951172" cy="40005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Even after double style-control (rephrasing + residualization), Human/AI semantic segregation persists. 94.2% of AI proposals have their nearest neighbor from within the AI group — a conceptual, not stylistic, signal.</a:t>
            </a:r>
            <a:endParaRPr lang="en-US" sz="900" dirty="0"/>
          </a:p>
        </p:txBody>
      </p:sp>
      <p:pic>
        <p:nvPicPr>
          <p:cNvPr id="38" name="Image 0" descr="/Users/eveyhuang/Documents/NICO/human-AI-proposal-comparison/results/figures/rephrased/centroid_dispersion_style_adjusted.png"/>
          <p:cNvPicPr>
            <a:picLocks noChangeAspect="1"/>
          </p:cNvPicPr>
          <p:nvPr/>
        </p:nvPicPr>
        <p:blipFill>
          <a:blip r:embed="rId1"/>
          <a:stretch>
            <a:fillRect/>
          </a:stretch>
        </p:blipFill>
        <p:spPr>
          <a:xfrm>
            <a:off x="302895" y="1015950"/>
            <a:ext cx="4191000" cy="215890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4472C4"/>
          </a:solidFill>
        </p:spPr>
        <p:txBody>
          <a:bodyPr wrap="square" rtlCol="0" anchor="ctr"/>
          <a:lstStyle/>
          <a:p>
            <a:pPr marL="0" indent="0">
              <a:buNone/>
            </a:pPr>
            <a:endParaRPr lang="en-US" dirty="0"/>
          </a:p>
        </p:txBody>
      </p:sp>
      <p:sp>
        <p:nvSpPr>
          <p:cNvPr id="3" name="Text 1"/>
          <p:cNvSpPr/>
          <p:nvPr/>
        </p:nvSpPr>
        <p:spPr>
          <a:xfrm>
            <a:off x="0" y="5067300"/>
            <a:ext cx="9144000" cy="76200"/>
          </a:xfrm>
          <a:prstGeom prst="rect">
            <a:avLst/>
          </a:prstGeom>
          <a:solidFill>
            <a:srgbClr val="44546A"/>
          </a:solidFill>
        </p:spPr>
        <p:txBody>
          <a:bodyPr wrap="square" rtlCol="0" anchor="ctr"/>
          <a:lstStyle/>
          <a:p>
            <a:pPr marL="0" indent="0">
              <a:buNone/>
            </a:pPr>
            <a:endParaRPr lang="en-US" dirty="0"/>
          </a:p>
        </p:txBody>
      </p:sp>
      <p:sp>
        <p:nvSpPr>
          <p:cNvPr id="4" name="Text 2"/>
          <p:cNvSpPr/>
          <p:nvPr/>
        </p:nvSpPr>
        <p:spPr>
          <a:xfrm>
            <a:off x="7112050" y="76200"/>
            <a:ext cx="2031950" cy="355550"/>
          </a:xfrm>
          <a:prstGeom prst="rect">
            <a:avLst/>
          </a:prstGeom>
          <a:solidFill>
            <a:srgbClr val="44546A"/>
          </a:solidFill>
        </p:spPr>
        <p:txBody>
          <a:bodyPr wrap="square" rtlCol="0" anchor="ctr"/>
          <a:lstStyle/>
          <a:p>
            <a:pPr marL="0" indent="0">
              <a:buNone/>
            </a:pPr>
            <a:endParaRPr lang="en-US" dirty="0"/>
          </a:p>
        </p:txBody>
      </p:sp>
      <p:sp>
        <p:nvSpPr>
          <p:cNvPr id="5" name="Text 3"/>
          <p:cNvSpPr/>
          <p:nvPr/>
        </p:nvSpPr>
        <p:spPr>
          <a:xfrm>
            <a:off x="7389168" y="187226"/>
            <a:ext cx="1507269" cy="133350"/>
          </a:xfrm>
          <a:prstGeom prst="rect">
            <a:avLst/>
          </a:prstGeom>
          <a:noFill/>
        </p:spPr>
        <p:txBody>
          <a:bodyPr wrap="square" lIns="0" tIns="0" rIns="0" bIns="0" rtlCol="0" anchor="t"/>
          <a:lstStyle/>
          <a:p>
            <a:pPr marL="0" indent="0" algn="l">
              <a:buNone/>
            </a:pPr>
            <a:r>
              <a:rPr lang="en-US" sz="900" b="1" dirty="0">
                <a:solidFill>
                  <a:srgbClr val="FFFFFF"/>
                </a:solidFill>
                <a:latin typeface="Arial" panose="020B0604020202090204" pitchFamily="34" charset="0"/>
                <a:ea typeface="Arial" panose="020B0604020202090204" pitchFamily="34" charset="-122"/>
                <a:cs typeface="Arial" panose="020B0604020202090204" pitchFamily="34" charset="-120"/>
              </a:rPr>
              <a:t>PART V · REVIEW SCORES</a:t>
            </a:r>
            <a:endParaRPr lang="en-US" sz="900" dirty="0"/>
          </a:p>
        </p:txBody>
      </p:sp>
      <p:sp>
        <p:nvSpPr>
          <p:cNvPr id="6" name="Text 4"/>
          <p:cNvSpPr/>
          <p:nvPr/>
        </p:nvSpPr>
        <p:spPr>
          <a:xfrm>
            <a:off x="304800" y="76200"/>
            <a:ext cx="987772" cy="190500"/>
          </a:xfrm>
          <a:prstGeom prst="roundRect">
            <a:avLst>
              <a:gd name="adj" fmla="val 20000"/>
            </a:avLst>
          </a:prstGeom>
          <a:solidFill>
            <a:srgbClr val="A5A5A5"/>
          </a:solidFill>
        </p:spPr>
        <p:txBody>
          <a:bodyPr wrap="square" rtlCol="0" anchor="ctr"/>
          <a:lstStyle/>
          <a:p>
            <a:pPr marL="0" indent="0">
              <a:buNone/>
            </a:pPr>
            <a:endParaRPr lang="en-US" dirty="0"/>
          </a:p>
        </p:txBody>
      </p:sp>
      <p:sp>
        <p:nvSpPr>
          <p:cNvPr id="7" name="Text 5"/>
          <p:cNvSpPr/>
          <p:nvPr/>
        </p:nvSpPr>
        <p:spPr>
          <a:xfrm>
            <a:off x="406301" y="114300"/>
            <a:ext cx="800466" cy="114300"/>
          </a:xfrm>
          <a:prstGeom prst="rect">
            <a:avLst/>
          </a:prstGeom>
          <a:noFill/>
        </p:spPr>
        <p:txBody>
          <a:bodyPr wrap="square" lIns="0" tIns="0" rIns="0" bIns="0" rtlCol="0" anchor="t"/>
          <a:lstStyle/>
          <a:p>
            <a:pPr marL="0" indent="0" algn="l">
              <a:buNone/>
            </a:pPr>
            <a:r>
              <a:rPr lang="en-US" sz="800" b="1" dirty="0">
                <a:solidFill>
                  <a:srgbClr val="FFFFFF"/>
                </a:solidFill>
                <a:latin typeface="Arial" panose="020B0604020202090204" pitchFamily="34" charset="0"/>
                <a:ea typeface="Arial" panose="020B0604020202090204" pitchFamily="34" charset="-122"/>
                <a:cs typeface="Arial" panose="020B0604020202090204" pitchFamily="34" charset="-120"/>
              </a:rPr>
              <a:t>Analysis 3.1–3.5</a:t>
            </a:r>
            <a:endParaRPr lang="en-US" sz="800" dirty="0"/>
          </a:p>
        </p:txBody>
      </p:sp>
      <p:sp>
        <p:nvSpPr>
          <p:cNvPr id="8" name="Text 6"/>
          <p:cNvSpPr/>
          <p:nvPr/>
        </p:nvSpPr>
        <p:spPr>
          <a:xfrm>
            <a:off x="304800" y="381000"/>
            <a:ext cx="7124649" cy="266700"/>
          </a:xfrm>
          <a:prstGeom prst="rect">
            <a:avLst/>
          </a:prstGeom>
          <a:noFill/>
        </p:spPr>
        <p:txBody>
          <a:bodyPr wrap="square" lIns="0" tIns="0" rIns="0" bIns="0" rtlCol="0" anchor="t"/>
          <a:lstStyle/>
          <a:p>
            <a:pPr marL="0" indent="0" algn="l">
              <a:buNone/>
            </a:pPr>
            <a:r>
              <a:rPr lang="en-US" sz="1800" b="1" dirty="0">
                <a:solidFill>
                  <a:srgbClr val="44546A"/>
                </a:solidFill>
                <a:latin typeface="Arial" panose="020B0604020202090204" pitchFamily="34" charset="0"/>
                <a:ea typeface="Arial" panose="020B0604020202090204" pitchFamily="34" charset="-122"/>
                <a:cs typeface="Arial" panose="020B0604020202090204" pitchFamily="34" charset="-120"/>
              </a:rPr>
              <a:t>Metric–Score Correlation &amp; Predictive Validation</a:t>
            </a:r>
            <a:endParaRPr lang="en-US" sz="1800" dirty="0"/>
          </a:p>
        </p:txBody>
      </p:sp>
      <p:sp>
        <p:nvSpPr>
          <p:cNvPr id="9" name="Text 7"/>
          <p:cNvSpPr/>
          <p:nvPr/>
        </p:nvSpPr>
        <p:spPr>
          <a:xfrm>
            <a:off x="304800" y="673001"/>
            <a:ext cx="7124649" cy="142875"/>
          </a:xfrm>
          <a:prstGeom prst="rect">
            <a:avLst/>
          </a:prstGeom>
          <a:noFill/>
        </p:spPr>
        <p:txBody>
          <a:bodyPr wrap="square" lIns="0" tIns="0" rIns="0" bIns="0" rtlCol="0" anchor="t"/>
          <a:lstStyle/>
          <a:p>
            <a:pPr marL="0" indent="0" algn="l">
              <a:spcBef>
                <a:spcPts val="200"/>
              </a:spcBef>
              <a:buNone/>
            </a:pPr>
            <a:r>
              <a:rPr lang="en-US" sz="1000" dirty="0">
                <a:solidFill>
                  <a:srgbClr val="4472C4"/>
                </a:solidFill>
                <a:latin typeface="Arial" panose="020B0604020202090204" pitchFamily="34" charset="0"/>
                <a:ea typeface="Arial" panose="020B0604020202090204" pitchFamily="34" charset="-122"/>
                <a:cs typeface="Arial" panose="020B0604020202090204" pitchFamily="34" charset="-120"/>
              </a:rPr>
              <a:t>Do diversity/novelty metrics predict AI-assigned review scores? Ridge regression R² by criterion.</a:t>
            </a:r>
            <a:endParaRPr lang="en-US" sz="1000" dirty="0"/>
          </a:p>
        </p:txBody>
      </p:sp>
      <p:sp>
        <p:nvSpPr>
          <p:cNvPr id="10" name="Text 8"/>
          <p:cNvSpPr/>
          <p:nvPr/>
        </p:nvSpPr>
        <p:spPr>
          <a:xfrm>
            <a:off x="304800" y="812750"/>
            <a:ext cx="8534400" cy="25301"/>
          </a:xfrm>
          <a:prstGeom prst="rect">
            <a:avLst/>
          </a:prstGeom>
          <a:solidFill>
            <a:srgbClr val="4472C4"/>
          </a:solidFill>
        </p:spPr>
        <p:txBody>
          <a:bodyPr wrap="square" rtlCol="0" anchor="ctr"/>
          <a:lstStyle/>
          <a:p>
            <a:pPr marL="0" indent="0">
              <a:buNone/>
            </a:pPr>
            <a:endParaRPr lang="en-US" dirty="0"/>
          </a:p>
        </p:txBody>
      </p:sp>
      <p:sp>
        <p:nvSpPr>
          <p:cNvPr id="12" name="Shape 10"/>
          <p:cNvSpPr/>
          <p:nvPr/>
        </p:nvSpPr>
        <p:spPr>
          <a:xfrm>
            <a:off x="172085" y="4031615"/>
            <a:ext cx="635" cy="908050"/>
          </a:xfrm>
          <a:prstGeom prst="line">
            <a:avLst/>
          </a:prstGeom>
          <a:noFill/>
          <a:ln w="38100">
            <a:solidFill>
              <a:srgbClr val="C00000"/>
            </a:solidFill>
            <a:prstDash val="solid"/>
          </a:ln>
        </p:spPr>
      </p:sp>
      <p:sp>
        <p:nvSpPr>
          <p:cNvPr id="13" name="Text 11"/>
          <p:cNvSpPr/>
          <p:nvPr/>
        </p:nvSpPr>
        <p:spPr>
          <a:xfrm>
            <a:off x="334010" y="4044950"/>
            <a:ext cx="4198620" cy="133350"/>
          </a:xfrm>
          <a:prstGeom prst="rect">
            <a:avLst/>
          </a:prstGeom>
          <a:noFill/>
        </p:spPr>
        <p:txBody>
          <a:bodyPr wrap="square" lIns="0" tIns="0" rIns="0" bIns="0" rtlCol="0" anchor="t"/>
          <a:lstStyle/>
          <a:p>
            <a:pPr marL="0" indent="0" algn="l">
              <a:spcAft>
                <a:spcPts val="300"/>
              </a:spcAft>
              <a:buNone/>
            </a:pPr>
            <a:r>
              <a:rPr lang="en-US" sz="950" b="1" dirty="0">
                <a:solidFill>
                  <a:srgbClr val="C00000"/>
                </a:solidFill>
                <a:latin typeface="Arial" panose="020B0604020202090204" pitchFamily="34" charset="0"/>
                <a:ea typeface="Arial" panose="020B0604020202090204" pitchFamily="34" charset="-122"/>
                <a:cs typeface="Arial" panose="020B0604020202090204" pitchFamily="34" charset="-120"/>
              </a:rPr>
              <a:t>Semantic isolation predicts </a:t>
            </a:r>
            <a:r>
              <a:rPr lang="en-US" sz="950" b="1" dirty="0">
                <a:solidFill>
                  <a:srgbClr val="C00000"/>
                </a:solidFill>
                <a:latin typeface="Arial Bold" panose="020B0604020202090204" charset="0"/>
                <a:ea typeface="Arial" panose="020B0604020202090204" pitchFamily="34" charset="-122"/>
                <a:cs typeface="Arial Bold" panose="020B0604020202090204" charset="0"/>
              </a:rPr>
              <a:t>lower </a:t>
            </a:r>
            <a:r>
              <a:rPr lang="en-US" sz="950" b="1" dirty="0">
                <a:solidFill>
                  <a:srgbClr val="C00000"/>
                </a:solidFill>
                <a:latin typeface="Arial" panose="020B0604020202090204" pitchFamily="34" charset="0"/>
                <a:ea typeface="Arial" panose="020B0604020202090204" pitchFamily="34" charset="-122"/>
                <a:cs typeface="Arial" panose="020B0604020202090204" pitchFamily="34" charset="-120"/>
              </a:rPr>
              <a:t>scores</a:t>
            </a:r>
            <a:endParaRPr lang="en-US" sz="950" dirty="0"/>
          </a:p>
        </p:txBody>
      </p:sp>
      <p:sp>
        <p:nvSpPr>
          <p:cNvPr id="14" name="Text 12"/>
          <p:cNvSpPr/>
          <p:nvPr/>
        </p:nvSpPr>
        <p:spPr>
          <a:xfrm>
            <a:off x="304800" y="4349750"/>
            <a:ext cx="3626485" cy="53340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NN distance (within-corpus) shows strong negative correlations with review criteria — most notably Relevance (r = −0.585, Holm-corrected), Novelty &amp; Significance (r = −0.498), and Open Science (r = −0.498). Semantically isolated proposals score lower.</a:t>
            </a:r>
            <a:endParaRPr lang="en-US" sz="900" dirty="0"/>
          </a:p>
        </p:txBody>
      </p:sp>
      <p:sp>
        <p:nvSpPr>
          <p:cNvPr id="16" name="Shape 14"/>
          <p:cNvSpPr/>
          <p:nvPr/>
        </p:nvSpPr>
        <p:spPr>
          <a:xfrm>
            <a:off x="4693920" y="4073525"/>
            <a:ext cx="635" cy="774700"/>
          </a:xfrm>
          <a:prstGeom prst="line">
            <a:avLst/>
          </a:prstGeom>
          <a:noFill/>
          <a:ln w="38100">
            <a:solidFill>
              <a:srgbClr val="4472C4"/>
            </a:solidFill>
            <a:prstDash val="solid"/>
          </a:ln>
        </p:spPr>
      </p:sp>
      <p:sp>
        <p:nvSpPr>
          <p:cNvPr id="17" name="Text 15"/>
          <p:cNvSpPr/>
          <p:nvPr/>
        </p:nvSpPr>
        <p:spPr>
          <a:xfrm>
            <a:off x="4835525" y="4072890"/>
            <a:ext cx="3378835" cy="114300"/>
          </a:xfrm>
          <a:prstGeom prst="rect">
            <a:avLst/>
          </a:prstGeom>
          <a:noFill/>
        </p:spPr>
        <p:txBody>
          <a:bodyPr wrap="square" lIns="0" tIns="0" rIns="0" bIns="0" rtlCol="0" anchor="t"/>
          <a:lstStyle/>
          <a:p>
            <a:pPr marL="0" indent="0" algn="l">
              <a:spcAft>
                <a:spcPts val="300"/>
              </a:spcAft>
              <a:buNone/>
            </a:pPr>
            <a:r>
              <a:rPr lang="en-US" sz="950" b="1" dirty="0">
                <a:solidFill>
                  <a:srgbClr val="4472C4"/>
                </a:solidFill>
                <a:latin typeface="Arial" panose="020B0604020202090204" pitchFamily="34" charset="0"/>
                <a:ea typeface="Arial" panose="020B0604020202090204" pitchFamily="34" charset="-122"/>
                <a:cs typeface="Arial" panose="020B0604020202090204" pitchFamily="34" charset="-120"/>
              </a:rPr>
              <a:t>Embedding features predict Novelty &amp; Significance scores</a:t>
            </a:r>
            <a:endParaRPr lang="en-US" sz="950" dirty="0"/>
          </a:p>
        </p:txBody>
      </p:sp>
      <p:sp>
        <p:nvSpPr>
          <p:cNvPr id="18" name="Text 16"/>
          <p:cNvSpPr/>
          <p:nvPr/>
        </p:nvSpPr>
        <p:spPr>
          <a:xfrm>
            <a:off x="4852035" y="4330700"/>
            <a:ext cx="3238500" cy="40005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Ridge regression: embedding-only R² = 0.18 for Novelty &amp; Significance (p = 0.002), outperforming style-only R² = 0.096. This validates embedding metrics as proxies for the Novelty criterion specifically.</a:t>
            </a:r>
            <a:endParaRPr lang="en-US" sz="900" dirty="0"/>
          </a:p>
        </p:txBody>
      </p:sp>
      <p:pic>
        <p:nvPicPr>
          <p:cNvPr id="30" name="Picture 29" descr="metric_score_r2_by_criterion"/>
          <p:cNvPicPr>
            <a:picLocks noChangeAspect="1"/>
          </p:cNvPicPr>
          <p:nvPr/>
        </p:nvPicPr>
        <p:blipFill>
          <a:blip r:embed="rId1"/>
          <a:srcRect b="4425"/>
          <a:stretch>
            <a:fillRect/>
          </a:stretch>
        </p:blipFill>
        <p:spPr>
          <a:xfrm>
            <a:off x="225425" y="854710"/>
            <a:ext cx="6475730" cy="307467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1" name="Picture 30" descr="metric_score_correlation_heatmap"/>
          <p:cNvPicPr>
            <a:picLocks noChangeAspect="1"/>
          </p:cNvPicPr>
          <p:nvPr/>
        </p:nvPicPr>
        <p:blipFill>
          <a:blip r:embed="rId1"/>
          <a:stretch>
            <a:fillRect/>
          </a:stretch>
        </p:blipFill>
        <p:spPr>
          <a:xfrm>
            <a:off x="146050" y="226060"/>
            <a:ext cx="5434330" cy="4803140"/>
          </a:xfrm>
          <a:prstGeom prst="rect">
            <a:avLst/>
          </a:prstGeom>
        </p:spPr>
      </p:pic>
      <p:sp>
        <p:nvSpPr>
          <p:cNvPr id="24" name="Shape 22"/>
          <p:cNvSpPr/>
          <p:nvPr/>
        </p:nvSpPr>
        <p:spPr>
          <a:xfrm>
            <a:off x="6163310" y="2995295"/>
            <a:ext cx="635" cy="907415"/>
          </a:xfrm>
          <a:prstGeom prst="line">
            <a:avLst/>
          </a:prstGeom>
          <a:noFill/>
          <a:ln w="38100">
            <a:solidFill>
              <a:srgbClr val="A5A5A5"/>
            </a:solidFill>
            <a:prstDash val="solid"/>
          </a:ln>
        </p:spPr>
      </p:sp>
      <p:sp>
        <p:nvSpPr>
          <p:cNvPr id="25" name="Text 23"/>
          <p:cNvSpPr/>
          <p:nvPr/>
        </p:nvSpPr>
        <p:spPr>
          <a:xfrm>
            <a:off x="6322695" y="2934970"/>
            <a:ext cx="2526030" cy="133350"/>
          </a:xfrm>
          <a:prstGeom prst="rect">
            <a:avLst/>
          </a:prstGeom>
          <a:noFill/>
        </p:spPr>
        <p:txBody>
          <a:bodyPr wrap="square" lIns="0" tIns="0" rIns="0" bIns="0" rtlCol="0" anchor="t"/>
          <a:lstStyle/>
          <a:p>
            <a:pPr marL="0" indent="0" algn="l">
              <a:spcAft>
                <a:spcPts val="300"/>
              </a:spcAft>
              <a:buNone/>
            </a:pPr>
            <a:r>
              <a:rPr lang="en-US" sz="950" b="1" dirty="0">
                <a:solidFill>
                  <a:srgbClr val="44546A"/>
                </a:solidFill>
                <a:latin typeface="Arial" panose="020B0604020202090204" pitchFamily="34" charset="0"/>
                <a:ea typeface="Arial" panose="020B0604020202090204" pitchFamily="34" charset="-122"/>
                <a:cs typeface="Arial" panose="020B0604020202090204" pitchFamily="34" charset="-120"/>
              </a:rPr>
              <a:t>ALL proposals: NN distance negatively correlated with novelty score</a:t>
            </a:r>
            <a:endParaRPr lang="en-US" sz="950" dirty="0"/>
          </a:p>
        </p:txBody>
      </p:sp>
      <p:sp>
        <p:nvSpPr>
          <p:cNvPr id="26" name="Text 24"/>
          <p:cNvSpPr/>
          <p:nvPr/>
        </p:nvSpPr>
        <p:spPr>
          <a:xfrm>
            <a:off x="6328410" y="3369945"/>
            <a:ext cx="2567940" cy="26670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Spearman r = −0.576 (p = 0.004) for humans; much weaker for AI models. Human outliers explore unique territory but are not rewarded by AI reviewers for it.</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 name="Shape 18"/>
          <p:cNvSpPr/>
          <p:nvPr/>
        </p:nvSpPr>
        <p:spPr>
          <a:xfrm>
            <a:off x="6849745" y="1903730"/>
            <a:ext cx="635" cy="1520190"/>
          </a:xfrm>
          <a:prstGeom prst="line">
            <a:avLst/>
          </a:prstGeom>
          <a:noFill/>
          <a:ln w="38100">
            <a:solidFill>
              <a:srgbClr val="FFC000"/>
            </a:solidFill>
            <a:prstDash val="solid"/>
          </a:ln>
        </p:spPr>
      </p:sp>
      <p:sp>
        <p:nvSpPr>
          <p:cNvPr id="21" name="Text 19"/>
          <p:cNvSpPr/>
          <p:nvPr/>
        </p:nvSpPr>
        <p:spPr>
          <a:xfrm>
            <a:off x="6959600" y="1903730"/>
            <a:ext cx="1978660" cy="133350"/>
          </a:xfrm>
          <a:prstGeom prst="rect">
            <a:avLst/>
          </a:prstGeom>
          <a:noFill/>
        </p:spPr>
        <p:txBody>
          <a:bodyPr wrap="square" lIns="0" tIns="0" rIns="0" bIns="0" rtlCol="0" anchor="t"/>
          <a:lstStyle/>
          <a:p>
            <a:pPr marL="0" indent="0" algn="l">
              <a:spcAft>
                <a:spcPts val="300"/>
              </a:spcAft>
              <a:buNone/>
            </a:pPr>
            <a:r>
              <a:rPr lang="en-US" sz="950" b="1" dirty="0">
                <a:solidFill>
                  <a:srgbClr val="B8860B"/>
                </a:solidFill>
                <a:latin typeface="Arial" panose="020B0604020202090204" pitchFamily="34" charset="0"/>
                <a:ea typeface="Arial" panose="020B0604020202090204" pitchFamily="34" charset="-122"/>
                <a:cs typeface="Arial" panose="020B0604020202090204" pitchFamily="34" charset="-120"/>
              </a:rPr>
              <a:t>NN outliers vs. literature-novel proposals do not align with high scores (by AI evaluator)</a:t>
            </a:r>
            <a:endParaRPr lang="en-US" sz="950" dirty="0"/>
          </a:p>
        </p:txBody>
      </p:sp>
      <p:sp>
        <p:nvSpPr>
          <p:cNvPr id="22" name="Text 20"/>
          <p:cNvSpPr/>
          <p:nvPr/>
        </p:nvSpPr>
        <p:spPr>
          <a:xfrm>
            <a:off x="6959600" y="2508885"/>
            <a:ext cx="1978660" cy="40005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Outlier proposals (top-10% NN distance) score lower on all criteria (Cliff's δ &lt; 0, all p ≈ 1.0 for one-sided "outlier scores higher" test). Literature-novel proposals similarly show no score advantage. AI evaluators reward relevance, not peripherality.</a:t>
            </a:r>
            <a:endParaRPr lang="en-US" sz="900" dirty="0"/>
          </a:p>
        </p:txBody>
      </p:sp>
      <p:pic>
        <p:nvPicPr>
          <p:cNvPr id="2" name="Picture 1" descr="outlier_score_comparison"/>
          <p:cNvPicPr>
            <a:picLocks noChangeAspect="1"/>
          </p:cNvPicPr>
          <p:nvPr/>
        </p:nvPicPr>
        <p:blipFill>
          <a:blip r:embed="rId1"/>
          <a:stretch>
            <a:fillRect/>
          </a:stretch>
        </p:blipFill>
        <p:spPr>
          <a:xfrm>
            <a:off x="148590" y="133985"/>
            <a:ext cx="6524625" cy="2295525"/>
          </a:xfrm>
          <a:prstGeom prst="rect">
            <a:avLst/>
          </a:prstGeom>
        </p:spPr>
      </p:pic>
      <p:pic>
        <p:nvPicPr>
          <p:cNvPr id="3" name="Picture 2" descr="lit_novel_score_comparison_33b"/>
          <p:cNvPicPr>
            <a:picLocks noChangeAspect="1"/>
          </p:cNvPicPr>
          <p:nvPr/>
        </p:nvPicPr>
        <p:blipFill>
          <a:blip r:embed="rId2"/>
          <a:stretch>
            <a:fillRect/>
          </a:stretch>
        </p:blipFill>
        <p:spPr>
          <a:xfrm>
            <a:off x="161290" y="2508885"/>
            <a:ext cx="6553200" cy="229616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4472C4"/>
          </a:solidFill>
        </p:spPr>
        <p:txBody>
          <a:bodyPr wrap="square" rtlCol="0" anchor="ctr"/>
          <a:lstStyle/>
          <a:p>
            <a:pPr marL="0" indent="0">
              <a:buNone/>
            </a:pPr>
            <a:endParaRPr lang="en-US" dirty="0"/>
          </a:p>
        </p:txBody>
      </p:sp>
      <p:sp>
        <p:nvSpPr>
          <p:cNvPr id="3" name="Text 1"/>
          <p:cNvSpPr/>
          <p:nvPr/>
        </p:nvSpPr>
        <p:spPr>
          <a:xfrm>
            <a:off x="0" y="5067300"/>
            <a:ext cx="9144000" cy="76200"/>
          </a:xfrm>
          <a:prstGeom prst="rect">
            <a:avLst/>
          </a:prstGeom>
          <a:solidFill>
            <a:srgbClr val="44546A"/>
          </a:solidFill>
        </p:spPr>
        <p:txBody>
          <a:bodyPr wrap="square" rtlCol="0" anchor="ctr"/>
          <a:lstStyle/>
          <a:p>
            <a:pPr marL="0" indent="0">
              <a:buNone/>
            </a:pPr>
            <a:endParaRPr lang="en-US" dirty="0"/>
          </a:p>
        </p:txBody>
      </p:sp>
      <p:sp>
        <p:nvSpPr>
          <p:cNvPr id="4" name="Text 2"/>
          <p:cNvSpPr/>
          <p:nvPr/>
        </p:nvSpPr>
        <p:spPr>
          <a:xfrm>
            <a:off x="7112050" y="76200"/>
            <a:ext cx="2031950" cy="355550"/>
          </a:xfrm>
          <a:prstGeom prst="rect">
            <a:avLst/>
          </a:prstGeom>
          <a:solidFill>
            <a:srgbClr val="44546A"/>
          </a:solidFill>
        </p:spPr>
        <p:txBody>
          <a:bodyPr wrap="square" rtlCol="0" anchor="ctr"/>
          <a:lstStyle/>
          <a:p>
            <a:pPr marL="0" indent="0">
              <a:buNone/>
            </a:pPr>
            <a:endParaRPr lang="en-US" dirty="0"/>
          </a:p>
        </p:txBody>
      </p:sp>
      <p:sp>
        <p:nvSpPr>
          <p:cNvPr id="5" name="Text 3"/>
          <p:cNvSpPr/>
          <p:nvPr/>
        </p:nvSpPr>
        <p:spPr>
          <a:xfrm>
            <a:off x="7517309" y="187226"/>
            <a:ext cx="1245861" cy="133350"/>
          </a:xfrm>
          <a:prstGeom prst="rect">
            <a:avLst/>
          </a:prstGeom>
          <a:noFill/>
        </p:spPr>
        <p:txBody>
          <a:bodyPr wrap="square" lIns="0" tIns="0" rIns="0" bIns="0" rtlCol="0" anchor="t"/>
          <a:lstStyle/>
          <a:p>
            <a:pPr marL="0" indent="0" algn="l">
              <a:buNone/>
            </a:pPr>
            <a:r>
              <a:rPr lang="en-US" sz="900" b="1" dirty="0">
                <a:solidFill>
                  <a:srgbClr val="FFFFFF"/>
                </a:solidFill>
                <a:latin typeface="Arial" panose="020B0604020202090204" pitchFamily="34" charset="0"/>
                <a:ea typeface="Arial" panose="020B0604020202090204" pitchFamily="34" charset="-122"/>
                <a:cs typeface="Arial" panose="020B0604020202090204" pitchFamily="34" charset="-120"/>
              </a:rPr>
              <a:t>PART IV · QUALITY R2</a:t>
            </a:r>
            <a:endParaRPr lang="en-US" sz="900" dirty="0"/>
          </a:p>
        </p:txBody>
      </p:sp>
      <p:sp>
        <p:nvSpPr>
          <p:cNvPr id="6" name="Text 4"/>
          <p:cNvSpPr/>
          <p:nvPr/>
        </p:nvSpPr>
        <p:spPr>
          <a:xfrm>
            <a:off x="304800" y="76200"/>
            <a:ext cx="1009948" cy="190500"/>
          </a:xfrm>
          <a:prstGeom prst="roundRect">
            <a:avLst>
              <a:gd name="adj" fmla="val 20000"/>
            </a:avLst>
          </a:prstGeom>
          <a:solidFill>
            <a:srgbClr val="44546A"/>
          </a:solidFill>
        </p:spPr>
        <p:txBody>
          <a:bodyPr wrap="square" rtlCol="0" anchor="ctr"/>
          <a:lstStyle/>
          <a:p>
            <a:pPr marL="0" indent="0">
              <a:buNone/>
            </a:pPr>
            <a:endParaRPr lang="en-US" dirty="0"/>
          </a:p>
        </p:txBody>
      </p:sp>
      <p:sp>
        <p:nvSpPr>
          <p:cNvPr id="7" name="Text 5"/>
          <p:cNvSpPr/>
          <p:nvPr/>
        </p:nvSpPr>
        <p:spPr>
          <a:xfrm>
            <a:off x="406301" y="114300"/>
            <a:ext cx="823085" cy="114300"/>
          </a:xfrm>
          <a:prstGeom prst="rect">
            <a:avLst/>
          </a:prstGeom>
          <a:noFill/>
        </p:spPr>
        <p:txBody>
          <a:bodyPr wrap="square" lIns="0" tIns="0" rIns="0" bIns="0" rtlCol="0" anchor="t"/>
          <a:lstStyle/>
          <a:p>
            <a:pPr marL="0" indent="0" algn="l">
              <a:buNone/>
            </a:pPr>
            <a:r>
              <a:rPr lang="en-US" sz="800" b="1" dirty="0">
                <a:solidFill>
                  <a:srgbClr val="FFFFFF"/>
                </a:solidFill>
                <a:latin typeface="Arial" panose="020B0604020202090204" pitchFamily="34" charset="0"/>
                <a:ea typeface="Arial" panose="020B0604020202090204" pitchFamily="34" charset="-122"/>
                <a:cs typeface="Arial" panose="020B0604020202090204" pitchFamily="34" charset="-120"/>
              </a:rPr>
              <a:t>Proposal Quality</a:t>
            </a:r>
            <a:endParaRPr lang="en-US" sz="800" dirty="0"/>
          </a:p>
        </p:txBody>
      </p:sp>
      <p:sp>
        <p:nvSpPr>
          <p:cNvPr id="8" name="Text 6"/>
          <p:cNvSpPr/>
          <p:nvPr/>
        </p:nvSpPr>
        <p:spPr>
          <a:xfrm>
            <a:off x="304800" y="381000"/>
            <a:ext cx="7124649" cy="266700"/>
          </a:xfrm>
          <a:prstGeom prst="rect">
            <a:avLst/>
          </a:prstGeom>
          <a:noFill/>
        </p:spPr>
        <p:txBody>
          <a:bodyPr wrap="square" lIns="0" tIns="0" rIns="0" bIns="0" rtlCol="0" anchor="t"/>
          <a:lstStyle/>
          <a:p>
            <a:pPr marL="0" indent="0" algn="l">
              <a:buNone/>
            </a:pPr>
            <a:r>
              <a:rPr lang="en-US" sz="1800" b="1" dirty="0">
                <a:solidFill>
                  <a:srgbClr val="44546A"/>
                </a:solidFill>
                <a:latin typeface="Arial" panose="020B0604020202090204" pitchFamily="34" charset="0"/>
                <a:ea typeface="Arial" panose="020B0604020202090204" pitchFamily="34" charset="-122"/>
                <a:cs typeface="Arial" panose="020B0604020202090204" pitchFamily="34" charset="-120"/>
              </a:rPr>
              <a:t>R2: Proposal Quality Under AI Evaluation (Rephrased)</a:t>
            </a:r>
            <a:endParaRPr lang="en-US" sz="1800" dirty="0"/>
          </a:p>
        </p:txBody>
      </p:sp>
      <p:sp>
        <p:nvSpPr>
          <p:cNvPr id="9" name="Text 7"/>
          <p:cNvSpPr/>
          <p:nvPr/>
        </p:nvSpPr>
        <p:spPr>
          <a:xfrm>
            <a:off x="304800" y="673001"/>
            <a:ext cx="7124649" cy="142875"/>
          </a:xfrm>
          <a:prstGeom prst="rect">
            <a:avLst/>
          </a:prstGeom>
          <a:noFill/>
        </p:spPr>
        <p:txBody>
          <a:bodyPr wrap="square" lIns="0" tIns="0" rIns="0" bIns="0" rtlCol="0" anchor="t"/>
          <a:lstStyle/>
          <a:p>
            <a:pPr marL="0" indent="0" algn="l">
              <a:spcBef>
                <a:spcPts val="200"/>
              </a:spcBef>
              <a:buNone/>
            </a:pPr>
            <a:r>
              <a:rPr lang="en-US" sz="1000" dirty="0">
                <a:solidFill>
                  <a:srgbClr val="4472C4"/>
                </a:solidFill>
                <a:latin typeface="Arial" panose="020B0604020202090204" pitchFamily="34" charset="0"/>
                <a:ea typeface="Arial" panose="020B0604020202090204" pitchFamily="34" charset="-122"/>
                <a:cs typeface="Arial" panose="020B0604020202090204" pitchFamily="34" charset="-120"/>
              </a:rPr>
              <a:t>All AI evaluators pooled; 23 proposals per group; Mann-Whitney + Cliff's δ + bootstrap CI; BH-FDR correction</a:t>
            </a:r>
            <a:endParaRPr lang="en-US" sz="1000" dirty="0"/>
          </a:p>
        </p:txBody>
      </p:sp>
      <p:sp>
        <p:nvSpPr>
          <p:cNvPr id="10" name="Text 8"/>
          <p:cNvSpPr/>
          <p:nvPr/>
        </p:nvSpPr>
        <p:spPr>
          <a:xfrm>
            <a:off x="304800" y="812750"/>
            <a:ext cx="8534400" cy="25301"/>
          </a:xfrm>
          <a:prstGeom prst="rect">
            <a:avLst/>
          </a:prstGeom>
          <a:solidFill>
            <a:srgbClr val="4472C4"/>
          </a:solidFill>
        </p:spPr>
        <p:txBody>
          <a:bodyPr wrap="square" rtlCol="0" anchor="ctr"/>
          <a:lstStyle/>
          <a:p>
            <a:pPr marL="0" indent="0">
              <a:buNone/>
            </a:pPr>
            <a:endParaRPr lang="en-US" dirty="0"/>
          </a:p>
        </p:txBody>
      </p:sp>
      <p:sp>
        <p:nvSpPr>
          <p:cNvPr id="11" name="Text 9"/>
          <p:cNvSpPr/>
          <p:nvPr/>
        </p:nvSpPr>
        <p:spPr>
          <a:xfrm>
            <a:off x="4292501" y="914400"/>
            <a:ext cx="4546699" cy="774502"/>
          </a:xfrm>
          <a:prstGeom prst="roundRect">
            <a:avLst>
              <a:gd name="adj" fmla="val 8199"/>
            </a:avLst>
          </a:prstGeom>
          <a:solidFill>
            <a:srgbClr val="EEF2FA"/>
          </a:solidFill>
        </p:spPr>
        <p:txBody>
          <a:bodyPr wrap="square" rtlCol="0" anchor="ctr"/>
          <a:lstStyle/>
          <a:p>
            <a:pPr marL="0" indent="0">
              <a:buNone/>
            </a:pPr>
            <a:endParaRPr lang="en-US" dirty="0"/>
          </a:p>
        </p:txBody>
      </p:sp>
      <p:sp>
        <p:nvSpPr>
          <p:cNvPr id="12" name="Shape 10"/>
          <p:cNvSpPr/>
          <p:nvPr/>
        </p:nvSpPr>
        <p:spPr>
          <a:xfrm>
            <a:off x="4311551" y="914400"/>
            <a:ext cx="0" cy="774502"/>
          </a:xfrm>
          <a:prstGeom prst="line">
            <a:avLst/>
          </a:prstGeom>
          <a:noFill/>
          <a:ln w="38100">
            <a:solidFill>
              <a:srgbClr val="4472C4"/>
            </a:solidFill>
            <a:prstDash val="solid"/>
          </a:ln>
        </p:spPr>
      </p:sp>
      <p:sp>
        <p:nvSpPr>
          <p:cNvPr id="13" name="Text 11"/>
          <p:cNvSpPr/>
          <p:nvPr/>
        </p:nvSpPr>
        <p:spPr>
          <a:xfrm>
            <a:off x="4457551" y="1015901"/>
            <a:ext cx="4339792" cy="133350"/>
          </a:xfrm>
          <a:prstGeom prst="rect">
            <a:avLst/>
          </a:prstGeom>
          <a:noFill/>
        </p:spPr>
        <p:txBody>
          <a:bodyPr wrap="square" lIns="0" tIns="0" rIns="0" bIns="0" rtlCol="0" anchor="t"/>
          <a:lstStyle/>
          <a:p>
            <a:pPr marL="0" indent="0" algn="l">
              <a:spcAft>
                <a:spcPts val="300"/>
              </a:spcAft>
              <a:buNone/>
            </a:pPr>
            <a:r>
              <a:rPr lang="en-US" sz="950" b="1" dirty="0">
                <a:solidFill>
                  <a:srgbClr val="4472C4"/>
                </a:solidFill>
                <a:latin typeface="Arial" panose="020B0604020202090204" pitchFamily="34" charset="0"/>
                <a:ea typeface="Arial" panose="020B0604020202090204" pitchFamily="34" charset="-122"/>
                <a:cs typeface="Arial" panose="020B0604020202090204" pitchFamily="34" charset="-120"/>
              </a:rPr>
              <a:t>GPT-5.2 and Gemini score substantially higher than humans</a:t>
            </a:r>
            <a:endParaRPr lang="en-US" sz="950" dirty="0"/>
          </a:p>
        </p:txBody>
      </p:sp>
      <p:sp>
        <p:nvSpPr>
          <p:cNvPr id="14" name="Text 12"/>
          <p:cNvSpPr/>
          <p:nvPr/>
        </p:nvSpPr>
        <p:spPr>
          <a:xfrm>
            <a:off x="4457551" y="1187351"/>
            <a:ext cx="4339792" cy="40005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GPT-5.2 mean = 4.13 vs. Human 3.39 (δ = −0.72, q &lt; 0.001). Gemini = 3.94 (δ = −0.52, q &lt; 0.001). Claude = 3.96 (not significant). Bootstrap CI (human − GPT): −0.74 [−0.91, −0.57].</a:t>
            </a:r>
            <a:endParaRPr lang="en-US" sz="900" dirty="0"/>
          </a:p>
        </p:txBody>
      </p:sp>
      <p:sp>
        <p:nvSpPr>
          <p:cNvPr id="15" name="Text 13"/>
          <p:cNvSpPr/>
          <p:nvPr/>
        </p:nvSpPr>
        <p:spPr>
          <a:xfrm>
            <a:off x="4292501" y="1777752"/>
            <a:ext cx="4546699" cy="774502"/>
          </a:xfrm>
          <a:prstGeom prst="roundRect">
            <a:avLst>
              <a:gd name="adj" fmla="val 8199"/>
            </a:avLst>
          </a:prstGeom>
          <a:solidFill>
            <a:srgbClr val="FEF4EC"/>
          </a:solidFill>
        </p:spPr>
        <p:txBody>
          <a:bodyPr wrap="square" rtlCol="0" anchor="ctr"/>
          <a:lstStyle/>
          <a:p>
            <a:pPr marL="0" indent="0">
              <a:buNone/>
            </a:pPr>
            <a:endParaRPr lang="en-US" dirty="0"/>
          </a:p>
        </p:txBody>
      </p:sp>
      <p:sp>
        <p:nvSpPr>
          <p:cNvPr id="16" name="Shape 14"/>
          <p:cNvSpPr/>
          <p:nvPr/>
        </p:nvSpPr>
        <p:spPr>
          <a:xfrm>
            <a:off x="4311551" y="1777752"/>
            <a:ext cx="0" cy="774502"/>
          </a:xfrm>
          <a:prstGeom prst="line">
            <a:avLst/>
          </a:prstGeom>
          <a:noFill/>
          <a:ln w="38100">
            <a:solidFill>
              <a:srgbClr val="ED7D31"/>
            </a:solidFill>
            <a:prstDash val="solid"/>
          </a:ln>
        </p:spPr>
      </p:sp>
      <p:sp>
        <p:nvSpPr>
          <p:cNvPr id="17" name="Text 15"/>
          <p:cNvSpPr/>
          <p:nvPr/>
        </p:nvSpPr>
        <p:spPr>
          <a:xfrm>
            <a:off x="4457551" y="1879253"/>
            <a:ext cx="4339792" cy="133350"/>
          </a:xfrm>
          <a:prstGeom prst="rect">
            <a:avLst/>
          </a:prstGeom>
          <a:noFill/>
        </p:spPr>
        <p:txBody>
          <a:bodyPr wrap="square" lIns="0" tIns="0" rIns="0" bIns="0" rtlCol="0" anchor="t"/>
          <a:lstStyle/>
          <a:p>
            <a:pPr marL="0" indent="0" algn="l">
              <a:spcAft>
                <a:spcPts val="300"/>
              </a:spcAft>
              <a:buNone/>
            </a:pPr>
            <a:r>
              <a:rPr lang="en-US" sz="950" b="1" dirty="0">
                <a:solidFill>
                  <a:srgbClr val="C55A11"/>
                </a:solidFill>
                <a:latin typeface="Arial" panose="020B0604020202090204" pitchFamily="34" charset="0"/>
                <a:ea typeface="Arial" panose="020B0604020202090204" pitchFamily="34" charset="-122"/>
                <a:cs typeface="Arial" panose="020B0604020202090204" pitchFamily="34" charset="-120"/>
              </a:rPr>
              <a:t>Evaluator leniency differs substantially</a:t>
            </a:r>
            <a:endParaRPr lang="en-US" sz="950" dirty="0"/>
          </a:p>
        </p:txBody>
      </p:sp>
      <p:sp>
        <p:nvSpPr>
          <p:cNvPr id="18" name="Text 16"/>
          <p:cNvSpPr/>
          <p:nvPr/>
        </p:nvSpPr>
        <p:spPr>
          <a:xfrm>
            <a:off x="4457551" y="2050703"/>
            <a:ext cx="4339792" cy="40005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Kruskal-Wallis H = 122.46, p &lt; 2.6×10⁻²⁷. Gemini evaluator: mean = 4.32 (most lenient); GPT evaluator: mean = 3.67 (strictest). The 0.66-point spread is larger than the human-GPT author group difference.</a:t>
            </a:r>
            <a:endParaRPr lang="en-US" sz="900" dirty="0"/>
          </a:p>
        </p:txBody>
      </p:sp>
      <p:sp>
        <p:nvSpPr>
          <p:cNvPr id="20" name="Text 18"/>
          <p:cNvSpPr/>
          <p:nvPr/>
        </p:nvSpPr>
        <p:spPr>
          <a:xfrm>
            <a:off x="4292501" y="2850654"/>
            <a:ext cx="2222599" cy="939701"/>
          </a:xfrm>
          <a:prstGeom prst="roundRect">
            <a:avLst>
              <a:gd name="adj" fmla="val 6757"/>
            </a:avLst>
          </a:prstGeom>
          <a:solidFill>
            <a:srgbClr val="EEF2FA"/>
          </a:solidFill>
        </p:spPr>
        <p:txBody>
          <a:bodyPr wrap="square" rtlCol="0" anchor="ctr"/>
          <a:lstStyle/>
          <a:p>
            <a:pPr marL="0" indent="0">
              <a:buNone/>
            </a:pPr>
            <a:endParaRPr lang="en-US" dirty="0"/>
          </a:p>
        </p:txBody>
      </p:sp>
      <p:sp>
        <p:nvSpPr>
          <p:cNvPr id="21" name="Text 19"/>
          <p:cNvSpPr/>
          <p:nvPr/>
        </p:nvSpPr>
        <p:spPr>
          <a:xfrm>
            <a:off x="727611" y="4333329"/>
            <a:ext cx="2033879" cy="266700"/>
          </a:xfrm>
          <a:prstGeom prst="rect">
            <a:avLst/>
          </a:prstGeom>
          <a:noFill/>
        </p:spPr>
        <p:txBody>
          <a:bodyPr wrap="square" lIns="0" tIns="0" rIns="0" bIns="0" rtlCol="0" anchor="t"/>
          <a:lstStyle/>
          <a:p>
            <a:pPr marL="0" indent="0" algn="l">
              <a:spcAft>
                <a:spcPts val="300"/>
              </a:spcAft>
              <a:buNone/>
            </a:pPr>
            <a:r>
              <a:rPr lang="en-US" sz="900" b="1" dirty="0">
                <a:solidFill>
                  <a:srgbClr val="4472C4"/>
                </a:solidFill>
                <a:latin typeface="Arial" panose="020B0604020202090204" pitchFamily="34" charset="0"/>
                <a:ea typeface="Arial" panose="020B0604020202090204" pitchFamily="34" charset="-122"/>
                <a:cs typeface="Arial" panose="020B0604020202090204" pitchFamily="34" charset="-120"/>
              </a:rPr>
              <a:t>Cross-Evaluator Only (Self-removed)</a:t>
            </a:r>
            <a:endParaRPr lang="en-US" sz="900" dirty="0"/>
          </a:p>
        </p:txBody>
      </p:sp>
      <p:sp>
        <p:nvSpPr>
          <p:cNvPr id="22" name="Text 20"/>
          <p:cNvSpPr/>
          <p:nvPr/>
        </p:nvSpPr>
        <p:spPr>
          <a:xfrm>
            <a:off x="727710" y="4508500"/>
            <a:ext cx="3318510" cy="457200"/>
          </a:xfrm>
          <a:prstGeom prst="rect">
            <a:avLst/>
          </a:prstGeom>
          <a:noFill/>
        </p:spPr>
        <p:txBody>
          <a:bodyPr wrap="square" lIns="0" tIns="0" rIns="0" bIns="0" rtlCol="0" anchor="t"/>
          <a:lstStyle/>
          <a:p>
            <a:pPr marL="0" indent="0" algn="l">
              <a:buNone/>
            </a:pPr>
            <a:r>
              <a:rPr lang="en-US" sz="850" dirty="0">
                <a:solidFill>
                  <a:srgbClr val="444444"/>
                </a:solidFill>
                <a:latin typeface="Arial" panose="020B0604020202090204" pitchFamily="34" charset="0"/>
                <a:ea typeface="Arial" panose="020B0604020202090204" pitchFamily="34" charset="-122"/>
                <a:cs typeface="Arial" panose="020B0604020202090204" pitchFamily="34" charset="-120"/>
              </a:rPr>
              <a:t>GPT advantage remains (q &lt; 0.001, δ = −0.87). Gemini attenuates but persists (q = 0.032). Claude not significant. Human Y1 (3.31) ≈ Y2 (3.48).</a:t>
            </a:r>
            <a:endParaRPr lang="en-US" sz="850" dirty="0"/>
          </a:p>
        </p:txBody>
      </p:sp>
      <p:pic>
        <p:nvPicPr>
          <p:cNvPr id="26" name="Image 0" descr="/Users/eveyhuang/Documents/NICO/human-AI-proposal-comparison/results/figures/quality/quality_overall_boxplot_proposal_level.png"/>
          <p:cNvPicPr>
            <a:picLocks noChangeAspect="1"/>
          </p:cNvPicPr>
          <p:nvPr/>
        </p:nvPicPr>
        <p:blipFill>
          <a:blip r:embed="rId1"/>
          <a:stretch>
            <a:fillRect/>
          </a:stretch>
        </p:blipFill>
        <p:spPr>
          <a:xfrm>
            <a:off x="4457700" y="2640965"/>
            <a:ext cx="4304665" cy="2367280"/>
          </a:xfrm>
          <a:prstGeom prst="rect">
            <a:avLst/>
          </a:prstGeom>
        </p:spPr>
      </p:pic>
      <p:pic>
        <p:nvPicPr>
          <p:cNvPr id="28" name="Picture 27" descr="quality_radar_criteria_proposal_level_cross_eval_only"/>
          <p:cNvPicPr>
            <a:picLocks noChangeAspect="1"/>
          </p:cNvPicPr>
          <p:nvPr/>
        </p:nvPicPr>
        <p:blipFill>
          <a:blip r:embed="rId2"/>
          <a:stretch>
            <a:fillRect/>
          </a:stretch>
        </p:blipFill>
        <p:spPr>
          <a:xfrm>
            <a:off x="304800" y="911860"/>
            <a:ext cx="3896995" cy="329120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descr="quality_radar_criteria_proposal_level_cross_eval_only"/>
          <p:cNvPicPr>
            <a:picLocks noChangeAspect="1"/>
          </p:cNvPicPr>
          <p:nvPr/>
        </p:nvPicPr>
        <p:blipFill>
          <a:blip r:embed="rId1"/>
          <a:stretch>
            <a:fillRect/>
          </a:stretch>
        </p:blipFill>
        <p:spPr>
          <a:xfrm>
            <a:off x="4542790" y="1064260"/>
            <a:ext cx="4601210" cy="3886200"/>
          </a:xfrm>
          <a:prstGeom prst="rect">
            <a:avLst/>
          </a:prstGeom>
        </p:spPr>
      </p:pic>
      <p:pic>
        <p:nvPicPr>
          <p:cNvPr id="4" name="Picture 3" descr="star-graph-cross-evaluation"/>
          <p:cNvPicPr>
            <a:picLocks noChangeAspect="1"/>
          </p:cNvPicPr>
          <p:nvPr/>
        </p:nvPicPr>
        <p:blipFill>
          <a:blip r:embed="rId2"/>
          <a:stretch>
            <a:fillRect/>
          </a:stretch>
        </p:blipFill>
        <p:spPr>
          <a:xfrm>
            <a:off x="68580" y="1177925"/>
            <a:ext cx="4333240" cy="3658870"/>
          </a:xfrm>
          <a:prstGeom prst="rect">
            <a:avLst/>
          </a:prstGeom>
        </p:spPr>
      </p:pic>
      <p:sp>
        <p:nvSpPr>
          <p:cNvPr id="5" name="Text Box 4"/>
          <p:cNvSpPr txBox="1"/>
          <p:nvPr/>
        </p:nvSpPr>
        <p:spPr>
          <a:xfrm>
            <a:off x="1226185" y="485775"/>
            <a:ext cx="1367790" cy="368300"/>
          </a:xfrm>
          <a:prstGeom prst="rect">
            <a:avLst/>
          </a:prstGeom>
          <a:noFill/>
        </p:spPr>
        <p:txBody>
          <a:bodyPr wrap="square" rtlCol="0">
            <a:spAutoFit/>
          </a:bodyPr>
          <a:p>
            <a:r>
              <a:rPr lang="en-US">
                <a:highlight>
                  <a:srgbClr val="FFFF00"/>
                </a:highlight>
              </a:rPr>
              <a:t>BASELINE </a:t>
            </a:r>
            <a:endParaRPr lang="en-US">
              <a:highlight>
                <a:srgbClr val="FFFF00"/>
              </a:highlight>
            </a:endParaRPr>
          </a:p>
        </p:txBody>
      </p:sp>
      <p:sp>
        <p:nvSpPr>
          <p:cNvPr id="6" name="Text Box 5"/>
          <p:cNvSpPr txBox="1"/>
          <p:nvPr/>
        </p:nvSpPr>
        <p:spPr>
          <a:xfrm>
            <a:off x="5713730" y="129540"/>
            <a:ext cx="2569210" cy="645160"/>
          </a:xfrm>
          <a:prstGeom prst="rect">
            <a:avLst/>
          </a:prstGeom>
          <a:noFill/>
        </p:spPr>
        <p:txBody>
          <a:bodyPr wrap="square" rtlCol="0">
            <a:spAutoFit/>
          </a:bodyPr>
          <a:p>
            <a:r>
              <a:rPr lang="en-US">
                <a:highlight>
                  <a:srgbClr val="FFFF00"/>
                </a:highlight>
              </a:rPr>
              <a:t>AFTER rephrase (style control)</a:t>
            </a:r>
            <a:endParaRPr lang="en-US">
              <a:highlight>
                <a:srgbClr val="FFFF00"/>
              </a:high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quality_effectsize_heatmap_cross_eval_only"/>
          <p:cNvPicPr>
            <a:picLocks noChangeAspect="1"/>
          </p:cNvPicPr>
          <p:nvPr/>
        </p:nvPicPr>
        <p:blipFill>
          <a:blip r:embed="rId1"/>
          <a:stretch>
            <a:fillRect/>
          </a:stretch>
        </p:blipFill>
        <p:spPr>
          <a:xfrm>
            <a:off x="290830" y="201295"/>
            <a:ext cx="6804660" cy="461327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4472C4"/>
          </a:solidFill>
        </p:spPr>
        <p:txBody>
          <a:bodyPr wrap="square" rtlCol="0" anchor="ctr"/>
          <a:lstStyle/>
          <a:p>
            <a:pPr marL="0" indent="0">
              <a:buNone/>
            </a:pPr>
            <a:endParaRPr lang="en-US" dirty="0"/>
          </a:p>
        </p:txBody>
      </p:sp>
      <p:sp>
        <p:nvSpPr>
          <p:cNvPr id="3" name="Text 1"/>
          <p:cNvSpPr/>
          <p:nvPr/>
        </p:nvSpPr>
        <p:spPr>
          <a:xfrm>
            <a:off x="0" y="5067300"/>
            <a:ext cx="9144000" cy="76200"/>
          </a:xfrm>
          <a:prstGeom prst="rect">
            <a:avLst/>
          </a:prstGeom>
          <a:solidFill>
            <a:srgbClr val="44546A"/>
          </a:solidFill>
        </p:spPr>
        <p:txBody>
          <a:bodyPr wrap="square" rtlCol="0" anchor="ctr"/>
          <a:lstStyle/>
          <a:p>
            <a:pPr marL="0" indent="0">
              <a:buNone/>
            </a:pPr>
            <a:endParaRPr lang="en-US" dirty="0"/>
          </a:p>
        </p:txBody>
      </p:sp>
      <p:sp>
        <p:nvSpPr>
          <p:cNvPr id="4" name="Text 2"/>
          <p:cNvSpPr/>
          <p:nvPr/>
        </p:nvSpPr>
        <p:spPr>
          <a:xfrm>
            <a:off x="7112050" y="76200"/>
            <a:ext cx="2031950" cy="355550"/>
          </a:xfrm>
          <a:prstGeom prst="rect">
            <a:avLst/>
          </a:prstGeom>
          <a:solidFill>
            <a:srgbClr val="44546A"/>
          </a:solidFill>
        </p:spPr>
        <p:txBody>
          <a:bodyPr wrap="square" rtlCol="0" anchor="ctr"/>
          <a:lstStyle/>
          <a:p>
            <a:pPr marL="0" indent="0">
              <a:buNone/>
            </a:pPr>
            <a:endParaRPr lang="en-US" dirty="0"/>
          </a:p>
        </p:txBody>
      </p:sp>
      <p:sp>
        <p:nvSpPr>
          <p:cNvPr id="5" name="Text 3"/>
          <p:cNvSpPr/>
          <p:nvPr/>
        </p:nvSpPr>
        <p:spPr>
          <a:xfrm>
            <a:off x="7517309" y="187226"/>
            <a:ext cx="1245861" cy="133350"/>
          </a:xfrm>
          <a:prstGeom prst="rect">
            <a:avLst/>
          </a:prstGeom>
          <a:noFill/>
        </p:spPr>
        <p:txBody>
          <a:bodyPr wrap="square" lIns="0" tIns="0" rIns="0" bIns="0" rtlCol="0" anchor="t"/>
          <a:lstStyle/>
          <a:p>
            <a:pPr marL="0" indent="0" algn="l">
              <a:buNone/>
            </a:pPr>
            <a:r>
              <a:rPr lang="en-US" sz="900" b="1" dirty="0">
                <a:solidFill>
                  <a:srgbClr val="FFFFFF"/>
                </a:solidFill>
                <a:latin typeface="Arial" panose="020B0604020202090204" pitchFamily="34" charset="0"/>
                <a:ea typeface="Arial" panose="020B0604020202090204" pitchFamily="34" charset="-122"/>
                <a:cs typeface="Arial" panose="020B0604020202090204" pitchFamily="34" charset="-120"/>
              </a:rPr>
              <a:t>PART IV · QUALITY R3</a:t>
            </a:r>
            <a:endParaRPr lang="en-US" sz="900" dirty="0"/>
          </a:p>
        </p:txBody>
      </p:sp>
      <p:sp>
        <p:nvSpPr>
          <p:cNvPr id="6" name="Text 4"/>
          <p:cNvSpPr/>
          <p:nvPr/>
        </p:nvSpPr>
        <p:spPr>
          <a:xfrm>
            <a:off x="304800" y="76200"/>
            <a:ext cx="908447" cy="190500"/>
          </a:xfrm>
          <a:prstGeom prst="roundRect">
            <a:avLst>
              <a:gd name="adj" fmla="val 20000"/>
            </a:avLst>
          </a:prstGeom>
          <a:solidFill>
            <a:srgbClr val="44546A"/>
          </a:solidFill>
        </p:spPr>
        <p:txBody>
          <a:bodyPr wrap="square" rtlCol="0" anchor="ctr"/>
          <a:lstStyle/>
          <a:p>
            <a:pPr marL="0" indent="0">
              <a:buNone/>
            </a:pPr>
            <a:endParaRPr lang="en-US" dirty="0"/>
          </a:p>
        </p:txBody>
      </p:sp>
      <p:sp>
        <p:nvSpPr>
          <p:cNvPr id="7" name="Text 5"/>
          <p:cNvSpPr/>
          <p:nvPr/>
        </p:nvSpPr>
        <p:spPr>
          <a:xfrm>
            <a:off x="406301" y="114300"/>
            <a:ext cx="719554" cy="114300"/>
          </a:xfrm>
          <a:prstGeom prst="rect">
            <a:avLst/>
          </a:prstGeom>
          <a:noFill/>
        </p:spPr>
        <p:txBody>
          <a:bodyPr wrap="square" lIns="0" tIns="0" rIns="0" bIns="0" rtlCol="0" anchor="t"/>
          <a:lstStyle/>
          <a:p>
            <a:pPr marL="0" indent="0" algn="l">
              <a:buNone/>
            </a:pPr>
            <a:r>
              <a:rPr lang="en-US" sz="800" b="1" dirty="0">
                <a:solidFill>
                  <a:srgbClr val="FFFFFF"/>
                </a:solidFill>
                <a:latin typeface="Arial" panose="020B0604020202090204" pitchFamily="34" charset="0"/>
                <a:ea typeface="Arial" panose="020B0604020202090204" pitchFamily="34" charset="-122"/>
                <a:cs typeface="Arial" panose="020B0604020202090204" pitchFamily="34" charset="-120"/>
              </a:rPr>
              <a:t>Evaluator Bias</a:t>
            </a:r>
            <a:endParaRPr lang="en-US" sz="800" dirty="0"/>
          </a:p>
        </p:txBody>
      </p:sp>
      <p:sp>
        <p:nvSpPr>
          <p:cNvPr id="8" name="Text 6"/>
          <p:cNvSpPr/>
          <p:nvPr/>
        </p:nvSpPr>
        <p:spPr>
          <a:xfrm>
            <a:off x="304800" y="381000"/>
            <a:ext cx="7124649" cy="266700"/>
          </a:xfrm>
          <a:prstGeom prst="rect">
            <a:avLst/>
          </a:prstGeom>
          <a:noFill/>
        </p:spPr>
        <p:txBody>
          <a:bodyPr wrap="square" lIns="0" tIns="0" rIns="0" bIns="0" rtlCol="0" anchor="t"/>
          <a:lstStyle/>
          <a:p>
            <a:pPr marL="0" indent="0" algn="l">
              <a:buNone/>
            </a:pPr>
            <a:r>
              <a:rPr lang="en-US" sz="1800" b="1" dirty="0">
                <a:solidFill>
                  <a:srgbClr val="44546A"/>
                </a:solidFill>
                <a:latin typeface="Arial" panose="020B0604020202090204" pitchFamily="34" charset="0"/>
                <a:ea typeface="Arial" panose="020B0604020202090204" pitchFamily="34" charset="-122"/>
                <a:cs typeface="Arial" panose="020B0604020202090204" pitchFamily="34" charset="-120"/>
              </a:rPr>
              <a:t>R3: Self-Preference Bias in AI Evaluators</a:t>
            </a:r>
            <a:endParaRPr lang="en-US" sz="1800" dirty="0"/>
          </a:p>
        </p:txBody>
      </p:sp>
      <p:sp>
        <p:nvSpPr>
          <p:cNvPr id="9" name="Text 7"/>
          <p:cNvSpPr/>
          <p:nvPr/>
        </p:nvSpPr>
        <p:spPr>
          <a:xfrm>
            <a:off x="304800" y="673001"/>
            <a:ext cx="7124649" cy="142875"/>
          </a:xfrm>
          <a:prstGeom prst="rect">
            <a:avLst/>
          </a:prstGeom>
          <a:noFill/>
        </p:spPr>
        <p:txBody>
          <a:bodyPr wrap="square" lIns="0" tIns="0" rIns="0" bIns="0" rtlCol="0" anchor="t"/>
          <a:lstStyle/>
          <a:p>
            <a:pPr marL="0" indent="0" algn="l">
              <a:spcBef>
                <a:spcPts val="200"/>
              </a:spcBef>
              <a:buNone/>
            </a:pPr>
            <a:r>
              <a:rPr lang="en-US" sz="1000" dirty="0">
                <a:solidFill>
                  <a:srgbClr val="4472C4"/>
                </a:solidFill>
                <a:latin typeface="Arial" panose="020B0604020202090204" pitchFamily="34" charset="0"/>
                <a:ea typeface="Arial" panose="020B0604020202090204" pitchFamily="34" charset="-122"/>
                <a:cs typeface="Arial" panose="020B0604020202090204" pitchFamily="34" charset="-120"/>
              </a:rPr>
              <a:t>Comparing self vs. other scores; fixed-effects regression isolates bias net of proposal quality</a:t>
            </a:r>
            <a:endParaRPr lang="en-US" sz="1000" dirty="0"/>
          </a:p>
        </p:txBody>
      </p:sp>
      <p:sp>
        <p:nvSpPr>
          <p:cNvPr id="10" name="Text 8"/>
          <p:cNvSpPr/>
          <p:nvPr/>
        </p:nvSpPr>
        <p:spPr>
          <a:xfrm>
            <a:off x="304800" y="812750"/>
            <a:ext cx="8534400" cy="25301"/>
          </a:xfrm>
          <a:prstGeom prst="rect">
            <a:avLst/>
          </a:prstGeom>
          <a:solidFill>
            <a:srgbClr val="4472C4"/>
          </a:solidFill>
        </p:spPr>
        <p:txBody>
          <a:bodyPr wrap="square" rtlCol="0" anchor="ctr"/>
          <a:lstStyle/>
          <a:p>
            <a:pPr marL="0" indent="0">
              <a:buNone/>
            </a:pPr>
            <a:endParaRPr lang="en-US" dirty="0"/>
          </a:p>
        </p:txBody>
      </p:sp>
      <p:sp>
        <p:nvSpPr>
          <p:cNvPr id="11" name="Text 9"/>
          <p:cNvSpPr/>
          <p:nvPr/>
        </p:nvSpPr>
        <p:spPr>
          <a:xfrm>
            <a:off x="304800" y="3365302"/>
            <a:ext cx="1117550" cy="1111151"/>
          </a:xfrm>
          <a:prstGeom prst="roundRect">
            <a:avLst>
              <a:gd name="adj" fmla="val 6858"/>
            </a:avLst>
          </a:prstGeom>
          <a:solidFill>
            <a:srgbClr val="FFF4F4"/>
          </a:solidFill>
          <a:ln w="19050">
            <a:solidFill>
              <a:srgbClr val="C00000"/>
            </a:solidFill>
          </a:ln>
        </p:spPr>
        <p:txBody>
          <a:bodyPr wrap="square" rtlCol="0" anchor="ctr"/>
          <a:lstStyle/>
          <a:p>
            <a:pPr marL="0" indent="0">
              <a:buNone/>
            </a:pPr>
            <a:endParaRPr lang="en-US" dirty="0"/>
          </a:p>
        </p:txBody>
      </p:sp>
      <p:sp>
        <p:nvSpPr>
          <p:cNvPr id="12" name="Text 10"/>
          <p:cNvSpPr/>
          <p:nvPr/>
        </p:nvSpPr>
        <p:spPr>
          <a:xfrm>
            <a:off x="450800" y="3498652"/>
            <a:ext cx="842061" cy="133350"/>
          </a:xfrm>
          <a:prstGeom prst="rect">
            <a:avLst/>
          </a:prstGeom>
          <a:noFill/>
        </p:spPr>
        <p:txBody>
          <a:bodyPr wrap="square" lIns="0" tIns="0" rIns="0" bIns="0" rtlCol="0" anchor="t"/>
          <a:lstStyle/>
          <a:p>
            <a:pPr marL="0" indent="0" algn="l">
              <a:spcAft>
                <a:spcPts val="400"/>
              </a:spcAft>
              <a:buNone/>
            </a:pPr>
            <a:r>
              <a:rPr lang="en-US" sz="900" b="1" dirty="0">
                <a:solidFill>
                  <a:srgbClr val="C00000"/>
                </a:solidFill>
                <a:latin typeface="Arial" panose="020B0604020202090204" pitchFamily="34" charset="0"/>
                <a:ea typeface="Arial" panose="020B0604020202090204" pitchFamily="34" charset="-122"/>
                <a:cs typeface="Arial" panose="020B0604020202090204" pitchFamily="34" charset="-120"/>
              </a:rPr>
              <a:t>GPT-5.2</a:t>
            </a:r>
            <a:endParaRPr lang="en-US" sz="900" dirty="0"/>
          </a:p>
        </p:txBody>
      </p:sp>
      <p:sp>
        <p:nvSpPr>
          <p:cNvPr id="13" name="Text 11"/>
          <p:cNvSpPr/>
          <p:nvPr/>
        </p:nvSpPr>
        <p:spPr>
          <a:xfrm>
            <a:off x="450800" y="3682752"/>
            <a:ext cx="842061" cy="177850"/>
          </a:xfrm>
          <a:prstGeom prst="rect">
            <a:avLst/>
          </a:prstGeom>
          <a:noFill/>
        </p:spPr>
        <p:txBody>
          <a:bodyPr wrap="square" lIns="0" tIns="0" rIns="0" bIns="0" rtlCol="0" anchor="t"/>
          <a:lstStyle/>
          <a:p>
            <a:pPr marL="0" indent="0" algn="l">
              <a:lnSpc>
                <a:spcPts val="1400"/>
              </a:lnSpc>
              <a:spcAft>
                <a:spcPts val="200"/>
              </a:spcAft>
              <a:buNone/>
            </a:pPr>
            <a:r>
              <a:rPr lang="en-US" sz="1400" b="1" dirty="0">
                <a:solidFill>
                  <a:srgbClr val="C00000"/>
                </a:solidFill>
                <a:latin typeface="Arial" panose="020B0604020202090204" pitchFamily="34" charset="0"/>
                <a:ea typeface="Arial" panose="020B0604020202090204" pitchFamily="34" charset="-122"/>
                <a:cs typeface="Arial" panose="020B0604020202090204" pitchFamily="34" charset="-120"/>
              </a:rPr>
              <a:t>+0.45</a:t>
            </a:r>
            <a:endParaRPr lang="en-US" sz="1400" dirty="0"/>
          </a:p>
        </p:txBody>
      </p:sp>
      <p:sp>
        <p:nvSpPr>
          <p:cNvPr id="14" name="Text 12"/>
          <p:cNvSpPr/>
          <p:nvPr/>
        </p:nvSpPr>
        <p:spPr>
          <a:xfrm>
            <a:off x="450800" y="3885902"/>
            <a:ext cx="842061" cy="457200"/>
          </a:xfrm>
          <a:prstGeom prst="rect">
            <a:avLst/>
          </a:prstGeom>
          <a:noFill/>
        </p:spPr>
        <p:txBody>
          <a:bodyPr wrap="square" lIns="0" tIns="0" rIns="0" bIns="0" rtlCol="0" anchor="t"/>
          <a:lstStyle/>
          <a:p>
            <a:pPr marL="0" indent="0" algn="l">
              <a:buNone/>
            </a:pPr>
            <a:r>
              <a:rPr lang="en-US" sz="800" dirty="0">
                <a:solidFill>
                  <a:srgbClr val="555555"/>
                </a:solidFill>
                <a:latin typeface="Arial" panose="020B0604020202090204" pitchFamily="34" charset="0"/>
                <a:ea typeface="Arial" panose="020B0604020202090204" pitchFamily="34" charset="-122"/>
                <a:cs typeface="Arial" panose="020B0604020202090204" pitchFamily="34" charset="-120"/>
              </a:rPr>
              <a:t>Self-inflation (δ=+0.45, q=0.005). Self: 3.88, Other: 3.75.</a:t>
            </a:r>
            <a:endParaRPr lang="en-US" sz="800" dirty="0"/>
          </a:p>
        </p:txBody>
      </p:sp>
      <p:sp>
        <p:nvSpPr>
          <p:cNvPr id="15" name="Text 13"/>
          <p:cNvSpPr/>
          <p:nvPr/>
        </p:nvSpPr>
        <p:spPr>
          <a:xfrm>
            <a:off x="1523851" y="3365302"/>
            <a:ext cx="1117699" cy="1111151"/>
          </a:xfrm>
          <a:prstGeom prst="roundRect">
            <a:avLst>
              <a:gd name="adj" fmla="val 6858"/>
            </a:avLst>
          </a:prstGeom>
          <a:solidFill>
            <a:srgbClr val="FFFBE6"/>
          </a:solidFill>
          <a:ln w="19050">
            <a:solidFill>
              <a:srgbClr val="FFC000"/>
            </a:solidFill>
          </a:ln>
        </p:spPr>
        <p:txBody>
          <a:bodyPr wrap="square" rtlCol="0" anchor="ctr"/>
          <a:lstStyle/>
          <a:p>
            <a:pPr marL="0" indent="0">
              <a:buNone/>
            </a:pPr>
            <a:endParaRPr lang="en-US" dirty="0"/>
          </a:p>
        </p:txBody>
      </p:sp>
      <p:sp>
        <p:nvSpPr>
          <p:cNvPr id="16" name="Text 14"/>
          <p:cNvSpPr/>
          <p:nvPr/>
        </p:nvSpPr>
        <p:spPr>
          <a:xfrm>
            <a:off x="1669852" y="3498652"/>
            <a:ext cx="842212" cy="133350"/>
          </a:xfrm>
          <a:prstGeom prst="rect">
            <a:avLst/>
          </a:prstGeom>
          <a:noFill/>
        </p:spPr>
        <p:txBody>
          <a:bodyPr wrap="square" lIns="0" tIns="0" rIns="0" bIns="0" rtlCol="0" anchor="t"/>
          <a:lstStyle/>
          <a:p>
            <a:pPr marL="0" indent="0" algn="l">
              <a:spcAft>
                <a:spcPts val="400"/>
              </a:spcAft>
              <a:buNone/>
            </a:pPr>
            <a:r>
              <a:rPr lang="en-US" sz="900" b="1" dirty="0">
                <a:solidFill>
                  <a:srgbClr val="B8860B"/>
                </a:solidFill>
                <a:latin typeface="Arial" panose="020B0604020202090204" pitchFamily="34" charset="0"/>
                <a:ea typeface="Arial" panose="020B0604020202090204" pitchFamily="34" charset="-122"/>
                <a:cs typeface="Arial" panose="020B0604020202090204" pitchFamily="34" charset="-120"/>
              </a:rPr>
              <a:t>Gemini</a:t>
            </a:r>
            <a:endParaRPr lang="en-US" sz="900" dirty="0"/>
          </a:p>
        </p:txBody>
      </p:sp>
      <p:sp>
        <p:nvSpPr>
          <p:cNvPr id="17" name="Text 15"/>
          <p:cNvSpPr/>
          <p:nvPr/>
        </p:nvSpPr>
        <p:spPr>
          <a:xfrm>
            <a:off x="1669852" y="3682752"/>
            <a:ext cx="842212" cy="177850"/>
          </a:xfrm>
          <a:prstGeom prst="rect">
            <a:avLst/>
          </a:prstGeom>
          <a:noFill/>
        </p:spPr>
        <p:txBody>
          <a:bodyPr wrap="square" lIns="0" tIns="0" rIns="0" bIns="0" rtlCol="0" anchor="t"/>
          <a:lstStyle/>
          <a:p>
            <a:pPr marL="0" indent="0" algn="l">
              <a:lnSpc>
                <a:spcPts val="1400"/>
              </a:lnSpc>
              <a:spcAft>
                <a:spcPts val="200"/>
              </a:spcAft>
              <a:buNone/>
            </a:pPr>
            <a:r>
              <a:rPr lang="en-US" sz="1400" b="1" dirty="0">
                <a:solidFill>
                  <a:srgbClr val="B8860B"/>
                </a:solidFill>
                <a:latin typeface="Arial" panose="020B0604020202090204" pitchFamily="34" charset="0"/>
                <a:ea typeface="Arial" panose="020B0604020202090204" pitchFamily="34" charset="-122"/>
                <a:cs typeface="Arial" panose="020B0604020202090204" pitchFamily="34" charset="-120"/>
              </a:rPr>
              <a:t>~0</a:t>
            </a:r>
            <a:endParaRPr lang="en-US" sz="1400" dirty="0"/>
          </a:p>
        </p:txBody>
      </p:sp>
      <p:sp>
        <p:nvSpPr>
          <p:cNvPr id="18" name="Text 16"/>
          <p:cNvSpPr/>
          <p:nvPr/>
        </p:nvSpPr>
        <p:spPr>
          <a:xfrm>
            <a:off x="1669852" y="3885902"/>
            <a:ext cx="842212" cy="342900"/>
          </a:xfrm>
          <a:prstGeom prst="rect">
            <a:avLst/>
          </a:prstGeom>
          <a:noFill/>
        </p:spPr>
        <p:txBody>
          <a:bodyPr wrap="square" lIns="0" tIns="0" rIns="0" bIns="0" rtlCol="0" anchor="t"/>
          <a:lstStyle/>
          <a:p>
            <a:pPr marL="0" indent="0" algn="l">
              <a:buNone/>
            </a:pPr>
            <a:r>
              <a:rPr lang="en-US" sz="800" dirty="0">
                <a:solidFill>
                  <a:srgbClr val="555555"/>
                </a:solidFill>
                <a:latin typeface="Arial" panose="020B0604020202090204" pitchFamily="34" charset="0"/>
                <a:ea typeface="Arial" panose="020B0604020202090204" pitchFamily="34" charset="-122"/>
                <a:cs typeface="Arial" panose="020B0604020202090204" pitchFamily="34" charset="-120"/>
              </a:rPr>
              <a:t>No significant self-preference (q=0.108).</a:t>
            </a:r>
            <a:endParaRPr lang="en-US" sz="800" dirty="0"/>
          </a:p>
        </p:txBody>
      </p:sp>
      <p:sp>
        <p:nvSpPr>
          <p:cNvPr id="19" name="Text 17"/>
          <p:cNvSpPr/>
          <p:nvPr/>
        </p:nvSpPr>
        <p:spPr>
          <a:xfrm>
            <a:off x="2743051" y="3365302"/>
            <a:ext cx="1117699" cy="1111151"/>
          </a:xfrm>
          <a:prstGeom prst="roundRect">
            <a:avLst>
              <a:gd name="adj" fmla="val 6858"/>
            </a:avLst>
          </a:prstGeom>
          <a:solidFill>
            <a:srgbClr val="EEF2FA"/>
          </a:solidFill>
          <a:ln w="19050">
            <a:solidFill>
              <a:srgbClr val="4472C4"/>
            </a:solidFill>
          </a:ln>
        </p:spPr>
        <p:txBody>
          <a:bodyPr wrap="square" rtlCol="0" anchor="ctr"/>
          <a:lstStyle/>
          <a:p>
            <a:pPr marL="0" indent="0">
              <a:buNone/>
            </a:pPr>
            <a:endParaRPr lang="en-US" dirty="0"/>
          </a:p>
        </p:txBody>
      </p:sp>
      <p:sp>
        <p:nvSpPr>
          <p:cNvPr id="20" name="Text 18"/>
          <p:cNvSpPr/>
          <p:nvPr/>
        </p:nvSpPr>
        <p:spPr>
          <a:xfrm>
            <a:off x="2889052" y="3498652"/>
            <a:ext cx="842212" cy="133350"/>
          </a:xfrm>
          <a:prstGeom prst="rect">
            <a:avLst/>
          </a:prstGeom>
          <a:noFill/>
        </p:spPr>
        <p:txBody>
          <a:bodyPr wrap="square" lIns="0" tIns="0" rIns="0" bIns="0" rtlCol="0" anchor="t"/>
          <a:lstStyle/>
          <a:p>
            <a:pPr marL="0" indent="0" algn="l">
              <a:spcAft>
                <a:spcPts val="400"/>
              </a:spcAft>
              <a:buNone/>
            </a:pPr>
            <a:r>
              <a:rPr lang="en-US" sz="900" b="1" dirty="0">
                <a:solidFill>
                  <a:srgbClr val="4472C4"/>
                </a:solidFill>
                <a:latin typeface="Arial" panose="020B0604020202090204" pitchFamily="34" charset="0"/>
                <a:ea typeface="Arial" panose="020B0604020202090204" pitchFamily="34" charset="-122"/>
                <a:cs typeface="Arial" panose="020B0604020202090204" pitchFamily="34" charset="-120"/>
              </a:rPr>
              <a:t>Claude</a:t>
            </a:r>
            <a:endParaRPr lang="en-US" sz="900" dirty="0"/>
          </a:p>
        </p:txBody>
      </p:sp>
      <p:sp>
        <p:nvSpPr>
          <p:cNvPr id="21" name="Text 19"/>
          <p:cNvSpPr/>
          <p:nvPr/>
        </p:nvSpPr>
        <p:spPr>
          <a:xfrm>
            <a:off x="2889052" y="3682752"/>
            <a:ext cx="842212" cy="177850"/>
          </a:xfrm>
          <a:prstGeom prst="rect">
            <a:avLst/>
          </a:prstGeom>
          <a:noFill/>
        </p:spPr>
        <p:txBody>
          <a:bodyPr wrap="square" lIns="0" tIns="0" rIns="0" bIns="0" rtlCol="0" anchor="t"/>
          <a:lstStyle/>
          <a:p>
            <a:pPr marL="0" indent="0" algn="l">
              <a:lnSpc>
                <a:spcPts val="1400"/>
              </a:lnSpc>
              <a:spcAft>
                <a:spcPts val="200"/>
              </a:spcAft>
              <a:buNone/>
            </a:pPr>
            <a:r>
              <a:rPr lang="en-US" sz="1400" b="1" dirty="0">
                <a:solidFill>
                  <a:srgbClr val="4472C4"/>
                </a:solidFill>
                <a:latin typeface="Arial" panose="020B0604020202090204" pitchFamily="34" charset="0"/>
                <a:ea typeface="Arial" panose="020B0604020202090204" pitchFamily="34" charset="-122"/>
                <a:cs typeface="Arial" panose="020B0604020202090204" pitchFamily="34" charset="-120"/>
              </a:rPr>
              <a:t>−0.18</a:t>
            </a:r>
            <a:endParaRPr lang="en-US" sz="1400" dirty="0"/>
          </a:p>
        </p:txBody>
      </p:sp>
      <p:sp>
        <p:nvSpPr>
          <p:cNvPr id="22" name="Text 20"/>
          <p:cNvSpPr/>
          <p:nvPr/>
        </p:nvSpPr>
        <p:spPr>
          <a:xfrm>
            <a:off x="2889052" y="3885902"/>
            <a:ext cx="842212" cy="457200"/>
          </a:xfrm>
          <a:prstGeom prst="rect">
            <a:avLst/>
          </a:prstGeom>
          <a:noFill/>
        </p:spPr>
        <p:txBody>
          <a:bodyPr wrap="square" lIns="0" tIns="0" rIns="0" bIns="0" rtlCol="0" anchor="t"/>
          <a:lstStyle/>
          <a:p>
            <a:pPr marL="0" indent="0" algn="l">
              <a:buNone/>
            </a:pPr>
            <a:r>
              <a:rPr lang="en-US" sz="800" dirty="0">
                <a:solidFill>
                  <a:srgbClr val="555555"/>
                </a:solidFill>
                <a:latin typeface="Arial" panose="020B0604020202090204" pitchFamily="34" charset="0"/>
                <a:ea typeface="Arial" panose="020B0604020202090204" pitchFamily="34" charset="-122"/>
                <a:cs typeface="Arial" panose="020B0604020202090204" pitchFamily="34" charset="-120"/>
              </a:rPr>
              <a:t>Slight self-deprecation (q=0.208, ns overall).</a:t>
            </a:r>
            <a:endParaRPr lang="en-US" sz="800" dirty="0"/>
          </a:p>
        </p:txBody>
      </p:sp>
      <p:sp>
        <p:nvSpPr>
          <p:cNvPr id="23" name="Text 21"/>
          <p:cNvSpPr/>
          <p:nvPr/>
        </p:nvSpPr>
        <p:spPr>
          <a:xfrm>
            <a:off x="4038451" y="914400"/>
            <a:ext cx="4800749" cy="907852"/>
          </a:xfrm>
          <a:prstGeom prst="roundRect">
            <a:avLst>
              <a:gd name="adj" fmla="val 6995"/>
            </a:avLst>
          </a:prstGeom>
          <a:solidFill>
            <a:srgbClr val="FFF4F4"/>
          </a:solidFill>
        </p:spPr>
        <p:txBody>
          <a:bodyPr wrap="square" rtlCol="0" anchor="ctr"/>
          <a:lstStyle/>
          <a:p>
            <a:pPr marL="0" indent="0">
              <a:buNone/>
            </a:pPr>
            <a:endParaRPr lang="en-US" dirty="0"/>
          </a:p>
        </p:txBody>
      </p:sp>
      <p:sp>
        <p:nvSpPr>
          <p:cNvPr id="24" name="Shape 22"/>
          <p:cNvSpPr/>
          <p:nvPr/>
        </p:nvSpPr>
        <p:spPr>
          <a:xfrm>
            <a:off x="4057501" y="914400"/>
            <a:ext cx="0" cy="907852"/>
          </a:xfrm>
          <a:prstGeom prst="line">
            <a:avLst/>
          </a:prstGeom>
          <a:noFill/>
          <a:ln w="38100">
            <a:solidFill>
              <a:srgbClr val="C00000"/>
            </a:solidFill>
            <a:prstDash val="solid"/>
          </a:ln>
        </p:spPr>
      </p:sp>
      <p:sp>
        <p:nvSpPr>
          <p:cNvPr id="25" name="Text 23"/>
          <p:cNvSpPr/>
          <p:nvPr/>
        </p:nvSpPr>
        <p:spPr>
          <a:xfrm>
            <a:off x="4203502" y="1015901"/>
            <a:ext cx="4598923" cy="133350"/>
          </a:xfrm>
          <a:prstGeom prst="rect">
            <a:avLst/>
          </a:prstGeom>
          <a:noFill/>
        </p:spPr>
        <p:txBody>
          <a:bodyPr wrap="square" lIns="0" tIns="0" rIns="0" bIns="0" rtlCol="0" anchor="t"/>
          <a:lstStyle/>
          <a:p>
            <a:pPr marL="0" indent="0" algn="l">
              <a:spcAft>
                <a:spcPts val="300"/>
              </a:spcAft>
              <a:buNone/>
            </a:pPr>
            <a:r>
              <a:rPr lang="en-US" sz="950" b="1" dirty="0">
                <a:solidFill>
                  <a:srgbClr val="C00000"/>
                </a:solidFill>
                <a:latin typeface="Arial" panose="020B0604020202090204" pitchFamily="34" charset="0"/>
                <a:ea typeface="Arial" panose="020B0604020202090204" pitchFamily="34" charset="-122"/>
                <a:cs typeface="Arial" panose="020B0604020202090204" pitchFamily="34" charset="-120"/>
              </a:rPr>
              <a:t>GPT self-inflates, especially on Relevance and Novelty</a:t>
            </a:r>
            <a:endParaRPr lang="en-US" sz="950" dirty="0"/>
          </a:p>
        </p:txBody>
      </p:sp>
      <p:sp>
        <p:nvSpPr>
          <p:cNvPr id="26" name="Text 24"/>
          <p:cNvSpPr/>
          <p:nvPr/>
        </p:nvSpPr>
        <p:spPr>
          <a:xfrm>
            <a:off x="4203502" y="1187351"/>
            <a:ext cx="4598923" cy="53340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Criterion-level tests: GPT shows significant self-preference on Relevance to Emergent Phenomena (q &lt; 0.001) and Novelty &amp; Significance (q = 0.014). Fixed-effects regression confirms: net self-preference = +0.33 points after controlling for proposal quality and evaluator severity.</a:t>
            </a:r>
            <a:endParaRPr lang="en-US" sz="900" dirty="0"/>
          </a:p>
        </p:txBody>
      </p:sp>
      <p:sp>
        <p:nvSpPr>
          <p:cNvPr id="27" name="Text 25"/>
          <p:cNvSpPr/>
          <p:nvPr/>
        </p:nvSpPr>
        <p:spPr>
          <a:xfrm>
            <a:off x="4038451" y="1911102"/>
            <a:ext cx="4800749" cy="907852"/>
          </a:xfrm>
          <a:prstGeom prst="roundRect">
            <a:avLst>
              <a:gd name="adj" fmla="val 6995"/>
            </a:avLst>
          </a:prstGeom>
          <a:solidFill>
            <a:srgbClr val="EEF2FA"/>
          </a:solidFill>
        </p:spPr>
        <p:txBody>
          <a:bodyPr wrap="square" rtlCol="0" anchor="ctr"/>
          <a:lstStyle/>
          <a:p>
            <a:pPr marL="0" indent="0">
              <a:buNone/>
            </a:pPr>
            <a:endParaRPr lang="en-US" dirty="0"/>
          </a:p>
        </p:txBody>
      </p:sp>
      <p:sp>
        <p:nvSpPr>
          <p:cNvPr id="28" name="Shape 26"/>
          <p:cNvSpPr/>
          <p:nvPr/>
        </p:nvSpPr>
        <p:spPr>
          <a:xfrm>
            <a:off x="4057501" y="1911102"/>
            <a:ext cx="0" cy="907852"/>
          </a:xfrm>
          <a:prstGeom prst="line">
            <a:avLst/>
          </a:prstGeom>
          <a:noFill/>
          <a:ln w="38100">
            <a:solidFill>
              <a:srgbClr val="4472C4"/>
            </a:solidFill>
            <a:prstDash val="solid"/>
          </a:ln>
        </p:spPr>
      </p:sp>
      <p:sp>
        <p:nvSpPr>
          <p:cNvPr id="29" name="Text 27"/>
          <p:cNvSpPr/>
          <p:nvPr/>
        </p:nvSpPr>
        <p:spPr>
          <a:xfrm>
            <a:off x="4203502" y="2012603"/>
            <a:ext cx="4598923" cy="133350"/>
          </a:xfrm>
          <a:prstGeom prst="rect">
            <a:avLst/>
          </a:prstGeom>
          <a:noFill/>
        </p:spPr>
        <p:txBody>
          <a:bodyPr wrap="square" lIns="0" tIns="0" rIns="0" bIns="0" rtlCol="0" anchor="t"/>
          <a:lstStyle/>
          <a:p>
            <a:pPr marL="0" indent="0" algn="l">
              <a:spcAft>
                <a:spcPts val="300"/>
              </a:spcAft>
              <a:buNone/>
            </a:pPr>
            <a:r>
              <a:rPr lang="en-US" sz="950" b="1" dirty="0">
                <a:solidFill>
                  <a:srgbClr val="4472C4"/>
                </a:solidFill>
                <a:latin typeface="Arial" panose="020B0604020202090204" pitchFamily="34" charset="0"/>
                <a:ea typeface="Arial" panose="020B0604020202090204" pitchFamily="34" charset="-122"/>
                <a:cs typeface="Arial" panose="020B0604020202090204" pitchFamily="34" charset="-120"/>
              </a:rPr>
              <a:t>Self-preference is not explained by proposal quality</a:t>
            </a:r>
            <a:endParaRPr lang="en-US" sz="950" dirty="0"/>
          </a:p>
        </p:txBody>
      </p:sp>
      <p:sp>
        <p:nvSpPr>
          <p:cNvPr id="30" name="Text 28"/>
          <p:cNvSpPr/>
          <p:nvPr/>
        </p:nvSpPr>
        <p:spPr>
          <a:xfrm>
            <a:off x="4203502" y="2184053"/>
            <a:ext cx="4598923" cy="53340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Fixed-effects model with proposal fixed effects absorbs all between-proposal quality variation. GPT bias persists: it is a real evaluator bias, not a proxy for GPT proposals being objectively better. Evaluator severity: Gemini +0.40 above Claude baseline; GPT −0.20 below.</a:t>
            </a:r>
            <a:endParaRPr lang="en-US" sz="900" dirty="0"/>
          </a:p>
        </p:txBody>
      </p:sp>
      <p:sp>
        <p:nvSpPr>
          <p:cNvPr id="31" name="Text 29"/>
          <p:cNvSpPr/>
          <p:nvPr/>
        </p:nvSpPr>
        <p:spPr>
          <a:xfrm>
            <a:off x="4038451" y="2907804"/>
            <a:ext cx="4800749" cy="920502"/>
          </a:xfrm>
          <a:prstGeom prst="roundRect">
            <a:avLst>
              <a:gd name="adj" fmla="val 6898"/>
            </a:avLst>
          </a:prstGeom>
          <a:solidFill>
            <a:srgbClr val="EEF6E8"/>
          </a:solidFill>
        </p:spPr>
        <p:txBody>
          <a:bodyPr wrap="square" rtlCol="0" anchor="ctr"/>
          <a:lstStyle/>
          <a:p>
            <a:pPr marL="0" indent="0">
              <a:buNone/>
            </a:pPr>
            <a:endParaRPr lang="en-US" dirty="0"/>
          </a:p>
        </p:txBody>
      </p:sp>
      <p:sp>
        <p:nvSpPr>
          <p:cNvPr id="32" name="Text 30"/>
          <p:cNvSpPr/>
          <p:nvPr/>
        </p:nvSpPr>
        <p:spPr>
          <a:xfrm>
            <a:off x="4165402" y="3009305"/>
            <a:ext cx="4637785" cy="133350"/>
          </a:xfrm>
          <a:prstGeom prst="rect">
            <a:avLst/>
          </a:prstGeom>
          <a:noFill/>
        </p:spPr>
        <p:txBody>
          <a:bodyPr wrap="square" lIns="0" tIns="0" rIns="0" bIns="0" rtlCol="0" anchor="t"/>
          <a:lstStyle/>
          <a:p>
            <a:pPr marL="0" indent="0" algn="l">
              <a:spcAft>
                <a:spcPts val="400"/>
              </a:spcAft>
              <a:buNone/>
            </a:pPr>
            <a:r>
              <a:rPr lang="en-US" sz="950" b="1" dirty="0">
                <a:solidFill>
                  <a:srgbClr val="385C1F"/>
                </a:solidFill>
                <a:latin typeface="Arial" panose="020B0604020202090204" pitchFamily="34" charset="0"/>
                <a:ea typeface="Arial" panose="020B0604020202090204" pitchFamily="34" charset="-122"/>
                <a:cs typeface="Arial" panose="020B0604020202090204" pitchFamily="34" charset="-120"/>
              </a:rPr>
              <a:t>R1: AI Review Proxy Validity</a:t>
            </a:r>
            <a:endParaRPr lang="en-US" sz="950" dirty="0"/>
          </a:p>
        </p:txBody>
      </p:sp>
      <p:sp>
        <p:nvSpPr>
          <p:cNvPr id="33" name="Text 31"/>
          <p:cNvSpPr/>
          <p:nvPr/>
        </p:nvSpPr>
        <p:spPr>
          <a:xfrm>
            <a:off x="4165402" y="3193405"/>
            <a:ext cx="4637785" cy="53340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7 Y1 proposals matched. Human-AI cosine similarity: not significantly lower than human-human (p=0.21). AI-AI similarity significantly higher than human-human (δ=+0.58, p=0.016) — AI reviewers converge more tightly with each other than human experts do. Basic proxy validity holds; AI panels lack human critique diversity.</a:t>
            </a:r>
            <a:endParaRPr lang="en-US" sz="900" dirty="0"/>
          </a:p>
        </p:txBody>
      </p:sp>
      <p:pic>
        <p:nvPicPr>
          <p:cNvPr id="34" name="Image 0" descr="/Users/eveyhuang/Documents/NICO/human-AI-proposal-comparison/results/figures/quality/self_pref_strip_overall.png"/>
          <p:cNvPicPr>
            <a:picLocks noChangeAspect="1"/>
          </p:cNvPicPr>
          <p:nvPr/>
        </p:nvPicPr>
        <p:blipFill>
          <a:blip r:embed="rId1"/>
          <a:stretch>
            <a:fillRect/>
          </a:stretch>
        </p:blipFill>
        <p:spPr>
          <a:xfrm>
            <a:off x="304800" y="914400"/>
            <a:ext cx="3555950" cy="2349401"/>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4472C4"/>
          </a:solidFill>
        </p:spPr>
        <p:txBody>
          <a:bodyPr wrap="square" rtlCol="0" anchor="ctr"/>
          <a:lstStyle/>
          <a:p>
            <a:pPr marL="0" indent="0">
              <a:buNone/>
            </a:pPr>
            <a:endParaRPr lang="en-US" dirty="0"/>
          </a:p>
        </p:txBody>
      </p:sp>
      <p:sp>
        <p:nvSpPr>
          <p:cNvPr id="3" name="Text 1"/>
          <p:cNvSpPr/>
          <p:nvPr/>
        </p:nvSpPr>
        <p:spPr>
          <a:xfrm>
            <a:off x="0" y="5067300"/>
            <a:ext cx="9144000" cy="76200"/>
          </a:xfrm>
          <a:prstGeom prst="rect">
            <a:avLst/>
          </a:prstGeom>
          <a:solidFill>
            <a:srgbClr val="44546A"/>
          </a:solidFill>
        </p:spPr>
        <p:txBody>
          <a:bodyPr wrap="square" rtlCol="0" anchor="ctr"/>
          <a:lstStyle/>
          <a:p>
            <a:pPr marL="0" indent="0">
              <a:buNone/>
            </a:pPr>
            <a:endParaRPr lang="en-US" dirty="0"/>
          </a:p>
        </p:txBody>
      </p:sp>
      <p:sp>
        <p:nvSpPr>
          <p:cNvPr id="4" name="Text 2"/>
          <p:cNvSpPr/>
          <p:nvPr/>
        </p:nvSpPr>
        <p:spPr>
          <a:xfrm>
            <a:off x="7620000" y="76200"/>
            <a:ext cx="1524000" cy="355550"/>
          </a:xfrm>
          <a:prstGeom prst="rect">
            <a:avLst/>
          </a:prstGeom>
          <a:solidFill>
            <a:srgbClr val="4472C4"/>
          </a:solidFill>
        </p:spPr>
        <p:txBody>
          <a:bodyPr wrap="square" rtlCol="0" anchor="ctr"/>
          <a:lstStyle/>
          <a:p>
            <a:pPr marL="0" indent="0">
              <a:buNone/>
            </a:pPr>
            <a:endParaRPr lang="en-US" dirty="0"/>
          </a:p>
        </p:txBody>
      </p:sp>
      <p:sp>
        <p:nvSpPr>
          <p:cNvPr id="5" name="Text 3"/>
          <p:cNvSpPr/>
          <p:nvPr/>
        </p:nvSpPr>
        <p:spPr>
          <a:xfrm>
            <a:off x="7959626" y="187226"/>
            <a:ext cx="861492" cy="133350"/>
          </a:xfrm>
          <a:prstGeom prst="rect">
            <a:avLst/>
          </a:prstGeom>
          <a:noFill/>
        </p:spPr>
        <p:txBody>
          <a:bodyPr wrap="square" lIns="0" tIns="0" rIns="0" bIns="0" rtlCol="0" anchor="t"/>
          <a:lstStyle/>
          <a:p>
            <a:pPr marL="0" indent="0" algn="l">
              <a:buNone/>
            </a:pPr>
            <a:r>
              <a:rPr lang="en-US" sz="900" b="1" dirty="0">
                <a:solidFill>
                  <a:srgbClr val="FFFFFF"/>
                </a:solidFill>
                <a:latin typeface="Arial" panose="020B0604020202090204" pitchFamily="34" charset="0"/>
                <a:ea typeface="Arial" panose="020B0604020202090204" pitchFamily="34" charset="-122"/>
                <a:cs typeface="Arial" panose="020B0604020202090204" pitchFamily="34" charset="-120"/>
              </a:rPr>
              <a:t>CONCLUSIONS</a:t>
            </a:r>
            <a:endParaRPr lang="en-US" sz="900" dirty="0"/>
          </a:p>
        </p:txBody>
      </p:sp>
      <p:sp>
        <p:nvSpPr>
          <p:cNvPr id="6" name="Text 4"/>
          <p:cNvSpPr/>
          <p:nvPr/>
        </p:nvSpPr>
        <p:spPr>
          <a:xfrm>
            <a:off x="304800" y="177701"/>
            <a:ext cx="7124649" cy="295275"/>
          </a:xfrm>
          <a:prstGeom prst="rect">
            <a:avLst/>
          </a:prstGeom>
          <a:noFill/>
        </p:spPr>
        <p:txBody>
          <a:bodyPr wrap="square" lIns="0" tIns="0" rIns="0" bIns="0" rtlCol="0" anchor="t"/>
          <a:lstStyle/>
          <a:p>
            <a:pPr marL="0" indent="0" algn="l">
              <a:buNone/>
            </a:pPr>
            <a:r>
              <a:rPr lang="en-US" sz="2000" b="1" dirty="0">
                <a:solidFill>
                  <a:srgbClr val="44546A"/>
                </a:solidFill>
                <a:latin typeface="Arial" panose="020B0604020202090204" pitchFamily="34" charset="0"/>
                <a:ea typeface="Arial" panose="020B0604020202090204" pitchFamily="34" charset="-122"/>
                <a:cs typeface="Arial" panose="020B0604020202090204" pitchFamily="34" charset="-120"/>
              </a:rPr>
              <a:t>Summary &amp; Conclusions</a:t>
            </a:r>
            <a:endParaRPr lang="en-US" sz="2000" dirty="0"/>
          </a:p>
        </p:txBody>
      </p:sp>
      <p:sp>
        <p:nvSpPr>
          <p:cNvPr id="7" name="Text 5"/>
          <p:cNvSpPr/>
          <p:nvPr/>
        </p:nvSpPr>
        <p:spPr>
          <a:xfrm>
            <a:off x="304800" y="498277"/>
            <a:ext cx="7124649" cy="152400"/>
          </a:xfrm>
          <a:prstGeom prst="rect">
            <a:avLst/>
          </a:prstGeom>
          <a:noFill/>
        </p:spPr>
        <p:txBody>
          <a:bodyPr wrap="square" lIns="0" tIns="0" rIns="0" bIns="0" rtlCol="0" anchor="t"/>
          <a:lstStyle/>
          <a:p>
            <a:pPr marL="0" indent="0" algn="l">
              <a:spcBef>
                <a:spcPts val="200"/>
              </a:spcBef>
              <a:buNone/>
            </a:pPr>
            <a:r>
              <a:rPr lang="en-US" sz="1100" dirty="0">
                <a:solidFill>
                  <a:srgbClr val="4472C4"/>
                </a:solidFill>
                <a:latin typeface="Arial" panose="020B0604020202090204" pitchFamily="34" charset="0"/>
                <a:ea typeface="Arial" panose="020B0604020202090204" pitchFamily="34" charset="-122"/>
                <a:cs typeface="Arial" panose="020B0604020202090204" pitchFamily="34" charset="-120"/>
              </a:rPr>
              <a:t>What the style-controlled analysis adds and what remains for future work</a:t>
            </a:r>
            <a:endParaRPr lang="en-US" sz="1100" dirty="0"/>
          </a:p>
        </p:txBody>
      </p:sp>
      <p:sp>
        <p:nvSpPr>
          <p:cNvPr id="8" name="Text 6"/>
          <p:cNvSpPr/>
          <p:nvPr/>
        </p:nvSpPr>
        <p:spPr>
          <a:xfrm>
            <a:off x="304800" y="711101"/>
            <a:ext cx="8534400" cy="25301"/>
          </a:xfrm>
          <a:prstGeom prst="rect">
            <a:avLst/>
          </a:prstGeom>
          <a:solidFill>
            <a:srgbClr val="4472C4"/>
          </a:solidFill>
        </p:spPr>
        <p:txBody>
          <a:bodyPr wrap="square" rtlCol="0" anchor="ctr"/>
          <a:lstStyle/>
          <a:p>
            <a:pPr marL="0" indent="0">
              <a:buNone/>
            </a:pPr>
            <a:endParaRPr lang="en-US" dirty="0"/>
          </a:p>
        </p:txBody>
      </p:sp>
      <p:sp>
        <p:nvSpPr>
          <p:cNvPr id="9" name="Text 7"/>
          <p:cNvSpPr/>
          <p:nvPr/>
        </p:nvSpPr>
        <p:spPr>
          <a:xfrm>
            <a:off x="304800" y="812750"/>
            <a:ext cx="2019300" cy="1377851"/>
          </a:xfrm>
          <a:prstGeom prst="roundRect">
            <a:avLst>
              <a:gd name="adj" fmla="val 5530"/>
            </a:avLst>
          </a:prstGeom>
          <a:solidFill>
            <a:srgbClr val="EEF2FA"/>
          </a:solidFill>
        </p:spPr>
        <p:txBody>
          <a:bodyPr wrap="square" rtlCol="0" anchor="ctr"/>
          <a:lstStyle/>
          <a:p>
            <a:pPr marL="0" indent="0">
              <a:buNone/>
            </a:pPr>
            <a:endParaRPr lang="en-US" dirty="0"/>
          </a:p>
        </p:txBody>
      </p:sp>
      <p:sp>
        <p:nvSpPr>
          <p:cNvPr id="10" name="Shape 8"/>
          <p:cNvSpPr/>
          <p:nvPr/>
        </p:nvSpPr>
        <p:spPr>
          <a:xfrm>
            <a:off x="304800" y="831800"/>
            <a:ext cx="2019300" cy="0"/>
          </a:xfrm>
          <a:prstGeom prst="line">
            <a:avLst/>
          </a:prstGeom>
          <a:noFill/>
          <a:ln w="38100">
            <a:solidFill>
              <a:srgbClr val="4472C4"/>
            </a:solidFill>
            <a:prstDash val="solid"/>
          </a:ln>
        </p:spPr>
      </p:sp>
      <p:sp>
        <p:nvSpPr>
          <p:cNvPr id="11" name="Text 9"/>
          <p:cNvSpPr/>
          <p:nvPr/>
        </p:nvSpPr>
        <p:spPr>
          <a:xfrm>
            <a:off x="457200" y="977801"/>
            <a:ext cx="1748790" cy="114300"/>
          </a:xfrm>
          <a:prstGeom prst="rect">
            <a:avLst/>
          </a:prstGeom>
          <a:noFill/>
        </p:spPr>
        <p:txBody>
          <a:bodyPr wrap="square" lIns="0" tIns="0" rIns="0" bIns="0" rtlCol="0" anchor="t"/>
          <a:lstStyle/>
          <a:p>
            <a:pPr marL="0" indent="0" algn="l">
              <a:spcAft>
                <a:spcPts val="300"/>
              </a:spcAft>
              <a:buNone/>
            </a:pPr>
            <a:r>
              <a:rPr lang="en-US" sz="800" b="1" dirty="0">
                <a:solidFill>
                  <a:srgbClr val="4472C4"/>
                </a:solidFill>
                <a:latin typeface="Arial" panose="020B0604020202090204" pitchFamily="34" charset="0"/>
                <a:ea typeface="Arial" panose="020B0604020202090204" pitchFamily="34" charset="-122"/>
                <a:cs typeface="Arial" panose="020B0604020202090204" pitchFamily="34" charset="-120"/>
              </a:rPr>
              <a:t>DIVERSITY</a:t>
            </a:r>
            <a:endParaRPr lang="en-US" sz="800" dirty="0"/>
          </a:p>
        </p:txBody>
      </p:sp>
      <p:sp>
        <p:nvSpPr>
          <p:cNvPr id="12" name="Text 10"/>
          <p:cNvSpPr/>
          <p:nvPr/>
        </p:nvSpPr>
        <p:spPr>
          <a:xfrm>
            <a:off x="457200" y="1130201"/>
            <a:ext cx="1748790" cy="933450"/>
          </a:xfrm>
          <a:prstGeom prst="rect">
            <a:avLst/>
          </a:prstGeom>
          <a:noFill/>
        </p:spPr>
        <p:txBody>
          <a:bodyPr wrap="square" lIns="0" tIns="0" rIns="0" bIns="0" rtlCol="0" anchor="t"/>
          <a:lstStyle/>
          <a:p>
            <a:pPr marL="0" indent="0" algn="l">
              <a:buNone/>
            </a:pPr>
            <a:r>
              <a:rPr lang="en-US" sz="950" dirty="0">
                <a:solidFill>
                  <a:srgbClr val="333333"/>
                </a:solidFill>
                <a:latin typeface="Arial" panose="020B0604020202090204" pitchFamily="34" charset="0"/>
                <a:ea typeface="Arial" panose="020B0604020202090204" pitchFamily="34" charset="-122"/>
                <a:cs typeface="Arial" panose="020B0604020202090204" pitchFamily="34" charset="-120"/>
              </a:rPr>
              <a:t>Human proposals are more semantically diverse than pooled AI after style removal (δ=−0.885). Baseline Claude diversity advantage was stylistic; GPT-5.2 mode collapse is semantic.</a:t>
            </a:r>
            <a:endParaRPr lang="en-US" sz="950" dirty="0"/>
          </a:p>
        </p:txBody>
      </p:sp>
      <p:sp>
        <p:nvSpPr>
          <p:cNvPr id="13" name="Text 11"/>
          <p:cNvSpPr/>
          <p:nvPr/>
        </p:nvSpPr>
        <p:spPr>
          <a:xfrm>
            <a:off x="2476500" y="812750"/>
            <a:ext cx="2019300" cy="1377851"/>
          </a:xfrm>
          <a:prstGeom prst="roundRect">
            <a:avLst>
              <a:gd name="adj" fmla="val 5530"/>
            </a:avLst>
          </a:prstGeom>
          <a:solidFill>
            <a:srgbClr val="FEF4EC"/>
          </a:solidFill>
        </p:spPr>
        <p:txBody>
          <a:bodyPr wrap="square" rtlCol="0" anchor="ctr"/>
          <a:lstStyle/>
          <a:p>
            <a:pPr marL="0" indent="0">
              <a:buNone/>
            </a:pPr>
            <a:endParaRPr lang="en-US" dirty="0"/>
          </a:p>
        </p:txBody>
      </p:sp>
      <p:sp>
        <p:nvSpPr>
          <p:cNvPr id="14" name="Shape 12"/>
          <p:cNvSpPr/>
          <p:nvPr/>
        </p:nvSpPr>
        <p:spPr>
          <a:xfrm>
            <a:off x="2476500" y="831800"/>
            <a:ext cx="2019300" cy="0"/>
          </a:xfrm>
          <a:prstGeom prst="line">
            <a:avLst/>
          </a:prstGeom>
          <a:noFill/>
          <a:ln w="38100">
            <a:solidFill>
              <a:srgbClr val="ED7D31"/>
            </a:solidFill>
            <a:prstDash val="solid"/>
          </a:ln>
        </p:spPr>
      </p:sp>
      <p:sp>
        <p:nvSpPr>
          <p:cNvPr id="15" name="Text 13"/>
          <p:cNvSpPr/>
          <p:nvPr/>
        </p:nvSpPr>
        <p:spPr>
          <a:xfrm>
            <a:off x="2628900" y="977801"/>
            <a:ext cx="1748790" cy="114300"/>
          </a:xfrm>
          <a:prstGeom prst="rect">
            <a:avLst/>
          </a:prstGeom>
          <a:noFill/>
        </p:spPr>
        <p:txBody>
          <a:bodyPr wrap="square" lIns="0" tIns="0" rIns="0" bIns="0" rtlCol="0" anchor="t"/>
          <a:lstStyle/>
          <a:p>
            <a:pPr marL="0" indent="0" algn="l">
              <a:spcAft>
                <a:spcPts val="300"/>
              </a:spcAft>
              <a:buNone/>
            </a:pPr>
            <a:r>
              <a:rPr lang="en-US" sz="800" b="1" dirty="0">
                <a:solidFill>
                  <a:srgbClr val="C55A11"/>
                </a:solidFill>
                <a:latin typeface="Arial" panose="020B0604020202090204" pitchFamily="34" charset="0"/>
                <a:ea typeface="Arial" panose="020B0604020202090204" pitchFamily="34" charset="-122"/>
                <a:cs typeface="Arial" panose="020B0604020202090204" pitchFamily="34" charset="-120"/>
              </a:rPr>
              <a:t>NOVELTY</a:t>
            </a:r>
            <a:endParaRPr lang="en-US" sz="800" dirty="0"/>
          </a:p>
        </p:txBody>
      </p:sp>
      <p:sp>
        <p:nvSpPr>
          <p:cNvPr id="16" name="Text 14"/>
          <p:cNvSpPr/>
          <p:nvPr/>
        </p:nvSpPr>
        <p:spPr>
          <a:xfrm>
            <a:off x="2628900" y="1130201"/>
            <a:ext cx="1748790" cy="800100"/>
          </a:xfrm>
          <a:prstGeom prst="rect">
            <a:avLst/>
          </a:prstGeom>
          <a:noFill/>
        </p:spPr>
        <p:txBody>
          <a:bodyPr wrap="square" lIns="0" tIns="0" rIns="0" bIns="0" rtlCol="0" anchor="t"/>
          <a:lstStyle/>
          <a:p>
            <a:pPr marL="0" indent="0" algn="l">
              <a:buNone/>
            </a:pPr>
            <a:r>
              <a:rPr lang="en-US" sz="950" dirty="0">
                <a:solidFill>
                  <a:srgbClr val="333333"/>
                </a:solidFill>
                <a:latin typeface="Arial" panose="020B0604020202090204" pitchFamily="34" charset="0"/>
                <a:ea typeface="Arial" panose="020B0604020202090204" pitchFamily="34" charset="-122"/>
                <a:cs typeface="Arial" panose="020B0604020202090204" pitchFamily="34" charset="-120"/>
              </a:rPr>
              <a:t>Baseline human novelty advantage disappears after rephrasing (ns, δ=−0.13). The novelty gap was largely a stylistic artifact, not a genuine conceptual difference.</a:t>
            </a:r>
            <a:endParaRPr lang="en-US" sz="950" dirty="0"/>
          </a:p>
        </p:txBody>
      </p:sp>
      <p:sp>
        <p:nvSpPr>
          <p:cNvPr id="17" name="Text 15"/>
          <p:cNvSpPr/>
          <p:nvPr/>
        </p:nvSpPr>
        <p:spPr>
          <a:xfrm>
            <a:off x="4648200" y="812750"/>
            <a:ext cx="2019300" cy="1377851"/>
          </a:xfrm>
          <a:prstGeom prst="roundRect">
            <a:avLst>
              <a:gd name="adj" fmla="val 5530"/>
            </a:avLst>
          </a:prstGeom>
          <a:solidFill>
            <a:srgbClr val="EEF6E8"/>
          </a:solidFill>
        </p:spPr>
        <p:txBody>
          <a:bodyPr wrap="square" rtlCol="0" anchor="ctr"/>
          <a:lstStyle/>
          <a:p>
            <a:pPr marL="0" indent="0">
              <a:buNone/>
            </a:pPr>
            <a:endParaRPr lang="en-US" dirty="0"/>
          </a:p>
        </p:txBody>
      </p:sp>
      <p:sp>
        <p:nvSpPr>
          <p:cNvPr id="18" name="Shape 16"/>
          <p:cNvSpPr/>
          <p:nvPr/>
        </p:nvSpPr>
        <p:spPr>
          <a:xfrm>
            <a:off x="4648200" y="831800"/>
            <a:ext cx="2019300" cy="0"/>
          </a:xfrm>
          <a:prstGeom prst="line">
            <a:avLst/>
          </a:prstGeom>
          <a:noFill/>
          <a:ln w="38100">
            <a:solidFill>
              <a:srgbClr val="70AD47"/>
            </a:solidFill>
            <a:prstDash val="solid"/>
          </a:ln>
        </p:spPr>
      </p:sp>
      <p:sp>
        <p:nvSpPr>
          <p:cNvPr id="19" name="Text 17"/>
          <p:cNvSpPr/>
          <p:nvPr/>
        </p:nvSpPr>
        <p:spPr>
          <a:xfrm>
            <a:off x="4800600" y="977801"/>
            <a:ext cx="1748790" cy="114300"/>
          </a:xfrm>
          <a:prstGeom prst="rect">
            <a:avLst/>
          </a:prstGeom>
          <a:noFill/>
        </p:spPr>
        <p:txBody>
          <a:bodyPr wrap="square" lIns="0" tIns="0" rIns="0" bIns="0" rtlCol="0" anchor="t"/>
          <a:lstStyle/>
          <a:p>
            <a:pPr marL="0" indent="0" algn="l">
              <a:spcAft>
                <a:spcPts val="300"/>
              </a:spcAft>
              <a:buNone/>
            </a:pPr>
            <a:r>
              <a:rPr lang="en-US" sz="800" b="1" dirty="0">
                <a:solidFill>
                  <a:srgbClr val="385C1F"/>
                </a:solidFill>
                <a:latin typeface="Arial" panose="020B0604020202090204" pitchFamily="34" charset="0"/>
                <a:ea typeface="Arial" panose="020B0604020202090204" pitchFamily="34" charset="-122"/>
                <a:cs typeface="Arial" panose="020B0604020202090204" pitchFamily="34" charset="-120"/>
              </a:rPr>
              <a:t>THEMATIC SEPARATION</a:t>
            </a:r>
            <a:endParaRPr lang="en-US" sz="800" dirty="0"/>
          </a:p>
        </p:txBody>
      </p:sp>
      <p:sp>
        <p:nvSpPr>
          <p:cNvPr id="20" name="Text 18"/>
          <p:cNvSpPr/>
          <p:nvPr/>
        </p:nvSpPr>
        <p:spPr>
          <a:xfrm>
            <a:off x="4800600" y="1130201"/>
            <a:ext cx="1748790" cy="933450"/>
          </a:xfrm>
          <a:prstGeom prst="rect">
            <a:avLst/>
          </a:prstGeom>
          <a:noFill/>
        </p:spPr>
        <p:txBody>
          <a:bodyPr wrap="square" lIns="0" tIns="0" rIns="0" bIns="0" rtlCol="0" anchor="t"/>
          <a:lstStyle/>
          <a:p>
            <a:pPr marL="0" indent="0" algn="l">
              <a:buNone/>
            </a:pPr>
            <a:r>
              <a:rPr lang="en-US" sz="950" dirty="0">
                <a:solidFill>
                  <a:srgbClr val="333333"/>
                </a:solidFill>
                <a:latin typeface="Arial" panose="020B0604020202090204" pitchFamily="34" charset="0"/>
                <a:ea typeface="Arial" panose="020B0604020202090204" pitchFamily="34" charset="-122"/>
                <a:cs typeface="Arial" panose="020B0604020202090204" pitchFamily="34" charset="-120"/>
              </a:rPr>
              <a:t>Semantic segregation is stronger after rephrasing (NMI: 0.197→0.389). Conceptual territory differs between human and AI proposals; style was masking, not creating, this signal.</a:t>
            </a:r>
            <a:endParaRPr lang="en-US" sz="950" dirty="0"/>
          </a:p>
        </p:txBody>
      </p:sp>
      <p:sp>
        <p:nvSpPr>
          <p:cNvPr id="21" name="Text 19"/>
          <p:cNvSpPr/>
          <p:nvPr/>
        </p:nvSpPr>
        <p:spPr>
          <a:xfrm>
            <a:off x="6819900" y="812750"/>
            <a:ext cx="2019300" cy="1377851"/>
          </a:xfrm>
          <a:prstGeom prst="roundRect">
            <a:avLst>
              <a:gd name="adj" fmla="val 5530"/>
            </a:avLst>
          </a:prstGeom>
          <a:solidFill>
            <a:srgbClr val="F4F4F4"/>
          </a:solidFill>
        </p:spPr>
        <p:txBody>
          <a:bodyPr wrap="square" rtlCol="0" anchor="ctr"/>
          <a:lstStyle/>
          <a:p>
            <a:pPr marL="0" indent="0">
              <a:buNone/>
            </a:pPr>
            <a:endParaRPr lang="en-US" dirty="0"/>
          </a:p>
        </p:txBody>
      </p:sp>
      <p:sp>
        <p:nvSpPr>
          <p:cNvPr id="22" name="Shape 20"/>
          <p:cNvSpPr/>
          <p:nvPr/>
        </p:nvSpPr>
        <p:spPr>
          <a:xfrm>
            <a:off x="6819900" y="831800"/>
            <a:ext cx="2019300" cy="0"/>
          </a:xfrm>
          <a:prstGeom prst="line">
            <a:avLst/>
          </a:prstGeom>
          <a:noFill/>
          <a:ln w="38100">
            <a:solidFill>
              <a:srgbClr val="A5A5A5"/>
            </a:solidFill>
            <a:prstDash val="solid"/>
          </a:ln>
        </p:spPr>
      </p:sp>
      <p:sp>
        <p:nvSpPr>
          <p:cNvPr id="23" name="Text 21"/>
          <p:cNvSpPr/>
          <p:nvPr/>
        </p:nvSpPr>
        <p:spPr>
          <a:xfrm>
            <a:off x="6972300" y="977801"/>
            <a:ext cx="1748790" cy="114300"/>
          </a:xfrm>
          <a:prstGeom prst="rect">
            <a:avLst/>
          </a:prstGeom>
          <a:noFill/>
        </p:spPr>
        <p:txBody>
          <a:bodyPr wrap="square" lIns="0" tIns="0" rIns="0" bIns="0" rtlCol="0" anchor="t"/>
          <a:lstStyle/>
          <a:p>
            <a:pPr marL="0" indent="0" algn="l">
              <a:spcAft>
                <a:spcPts val="300"/>
              </a:spcAft>
              <a:buNone/>
            </a:pPr>
            <a:r>
              <a:rPr lang="en-US" sz="800" b="1" dirty="0">
                <a:solidFill>
                  <a:srgbClr val="44546A"/>
                </a:solidFill>
                <a:latin typeface="Arial" panose="020B0604020202090204" pitchFamily="34" charset="0"/>
                <a:ea typeface="Arial" panose="020B0604020202090204" pitchFamily="34" charset="-122"/>
                <a:cs typeface="Arial" panose="020B0604020202090204" pitchFamily="34" charset="-120"/>
              </a:rPr>
              <a:t>QUALITY</a:t>
            </a:r>
            <a:endParaRPr lang="en-US" sz="800" dirty="0"/>
          </a:p>
        </p:txBody>
      </p:sp>
      <p:sp>
        <p:nvSpPr>
          <p:cNvPr id="24" name="Text 22"/>
          <p:cNvSpPr/>
          <p:nvPr/>
        </p:nvSpPr>
        <p:spPr>
          <a:xfrm>
            <a:off x="6972300" y="1130201"/>
            <a:ext cx="1748790" cy="933450"/>
          </a:xfrm>
          <a:prstGeom prst="rect">
            <a:avLst/>
          </a:prstGeom>
          <a:noFill/>
        </p:spPr>
        <p:txBody>
          <a:bodyPr wrap="square" lIns="0" tIns="0" rIns="0" bIns="0" rtlCol="0" anchor="t"/>
          <a:lstStyle/>
          <a:p>
            <a:pPr marL="0" indent="0" algn="l">
              <a:buNone/>
            </a:pPr>
            <a:r>
              <a:rPr lang="en-US" sz="950" dirty="0">
                <a:solidFill>
                  <a:srgbClr val="333333"/>
                </a:solidFill>
                <a:latin typeface="Arial" panose="020B0604020202090204" pitchFamily="34" charset="0"/>
                <a:ea typeface="Arial" panose="020B0604020202090204" pitchFamily="34" charset="-122"/>
                <a:cs typeface="Arial" panose="020B0604020202090204" pitchFamily="34" charset="-120"/>
              </a:rPr>
              <a:t>GPT-5.2 scores higher than humans even under cross-evaluator control. Self-preference confirmed for GPT. AI reviews remain a valid but homogeneous proxy for human expert feedback.</a:t>
            </a:r>
            <a:endParaRPr lang="en-US" sz="950" dirty="0"/>
          </a:p>
        </p:txBody>
      </p:sp>
      <p:sp>
        <p:nvSpPr>
          <p:cNvPr id="25" name="Text 23"/>
          <p:cNvSpPr/>
          <p:nvPr/>
        </p:nvSpPr>
        <p:spPr>
          <a:xfrm>
            <a:off x="304800" y="2317552"/>
            <a:ext cx="2019300" cy="736402"/>
          </a:xfrm>
          <a:prstGeom prst="roundRect">
            <a:avLst>
              <a:gd name="adj" fmla="val 8623"/>
            </a:avLst>
          </a:prstGeom>
          <a:solidFill>
            <a:srgbClr val="FFFFFF"/>
          </a:solidFill>
          <a:ln w="9525">
            <a:solidFill>
              <a:srgbClr val="CCCCCC"/>
            </a:solidFill>
          </a:ln>
        </p:spPr>
        <p:txBody>
          <a:bodyPr wrap="square" rtlCol="0" anchor="ctr"/>
          <a:lstStyle/>
          <a:p>
            <a:pPr marL="0" indent="0">
              <a:buNone/>
            </a:pPr>
            <a:endParaRPr lang="en-US" dirty="0"/>
          </a:p>
        </p:txBody>
      </p:sp>
      <p:sp>
        <p:nvSpPr>
          <p:cNvPr id="26" name="Text 24"/>
          <p:cNvSpPr/>
          <p:nvPr/>
        </p:nvSpPr>
        <p:spPr>
          <a:xfrm>
            <a:off x="441275" y="2428577"/>
            <a:ext cx="1781276" cy="133350"/>
          </a:xfrm>
          <a:prstGeom prst="rect">
            <a:avLst/>
          </a:prstGeom>
          <a:noFill/>
        </p:spPr>
        <p:txBody>
          <a:bodyPr wrap="square" lIns="0" tIns="0" rIns="0" bIns="0" rtlCol="0" anchor="t"/>
          <a:lstStyle/>
          <a:p>
            <a:pPr marL="0" indent="0" algn="l">
              <a:spcAft>
                <a:spcPts val="300"/>
              </a:spcAft>
              <a:buNone/>
            </a:pPr>
            <a:r>
              <a:rPr lang="en-US" sz="900" b="1" dirty="0">
                <a:solidFill>
                  <a:srgbClr val="44546A"/>
                </a:solidFill>
                <a:latin typeface="Arial" panose="020B0604020202090204" pitchFamily="34" charset="0"/>
                <a:ea typeface="Arial" panose="020B0604020202090204" pitchFamily="34" charset="-122"/>
                <a:cs typeface="Arial" panose="020B0604020202090204" pitchFamily="34" charset="-120"/>
              </a:rPr>
              <a:t>Next Step 1</a:t>
            </a:r>
            <a:endParaRPr lang="en-US" sz="900" dirty="0"/>
          </a:p>
        </p:txBody>
      </p:sp>
      <p:sp>
        <p:nvSpPr>
          <p:cNvPr id="27" name="Text 25"/>
          <p:cNvSpPr/>
          <p:nvPr/>
        </p:nvSpPr>
        <p:spPr>
          <a:xfrm>
            <a:off x="441275" y="2600027"/>
            <a:ext cx="1781276" cy="342900"/>
          </a:xfrm>
          <a:prstGeom prst="rect">
            <a:avLst/>
          </a:prstGeom>
          <a:noFill/>
        </p:spPr>
        <p:txBody>
          <a:bodyPr wrap="square" lIns="0" tIns="0" rIns="0" bIns="0" rtlCol="0" anchor="t"/>
          <a:lstStyle/>
          <a:p>
            <a:pPr marL="0" indent="0" algn="l">
              <a:buNone/>
            </a:pPr>
            <a:r>
              <a:rPr lang="en-US" sz="850" dirty="0">
                <a:solidFill>
                  <a:srgbClr val="444444"/>
                </a:solidFill>
                <a:latin typeface="Arial" panose="020B0604020202090204" pitchFamily="34" charset="0"/>
                <a:ea typeface="Arial" panose="020B0604020202090204" pitchFamily="34" charset="-122"/>
                <a:cs typeface="Arial" panose="020B0604020202090204" pitchFamily="34" charset="-120"/>
              </a:rPr>
              <a:t>Blinded human scoring of AI proposals to test the inverse direction (human rates AI)</a:t>
            </a:r>
            <a:endParaRPr lang="en-US" sz="850" dirty="0"/>
          </a:p>
        </p:txBody>
      </p:sp>
      <p:sp>
        <p:nvSpPr>
          <p:cNvPr id="28" name="Text 26"/>
          <p:cNvSpPr/>
          <p:nvPr/>
        </p:nvSpPr>
        <p:spPr>
          <a:xfrm>
            <a:off x="2476500" y="2317552"/>
            <a:ext cx="2019300" cy="736402"/>
          </a:xfrm>
          <a:prstGeom prst="roundRect">
            <a:avLst>
              <a:gd name="adj" fmla="val 8623"/>
            </a:avLst>
          </a:prstGeom>
          <a:solidFill>
            <a:srgbClr val="FFFFFF"/>
          </a:solidFill>
          <a:ln w="9525">
            <a:solidFill>
              <a:srgbClr val="CCCCCC"/>
            </a:solidFill>
          </a:ln>
        </p:spPr>
        <p:txBody>
          <a:bodyPr wrap="square" rtlCol="0" anchor="ctr"/>
          <a:lstStyle/>
          <a:p>
            <a:pPr marL="0" indent="0">
              <a:buNone/>
            </a:pPr>
            <a:endParaRPr lang="en-US" dirty="0"/>
          </a:p>
        </p:txBody>
      </p:sp>
      <p:sp>
        <p:nvSpPr>
          <p:cNvPr id="29" name="Text 27"/>
          <p:cNvSpPr/>
          <p:nvPr/>
        </p:nvSpPr>
        <p:spPr>
          <a:xfrm>
            <a:off x="2612975" y="2428577"/>
            <a:ext cx="1781276" cy="133350"/>
          </a:xfrm>
          <a:prstGeom prst="rect">
            <a:avLst/>
          </a:prstGeom>
          <a:noFill/>
        </p:spPr>
        <p:txBody>
          <a:bodyPr wrap="square" lIns="0" tIns="0" rIns="0" bIns="0" rtlCol="0" anchor="t"/>
          <a:lstStyle/>
          <a:p>
            <a:pPr marL="0" indent="0" algn="l">
              <a:spcAft>
                <a:spcPts val="300"/>
              </a:spcAft>
              <a:buNone/>
            </a:pPr>
            <a:r>
              <a:rPr lang="en-US" sz="900" b="1" dirty="0">
                <a:solidFill>
                  <a:srgbClr val="44546A"/>
                </a:solidFill>
                <a:latin typeface="Arial" panose="020B0604020202090204" pitchFamily="34" charset="0"/>
                <a:ea typeface="Arial" panose="020B0604020202090204" pitchFamily="34" charset="-122"/>
                <a:cs typeface="Arial" panose="020B0604020202090204" pitchFamily="34" charset="-120"/>
              </a:rPr>
              <a:t>Next Step 2</a:t>
            </a:r>
            <a:endParaRPr lang="en-US" sz="900" dirty="0"/>
          </a:p>
        </p:txBody>
      </p:sp>
      <p:sp>
        <p:nvSpPr>
          <p:cNvPr id="30" name="Text 28"/>
          <p:cNvSpPr/>
          <p:nvPr/>
        </p:nvSpPr>
        <p:spPr>
          <a:xfrm>
            <a:off x="2612975" y="2600027"/>
            <a:ext cx="1781276" cy="342900"/>
          </a:xfrm>
          <a:prstGeom prst="rect">
            <a:avLst/>
          </a:prstGeom>
          <a:noFill/>
        </p:spPr>
        <p:txBody>
          <a:bodyPr wrap="square" lIns="0" tIns="0" rIns="0" bIns="0" rtlCol="0" anchor="t"/>
          <a:lstStyle/>
          <a:p>
            <a:pPr marL="0" indent="0" algn="l">
              <a:buNone/>
            </a:pPr>
            <a:r>
              <a:rPr lang="en-US" sz="850" dirty="0">
                <a:solidFill>
                  <a:srgbClr val="444444"/>
                </a:solidFill>
                <a:latin typeface="Arial" panose="020B0604020202090204" pitchFamily="34" charset="0"/>
                <a:ea typeface="Arial" panose="020B0604020202090204" pitchFamily="34" charset="-122"/>
                <a:cs typeface="Arial" panose="020B0604020202090204" pitchFamily="34" charset="-120"/>
              </a:rPr>
              <a:t>Fix proxy-validity harmonization (ICC/rank agreement currently NaN for most criteria)</a:t>
            </a:r>
            <a:endParaRPr lang="en-US" sz="850" dirty="0"/>
          </a:p>
        </p:txBody>
      </p:sp>
      <p:sp>
        <p:nvSpPr>
          <p:cNvPr id="31" name="Text 29"/>
          <p:cNvSpPr/>
          <p:nvPr/>
        </p:nvSpPr>
        <p:spPr>
          <a:xfrm>
            <a:off x="4648200" y="2317552"/>
            <a:ext cx="2019300" cy="736402"/>
          </a:xfrm>
          <a:prstGeom prst="roundRect">
            <a:avLst>
              <a:gd name="adj" fmla="val 8623"/>
            </a:avLst>
          </a:prstGeom>
          <a:solidFill>
            <a:srgbClr val="FFFFFF"/>
          </a:solidFill>
          <a:ln w="9525">
            <a:solidFill>
              <a:srgbClr val="CCCCCC"/>
            </a:solidFill>
          </a:ln>
        </p:spPr>
        <p:txBody>
          <a:bodyPr wrap="square" rtlCol="0" anchor="ctr"/>
          <a:lstStyle/>
          <a:p>
            <a:pPr marL="0" indent="0">
              <a:buNone/>
            </a:pPr>
            <a:endParaRPr lang="en-US" dirty="0"/>
          </a:p>
        </p:txBody>
      </p:sp>
      <p:sp>
        <p:nvSpPr>
          <p:cNvPr id="32" name="Text 30"/>
          <p:cNvSpPr/>
          <p:nvPr/>
        </p:nvSpPr>
        <p:spPr>
          <a:xfrm>
            <a:off x="4784675" y="2428577"/>
            <a:ext cx="1781276" cy="133350"/>
          </a:xfrm>
          <a:prstGeom prst="rect">
            <a:avLst/>
          </a:prstGeom>
          <a:noFill/>
        </p:spPr>
        <p:txBody>
          <a:bodyPr wrap="square" lIns="0" tIns="0" rIns="0" bIns="0" rtlCol="0" anchor="t"/>
          <a:lstStyle/>
          <a:p>
            <a:pPr marL="0" indent="0" algn="l">
              <a:spcAft>
                <a:spcPts val="300"/>
              </a:spcAft>
              <a:buNone/>
            </a:pPr>
            <a:r>
              <a:rPr lang="en-US" sz="900" b="1" dirty="0">
                <a:solidFill>
                  <a:srgbClr val="44546A"/>
                </a:solidFill>
                <a:latin typeface="Arial" panose="020B0604020202090204" pitchFamily="34" charset="0"/>
                <a:ea typeface="Arial" panose="020B0604020202090204" pitchFamily="34" charset="-122"/>
                <a:cs typeface="Arial" panose="020B0604020202090204" pitchFamily="34" charset="-120"/>
              </a:rPr>
              <a:t>Next Step 3</a:t>
            </a:r>
            <a:endParaRPr lang="en-US" sz="900" dirty="0"/>
          </a:p>
        </p:txBody>
      </p:sp>
      <p:sp>
        <p:nvSpPr>
          <p:cNvPr id="33" name="Text 31"/>
          <p:cNvSpPr/>
          <p:nvPr/>
        </p:nvSpPr>
        <p:spPr>
          <a:xfrm>
            <a:off x="4784675" y="2600027"/>
            <a:ext cx="1781276" cy="342900"/>
          </a:xfrm>
          <a:prstGeom prst="rect">
            <a:avLst/>
          </a:prstGeom>
          <a:noFill/>
        </p:spPr>
        <p:txBody>
          <a:bodyPr wrap="square" lIns="0" tIns="0" rIns="0" bIns="0" rtlCol="0" anchor="t"/>
          <a:lstStyle/>
          <a:p>
            <a:pPr marL="0" indent="0" algn="l">
              <a:buNone/>
            </a:pPr>
            <a:r>
              <a:rPr lang="en-US" sz="850" dirty="0">
                <a:solidFill>
                  <a:srgbClr val="444444"/>
                </a:solidFill>
                <a:latin typeface="Arial" panose="020B0604020202090204" pitchFamily="34" charset="0"/>
                <a:ea typeface="Arial" panose="020B0604020202090204" pitchFamily="34" charset="-122"/>
                <a:cs typeface="Arial" panose="020B0604020202090204" pitchFamily="34" charset="-120"/>
              </a:rPr>
              <a:t>Investigate GPT near-zero variance in quality scores — prompts may saturate the rubric</a:t>
            </a:r>
            <a:endParaRPr lang="en-US" sz="850" dirty="0"/>
          </a:p>
        </p:txBody>
      </p:sp>
      <p:sp>
        <p:nvSpPr>
          <p:cNvPr id="34" name="Text 32"/>
          <p:cNvSpPr/>
          <p:nvPr/>
        </p:nvSpPr>
        <p:spPr>
          <a:xfrm>
            <a:off x="6819900" y="2317552"/>
            <a:ext cx="2019300" cy="736402"/>
          </a:xfrm>
          <a:prstGeom prst="roundRect">
            <a:avLst>
              <a:gd name="adj" fmla="val 8623"/>
            </a:avLst>
          </a:prstGeom>
          <a:solidFill>
            <a:srgbClr val="FFFFFF"/>
          </a:solidFill>
          <a:ln w="9525">
            <a:solidFill>
              <a:srgbClr val="CCCCCC"/>
            </a:solidFill>
          </a:ln>
        </p:spPr>
        <p:txBody>
          <a:bodyPr wrap="square" rtlCol="0" anchor="ctr"/>
          <a:lstStyle/>
          <a:p>
            <a:pPr marL="0" indent="0">
              <a:buNone/>
            </a:pPr>
            <a:endParaRPr lang="en-US" dirty="0"/>
          </a:p>
        </p:txBody>
      </p:sp>
      <p:sp>
        <p:nvSpPr>
          <p:cNvPr id="35" name="Text 33"/>
          <p:cNvSpPr/>
          <p:nvPr/>
        </p:nvSpPr>
        <p:spPr>
          <a:xfrm>
            <a:off x="6956375" y="2428577"/>
            <a:ext cx="1781276" cy="133350"/>
          </a:xfrm>
          <a:prstGeom prst="rect">
            <a:avLst/>
          </a:prstGeom>
          <a:noFill/>
        </p:spPr>
        <p:txBody>
          <a:bodyPr wrap="square" lIns="0" tIns="0" rIns="0" bIns="0" rtlCol="0" anchor="t"/>
          <a:lstStyle/>
          <a:p>
            <a:pPr marL="0" indent="0" algn="l">
              <a:spcAft>
                <a:spcPts val="300"/>
              </a:spcAft>
              <a:buNone/>
            </a:pPr>
            <a:r>
              <a:rPr lang="en-US" sz="900" b="1" dirty="0">
                <a:solidFill>
                  <a:srgbClr val="44546A"/>
                </a:solidFill>
                <a:latin typeface="Arial" panose="020B0604020202090204" pitchFamily="34" charset="0"/>
                <a:ea typeface="Arial" panose="020B0604020202090204" pitchFamily="34" charset="-122"/>
                <a:cs typeface="Arial" panose="020B0604020202090204" pitchFamily="34" charset="-120"/>
              </a:rPr>
              <a:t>Next Step 4</a:t>
            </a:r>
            <a:endParaRPr lang="en-US" sz="900" dirty="0"/>
          </a:p>
        </p:txBody>
      </p:sp>
      <p:sp>
        <p:nvSpPr>
          <p:cNvPr id="36" name="Text 34"/>
          <p:cNvSpPr/>
          <p:nvPr/>
        </p:nvSpPr>
        <p:spPr>
          <a:xfrm>
            <a:off x="6956375" y="2600027"/>
            <a:ext cx="1781276" cy="342900"/>
          </a:xfrm>
          <a:prstGeom prst="rect">
            <a:avLst/>
          </a:prstGeom>
          <a:noFill/>
        </p:spPr>
        <p:txBody>
          <a:bodyPr wrap="square" lIns="0" tIns="0" rIns="0" bIns="0" rtlCol="0" anchor="t"/>
          <a:lstStyle/>
          <a:p>
            <a:pPr marL="0" indent="0" algn="l">
              <a:buNone/>
            </a:pPr>
            <a:r>
              <a:rPr lang="en-US" sz="850" dirty="0">
                <a:solidFill>
                  <a:srgbClr val="444444"/>
                </a:solidFill>
                <a:latin typeface="Arial" panose="020B0604020202090204" pitchFamily="34" charset="0"/>
                <a:ea typeface="Arial" panose="020B0604020202090204" pitchFamily="34" charset="-122"/>
                <a:cs typeface="Arial" panose="020B0604020202090204" pitchFamily="34" charset="-120"/>
              </a:rPr>
              <a:t>Test whether AI review panel homogeneity leads to worse ranking discrimination than human panels</a:t>
            </a:r>
            <a:endParaRPr lang="en-US" sz="850" dirty="0"/>
          </a:p>
        </p:txBody>
      </p:sp>
      <p:sp>
        <p:nvSpPr>
          <p:cNvPr id="37" name="Text 35"/>
          <p:cNvSpPr/>
          <p:nvPr/>
        </p:nvSpPr>
        <p:spPr>
          <a:xfrm>
            <a:off x="304800" y="3180715"/>
            <a:ext cx="8534400" cy="933450"/>
          </a:xfrm>
          <a:prstGeom prst="roundRect">
            <a:avLst>
              <a:gd name="adj" fmla="val 8990"/>
            </a:avLst>
          </a:prstGeom>
          <a:solidFill>
            <a:srgbClr val="44546A"/>
          </a:solidFill>
        </p:spPr>
        <p:txBody>
          <a:bodyPr wrap="square" rtlCol="0" anchor="ctr"/>
          <a:lstStyle/>
          <a:p>
            <a:pPr marL="0" indent="0">
              <a:buNone/>
            </a:pPr>
            <a:endParaRPr lang="en-US" dirty="0"/>
          </a:p>
        </p:txBody>
      </p:sp>
      <p:sp>
        <p:nvSpPr>
          <p:cNvPr id="38" name="Text 36"/>
          <p:cNvSpPr/>
          <p:nvPr/>
        </p:nvSpPr>
        <p:spPr>
          <a:xfrm>
            <a:off x="507950" y="3307854"/>
            <a:ext cx="8290661" cy="142875"/>
          </a:xfrm>
          <a:prstGeom prst="rect">
            <a:avLst/>
          </a:prstGeom>
          <a:noFill/>
        </p:spPr>
        <p:txBody>
          <a:bodyPr wrap="square" lIns="0" tIns="0" rIns="0" bIns="0" rtlCol="0" anchor="t"/>
          <a:lstStyle/>
          <a:p>
            <a:pPr marL="0" indent="0" algn="l">
              <a:spcAft>
                <a:spcPts val="400"/>
              </a:spcAft>
              <a:buNone/>
            </a:pPr>
            <a:r>
              <a:rPr lang="en-US" sz="1000" b="1" dirty="0">
                <a:solidFill>
                  <a:srgbClr val="FFFFFF"/>
                </a:solidFill>
                <a:latin typeface="Arial" panose="020B0604020202090204" pitchFamily="34" charset="0"/>
                <a:ea typeface="Arial" panose="020B0604020202090204" pitchFamily="34" charset="-122"/>
                <a:cs typeface="Arial" panose="020B0604020202090204" pitchFamily="34" charset="-120"/>
              </a:rPr>
              <a:t>Big Picture</a:t>
            </a:r>
            <a:endParaRPr lang="en-US" sz="1000" dirty="0"/>
          </a:p>
        </p:txBody>
      </p:sp>
      <p:sp>
        <p:nvSpPr>
          <p:cNvPr id="39" name="Text 37"/>
          <p:cNvSpPr/>
          <p:nvPr/>
        </p:nvSpPr>
        <p:spPr>
          <a:xfrm>
            <a:off x="507950" y="3501479"/>
            <a:ext cx="8290661" cy="400050"/>
          </a:xfrm>
          <a:prstGeom prst="rect">
            <a:avLst/>
          </a:prstGeom>
          <a:noFill/>
        </p:spPr>
        <p:txBody>
          <a:bodyPr wrap="square" lIns="0" tIns="0" rIns="0" bIns="0" rtlCol="0" anchor="t"/>
          <a:lstStyle/>
          <a:p>
            <a:pPr marL="0" indent="0" algn="l">
              <a:buNone/>
            </a:pPr>
            <a:r>
              <a:rPr lang="en-US" sz="950" dirty="0">
                <a:solidFill>
                  <a:srgbClr val="E7E6E6"/>
                </a:solidFill>
                <a:latin typeface="Arial" panose="020B0604020202090204" pitchFamily="34" charset="0"/>
                <a:ea typeface="Arial" panose="020B0604020202090204" pitchFamily="34" charset="-122"/>
                <a:cs typeface="Arial" panose="020B0604020202090204" pitchFamily="34" charset="-120"/>
              </a:rPr>
              <a:t>Rephrasing reveals that the Human/AI difference is primarily semantic (what ideas are proposed) rather than stylistic (how they are written). Human proposals explore more varied conceptual territory; AI proposals cluster in specific regions. GPT-5.2 consistently achieves higher AI-assigned quality scores but shows semantic mode collapse — optimizing scores without matching human conceptual breadth.</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19928</Words>
  <Application>WPS Presentation</Application>
  <PresentationFormat>On-screen Show (16:9)</PresentationFormat>
  <Paragraphs>608</Paragraphs>
  <Slides>22</Slides>
  <Notes>17</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22</vt:i4>
      </vt:variant>
    </vt:vector>
  </HeadingPairs>
  <TitlesOfParts>
    <vt:vector size="36" baseType="lpstr">
      <vt:lpstr>Arial</vt:lpstr>
      <vt:lpstr>SimSun</vt:lpstr>
      <vt:lpstr>Wingdings</vt:lpstr>
      <vt:lpstr>Arial</vt:lpstr>
      <vt:lpstr>Arial</vt:lpstr>
      <vt:lpstr>Calibri</vt:lpstr>
      <vt:lpstr>Helvetica Neue</vt:lpstr>
      <vt:lpstr>Microsoft YaHei</vt:lpstr>
      <vt:lpstr>汉仪旗黑</vt:lpstr>
      <vt:lpstr>Arial Unicode MS</vt:lpstr>
      <vt:lpstr>汉仪书宋二KW</vt:lpstr>
      <vt:lpstr>宋体-简</vt:lpstr>
      <vt:lpstr>Arial Bold</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Style-Controlled Comparison of AI vs. Human Research Proposals</dc:title>
  <dc:creator>NICO Lab</dc:creator>
  <dc:subject>PptxGenJS Presentation</dc:subject>
  <cp:lastModifiedBy>evey</cp:lastModifiedBy>
  <cp:revision>2</cp:revision>
  <dcterms:created xsi:type="dcterms:W3CDTF">2026-03-17T21:04:04Z</dcterms:created>
  <dcterms:modified xsi:type="dcterms:W3CDTF">2026-03-17T21:04:04Z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A3EC75D92B41B2C5C4C1B969095636FB_42</vt:lpwstr>
  </property>
  <property fmtid="{D5CDD505-2E9C-101B-9397-08002B2CF9AE}" pid="3" name="KSOProductBuildVer">
    <vt:lpwstr>1033-12.1.23141.23141</vt:lpwstr>
  </property>
</Properties>
</file>