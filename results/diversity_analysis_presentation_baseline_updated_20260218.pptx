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4" r:id="rId7"/>
    <p:sldId id="259" r:id="rId8"/>
    <p:sldId id="260" r:id="rId9"/>
    <p:sldId id="261" r:id="rId10"/>
    <p:sldId id="262" r:id="rId11"/>
    <p:sldId id="273" r:id="rId12"/>
    <p:sldId id="266" r:id="rId13"/>
    <p:sldId id="267" r:id="rId14"/>
    <p:sldId id="268" r:id="rId15"/>
    <p:sldId id="269" r:id="rId16"/>
    <p:sldId id="270" r:id="rId17"/>
    <p:sldId id="275" r:id="rId18"/>
    <p:sldId id="276" r:id="rId19"/>
    <p:sldId id="277" r:id="rId20"/>
    <p:sldId id="271" r:id="rId21"/>
    <p:sldId id="272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E50"/>
    <a:srgbClr val="E8505B"/>
    <a:srgbClr val="87929C"/>
    <a:srgbClr val="EA728A"/>
    <a:srgbClr val="8E44AD"/>
    <a:srgbClr val="FFBA66"/>
    <a:srgbClr val="B2B2B2"/>
    <a:srgbClr val="2E86AB"/>
    <a:srgbClr val="16A0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2715870583107"/>
          <c:y val="0.064708849548914"/>
          <c:w val="0.785854131807253"/>
          <c:h val="0.8061087562607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Cliff's Delta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D6D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rgbClr val="2C3E5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All AI</c:v>
                </c:pt>
                <c:pt idx="1">
                  <c:v>Claude</c:v>
                </c:pt>
                <c:pt idx="2">
                  <c:v>Gemini</c:v>
                </c:pt>
                <c:pt idx="3">
                  <c:v>GPT-5.2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-0.29</c:v>
                </c:pt>
                <c:pt idx="1">
                  <c:v>0.248</c:v>
                </c:pt>
                <c:pt idx="2">
                  <c:v>-0.726</c:v>
                </c:pt>
                <c:pt idx="3">
                  <c:v>-1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-1.1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Arial" panose="020B0604020202090204"/>
                  </a:rPr>
                  <a:t>Cliff's Delta</a:t>
                </a:r>
                <a:endParaRPr sz="800" b="0" i="0" u="none" strike="noStrike">
                  <a:solidFill>
                    <a:srgbClr val="000000"/>
                  </a:solidFill>
                  <a:latin typeface="Arial" panose="020B060402020209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00314f2-4890-4587-9a79-4da99555cb1d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941685099538"/>
          <c:y val="0.0775091089764823"/>
          <c:w val="0.76951538306857"/>
          <c:h val="0.781649552832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Distance to Centroid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D6D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rgbClr val="2C3E5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Human</c:v>
                </c:pt>
                <c:pt idx="1">
                  <c:v>Claude</c:v>
                </c:pt>
                <c:pt idx="2">
                  <c:v>Gemini</c:v>
                </c:pt>
                <c:pt idx="3">
                  <c:v>GPT-5.2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0.032</c:v>
                </c:pt>
                <c:pt idx="1">
                  <c:v>0.179</c:v>
                </c:pt>
                <c:pt idx="2">
                  <c:v>0.047</c:v>
                </c:pt>
                <c:pt idx="3">
                  <c:v>0.01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Arial" panose="020B0604020202090204"/>
                  </a:rPr>
                  <a:t>Mean Cosine Distance</a:t>
                </a:r>
                <a:endParaRPr sz="800" b="0" i="0" u="none" strike="noStrike">
                  <a:solidFill>
                    <a:srgbClr val="000000"/>
                  </a:solidFill>
                  <a:latin typeface="Arial" panose="020B060402020209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67fba64-100b-4f7a-a812-74a825e9161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5020" y="1302752"/>
            <a:ext cx="7772400" cy="857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800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Comparing Diversity, Novelty, and Quality </a:t>
            </a:r>
            <a:endParaRPr lang="en-US" sz="2800" dirty="0">
              <a:solidFill>
                <a:srgbClr val="1B2A4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2800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of AI vs Human Research Proposals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2436763"/>
            <a:ext cx="777240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00"/>
              </a:spcAft>
              <a:buNone/>
            </a:pPr>
            <a:r>
              <a:rPr lang="en-US" sz="1600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Embedding-Based Comparison Using BioLinkBERT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979688"/>
            <a:ext cx="1015901" cy="38100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525738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Study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7927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180802"/>
            <a:ext cx="507950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307654"/>
            <a:ext cx="3951021" cy="5598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do AI-generated research proposals compare to human-written proposals in diversity, novelty, quality, and thematic content when responding to the same funding call?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950" y="1943745"/>
            <a:ext cx="3951021" cy="5598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 compare 23 human proposals and 69 AI proposals (from three frontier models) for the NSF NCEMS call, using embedding-based analyses across three dimensions: internal diversity, novelty relative to published literature, and thematic/cluster composition.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83373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3135263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6035" y="3288149"/>
            <a:ext cx="3873550" cy="743843"/>
          </a:xfrm>
          <a:prstGeom prst="rect">
            <a:avLst/>
          </a:prstGeom>
          <a:solidFill>
            <a:srgbClr val="FD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3312914"/>
            <a:ext cx="0" cy="743843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3414415"/>
            <a:ext cx="3601263" cy="355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8450" y="3795266"/>
            <a:ext cx="360126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proposals (written by top scientists in MCB domain)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4209157"/>
            <a:ext cx="3873550" cy="743843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4209157"/>
            <a:ext cx="0" cy="74384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450" y="4310658"/>
            <a:ext cx="3601263" cy="355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8450" y="4691509"/>
            <a:ext cx="360126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proposals (23 per model)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5840" y="3633272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Models Tested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2500" y="1180802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81550" y="1383854"/>
            <a:ext cx="0" cy="58385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5840" y="4038689"/>
            <a:ext cx="3601263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Opus 4.5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2500" y="2145506"/>
            <a:ext cx="3873550" cy="583853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81550" y="2171700"/>
            <a:ext cx="635" cy="11176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5840" y="4268212"/>
            <a:ext cx="3601263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E44A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 3 Pro Preview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5840" y="4512975"/>
            <a:ext cx="3601263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67E2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62500" y="878522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81550" y="3928963"/>
            <a:ext cx="507950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72050" y="1345634"/>
            <a:ext cx="3951021" cy="3732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All models received the same funding call and evaluation criteria. All analyses use BioLinkBERT embeddings with non-parametric statistical tests.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72050" y="2045335"/>
            <a:ext cx="3950970" cy="1358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spans four parts: </a:t>
            </a:r>
            <a:endParaRPr lang="en-US" sz="10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(1) Diversity via pairwise, centroid, and nearest-neighbor metrics; </a:t>
            </a:r>
            <a:endParaRPr lang="en-US" sz="10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(2) Novelty via distance to a PubMed literature corpus; </a:t>
            </a:r>
            <a:endParaRPr lang="en-US" sz="10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(3) Thematic separation via topic modeling and cluster analysis. </a:t>
            </a:r>
            <a:endParaRPr lang="en-US" sz="10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(4) Stylistic comparison and regularization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Embedding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315" y="1104445"/>
            <a:ext cx="507950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180000"/>
            <a:ext cx="3951021" cy="340000"/>
          </a:xfrm>
          <a:prstGeom prst="roundRect">
            <a:avLst>
              <a:gd name="adj" fmla="val 3000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257470"/>
            <a:ext cx="0" cy="3400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450" y="1200000"/>
            <a:ext cx="3700000" cy="1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BioLinkBERT-large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8500" y="1404620"/>
            <a:ext cx="387350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340M-param biomedical model pretrained on PubMed with citation links. Encodes each proposal as a 1024-dim vector (400-word overlapping chunks, averaged).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7000" y="1785105"/>
            <a:ext cx="0" cy="2400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500" y="1786255"/>
            <a:ext cx="3505200" cy="1295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Cosine distance in 1024-dim space for all metrics. </a:t>
            </a:r>
            <a:r>
              <a:rPr lang="en-US" sz="8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Mann-Whitney U tests, Cliff’s delta, and permutation tests (10K iterations) for all comparisons.</a:t>
            </a:r>
            <a:endParaRPr lang="en-US" sz="800" b="1" dirty="0"/>
          </a:p>
        </p:txBody>
      </p:sp>
      <p:sp>
        <p:nvSpPr>
          <p:cNvPr id="13" name="Text 11"/>
          <p:cNvSpPr/>
          <p:nvPr/>
        </p:nvSpPr>
        <p:spPr>
          <a:xfrm>
            <a:off x="527000" y="2289570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Metric Definitions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6365" y="2514805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27050" y="2590165"/>
            <a:ext cx="1764030" cy="635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415" y="2649855"/>
            <a:ext cx="188468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 </a:t>
            </a:r>
            <a:endParaRPr lang="en-US" sz="900" b="1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6415" y="2882900"/>
            <a:ext cx="1764665" cy="339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different are proposals from each other within the same group and between groups?</a:t>
            </a:r>
            <a:endParaRPr lang="en-US" sz="800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Measured by cosine distances between proposal embeddings. Three complementary lenses: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71450" indent="-171450" algn="l">
              <a:lnSpc>
                <a:spcPts val="1050"/>
              </a:lnSpc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pairwise distances (all pairs)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71450" indent="-171450" algn="l">
              <a:lnSpc>
                <a:spcPts val="1050"/>
              </a:lnSpc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centroid dispersion (distance to group center)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71450" indent="-171450" algn="l">
              <a:lnSpc>
                <a:spcPts val="1050"/>
              </a:lnSpc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nearest-neighbor analysis (closest proposal in the combined space of all groups). 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82545" y="2585720"/>
            <a:ext cx="1791970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2545" y="2656205"/>
            <a:ext cx="1678305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</a:t>
            </a:r>
            <a:endParaRPr lang="en-US" sz="900" b="1" dirty="0">
              <a:solidFill>
                <a:srgbClr val="2E86A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82545" y="2896235"/>
            <a:ext cx="1678305" cy="339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far are proposals from </a:t>
            </a:r>
            <a:r>
              <a:rPr lang="en-US" sz="800" b="1" dirty="0">
                <a:solidFill>
                  <a:srgbClr val="2E86AB"/>
                </a:solidFill>
                <a:latin typeface="Arial Bold" panose="020B0604020202090204" charset="0"/>
                <a:ea typeface="Arial" panose="020B0604020202090204" pitchFamily="34" charset="-122"/>
                <a:cs typeface="Arial Bold" panose="020B0604020202090204" charset="0"/>
              </a:rPr>
              <a:t>what already exists in the scientific literature</a:t>
            </a:r>
            <a:r>
              <a:rPr lang="en-US" sz="80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?</a:t>
            </a:r>
            <a:r>
              <a:rPr lang="en-US" sz="800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800" dirty="0">
              <a:solidFill>
                <a:srgbClr val="2E86A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Measured as mean cosine distance from each proposal to its 10 nearest neighbors in a corpus of 350 PubMed articles. Higher = more novel.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Crucially different from diversity: a group can be internally diverse but still close to published work, or internally homogeneous but exploring genuinely new territory.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55820" y="2581275"/>
            <a:ext cx="1884680" cy="63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5820" y="2656205"/>
            <a:ext cx="176403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Thematic &amp; Stylistic Separation </a:t>
            </a:r>
            <a:endParaRPr lang="en-US" sz="900" b="1" dirty="0">
              <a:solidFill>
                <a:srgbClr val="16A085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55820" y="2896235"/>
            <a:ext cx="1764030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6A08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 human and AI proposals occupy the same conceptual regions (based on topics and styles)? </a:t>
            </a:r>
            <a:endParaRPr lang="en-US" sz="800" dirty="0">
              <a:solidFill>
                <a:srgbClr val="16A085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LDA topic modeling identifies latent themes;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Gaussian Mixture Model clustering groups proposals by embedding similarity. Tests whether sources are segregated or intermingled.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Stylistic features seperation between groups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endParaRPr lang="en-US" sz="800" dirty="0"/>
          </a:p>
        </p:txBody>
      </p:sp>
      <p:sp>
        <p:nvSpPr>
          <p:cNvPr id="44" name="Shape 22"/>
          <p:cNvSpPr/>
          <p:nvPr/>
        </p:nvSpPr>
        <p:spPr>
          <a:xfrm>
            <a:off x="6863080" y="2571115"/>
            <a:ext cx="1884680" cy="635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headEnd type="none"/>
            <a:tailEnd type="none"/>
          </a:ln>
        </p:spPr>
      </p:sp>
      <p:sp>
        <p:nvSpPr>
          <p:cNvPr id="45" name="Text 23"/>
          <p:cNvSpPr/>
          <p:nvPr/>
        </p:nvSpPr>
        <p:spPr>
          <a:xfrm>
            <a:off x="6877050" y="2658745"/>
            <a:ext cx="176403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Quality</a:t>
            </a:r>
            <a:endParaRPr lang="en-US" sz="900" b="1" dirty="0">
              <a:solidFill>
                <a:schemeClr val="accent2">
                  <a:lumMod val="75000"/>
                </a:scheme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6877050" y="2896235"/>
            <a:ext cx="1764030" cy="1623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 human and AI proposals exhibit same level of quality?</a:t>
            </a:r>
            <a:endParaRPr lang="en-US" sz="800" dirty="0">
              <a:solidFill>
                <a:schemeClr val="accent2">
                  <a:lumMod val="75000"/>
                </a:scheme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domain experts reviewed all human proposals and provided qualitative reviews;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reviewed all proposals with same criteria and requirements; 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Compared similarity between AI and human reviews to check whether AI reviews are valid proxy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39395" y="85382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Overview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9395" y="1098730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39395" y="2242185"/>
            <a:ext cx="1764030" cy="1786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Pairwise distances — all n(n−1)/2 pairs within each group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Centroid dispersion — distance from each proposal to group mean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Nearest-neighbor — closest proposal in combined 92-proposal space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Embedding visualization — UMAP 2D projection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94890" y="2242185"/>
            <a:ext cx="1792605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Literature corpus: 350 PubMed articles from 7 search queries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
• Novelty score: mean distance to k=10 nearest neighbors in literature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Compares title+abstract embeddings (fair comparison with abstracts)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Statistical tests: same non-parametric framework as Part 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63720" y="2229485"/>
            <a:ext cx="1903095" cy="429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LDA topic modeling (k=5, strong priors, stability-validated)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Topic distribution: Fisher’s exact tests with FDR correction
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GMM clustering (k=3, selected by BIC)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
• Segregation metrics: NMI, ARI, between/within distance ratio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248535" y="762635"/>
            <a:ext cx="4404360" cy="866140"/>
          </a:xfrm>
          <a:prstGeom prst="roundRect">
            <a:avLst>
              <a:gd name="adj" fmla="val 3000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400935" y="802675"/>
            <a:ext cx="3600000" cy="1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 these separate analyses?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400935" y="972820"/>
            <a:ext cx="405765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 asks: “Are the ideas varied?” Novelty asks: “Are they new relative to the field?” Thematic analysis asks: “Are they about the same things?” Quality asks: “Are they ‘good’ based on defined metrics?” A model can score high on one and low on another — these dimensions are complementary, not redundant.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9395" y="1851660"/>
            <a:ext cx="1764030" cy="635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8760" y="1911350"/>
            <a:ext cx="188468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  (Slides 4-7)</a:t>
            </a:r>
            <a:endParaRPr lang="en-US" sz="900" b="1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94890" y="1847215"/>
            <a:ext cx="1791970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94890" y="1917700"/>
            <a:ext cx="1678305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(Slides 9-11)</a:t>
            </a:r>
            <a:endParaRPr lang="en-US" sz="900" b="1" dirty="0">
              <a:solidFill>
                <a:srgbClr val="2E86A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68165" y="1842770"/>
            <a:ext cx="1884680" cy="63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63720" y="1920240"/>
            <a:ext cx="176403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Thematic &amp; Style-Controlled (Slides 12-17)</a:t>
            </a:r>
            <a:endParaRPr lang="en-US" sz="900" b="1" dirty="0">
              <a:solidFill>
                <a:srgbClr val="16A085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4" name="Shape 22"/>
          <p:cNvSpPr/>
          <p:nvPr/>
        </p:nvSpPr>
        <p:spPr>
          <a:xfrm>
            <a:off x="6575425" y="1832610"/>
            <a:ext cx="1884680" cy="635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headEnd type="none"/>
            <a:tailEnd type="none"/>
          </a:ln>
        </p:spPr>
      </p:sp>
      <p:sp>
        <p:nvSpPr>
          <p:cNvPr id="45" name="Text 23"/>
          <p:cNvSpPr/>
          <p:nvPr/>
        </p:nvSpPr>
        <p:spPr>
          <a:xfrm>
            <a:off x="6589395" y="1920240"/>
            <a:ext cx="1764030" cy="149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Quality (planned human review)</a:t>
            </a:r>
            <a:endParaRPr lang="en-US" sz="900" b="1" dirty="0">
              <a:solidFill>
                <a:schemeClr val="accent2">
                  <a:lumMod val="75000"/>
                </a:scheme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1: Within-Group Pairwise Diversity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28377"/>
            <a:ext cx="362706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602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8000" y="4769485"/>
            <a:ext cx="4215765" cy="280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Cliff's Delta effect sizes vs Human baseline. </a:t>
            </a:r>
            <a:r>
              <a:rPr lang="en-US" sz="850" b="1" dirty="0">
                <a:solidFill>
                  <a:srgbClr val="5D6D7E"/>
                </a:solidFill>
                <a:latin typeface="Arial Bold" panose="020B0604020202090204" charset="0"/>
                <a:ea typeface="Arial" panose="020B0604020202090204" pitchFamily="34" charset="-122"/>
                <a:cs typeface="Arial Bold" panose="020B0604020202090204" charset="0"/>
              </a:rPr>
              <a:t>Positive = AI more diverse. </a:t>
            </a:r>
            <a:endParaRPr lang="en-US" sz="85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17802" y="828377"/>
            <a:ext cx="440461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802" y="1076027"/>
            <a:ext cx="444401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37050" y="1651000"/>
            <a:ext cx="635" cy="623570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2852" y="1659979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Opus 4.5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the only model MORE diverse than humans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2852" y="1867595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pairwise distance: 0.340 vs Human 0.066 (</a:t>
            </a:r>
            <a:r>
              <a:rPr lang="en-US" sz="850" b="1" dirty="0">
                <a:solidFill>
                  <a:srgbClr val="5D6D7E"/>
                </a:solidFill>
                <a:latin typeface="Arial Bold" panose="020B0604020202090204" charset="0"/>
                <a:ea typeface="Arial" panose="020B0604020202090204" pitchFamily="34" charset="-122"/>
                <a:cs typeface="Arial Bold" panose="020B0604020202090204" charset="0"/>
              </a:rPr>
              <a:t>small effect, p &lt; 0.001</a:t>
            </a: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). However, highly skewed distribution: median 0.072 with long tail to 0.8.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36852" y="2376438"/>
            <a:ext cx="0" cy="691158"/>
          </a:xfrm>
          <a:prstGeom prst="line">
            <a:avLst/>
          </a:prstGeom>
          <a:noFill/>
          <a:ln w="38100">
            <a:solidFill>
              <a:srgbClr val="FFB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2852" y="2452638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shows extreme homogeneity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2852" y="2660253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pairwise distance: 0.022 (3x lower than humans). Cliff's Delta = -1.00 (maximum possible effect). Proposals are near-identical.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36852" y="3169096"/>
            <a:ext cx="0" cy="691158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2852" y="3245296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 3 Pro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moderately less diverse than humans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2852" y="3452912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Mean: 0.096. Cliff's Delta = -0.73 (large effect, </a:t>
            </a:r>
            <a:r>
              <a:rPr lang="en-US" sz="850" b="1" dirty="0">
                <a:solidFill>
                  <a:srgbClr val="5D6D7E"/>
                </a:solidFill>
                <a:latin typeface="Arial Bold" panose="020B0604020202090204" charset="0"/>
                <a:ea typeface="Arial" panose="020B0604020202090204" pitchFamily="34" charset="-122"/>
                <a:cs typeface="Arial Bold" panose="020B0604020202090204" charset="0"/>
              </a:rPr>
              <a:t>p &lt; 0.001</a:t>
            </a: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). More varied than GPT-5.2 but still significantly less than human.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36852" y="3961755"/>
            <a:ext cx="0" cy="691158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2852" y="4037955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All AI combined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shows a small negative effect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2852" y="4245570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Cliff's Delta = -0.29 (small). Aggregating masks dramatic between-model differences.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17780" y="2610624"/>
          <a:ext cx="3555950" cy="2158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26" name="Picture 25" descr="pairwise_diversity_by_model"/>
          <p:cNvPicPr>
            <a:picLocks noChangeAspect="1"/>
          </p:cNvPicPr>
          <p:nvPr/>
        </p:nvPicPr>
        <p:blipFill>
          <a:blip r:embed="rId2"/>
          <a:srcRect t="10864" r="52891" b="59988"/>
          <a:stretch>
            <a:fillRect/>
          </a:stretch>
        </p:blipFill>
        <p:spPr>
          <a:xfrm>
            <a:off x="508000" y="1177925"/>
            <a:ext cx="3465830" cy="1499235"/>
          </a:xfrm>
          <a:prstGeom prst="rect">
            <a:avLst/>
          </a:prstGeom>
        </p:spPr>
      </p:pic>
      <p:sp>
        <p:nvSpPr>
          <p:cNvPr id="27" name="Shape 8"/>
          <p:cNvSpPr/>
          <p:nvPr/>
        </p:nvSpPr>
        <p:spPr>
          <a:xfrm>
            <a:off x="4342130" y="1214120"/>
            <a:ext cx="635" cy="34036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29" name="Text 9"/>
          <p:cNvSpPr/>
          <p:nvPr/>
        </p:nvSpPr>
        <p:spPr>
          <a:xfrm>
            <a:off x="4482852" y="1270089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baseline: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mean 0.066; median 0.064; Std 0.018; 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2: Centroid Dispersion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726777"/>
            <a:ext cx="362706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97442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7330" y="4682430"/>
            <a:ext cx="3627069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distance from each proposal to its group centroid. Larger = more spread out from center.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17802" y="828377"/>
            <a:ext cx="440461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802" y="1076027"/>
            <a:ext cx="444401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802" y="1253579"/>
            <a:ext cx="4318248" cy="691158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41932" y="1633944"/>
            <a:ext cx="0" cy="691158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2852" y="1626324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shows massive dispersion from its centroid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2852" y="1833940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dist: 0.179 vs </a:t>
            </a:r>
            <a:r>
              <a:rPr lang="en-US" sz="850" b="1" dirty="0">
                <a:solidFill>
                  <a:srgbClr val="5D6D7E"/>
                </a:solidFill>
                <a:latin typeface="Arial Bold" panose="020B0604020202090204" charset="0"/>
                <a:ea typeface="Arial" panose="020B0604020202090204" pitchFamily="34" charset="-122"/>
                <a:cs typeface="Arial Bold" panose="020B0604020202090204" charset="0"/>
              </a:rPr>
              <a:t>Human 0.032</a:t>
            </a: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 Cliff's Delta = +0.99 (near-maximum large effect, p &lt; 0.001). Proposals spread widely around center.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17802" y="2135138"/>
            <a:ext cx="4318248" cy="831354"/>
          </a:xfrm>
          <a:prstGeom prst="rect">
            <a:avLst/>
          </a:prstGeom>
          <a:solidFill>
            <a:srgbClr val="FD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40860" y="2296160"/>
            <a:ext cx="1270" cy="581660"/>
          </a:xfrm>
          <a:prstGeom prst="line">
            <a:avLst/>
          </a:prstGeom>
          <a:noFill/>
          <a:ln w="38100">
            <a:solidFill>
              <a:srgbClr val="FFB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2852" y="2289443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tightly clustered around its centroid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2852" y="2497693"/>
            <a:ext cx="4106772" cy="420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dist: 0.010. Cliff's Delta = -1.00 (p &lt; 0.001). Variance: 0.000005 vs Human 0.00008. Near-zero spread: all proposals essentially the same point in embedding space.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17802" y="3119428"/>
            <a:ext cx="4318248" cy="691158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41932" y="3024178"/>
            <a:ext cx="0" cy="691158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3802" y="3043228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less dispersed than humans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2852" y="3276878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Mean dist: 0.047; Median 0.0178; SD 0.1348; Cliff's Delta = -0.82 (large effect, p &lt; 0.001). Moderate clustering, though has some high-distance outlier proposals that skewed mean and sd.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17802" y="3771751"/>
            <a:ext cx="4318248" cy="691158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337050" y="3912235"/>
            <a:ext cx="635" cy="54292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2852" y="3910181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All AI combined vs Human: not significant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2852" y="4129861"/>
            <a:ext cx="4106772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Cliff's Delta = -0.17, p = 0.22. Claude's high dispersion offsets GPT-5.2's low dispersion, producing a misleading null result when aggregated.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17802" y="4628594"/>
            <a:ext cx="4404613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Consistency:</a:t>
            </a:r>
            <a:r>
              <a:rPr lang="en-US" sz="900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Confirms pairwise analysis ranking: Claude &gt; Human &gt; Gemini &gt; GPT-5.2</a:t>
            </a:r>
            <a:endParaRPr lang="en-US" sz="9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789940" y="2765425"/>
          <a:ext cx="3157855" cy="1917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28" name="Picture 27" descr="centroid_dispersion_by_model"/>
          <p:cNvPicPr>
            <a:picLocks noChangeAspect="1"/>
          </p:cNvPicPr>
          <p:nvPr/>
        </p:nvPicPr>
        <p:blipFill>
          <a:blip r:embed="rId2"/>
          <a:srcRect r="49285" b="5016"/>
          <a:stretch>
            <a:fillRect/>
          </a:stretch>
        </p:blipFill>
        <p:spPr>
          <a:xfrm>
            <a:off x="952500" y="952500"/>
            <a:ext cx="2780665" cy="1925320"/>
          </a:xfrm>
          <a:prstGeom prst="rect">
            <a:avLst/>
          </a:prstGeom>
        </p:spPr>
      </p:pic>
      <p:sp>
        <p:nvSpPr>
          <p:cNvPr id="27" name="Shape 8"/>
          <p:cNvSpPr/>
          <p:nvPr/>
        </p:nvSpPr>
        <p:spPr>
          <a:xfrm>
            <a:off x="4342130" y="1214120"/>
            <a:ext cx="635" cy="34036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29" name="Text 9"/>
          <p:cNvSpPr/>
          <p:nvPr/>
        </p:nvSpPr>
        <p:spPr>
          <a:xfrm>
            <a:off x="4482852" y="1270089"/>
            <a:ext cx="4106772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baseline:</a:t>
            </a: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Mean 0.032; Median 0.029; Std 0.009; 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7780" y="16119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3: Nearest-Neighbor Outlier Detection 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828377"/>
            <a:ext cx="365075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Outlier Rates (top 10% NN distance)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602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40929"/>
            <a:ext cx="1738759" cy="611832"/>
          </a:xfrm>
          <a:prstGeom prst="roundRect">
            <a:avLst>
              <a:gd name="adj" fmla="val 6227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833711"/>
            <a:ext cx="1738759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094" y="1317129"/>
            <a:ext cx="1566473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13.0%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094" y="1606451"/>
            <a:ext cx="1566473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48210" y="1240929"/>
            <a:ext cx="1738908" cy="611832"/>
          </a:xfrm>
          <a:prstGeom prst="roundRect">
            <a:avLst>
              <a:gd name="adj" fmla="val 6227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348210" y="1833711"/>
            <a:ext cx="1738908" cy="0"/>
          </a:xfrm>
          <a:prstGeom prst="line">
            <a:avLst/>
          </a:prstGeom>
          <a:noFill/>
          <a:ln w="38100">
            <a:solidFill>
              <a:srgbClr val="5D6D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4352" y="1317129"/>
            <a:ext cx="1566624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26.1%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34352" y="1606451"/>
            <a:ext cx="1566624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1928961"/>
            <a:ext cx="1738759" cy="611832"/>
          </a:xfrm>
          <a:prstGeom prst="roundRect">
            <a:avLst>
              <a:gd name="adj" fmla="val 6227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521744"/>
            <a:ext cx="1738759" cy="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094" y="2005161"/>
            <a:ext cx="1566473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4.3%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094" y="2294483"/>
            <a:ext cx="1566473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48210" y="1928961"/>
            <a:ext cx="1738908" cy="611832"/>
          </a:xfrm>
          <a:prstGeom prst="roundRect">
            <a:avLst>
              <a:gd name="adj" fmla="val 6227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348210" y="2521744"/>
            <a:ext cx="1738908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4352" y="2005161"/>
            <a:ext cx="1566624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0 %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34352" y="2294483"/>
            <a:ext cx="1566624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85519" y="823297"/>
            <a:ext cx="438093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5519" y="1070947"/>
            <a:ext cx="444401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41019" y="1253579"/>
            <a:ext cx="4295031" cy="691158"/>
          </a:xfrm>
          <a:prstGeom prst="rect">
            <a:avLst/>
          </a:prstGeom>
          <a:solidFill>
            <a:srgbClr val="FD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804569" y="1238339"/>
            <a:ext cx="0" cy="691158"/>
          </a:xfrm>
          <a:prstGeom prst="line">
            <a:avLst/>
          </a:prstGeom>
          <a:noFill/>
          <a:ln w="38100">
            <a:solidFill>
              <a:srgbClr val="FFB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0569" y="1314539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Claude: high dispersion and high outlier rate are consistent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50460" y="1522095"/>
            <a:ext cx="3500120" cy="280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26.1% outliers aligns with Slide 6: Claude has the largest centroid dispersion, so many proposals fall far from nearest neighbors in global space.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85519" y="2030998"/>
            <a:ext cx="4295031" cy="831354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804569" y="2030998"/>
            <a:ext cx="0" cy="831354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0569" y="2111643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GPT-5.2: near-zero NN distances and zero outliers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0460" y="2319020"/>
            <a:ext cx="3500120" cy="420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0% outliers and the smallest NN distances (mean 0.0139). GPT-5.2 proposals are near-identical, so each point has an extremely close same-model neighbor.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41019" y="2979093"/>
            <a:ext cx="4295031" cy="691158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804569" y="2963853"/>
            <a:ext cx="0" cy="691158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0569" y="3040053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proposals produce genuine outliers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0460" y="3247390"/>
            <a:ext cx="3500120" cy="280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FF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13% outliers. 43.5% have NN from own group; 56.5% NN from AI</a:t>
            </a: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 Humans occupy shared territory but also produce truly unique ideas.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41019" y="3771751"/>
            <a:ext cx="4295031" cy="831354"/>
          </a:xfrm>
          <a:prstGeom prst="rect">
            <a:avLst/>
          </a:prstGeom>
          <a:solidFill>
            <a:srgbClr val="FD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804569" y="3756511"/>
            <a:ext cx="0" cy="83135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0569" y="3832711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100% of AI proposals' nearest neighbors are other AI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50460" y="4040505"/>
            <a:ext cx="3500120" cy="420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 AI proposal is closest to a human proposal. 95.7% of GPT-5.2 nearest neighbors are within GPT-5.2. This indicates strong source-specific framing differences.</a:t>
            </a:r>
            <a:endParaRPr lang="en-US" sz="850" dirty="0"/>
          </a:p>
        </p:txBody>
      </p:sp>
      <p:sp>
        <p:nvSpPr>
          <p:cNvPr id="43" name="Text 26"/>
          <p:cNvSpPr/>
          <p:nvPr/>
        </p:nvSpPr>
        <p:spPr>
          <a:xfrm>
            <a:off x="423019" y="456654"/>
            <a:ext cx="4083091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chemeClr val="bg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Outliers = </a:t>
            </a:r>
            <a:r>
              <a:rPr lang="en-US" altLang="en-US" sz="950" b="1" dirty="0">
                <a:solidFill>
                  <a:schemeClr val="bg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top 10% largest NN distances across all 92 proposals.</a:t>
            </a:r>
            <a:endParaRPr lang="en-US" altLang="en-US" sz="950" b="1" dirty="0">
              <a:solidFill>
                <a:schemeClr val="bg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pic>
        <p:nvPicPr>
          <p:cNvPr id="44" name="Picture 43" descr="nearest_neighbor_by_mod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" y="2773680"/>
            <a:ext cx="4641215" cy="1638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Embedding Space Visualization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91460" y="803077"/>
            <a:ext cx="333697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UMAP 2D Projection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91460" y="1050727"/>
            <a:ext cx="444401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91460" y="1177528"/>
            <a:ext cx="3336971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92 proposals projected from 1024-dim to 2D. X markers = group centroids. Magenta circles = outliers.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91460" y="1576090"/>
            <a:ext cx="3271540" cy="50021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10510" y="1576090"/>
            <a:ext cx="0" cy="500211"/>
          </a:xfrm>
          <a:prstGeom prst="line">
            <a:avLst/>
          </a:prstGeom>
          <a:noFill/>
          <a:ln w="38100">
            <a:solidFill>
              <a:srgbClr val="FFB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56511" y="1652290"/>
            <a:ext cx="3039130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forms a tight, compact micro-cluster, consistent with very low within-model diversity.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91460" y="2177802"/>
            <a:ext cx="3271540" cy="50021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510510" y="2177802"/>
            <a:ext cx="0" cy="500211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6511" y="2254002"/>
            <a:ext cx="3039130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proposals occupy multiple regions, including the far-left periphery, and account for many highlighted outliers.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91460" y="2779514"/>
            <a:ext cx="3271540" cy="35168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510510" y="2779514"/>
            <a:ext cx="0" cy="351681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6511" y="2855714"/>
            <a:ext cx="3039130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shows moderate clustering with some spread.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91460" y="3232696"/>
            <a:ext cx="3271540" cy="50021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10510" y="3232696"/>
            <a:ext cx="0" cy="500211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6511" y="3308896"/>
            <a:ext cx="3039130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proposals are distributed throughout the center-right, overlapping with Claude and Gemini.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91460" y="3834408"/>
            <a:ext cx="3271540" cy="500211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510510" y="3834408"/>
            <a:ext cx="0" cy="500211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6511" y="3910608"/>
            <a:ext cx="3039130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Outliers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(magenta) are primarily Claude and Human proposals at the space periphery; GPT-5.2 remains compact with few/no outliers in this view.</a:t>
            </a:r>
            <a:endParaRPr lang="en-US" sz="900" dirty="0"/>
          </a:p>
        </p:txBody>
      </p:sp>
      <p:pic>
        <p:nvPicPr>
          <p:cNvPr id="23" name="Image 0" descr="/Users/eveyhuang/Documents/NICO/human-AI-proposal-comparison/results/figures/embedding_space_2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03077"/>
            <a:ext cx="4825901" cy="3936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Defining Novelty &amp; the Literature Corpus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395102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is novelty measured?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100000"/>
            <a:ext cx="507950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180000"/>
            <a:ext cx="3951021" cy="700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199050"/>
            <a:ext cx="3951021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950" y="1307310"/>
            <a:ext cx="3700000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For each proposal, we find its k=10 nearest neighbors in a reference corpus of published PubMed articles and compute the mean cosine distance. A higher score means the proposal is further from anything previously published — it explores territory that the existing literature does not cover. We embed only the title + abstract of each proposal (not the full text) to ensure a fair comparison with the PubMed abstracts.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8630" y="2627630"/>
            <a:ext cx="395097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 does novelty differ from diversity?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9850" y="2885310"/>
            <a:ext cx="1900000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450" y="2977695"/>
            <a:ext cx="1700000" cy="1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4150" y="3219135"/>
            <a:ext cx="1700000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Compares proposals to each other within a group. A diverse group produces varied ideas, but those ideas may all be well-known in the literature. Reference: internal (proposals vs. proposals).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9850" y="2885310"/>
            <a:ext cx="190000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1450" y="2977695"/>
            <a:ext cx="1700000" cy="1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34150" y="3219135"/>
            <a:ext cx="1700000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Compares proposals to published literature. A novel proposal explores territory that no published paper covers, regardless of how similar it is to other proposals. Reference: external (proposals vs. PubMed).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8580" y="4257295"/>
            <a:ext cx="3951021" cy="350000"/>
          </a:xfrm>
          <a:prstGeom prst="roundRect">
            <a:avLst>
              <a:gd name="adj" fmla="val 3000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0980" y="4297295"/>
            <a:ext cx="37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Implication: A model can be highly diverse (varied output) but low novelty (ideas the field already knows), or low diversity (repetitive) but high novelty (repetitively novel). These are independent dimensions.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62500" y="853827"/>
            <a:ext cx="387355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Reference Literature Corpus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62500" y="1100000"/>
            <a:ext cx="507950" cy="25301"/>
          </a:xfrm>
          <a:prstGeom prst="rect">
            <a:avLst/>
          </a:prstGeom>
          <a:solidFill>
            <a:srgbClr val="2E86A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1179830"/>
            <a:ext cx="3700145" cy="2000250"/>
          </a:xfrm>
          <a:prstGeom prst="rect">
            <a:avLst/>
          </a:prstGeom>
        </p:spPr>
      </p:pic>
      <p:sp>
        <p:nvSpPr>
          <p:cNvPr id="24" name="Text 22"/>
          <p:cNvSpPr/>
          <p:nvPr/>
        </p:nvSpPr>
        <p:spPr>
          <a:xfrm>
            <a:off x="4762500" y="3280000"/>
            <a:ext cx="3873550" cy="1120000"/>
          </a:xfrm>
          <a:prstGeom prst="roundRect">
            <a:avLst>
              <a:gd name="adj" fmla="val 3000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81550" y="3470500"/>
            <a:ext cx="0" cy="11200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3000" y="3320000"/>
            <a:ext cx="3600000" cy="1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350 PubMed articles from 7 targeted queries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3000" y="3490000"/>
            <a:ext cx="3600000" cy="8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Emergent properties in molecular/cellular biology (59 articles)
• Mesoscale biology &amp; biomolecular organization (49)
• Biomolecular condensates &amp; phase separation (49)
• Multi-omics data integration (50)
• AI/ML in molecular &amp; cellular biology (59)
• Systems biology &amp; network analysis (44)
• Protein self-assembly &amp; supramolecular organization (40)
Mean abstract length: 1,351 characters. Embedded with BioLinkBERT using same pipeline as proposals.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Analysis: Distance from Existing Literature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= Mean cosine distance to 10 nearest neighbors in a corpus of 350 PubMed articles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014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" y="1202690"/>
            <a:ext cx="4688840" cy="3517265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4850000" y="1253728"/>
            <a:ext cx="3937099" cy="1050000"/>
          </a:xfrm>
          <a:prstGeom prst="roundRect">
            <a:avLst>
              <a:gd name="adj" fmla="val 3645"/>
            </a:avLst>
          </a:prstGeom>
          <a:solidFill>
            <a:srgbClr val="FD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50000" y="1272778"/>
            <a:ext cx="3937099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2400" y="1380679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proposals are more novel than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02400" y="1581299"/>
            <a:ext cx="3704945" cy="5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mean novelty: 0.151 vs AI combined: 0.117 (Cliff’s d = −0.34, medium effect, p = 0.014). Human proposals sit further from published literature, suggesting they draw on less well-trodden ideas.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0000" y="2430000"/>
            <a:ext cx="3937099" cy="76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50000" y="2449050"/>
            <a:ext cx="3937099" cy="0"/>
          </a:xfrm>
          <a:prstGeom prst="line">
            <a:avLst/>
          </a:prstGeom>
          <a:noFill/>
          <a:ln w="38100">
            <a:solidFill>
              <a:srgbClr val="B2B2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2400" y="2556272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is closest to human novelty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02400" y="2730000"/>
            <a:ext cx="3704945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Claude: d = −0.21 (small, p = 0.22, not significant). Gemini: d = −0.42 (medium, p = 0.016). GPT-5.2: d = −0.40 (medium, p = 0.020). The same model that shows greatest internal diversity also produces the most novel output.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50000" y="3625595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2400" y="3732817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Most vs. least novel proposals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02530" y="3906520"/>
            <a:ext cx="3705225" cy="759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Most novel human: “Cytokinetic Bottlenecks of Heat Waves” (0.260). Least novel AI: a Gemini antibiotic resistance proposal (0.059), nearly overlapping published work. AI’s lower novelty may reflect reliance on training-data-dominant framings.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in Embedding Space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Proposals (colored) projected alongside 350 PubMed articles (gray) via UMAP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014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0000" y="1253728"/>
            <a:ext cx="3937099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50000" y="1530000"/>
            <a:ext cx="3937099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proposals sit at the periphery of the literature cluster, occupying regions where fewer published articles exist. This aligns with the higher human novelty scores.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55080" y="2152235"/>
            <a:ext cx="3937099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proposals (colored markers) tend to concentrate closer to dense literature regions, particularly GPT-5.2 and Gemini. Claude proposals show more scatter, with some overlapping human territory, consistent with its non-significant novelty difference.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0000" y="3777280"/>
            <a:ext cx="3704945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Linking diversity and novelty: GPT-5.2’s tight internal cluster maps onto well-published territory. </a:t>
            </a:r>
            <a:endParaRPr lang="en-US" sz="900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High internal similarity + low novelty = AI re-deriving the same ideas from training data. </a:t>
            </a:r>
            <a:endParaRPr lang="en-US" sz="900" dirty="0">
              <a:solidFill>
                <a:srgbClr val="E8505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Claude’s spread extends into less-charted space, mirroring its higher novelty scores.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50000" y="2983935"/>
            <a:ext cx="3937099" cy="5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Interpretation caveat: UMAP projections can distort distances. The quantitative novelty scores (slide 10) are the primary evidence; this visualization serves as a qualitative consistency check. Proposals near literature ≠ low quality, and distance from literature could also indicate incoherence.</a:t>
            </a:r>
            <a:endParaRPr lang="en-US" sz="850" dirty="0"/>
          </a:p>
        </p:txBody>
      </p:sp>
      <p:pic>
        <p:nvPicPr>
          <p:cNvPr id="13" name="Picture 12" descr="novelty_embedding_spa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" y="1208405"/>
            <a:ext cx="4661535" cy="34886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Thematic Analysis: Topic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7395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LDA topic modeling (k=5, strong priors) with Fisher’s exact tests and FDR correction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9871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0000" y="1253728"/>
            <a:ext cx="3937099" cy="900000"/>
          </a:xfrm>
          <a:prstGeom prst="roundRect">
            <a:avLst>
              <a:gd name="adj" fmla="val 3645"/>
            </a:avLst>
          </a:prstGeom>
          <a:solidFill>
            <a:srgbClr val="FD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9910" y="3416935"/>
            <a:ext cx="3362325" cy="635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310" y="3494405"/>
            <a:ext cx="316484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Complete thematic separation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2310" y="3813810"/>
            <a:ext cx="3164840" cy="5702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All 23 human proposals map to a single dominant topic (Topic 3: evolutionary/species-level biology). All 69 AI proposals distribute across the other 4 topics (mechanical/structural, transport/diffusion, imaging/perturbation, splicing/allosteric). Overall chi-square permutation test: p &lt; 0.0001.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66895" y="3417570"/>
            <a:ext cx="3362325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9295" y="3498215"/>
            <a:ext cx="316484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Per-topic Fisher’s exact tests (FDR-corrected)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19295" y="3813810"/>
            <a:ext cx="3164840" cy="379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Topic 3 (human-exclusive): p &lt; 0.0001. Topics 1, 4, 5 (AI-overrepresented): p &lt; 0.05. Topic 2 (AI-leaning): p = 0.061 (marginal). Subsample validation (n=23 each, 1000 iter): Topics 1 and 3 robust (&gt;98%); Topic 2 weak (18.5%).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83655" y="1427480"/>
            <a:ext cx="241490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Critical caveat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83655" y="1597660"/>
            <a:ext cx="2414905" cy="309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Perfect separation is a red flag: LDA may be capturing systematic stylistic or templating artifacts rather than genuine scientific themes. Human entropy = 0 (all in one topic) is suspicious. These results are exploratory and require validation with expert coding.</a:t>
            </a:r>
            <a:endParaRPr lang="en-US" sz="850" dirty="0"/>
          </a:p>
        </p:txBody>
      </p:sp>
      <p:pic>
        <p:nvPicPr>
          <p:cNvPr id="18" name="Picture 17" descr="topic_distribution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" y="1160780"/>
            <a:ext cx="5633085" cy="20866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Cluster Segregation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565" y="75476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Gaussian Mixture Model clustering (k=3, selected by BIC) with segregation metrics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565" y="100241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0000" y="1253728"/>
            <a:ext cx="3937099" cy="85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50000" y="1272778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2400" y="1350000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Cluster composition reveals asymmetric segregation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02400" y="1530000"/>
            <a:ext cx="3704945" cy="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Cluster 0 (n=27): 100% AI. Cluster 1 (n=7): 100% AI. Cluster 2 (n=58): 40% human, 60% AI. Two clusters are entirely AI-dominated. All 23 human proposals land in a single mixed cluster, while AI proposals spread across all three, suggesting </a:t>
            </a:r>
            <a:r>
              <a:rPr lang="en-US" sz="900" u="sng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AI occupies distinct conceptual regions that humans do not enter.</a:t>
            </a:r>
            <a:endParaRPr lang="en-US" sz="900" u="sng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29045" y="2430660"/>
            <a:ext cx="3937099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8905" y="2537645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Segregation metrics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78905" y="2717645"/>
            <a:ext cx="3704945" cy="3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NMI = 0.197 (p &lt; 0.0001): clusters predict human/AI source better than chance. ARI = −0.035 (p = 0.86): no agreement beyond chance (expected given unbalanced groups). Between/within distance ratio = 1.085 (p = 0.004): </a:t>
            </a:r>
            <a:r>
              <a:rPr lang="en-US" sz="900" u="sng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and AI proposals are measurably more distant from each other than from their own group</a:t>
            </a: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9365" y="3636740"/>
            <a:ext cx="3937099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9540" y="3750710"/>
            <a:ext cx="3704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Connecting the evidence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79540" y="3930710"/>
            <a:ext cx="3704945" cy="3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Cluster segregation corroborates the nearest-neighbor finding (100% AI-AI nearest neighbors) and the topic separation. Across three independent methods — NN analysis, LDA topic modeling, and GMM clustering — humans and AI occupy different semantic territories.</a:t>
            </a:r>
            <a:endParaRPr lang="en-US" sz="900" dirty="0"/>
          </a:p>
        </p:txBody>
      </p:sp>
      <p:pic>
        <p:nvPicPr>
          <p:cNvPr id="19" name="Picture 18" descr="cluster_analysis_visualiz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" y="1126490"/>
            <a:ext cx="4333240" cy="3851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Integrated Findings Across All Analyses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Convergent evidence from diversity, novelty, thematic, and cluster analyses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014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53728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D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272778"/>
            <a:ext cx="3937099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350" y="1353728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Diversity ranking is consistent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0350" y="1533728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Pairwise, centroid, and NN analyses converge on the same structure: Claude shows broad spread, GPT-5.2 shows mode collapse, Gemini is intermediate, and pooled AI obscures this heterogeneity.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950" y="1253728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98950" y="1272778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1350" y="1353728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tracks a different dimension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51350" y="1533728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Novelty adds a second lens: humans are furthest from the literature, while AI variation is often within known regions. This explains why high internal diversity (Claude) does not automatically imply high external novelty.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500000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519050"/>
            <a:ext cx="3937099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350" y="2600000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Semantic segregation confirmed 3 ways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0350" y="2780000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NN, LDA, and GMM all point to source-linked semantic segregation. Style-adjusted NN still shows strong asymmetry (AI same-group NN 94.2%), so the separation is reduced but not eliminated by style control.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500000"/>
            <a:ext cx="3937099" cy="1120000"/>
          </a:xfrm>
          <a:prstGeom prst="roundRect">
            <a:avLst>
              <a:gd name="adj" fmla="val 3645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98950" y="2519050"/>
            <a:ext cx="3937099" cy="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1350" y="2600000"/>
            <a:ext cx="37000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Aggregation masks real differences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51350" y="2780000"/>
            <a:ext cx="3700000" cy="7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Two aggregation traps recur: pooled AI cancels opposite model effects, and single summary statistics miss distribution shape. Interpreting means, medians, effect sizes, and model-level breakdowns together is essential.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8000" y="3746500"/>
            <a:ext cx="8128000" cy="702310"/>
          </a:xfrm>
          <a:prstGeom prst="roundRect">
            <a:avLst>
              <a:gd name="adj" fmla="val 3000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1460" y="3806267"/>
            <a:ext cx="7900000" cy="3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Coherent story across analyses: AI model choice controls within-AI diversity; novelty analysis shows humans explore farther-from-literature territory; clustering/topic analyses show human-AI semantic separation; style-adjusted tests confirm this gap is not purely stylistic.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style_features_by_model_boxplo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0" y="1030605"/>
            <a:ext cx="6415405" cy="352996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9495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Strong Stylistic Differences Between Human and AI Proposals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565" y="75476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Style-only baseline strongly separates Human vs AI (AUROC 0.980 ± 0.028; balanced accuracy 0.894 ± 0.093)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565" y="100241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64325" y="1272540"/>
            <a:ext cx="2122805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4005" y="1350010"/>
            <a:ext cx="206375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Are there stylistic differences between human and AI proposals?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44005" y="1789430"/>
            <a:ext cx="2346960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We created style-only features that quantify how a proposal is written (structure, lexical variety, stopword usage, hedging/stance, sectioning, readability, and punctuation/formatting patterns) to build a style baseline.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5069205" y="3208020"/>
            <a:ext cx="3117215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Using logistic regression on style features, we found that </a:t>
            </a:r>
            <a:r>
              <a:rPr lang="en-US" altLang="en-US" sz="900" b="1" dirty="0">
                <a:solidFill>
                  <a:srgbClr val="E8505B"/>
                </a:solidFill>
                <a:latin typeface="Arial Bold" panose="020B0604020202090204" charset="0"/>
                <a:cs typeface="Arial Bold" panose="020B0604020202090204" charset="0"/>
              </a:rPr>
              <a:t>style alone can separate human vs AI proposals.</a:t>
            </a:r>
            <a:endParaRPr lang="en-US" altLang="en-US" sz="900" b="1" dirty="0">
              <a:solidFill>
                <a:srgbClr val="E8505B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2C3E50"/>
                </a:solidFill>
                <a:latin typeface="Arial Bold" panose="020B0604020202090204" charset="0"/>
                <a:cs typeface="Arial Bold" panose="020B0604020202090204" charset="0"/>
              </a:rPr>
              <a:t>Permutation test</a:t>
            </a: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(AUROC, 1,000 label shuffles):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Observed AUROC: 0.980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Null mean AUROC: 0.509 ± 0.099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p-value: 0.0010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ntroid_dispersion_style_adjus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30" y="1122045"/>
            <a:ext cx="6054090" cy="368236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9495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Style-adjusted centroid dispersion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565" y="75476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alt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After removing embedding components predictable from style features, does semantic separation remain?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565" y="100241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384290" y="1272540"/>
            <a:ext cx="2402840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4925" y="1350010"/>
            <a:ext cx="232283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Style-adjusted centroid dispersion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84925" y="1619250"/>
            <a:ext cx="2606675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Residualization workflow: fit y_raw ~ style features, subtract predicted style component, and analyze adjusted distances in residual space.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dirty="0">
                <a:solidFill>
                  <a:srgbClr val="2C3E5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Style-only signal is strong (AUROC 0.980), so this adjustment isolates style-independent embedding structure.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1" name="Picture 10" descr="Screenshot 2026-02-18 at 10.36.20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460" y="3851275"/>
            <a:ext cx="2607310" cy="97155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6347460" y="2936875"/>
            <a:ext cx="2570480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E8505B"/>
                </a:solidFill>
                <a:latin typeface="Arial Bold" panose="020B0604020202090204" charset="0"/>
                <a:cs typeface="Arial Bold" panose="020B0604020202090204" charset="0"/>
              </a:rPr>
              <a:t>Adjusted results: AI-vs-human coefficient remains positive (+0.0486 for own-group centroid distance; permutation p=0.0002). Per-model effects: Claude δ=+0.123 (ns), Gemini δ=-0.611 (p=4.0e-4), GPT-5.2 δ=-0.172 (ns).</a:t>
            </a:r>
            <a:endParaRPr lang="en-US" altLang="en-US" sz="900" b="1" dirty="0">
              <a:solidFill>
                <a:srgbClr val="E8505B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9495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Style-adjusted NN and embedding-space diagnostics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91710" y="1054735"/>
            <a:ext cx="2402840" cy="635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710" y="801370"/>
            <a:ext cx="232283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changes after removing style-related embedding variance?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91710" y="1156335"/>
            <a:ext cx="3111500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Nearest-neighbor and UMAP checks in residual space test whether human/AI separation persists beyond writing style.</a:t>
            </a: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791710" y="1723390"/>
            <a:ext cx="3996055" cy="499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E8505B"/>
                </a:solidFill>
                <a:latin typeface="Arial Bold" panose="020B0604020202090204" charset="0"/>
                <a:cs typeface="Arial Bold" panose="020B0604020202090204" charset="0"/>
              </a:rPr>
              <a:t>After adjustment, GPT-5.2 is most isolated (mean NN 0.5667; 30.4% outliers) while Claude is least isolated (mean NN 0.2973; 0% outliers).</a:t>
            </a:r>
            <a:endParaRPr lang="en-US" altLang="en-US" sz="900" b="1" dirty="0">
              <a:solidFill>
                <a:srgbClr val="E8505B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altLang="en-US" sz="900" b="1" dirty="0">
                <a:solidFill>
                  <a:srgbClr val="E8505B"/>
                </a:solidFill>
                <a:latin typeface="Arial Bold" panose="020B0604020202090204" charset="0"/>
                <a:cs typeface="Arial Bold" panose="020B0604020202090204" charset="0"/>
              </a:rPr>
              <a:t>Style-adjustment reduces style leakage (mean |corr(style, PC)|: 0.2036 → 0.0405), yet human/AI neighborhood asymmetry remains (AI same-group NN: 94.2%).</a:t>
            </a:r>
            <a:endParaRPr lang="en-US" altLang="en-US" sz="900" b="1" dirty="0">
              <a:solidFill>
                <a:srgbClr val="E8505B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endParaRPr lang="en-US" altLang="en-US" sz="900" dirty="0">
              <a:solidFill>
                <a:srgbClr val="2C3E5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69495" y="782022"/>
            <a:ext cx="365075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Outlier Rates (top 10% NN distance)</a:t>
            </a:r>
            <a:endParaRPr lang="en-US" sz="1200" dirty="0"/>
          </a:p>
        </p:txBody>
      </p:sp>
      <p:sp>
        <p:nvSpPr>
          <p:cNvPr id="12" name="Text 3"/>
          <p:cNvSpPr/>
          <p:nvPr/>
        </p:nvSpPr>
        <p:spPr>
          <a:xfrm>
            <a:off x="169495" y="1029672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5"/>
          <p:cNvSpPr/>
          <p:nvPr/>
        </p:nvSpPr>
        <p:spPr>
          <a:xfrm>
            <a:off x="169495" y="1787356"/>
            <a:ext cx="1738759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255639" y="1270774"/>
            <a:ext cx="1566473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13.0%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255639" y="1560096"/>
            <a:ext cx="1566473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2009755" y="1787356"/>
            <a:ext cx="1738908" cy="0"/>
          </a:xfrm>
          <a:prstGeom prst="line">
            <a:avLst/>
          </a:prstGeom>
          <a:noFill/>
          <a:ln w="38100">
            <a:solidFill>
              <a:srgbClr val="5D6D7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2095897" y="1270774"/>
            <a:ext cx="1566624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26.1% -&gt;</a:t>
            </a: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0.0%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2095897" y="1560096"/>
            <a:ext cx="1566624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69495" y="2475389"/>
            <a:ext cx="1738759" cy="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55639" y="1958806"/>
            <a:ext cx="1566473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4.3% -&gt;</a:t>
            </a: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0.0%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255639" y="2248128"/>
            <a:ext cx="1566473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Gemini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2009755" y="2475389"/>
            <a:ext cx="1738908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095897" y="1958806"/>
            <a:ext cx="1566624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0.0% -&gt;</a:t>
            </a:r>
            <a:r>
              <a:rPr lang="en-US" sz="16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30.4%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2095897" y="2248128"/>
            <a:ext cx="1566624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GPT-5.2</a:t>
            </a:r>
            <a:endParaRPr lang="en-US" sz="800" dirty="0"/>
          </a:p>
        </p:txBody>
      </p:sp>
      <p:pic>
        <p:nvPicPr>
          <p:cNvPr id="26" name="Picture 25" descr="nearest_neighbor_by_model_style_adjus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" y="2924175"/>
            <a:ext cx="5879465" cy="2077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3937099" cy="1050000"/>
          </a:xfrm>
          <a:prstGeom prst="roundRect">
            <a:avLst>
              <a:gd name="adj" fmla="val 3645"/>
            </a:avLst>
          </a:prstGeom>
          <a:solidFill>
            <a:srgbClr val="FDF8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872877"/>
            <a:ext cx="3937099" cy="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950" y="928757"/>
            <a:ext cx="3707099" cy="3085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7820" y="999827"/>
            <a:ext cx="37070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Model-specific diversity varies dramatically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1324607"/>
            <a:ext cx="3707099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is more diverse than humans (d = +0.25, pairwise). GPT-5.2 shows mode collapse (d = −1.00). Gemini is intermediate (d = −0.73). There is no single “AI diversity” story.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98950" y="872877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8950" y="932567"/>
            <a:ext cx="3707099" cy="3085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71365" y="1025227"/>
            <a:ext cx="37070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proposals are more novel than AI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98950" y="1300477"/>
            <a:ext cx="3707099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mean novelty 0.151 vs AI 0.117 (d = −0.34, medium). Claude’s novelty is closest to human (not significant), while GPT-5.2 and Gemini are significantly less novel — their output stays close to published literature.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7950" y="2069050"/>
            <a:ext cx="3937099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2206210"/>
            <a:ext cx="3707099" cy="3085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86A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7820" y="2284900"/>
            <a:ext cx="37070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and AI occupy different semantic territory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7950" y="2603965"/>
            <a:ext cx="3707099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100% of AI nearest neighbors are other AI proposals. GMM clustering: 2 of 3 clusters are AI-only (NMI = 0.20, p &lt; 0.0001). LDA: complete topic separation. Humans and AI generate fundamentally different kinds of ideas.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9000" y="2049780"/>
            <a:ext cx="3937000" cy="1142365"/>
          </a:xfrm>
          <a:prstGeom prst="roundRect">
            <a:avLst>
              <a:gd name="adj" fmla="val 3645"/>
            </a:avLst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98950" y="2069050"/>
            <a:ext cx="3937099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8950" y="2195415"/>
            <a:ext cx="3707099" cy="3085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71365" y="2288710"/>
            <a:ext cx="37070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 effects are strong but not sufficient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98950" y="2603965"/>
            <a:ext cx="3707099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Style-only baseline is highly separable (AUROC 0.980), but style-adjusted analyses still show source-linked structure (AI same-group NN 94.2%). The human-AI gap is reduced, not removed.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5550" y="3620040"/>
            <a:ext cx="8128099" cy="65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950" y="3700040"/>
            <a:ext cx="790000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Overarching narrative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950" y="3930040"/>
            <a:ext cx="790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Integrated narrative: (1) AI models differ sharply from each other, (2) human proposals are consistently more literature-distant, (3) human and AI ideas cluster into different semantic neighborhoods, and (4) style control attenuates but does not erase the gap. Practical implication: use AI to broaden candidate ideas, then rely on human judgment to push novelty and select high-value directions.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677"/>
          </a:xfrm>
          <a:prstGeom prst="rect">
            <a:avLst/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Implications &amp; Limitations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53827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01477"/>
            <a:ext cx="444401" cy="25301"/>
          </a:xfrm>
          <a:prstGeom prst="rect">
            <a:avLst/>
          </a:prstGeom>
          <a:solidFill>
            <a:srgbClr val="E8505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53728"/>
            <a:ext cx="3962400" cy="900000"/>
          </a:xfrm>
          <a:prstGeom prst="rect">
            <a:avLst/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253728"/>
            <a:ext cx="0" cy="9000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450" y="1329928"/>
            <a:ext cx="3682400" cy="1713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models are not interchangeable for scientific ideation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50" y="1543728"/>
            <a:ext cx="3682400" cy="5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Because model-level effects point in opposite directions (e.g., Claude spread vs GPT-5.2 collapse), single-model evaluations are misleading. Comparative multi-model pipelines should be the default for ideation studies.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7950" y="2270000"/>
            <a:ext cx="3962400" cy="900000"/>
          </a:xfrm>
          <a:prstGeom prst="rect">
            <a:avLst/>
          </a:prstGeom>
          <a:solidFill>
            <a:srgbClr val="F7F9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270000"/>
            <a:ext cx="0" cy="9000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2346200"/>
            <a:ext cx="3682400" cy="1713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 novelty advantage suggests complementary roles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8450" y="2560000"/>
            <a:ext cx="3682400" cy="5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evidence chain is consistent: higher human novelty scores, peripheral literature-space placement, and persistent style-adjusted NN asymmetry. This supports a complementarity workflow where AI extends known lines and humans inject boundary-pushing hypotheses.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7950" y="3290000"/>
            <a:ext cx="3962400" cy="900000"/>
          </a:xfrm>
          <a:prstGeom prst="rect">
            <a:avLst/>
          </a:prstGeom>
          <a:solidFill>
            <a:srgbClr val="F0F4F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3346515"/>
            <a:ext cx="0" cy="900000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450" y="3309050"/>
            <a:ext cx="3682400" cy="1713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Semantic segregation raises questions about AI’s “idea space”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450" y="3679060"/>
            <a:ext cx="3682400" cy="5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Semantic separation appears in three independent methods and remains after style control, suggesting representational differences beyond surface form. This is a design target for future prompting/conditioning interventions.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92551" y="1253728"/>
            <a:ext cx="0" cy="2800000"/>
          </a:xfrm>
          <a:prstGeom prst="line">
            <a:avLst/>
          </a:prstGeom>
          <a:noFill/>
          <a:ln w="38100">
            <a:solidFill>
              <a:srgbClr val="E850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001" y="1350000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505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001" y="1600000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Single funding call (NCEMS) — generalizability is unknown.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64100" y="1807210"/>
            <a:ext cx="3599815" cy="2025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Small, unbalanced sample (23 human vs. 69 AI). Power is limited for subtle effects.</a:t>
            </a:r>
            <a:endParaRPr lang="en-US" sz="8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endParaRPr lang="en-US" sz="800" dirty="0"/>
          </a:p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864001" y="2113965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Embedding distance ≠ conceptual diversity. BioLinkBERT may conflate stylistic with semantic differences. Expert validation is needed.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864001" y="2470325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Novelty score conflates novelty with incoherence. High distance from literature could mean a genuinely new idea OR a poorly formulated one.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864001" y="2810810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Topic separation may be an artifact of writing style or prompt templating, not genuine thematic differences. LDA results are exploratory.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4864001" y="3158915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Population mismatch: humans wrote under real funding stakes; AI under zero stakes. This confounds any comparison of quality or effort.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4864001" y="3479080"/>
            <a:ext cx="360000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No quality evaluation yet — diversity and novelty do not imply good science. Human expert review (planned) is the critical missing piece.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6835" y="4570205"/>
            <a:ext cx="8128099" cy="380000"/>
          </a:xfrm>
          <a:prstGeom prst="roundRect">
            <a:avLst>
              <a:gd name="adj" fmla="val 3000"/>
            </a:avLst>
          </a:prstGeom>
          <a:solidFill>
            <a:srgbClr val="1B2A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830" y="4599725"/>
            <a:ext cx="7900000" cy="2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Next steps: (1) Human expert evaluation of proposal quality; (2) Augmented conditions (literature-enriched, persona-based prompts); (3) Construct validation of embedding metrics; (4) Larger sample sizes across multiple funding calls.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20112</Words>
  <Application>WPS Presentation</Application>
  <PresentationFormat>On-screen Show (16:9)</PresentationFormat>
  <Paragraphs>459</Paragraphs>
  <Slides>19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Arial</vt:lpstr>
      <vt:lpstr>Arial</vt:lpstr>
      <vt:lpstr>Arial Bold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vs Human Research Proposal Diversity Analysis</dc:title>
  <dc:creator>Diversity Analysis</dc:creator>
  <dc:subject>PptxGenJS Presentation</dc:subject>
  <cp:lastModifiedBy>evey</cp:lastModifiedBy>
  <cp:revision>13</cp:revision>
  <dcterms:created xsi:type="dcterms:W3CDTF">2026-02-20T20:19:57Z</dcterms:created>
  <dcterms:modified xsi:type="dcterms:W3CDTF">2026-02-20T20:19:57Z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FC05F9E07865875A12F58B69795AEE2A_42</vt:lpwstr>
  </property>
  <property fmtid="{D5CDD505-2E9C-101B-9397-08002B2CF9AE}" pid="3" name="KSOProductBuildVer">
    <vt:lpwstr>1033-12.1.23141.23141</vt:lpwstr>
  </property>
</Properties>
</file>