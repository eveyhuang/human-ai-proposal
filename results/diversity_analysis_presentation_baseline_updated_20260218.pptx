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4" r:id="rId7"/>
    <p:sldId id="259" r:id="rId8"/>
    <p:sldId id="260" r:id="rId9"/>
    <p:sldId id="261" r:id="rId10"/>
    <p:sldId id="262" r:id="rId11"/>
    <p:sldId id="273" r:id="rId12"/>
    <p:sldId id="266" r:id="rId13"/>
    <p:sldId id="267" r:id="rId14"/>
    <p:sldId id="268" r:id="rId15"/>
    <p:sldId id="269" r:id="rId16"/>
    <p:sldId id="270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E50"/>
    <a:srgbClr val="E8505B"/>
    <a:srgbClr val="87929C"/>
    <a:srgbClr val="EA728A"/>
    <a:srgbClr val="8E44AD"/>
    <a:srgbClr val="FFBA66"/>
    <a:srgbClr val="B2B2B2"/>
    <a:srgbClr val="2E86AB"/>
    <a:srgbClr val="16A0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2715870583107"/>
          <c:y val="0.064708849548914"/>
          <c:w val="0.785854131807253"/>
          <c:h val="0.80610875626070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Cliff's Delta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All AI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-0.29</c:v>
                </c:pt>
                <c:pt idx="1">
                  <c:v>0.248</c:v>
                </c:pt>
                <c:pt idx="2">
                  <c:v>-0.726</c:v>
                </c:pt>
                <c:pt idx="3">
                  <c:v>-1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-1.1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Cliff's Delta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200314f2-4890-4587-9a79-4da99555cb1d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941685099538"/>
          <c:y val="0.0775091089764823"/>
          <c:w val="0.76951538306857"/>
          <c:h val="0.7816495528320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Distance to Centroid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74C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0.032</c:v>
                </c:pt>
                <c:pt idx="1">
                  <c:v>0.179</c:v>
                </c:pt>
                <c:pt idx="2">
                  <c:v>0.047</c:v>
                </c:pt>
                <c:pt idx="3">
                  <c:v>0.01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Mean Cosine Distance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367fba64-100b-4f7a-a812-74a825e91617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5020" y="1302752"/>
            <a:ext cx="7772400" cy="857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Comparing Diversity, Novelty, and Quality </a:t>
            </a:r>
            <a:endParaRPr lang="en-US" sz="2800" dirty="0">
              <a:solidFill>
                <a:srgbClr val="1B2A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of AI vs Human Research Proposals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436763"/>
            <a:ext cx="777240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400"/>
              </a:spcAft>
              <a:buNone/>
            </a:pPr>
            <a:r>
              <a:rPr lang="en-US" sz="16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Embedding-Based Comparison Using BioLinkBERT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2979688"/>
            <a:ext cx="1015901" cy="38100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3525738"/>
            <a:ext cx="77724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February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Study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7927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80802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654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 AI-generated research proposals compare to human-written proposals in diversity, novelty, quality, and thematic content when responding to the same funding call?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7950" y="1943745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We compare 23 human proposals and 69 AI proposals (from three frontier models) for the NSF NCEMS call, using embedding-based analyses across three dimensions: internal diversity, novelty relative to published literature, and thematic/cluster composition.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50" y="283373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135263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6035" y="3288149"/>
            <a:ext cx="3873550" cy="743843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3312914"/>
            <a:ext cx="0" cy="743843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3414415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8450" y="3795266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(written by top scientists in MCB domain)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209157"/>
            <a:ext cx="3873550" cy="74384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27000" y="4209157"/>
            <a:ext cx="0" cy="74384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450" y="4310658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8450" y="4691509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(23 per model)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15840" y="363327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Models Tested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2500" y="1180802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81550" y="1383854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5840" y="4038689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62500" y="2145506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2171700"/>
            <a:ext cx="635" cy="11176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5840" y="4268212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8E44A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 Preview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15840" y="4512975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62500" y="87852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Approach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81550" y="3928963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72050" y="1345634"/>
            <a:ext cx="3951021" cy="3732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models received the same funding call and evaluation criteria. All analyses use BioLinkBERT embeddings with non-parametric statistical tests.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72050" y="2045335"/>
            <a:ext cx="3950970" cy="1358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spans four parts: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(1) Diversity via pairwise, centroid, and nearest-neighbor metrics;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(2) Novelty via distance to a PubMed literature corpus;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(3) Thematic separation via topic modeling and cluster analysis.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(4) Stylistic comparison and regularization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315" y="1104445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340000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7000" y="1257470"/>
            <a:ext cx="0" cy="3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8450" y="1200000"/>
            <a:ext cx="3700000" cy="1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BioLinkBERT-large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8500" y="1404620"/>
            <a:ext cx="387350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340M-param biomedical model pretrained on PubMed with citation links. Encodes each proposal as a 1024-dim vector (400-word overlapping chunks, averaged).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27000" y="1785105"/>
            <a:ext cx="0" cy="2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500" y="1786255"/>
            <a:ext cx="3505200" cy="1295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Cosine distance in 1024-dim space for all metrics. </a:t>
            </a:r>
            <a:r>
              <a:rPr lang="en-US" sz="8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inference: Mann-Whitney U, Cliff’s delta, permutation tests (10K), bootstrap 95% CIs, and Holm correction for model-wise comparisons.</a:t>
            </a:r>
            <a:endParaRPr lang="en-US" sz="800" b="1" dirty="0"/>
          </a:p>
        </p:txBody>
      </p:sp>
      <p:sp>
        <p:nvSpPr>
          <p:cNvPr id="13" name="Text 11"/>
          <p:cNvSpPr/>
          <p:nvPr/>
        </p:nvSpPr>
        <p:spPr>
          <a:xfrm>
            <a:off x="527000" y="2289570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Metric Definitions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6365" y="2514805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27050" y="2590165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415" y="2649855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26415" y="2882900"/>
            <a:ext cx="176466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different are proposals from each other within the same group and between groups?</a:t>
            </a:r>
            <a:endParaRPr lang="en-US" sz="8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by cosine distances between proposal embeddings. Three complementary lenses: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pairwise distances (all pairs)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centroid dispersion (distance to group center)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nearest-neighbor analysis (closest proposal in the combined space of all groups). 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82545" y="2585720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2545" y="2656205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582545" y="2896235"/>
            <a:ext cx="167830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far are proposals from </a:t>
            </a:r>
            <a:r>
              <a:rPr lang="en-US" sz="800" b="1" dirty="0">
                <a:solidFill>
                  <a:srgbClr val="2E86AB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what already exists in the scientific literature</a:t>
            </a:r>
            <a:r>
              <a:rPr lang="en-US" sz="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?</a:t>
            </a: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</a:t>
            </a:r>
            <a:endParaRPr lang="en-US" sz="800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as mean cosine distance from each proposal to its 10 nearest neighbors in a corpus of 350 PubMed articles. Higher = more novel.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Crucially different from diversity: a group can be internally diverse but still close to published work, or internally homogeneous but exploring genuinely new territory.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55820" y="2581275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55820" y="265620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Stylistic Separation 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55820" y="2896235"/>
            <a:ext cx="1764030" cy="240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occupy the same conceptual regions (based on topics and styles)? </a:t>
            </a:r>
            <a:endParaRPr lang="en-US" sz="800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identifies latent themes;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groups proposals by embedding similarity. Tests whether sources are segregated or intermingled.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Stylistic feature separation between groups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endParaRPr lang="en-US" sz="800" dirty="0"/>
          </a:p>
        </p:txBody>
      </p:sp>
      <p:sp>
        <p:nvSpPr>
          <p:cNvPr id="44" name="Shape 22"/>
          <p:cNvSpPr/>
          <p:nvPr/>
        </p:nvSpPr>
        <p:spPr>
          <a:xfrm>
            <a:off x="6863080" y="2571115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877050" y="265874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6" name="Text 24"/>
          <p:cNvSpPr/>
          <p:nvPr/>
        </p:nvSpPr>
        <p:spPr>
          <a:xfrm>
            <a:off x="6877050" y="2896235"/>
            <a:ext cx="1764030" cy="16230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exhibit same level of quality?</a:t>
            </a:r>
            <a:endParaRPr lang="en-US" sz="800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domain experts reviewed human proposals from year 1 and provided qualitative reviews;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reviewed all proposals with same criteria and requirements;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Compared similarity between AI and human reviews to check whether AI reviews are valid proxy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39395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Overview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9395" y="109873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39395" y="2242185"/>
            <a:ext cx="1764030" cy="17868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Pairwise diversity (descriptive): all n(n−1)/2 within-group pairs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Centroid dispersion — distance from each proposal to group mean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Nearest-neighbor — closest proposal in combined 92-proposal space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Embedding visualization — UMAP 2D projection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94890" y="2242185"/>
            <a:ext cx="1792605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Literature corpus: 350 PubMed articles from 7 search queries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Novelty score: mean distance to k=10 nearest neighbors in literature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Compares title+abstract embeddings (fair comparison with abstracts)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Inference framework: proposal-level tests + permutation + bootstrap CI + Holm correction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63720" y="2229485"/>
            <a:ext cx="1903095" cy="42989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LDA topic modeling (k=5, strong priors, stability-validated)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Topic distribution: Fisher’s exact tests with FDR correction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GMM clustering (k=3, selected by BIC)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Segregation metrics: NMI, ARI, between/within distance ratio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248535" y="762635"/>
            <a:ext cx="4404360" cy="86614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400935" y="802675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Why these separate analyses?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400935" y="972820"/>
            <a:ext cx="405765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B0C4D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asks: “Are the ideas varied?” Novelty asks: “Are they new relative to the field?” Thematic analysis asks: “Are they about the same things?” Quality asks: “Are they ‘good’ based on defined metrics?” A model can score high on one and low on another — these dimensions are complementary, not redundant.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9395" y="1851660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8760" y="1911350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 (Slides 4-7)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94890" y="1847215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94890" y="1917700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(Slides 9-11)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368165" y="1842770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63720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Style-Controlled (Slides 12-17)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4" name="Shape 22"/>
          <p:cNvSpPr/>
          <p:nvPr/>
        </p:nvSpPr>
        <p:spPr>
          <a:xfrm>
            <a:off x="6575425" y="1832610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589395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 (planned human review)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1: Within-Group Pairwise Diversity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8000" y="4769485"/>
            <a:ext cx="4215765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 diversity vs Human baseline (one value per proposal).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Positive = AI more diverse. </a:t>
            </a:r>
            <a:endParaRPr lang="en-US" sz="850" b="1" dirty="0">
              <a:latin typeface="Arial Bold" panose="020B0604020202090204" charset="0"/>
              <a:cs typeface="Arial Bold" panose="020B06040202020902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37050" y="1651000"/>
            <a:ext cx="635" cy="62357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5997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the strongest AI source of diversity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67595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+0.274 (95% CI [0.209, 0.344]); Cliff’s δ = +1.00, p &lt; 1e-8.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36852" y="2376438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45263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extreme homogeneity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660253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-0.0445 (95% CI [-0.0486, -0.0408]); Cliff’s δ = -1.00, p &lt; 1e-8.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36852" y="3169096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2852" y="3245296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not significantly different from Human at proposal level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452912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diff: +0.0304 (95% CI [-0.0014, 0.0907]); Cliff’s δ = +0.30; MW p = 0.083.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36852" y="3961755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4037955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higher proposal-level diversity than Human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24557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Cliff’s δ = +1.00; mean diff +0.107 (95% CI [0.068, 0.150]); Holm-adjusted permutation p = 0.015.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417780" y="2610624"/>
          <a:ext cx="3555950" cy="2158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6" name="Picture 25" descr="pairwise_diversity_by_model"/>
          <p:cNvPicPr>
            <a:picLocks noChangeAspect="1"/>
          </p:cNvPicPr>
          <p:nvPr/>
        </p:nvPicPr>
        <p:blipFill>
          <a:blip r:embed="rId2"/>
          <a:srcRect t="10864" r="52891" b="59988"/>
          <a:stretch>
            <a:fillRect/>
          </a:stretch>
        </p:blipFill>
        <p:spPr>
          <a:xfrm>
            <a:off x="508000" y="1177925"/>
            <a:ext cx="3465830" cy="149923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0.066; median 0.064; Std 0.018; 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2: Centroid Dispersion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267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744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7330" y="4682430"/>
            <a:ext cx="3627069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distance from each proposal to its group centroid. Larger = more spread out from center.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37050" y="1595755"/>
            <a:ext cx="4318000" cy="619125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41932" y="1633944"/>
            <a:ext cx="0" cy="691158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26324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massive dispersion from its centroid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3394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0.179 vs 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Human 0.032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Cliff's Delta = +0.99 (near-maximum large effect, p &lt; 0.001). Proposals spread widely around center.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8000" y="2256790"/>
            <a:ext cx="4318000" cy="709295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0860" y="2296160"/>
            <a:ext cx="1270" cy="581660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289443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tightly clustered around its centroid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497693"/>
            <a:ext cx="4106772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0.010. Cliff's Delta = -1.00 (p &lt; 0.001). Variance: 0.000005 vs Human 0.00008. Near-zero spread: all proposals essentially the same point in embedding space.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8000" y="3030220"/>
            <a:ext cx="4318000" cy="669925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41932" y="3024178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3802" y="304322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less dispersed than humans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276878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0.047; Median 0.0178; SD 0.1348; Cliff's Delta = -0.82 (large effect, p &lt; 0.001). Moderate clustering, though has some high-distance outlier proposals that skewed mean and sd. 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8000" y="3905885"/>
            <a:ext cx="4318000" cy="556895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37050" y="3912235"/>
            <a:ext cx="635" cy="54292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3910181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 vs Human: not significant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129861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= -0.17, p = 0.22. Claude's high dispersion offsets GPT-5.2's low dispersion, producing a misleading null result when aggregated.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7802" y="4628594"/>
            <a:ext cx="4404613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Consistency:</a:t>
            </a:r>
            <a:r>
              <a:rPr lang="en-US" sz="9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Centroid pattern remains heterogeneous: Claude &gt;&gt; Human ≈ Gemini &gt; GPT-5.2.</a:t>
            </a:r>
            <a:endParaRPr lang="en-US" sz="9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789940" y="2765425"/>
          <a:ext cx="3157855" cy="1917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8" name="Picture 27" descr="centroid_dispersion_by_model"/>
          <p:cNvPicPr>
            <a:picLocks noChangeAspect="1"/>
          </p:cNvPicPr>
          <p:nvPr/>
        </p:nvPicPr>
        <p:blipFill>
          <a:blip r:embed="rId2"/>
          <a:srcRect r="49285" b="5016"/>
          <a:stretch>
            <a:fillRect/>
          </a:stretch>
        </p:blipFill>
        <p:spPr>
          <a:xfrm>
            <a:off x="952500" y="952500"/>
            <a:ext cx="2780665" cy="1925320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0.032; Median 0.029; Std 0.009; 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7780" y="16119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3: Nearest-Neighbor Outlier Detection 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40929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833711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094" y="1317129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094" y="1606451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48210" y="1240929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348210" y="1833711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4352" y="1317129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34352" y="1606451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928961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1744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094" y="2005161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094" y="2294483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48210" y="1928961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348210" y="2521744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34352" y="2005161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34352" y="2294483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85519" y="823297"/>
            <a:ext cx="438093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5519" y="107094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12665" y="1253490"/>
            <a:ext cx="3823335" cy="690880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804569" y="1238339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0569" y="1314539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high dispersion and high outlier rate are consistent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50460" y="1522095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outliers aligns with Slide 6: Claude has the largest centroid dispersion, so many proposals fall far from nearest neighbors in global space.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85360" y="2030730"/>
            <a:ext cx="3850640" cy="831215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804569" y="2030998"/>
            <a:ext cx="0" cy="831354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0569" y="211164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GPT-5.2: near-zero NN distances and zero outliers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50460" y="2319020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0% outliers and the smallest NN distances (mean 0.0139). GPT-5.2 proposals are near-identical, so each point has an extremely close same-model neighbor.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5835" y="2978785"/>
            <a:ext cx="3860165" cy="690880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804569" y="2963853"/>
            <a:ext cx="0" cy="691158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50569" y="304005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produce genuine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950460" y="3247390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FF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13% outliers. 43.5% have NN from own group; 56.5% NN from AI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Humans occupy shared territory but also produce truly unique ideas.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12665" y="3771900"/>
            <a:ext cx="3823335" cy="831215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804569" y="3756511"/>
            <a:ext cx="0" cy="831354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50569" y="3832711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100% of AI proposals' nearest neighbors are other 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50460" y="4040505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 AI proposal is closest to a human proposal. 95.7% of GPT-5.2 nearest neighbors are within GPT-5.2. This indicates strong source-specific framing differences.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423019" y="456654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 = </a:t>
            </a:r>
            <a:r>
              <a:rPr lang="en-US" alt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top 10% largest NN distances across all 92 proposals.</a:t>
            </a:r>
            <a:endParaRPr lang="en-US" altLang="en-US" sz="950" b="1" dirty="0">
              <a:solidFill>
                <a:schemeClr val="bg2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pic>
        <p:nvPicPr>
          <p:cNvPr id="44" name="Picture 43" descr="nearest_neighbor_by_mode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" y="2773680"/>
            <a:ext cx="4641215" cy="16389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Space Visualization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91460" y="803077"/>
            <a:ext cx="333697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UMAP 2D Projection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91460" y="10507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91460" y="1177528"/>
            <a:ext cx="3336971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92 proposals projected from 1024-dim to 2D. X markers = group centroids. Magenta circles = outliers.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91460" y="1576090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510510" y="1576090"/>
            <a:ext cx="0" cy="500211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6511" y="1652290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forms a tight, compact micro-cluster, consistent with very low within-model diversity.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91460" y="2177802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510510" y="2177802"/>
            <a:ext cx="0" cy="500211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6511" y="2254002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occupy multiple regions, including the far-left periphery, and account for many highlighted outliers.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91460" y="2779514"/>
            <a:ext cx="3271540" cy="35168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510510" y="2779514"/>
            <a:ext cx="0" cy="351681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56511" y="2855714"/>
            <a:ext cx="3039130" cy="1485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moderate clustering with some spread.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91460" y="3232696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510510" y="3232696"/>
            <a:ext cx="0" cy="500211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56511" y="3308896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are distributed throughout the center-right, overlapping with Claude and Gemini.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91480" y="3834130"/>
            <a:ext cx="3271520" cy="589280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510510" y="3834408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6511" y="3910608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(magenta) are primarily Claude and Human proposals at the space periphery; GPT-5.2 remains compact with few/no outliers in this view.</a:t>
            </a:r>
            <a:endParaRPr lang="en-US" sz="900" dirty="0"/>
          </a:p>
        </p:txBody>
      </p:sp>
      <p:pic>
        <p:nvPicPr>
          <p:cNvPr id="23" name="Image 0" descr="/Users/eveyhuang/Documents/NICO/human-AI-proposal-comparison/results/figures/embedding_space_2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803077"/>
            <a:ext cx="4825901" cy="39369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Defining Novelty &amp; the Literature Corpus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is novelty measured?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00000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700000"/>
          </a:xfrm>
          <a:prstGeom prst="roundRect">
            <a:avLst>
              <a:gd name="adj" fmla="val 3000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199050"/>
            <a:ext cx="3951021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950" y="1307310"/>
            <a:ext cx="3700000" cy="6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For each proposal, we find its k=10 nearest neighbors in a reference corpus of published PubMed articles and compute the mean cosine distance. A higher score means the proposal is further from anything previously published — it explores territory that the existing literature does not cover. We embed only the title + abstract of each proposal (not the full text) to ensure a fair comparison with the PubMed abstracts.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8630" y="2627630"/>
            <a:ext cx="395097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does novelty differ from diversity?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850" y="2885310"/>
            <a:ext cx="1900000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each other within a group. A diverse group produces varied ideas, but those ideas may all be well-known in the literature. Reference: internal (proposals vs. proposals).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9850" y="2885310"/>
            <a:ext cx="1900000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2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3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published literature. A novel proposal explores territory that no published paper covers, regardless of how similar it is to other proposals. Reference: external (proposals vs. PubMed).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8630" y="4257040"/>
            <a:ext cx="3950970" cy="593725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0980" y="4297295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Implication: A model can be highly diverse (varied output) but low novelty (ideas the field already knows), or low diversity (repetitive) but high novelty (repetitively novel). These are independent dimensions.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62500" y="853827"/>
            <a:ext cx="387355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Reference Literature Corpus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2500" y="110000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1179830"/>
            <a:ext cx="3700145" cy="2000250"/>
          </a:xfrm>
          <a:prstGeom prst="rect">
            <a:avLst/>
          </a:prstGeom>
        </p:spPr>
      </p:pic>
      <p:sp>
        <p:nvSpPr>
          <p:cNvPr id="24" name="Text 22"/>
          <p:cNvSpPr/>
          <p:nvPr/>
        </p:nvSpPr>
        <p:spPr>
          <a:xfrm>
            <a:off x="4762500" y="3279775"/>
            <a:ext cx="3873500" cy="1464945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3470500"/>
            <a:ext cx="0" cy="112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3000" y="3320000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350 PubMed articles from 7 targeted queries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53000" y="3490000"/>
            <a:ext cx="3600000" cy="86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spcAft>
                <a:spcPts val="400"/>
              </a:spcAft>
              <a:buNone/>
            </a:pPr>
            <a:r>
              <a:rPr lang="en-US" sz="78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Emergent properties in molecular/cellular biology (59 articles)
• Mesoscale biology &amp; biomolecular organization (49)
• Biomolecular condensates &amp; phase separation (49)
• Multi-omics data integration (50)
• AI/ML in molecular &amp; cellular biology (59)
• Systems biology &amp; network analysis (44)
• Protein self-assembly &amp; supramolecular organization (40)
Mean abstract length: 1,351 characters. Embedded with BioLinkBERT using same pipeline as proposals.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Analysis: Distance from Existing Literature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= Mean cosine distance to 10 nearest neighbors in a corpus of 350 PubMed articles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" y="1202690"/>
            <a:ext cx="4688840" cy="3517265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4850000" y="1253728"/>
            <a:ext cx="3937099" cy="105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80679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are more novel than 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02400" y="1581299"/>
            <a:ext cx="3704945" cy="5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mean novelty: 0.151 vs AI combined: 0.117 (Cliff’s d = −0.34, medium effect, p = 0.014). Human proposals sit further from published literature, suggesting they draw on less well-trodden ideas.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130" y="2430145"/>
            <a:ext cx="3937000" cy="1061085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850000" y="2449050"/>
            <a:ext cx="3937099" cy="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2400" y="2556272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Model-level novelty gaps after corrected model mapping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01765" y="2945265"/>
            <a:ext cx="3704945" cy="4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d = −0.40 (p = 0.020), Gemini: d = −0.42 (p = 0.016), GPT-5.2: d = −0.21 (p = 0.219, ns). Pooled AI remains significantly less novel than Human.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50000" y="3625595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2400" y="3732817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vs. least novel proposals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02530" y="3906520"/>
            <a:ext cx="3705225" cy="7594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novel human: “Cytokinetic Bottlenecks of Heat Waves” (0.260). Least novel AI: a Gemini antibiotic resistance proposal (0.059), nearly overlapping published work. AI’s lower novelty may reflect reliance on training-data-dominant framings.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in Embedding Space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Proposals (colored) projected alongside 350 PubMed articles (gray) via UMAP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2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50000" y="1530000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sit at the periphery of the literature cluster, occupying regions where fewer published articles exist. This aligns with the higher human novelty scores.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55080" y="2152235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tend to concentrate closer to dense literature regions. Claude and Gemini still show clear novelty gaps vs Human, while GPT-5.2 is closer to Human and not significant in model-level testing.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000" y="3777280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Linking diversity and novelty: GPT-5.2’s tight internal cluster maps onto well-published territory.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High internal similarity + low novelty = AI re-deriving the same ideas from training data.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Claude’s spread extends into less-charted space, but model-level novelty remains below Human.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50000" y="2983935"/>
            <a:ext cx="3937099" cy="5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Interpretation caveat: UMAP projections can distort distances. The quantitative novelty scores (slide 10) are the primary evidence; this visualization serves as a qualitative consistency check. Proposals near literature ≠ low quality, and distance from literature could also indicate incoherence.</a:t>
            </a:r>
            <a:endParaRPr lang="en-US" sz="850" dirty="0"/>
          </a:p>
        </p:txBody>
      </p:sp>
      <p:pic>
        <p:nvPicPr>
          <p:cNvPr id="13" name="Picture 12" descr="novelty_embedding_spa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" y="1208405"/>
            <a:ext cx="4661535" cy="34886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Analysis: Topic Distribution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395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(k=5, strong priors) with Fisher’s exact tests and FDR correction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871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58865" y="1253490"/>
            <a:ext cx="2628265" cy="155321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9910" y="3416935"/>
            <a:ext cx="3362325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2310" y="349440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but not complete thematic separation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2310" y="3813810"/>
            <a:ext cx="3164840" cy="5702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Dominant-topic table now shows overlap: Topic 3 contains Human=21 and AI=3, and Topic 5 contains Human=2 and AI=11. Overall distribution difference remains significant (chi-square permutation p &lt; 0.0001).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66895" y="3417570"/>
            <a:ext cx="336232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9295" y="349821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Per-topic Fisher’s exact tests (FDR-corrected)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19295" y="3813810"/>
            <a:ext cx="3164840" cy="3797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FDR-corrected per-topic tests: Topic 3 is Human-overrepresented (OR=231, q&lt;0.001), Topics 1 and 4 are AI-overrepresented (q&lt;0.01), while Topics 2 and 5 are not significant. Subsample validation: Topics 1, 3, and 4 are robust.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83655" y="1427480"/>
            <a:ext cx="241490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Critical caveat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83655" y="1597660"/>
            <a:ext cx="2414905" cy="309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Separation is substantial but no longer perfect after content-only normalization. Human entropy is no longer zero (H=0.448), while AI remains much higher (subsampled H≈1.99). Results are exploratory and should be validated with expert coding.</a:t>
            </a:r>
            <a:endParaRPr lang="en-US" sz="850" dirty="0"/>
          </a:p>
        </p:txBody>
      </p:sp>
      <p:pic>
        <p:nvPicPr>
          <p:cNvPr id="18" name="Picture 17" descr="topic_distribution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160780"/>
            <a:ext cx="5633085" cy="20866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(k=3, selected by BIC) with segregation metrics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130" y="1253490"/>
            <a:ext cx="3937000" cy="112649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5000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composition reveals asymmetric segregation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02400" y="1530000"/>
            <a:ext cx="3704945" cy="5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0 (n=27): 100% AI. Cluster 1 (n=7): 100% AI. Cluster 2 (n=58): 40% human, 60% AI. Two clusters are entirely AI-dominated. All 23 human proposals land in a single mixed cluster, while AI proposals spread across all three, suggesting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0"/>
              </a:rPr>
              <a:t>AI occupies distinct conceptual regions that humans do not enter.</a:t>
            </a:r>
            <a:endParaRPr lang="en-US" sz="900" u="sng" dirty="0"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29045" y="2430660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8905" y="2537645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Segregation metrics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78905" y="2717645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NMI = 0.197 (p &lt; 0.0001): clusters predict human/AI source better than chance. ARI = −0.035 (p = 0.86): no agreement beyond chance (expected given unbalanced groups). Between/within distance ratio = 1.085 (p = 0.004):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and AI proposals are measurably more distant from each other than from their own group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9365" y="363674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9540" y="375071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Connecting the evidence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79540" y="3930710"/>
            <a:ext cx="3704945" cy="3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corroborates the nearest-neighbor finding (100% AI-AI nearest neighbors) and the topic separation. Across three independent methods — NN analysis, LDA topic modeling, and GMM clustering — humans and AI occupy different semantic territories.</a:t>
            </a:r>
            <a:endParaRPr lang="en-US" sz="900" dirty="0"/>
          </a:p>
        </p:txBody>
      </p:sp>
      <p:pic>
        <p:nvPicPr>
          <p:cNvPr id="19" name="Picture 18" descr="cluster_analysis_visualiza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25" y="1126490"/>
            <a:ext cx="4333240" cy="385127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Integrated Findings Across All Analyses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Convergent evidence from diversity, novelty, thematic, and cluster analyses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ranking is consistent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0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pairwise, centroid, and NN analyses all show strong model heterogeneity: Claude is broad, GPT-5.2 shows mode collapse, and Gemini is intermediate.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98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895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1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tracks a different dimension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51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adds a second lens: humans are furthest from the literature, while AI variation is often within known regions. This explains why high internal diversity (Claude) does not automatically imply high external novelty.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1905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Semantic segregation confirmed 3 ways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0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NN, LDA, and GMM all point to source-linked semantic segregation. Style-adjusted NN still shows strong asymmetry (AI same-group NN 94.2%), so the separation is reduced but not eliminated by style control.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8950" y="2519050"/>
            <a:ext cx="393709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1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masks real differences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51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can hide or invert model-level effects depending on metric; report model-specific estimates with CIs and adjusted p-values.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8000" y="3746500"/>
            <a:ext cx="8128000" cy="70231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60" y="3806267"/>
            <a:ext cx="7900000" cy="3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Coherent story: AI model choice controls within-AI diversity; humans remain more novel vs literature; topic/cluster analyses show source-linked semantic separation; style-adjusted tests confirm the gap is not purely stylistic.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tyle_features_by_model_boxplo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70" y="1030605"/>
            <a:ext cx="6415405" cy="35299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Stylistic Differences Between Human and AI Proposals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Style-only baseline strongly separates Human vs AI (AUROC 1.000 ± 0.000; balanced accuracy 1.000 ± 0.000)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664325" y="1272540"/>
            <a:ext cx="212280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005" y="1350010"/>
            <a:ext cx="206375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Are there stylistic differences between human and AI proposals?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44005" y="1789430"/>
            <a:ext cx="234696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We created style-only features that quantify how a proposal is written (structure, lexical variety, stopword usage, hedging/stance, sectioning, readability, and punctuation/formatting patterns) to build a style baseline.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5069205" y="3208020"/>
            <a:ext cx="311721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Using logistic regression on style features, we found that </a:t>
            </a: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 alone can separate human vs AI proposals.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2C3E50"/>
                </a:solidFill>
                <a:latin typeface="Arial Bold" panose="020B0604020202090204" charset="0"/>
                <a:cs typeface="Arial Bold" panose="020B0604020202090204" charset="0"/>
              </a:rPr>
              <a:t>Permutation test</a:t>
            </a: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(AUROC, 1,000 label shuffles):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Observed AUROC: 1.000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Null mean AUROC: 0.505 ± 0.098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p-value: 0.0010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ntroid_dispersion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122045"/>
            <a:ext cx="6054090" cy="36823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alt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After removing embedding components predictable from style features, does semantic separation remain?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84290" y="1272540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4925" y="1350010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84925" y="1619250"/>
            <a:ext cx="260667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Residualization workflow: fit y_raw ~ style features, subtract predicted style component, and analyze adjusted distances in residual space.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Style-only signal is maximal (AUROC 1.000), so this adjustment isolates style-independent embedding structure.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11" name="Picture 10" descr="Screenshot 2026-02-18 at 10.36.20 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460" y="3851275"/>
            <a:ext cx="2607310" cy="97155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6347460" y="2936875"/>
            <a:ext cx="257048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Adjusted results: AI-vs-human coefficient remains positive (+0.0486 for own-group centroid distance; permutation p=0.0002). Per-model effects: Claude δ=+0.123 (ns), Gemini δ=-0.611 (p=4.0e-4), GPT-5.2 δ=-0.172 (ns).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NN and embedding-space diagnostics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91710" y="1141095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91710" y="801370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What changes after removing style-related embedding variance?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91710" y="1156335"/>
            <a:ext cx="311150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Nearest-neighbor and UMAP checks in residual space test whether human/AI separation persists beyond writing style.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4791710" y="1723390"/>
            <a:ext cx="399605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After adjustment, GPT-5.2 is most isolated (mean NN 0.5667; 30.4% outliers) while Claude is least isolated (mean NN 0.2973; 0% outliers).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Style-adjustment reduces style leakage (mean |corr(style, PC)|: 0.2036 → 0.0405), yet human/AI neighborhood asymmetry remains (AI same-group NN: 94.2%).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169495" y="782022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169495" y="1029672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5"/>
          <p:cNvSpPr/>
          <p:nvPr/>
        </p:nvSpPr>
        <p:spPr>
          <a:xfrm>
            <a:off x="169495" y="1787356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14" name="Text 6"/>
          <p:cNvSpPr/>
          <p:nvPr/>
        </p:nvSpPr>
        <p:spPr>
          <a:xfrm>
            <a:off x="255639" y="1270774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15" name="Text 7"/>
          <p:cNvSpPr/>
          <p:nvPr/>
        </p:nvSpPr>
        <p:spPr>
          <a:xfrm>
            <a:off x="255639" y="1560096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2009755" y="1787356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2095897" y="1270774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2095897" y="1560096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69495" y="2475389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255639" y="1958806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255639" y="2248128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2009755" y="2475389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095897" y="1958806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0.0%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30.4%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095897" y="2248128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pic>
        <p:nvPicPr>
          <p:cNvPr id="26" name="Picture 25" descr="nearest_neighbor_by_model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545" y="2924175"/>
            <a:ext cx="5879465" cy="20777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Part IV Quality: Why Three Linked Analyses?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Motivation, analytical logic, and how R1, R2, and R3 connect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Motivation: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Diversity and novelty analyses (Parts I–III) tell us whether AI proposals explore different intellectual territory.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They do not tell us whether those proposals are high-quality, rigorous, or fundable. That requires explicit quality scoring.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But quality scoring with AI evaluators introduces new risks: evaluator leniency differences and self-preference bias.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Three linked sub-analyses: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  Proxy Validity: Are AI reviews textually and judgmentally similar to expert human reviews?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Without this, AI-judged quality scores have no established relationship to expert opinion.</a:t>
            </a:r>
            <a:endParaRPr sz="82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 Proposal Quality: Do AI-generated proposals score higher than human-authored proposals under AI evaluation?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This is the core substantive question—but only interpretable after R1 and R3 are addressed.</a:t>
            </a:r>
            <a:endParaRPr sz="82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 Evaluator Bias: Do AI evaluators show systematic leniency differences or self-preference?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If yes, R2 conclusions are confounded and must be re-run with bias controls.</a:t>
            </a:r>
            <a:endParaRPr sz="82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7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Analytical sequence: R1 validates the instrument → R3 diagnoses bias → bias-controlled R2 enables valid inference.</a:t>
            </a:r>
            <a:endParaRPr sz="87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272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 Method: Validating the Evaluation Instrument Before Interpreting Scores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Cosine similarity, sentiment alignment, and categorical agreement across review pair types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250000"/>
            <a:ext cx="4600000" cy="31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31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this analysis: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AI reviewers produce fundamentally different assessments than human experts, using them as a quality proxy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is methodologically indefensible. R1 tests whether AI reviews are in the same "critical space" as human reviews.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 Y1 proposals were reviewed by both expert human panels and all 3 AI models, enabling direct pair comparison.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Three pair types: Human–Human (HH), Human–AI (HAI), AI–AI (AIAI).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Metrics: cosine similarity (sentence-BERT embeddings), sentiment polarity alignment, categorical agreement.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 argument: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Scores averaged to proposal level (n=12) before testing, avoiding pairwise pseudo-replication.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Paired Wilcoxon signed-rank is the primary test (same 12 proposals in both groups); BH-FDR controls multiplicity.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Figure: proposal-level paired slopes show within-proposal changes across pair types.</a:t>
            </a:r>
            <a:endParaRPr sz="82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22530" y="49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 Results: AI Reviews Are Aligned With Humans—But AI Judges Cluster Tightly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Human–AI similarity is not significantly lower than human–human; AI–AI similarity is dramatically higher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250000"/>
            <a:ext cx="395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000" y="125000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950000"/>
            <a:ext cx="8400000" cy="11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Human–AI vs Human–Human cosine: q=0.237, δ=-0.29 (small, not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→ AI reviews are not detectably more dissimilar to each other than human reviews are to each other.</a:t>
            </a:r>
            <a:endParaRPr sz="80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AI–AI vs Human–Human cosine: Wilcoxon p=0.016, q=0.025, δ=0.58 (large,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AI–AI vs Human–AI cosine: Wilcoxon p=0.00049, q=&lt;0.001, δ=0.93 (large, highly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→ AI models converge on far more similar review language than humans do, and more than when reviewing the same human-written proposal.</a:t>
            </a:r>
            <a:endParaRPr sz="8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AI reviews are not foreign to human expert assessments in textual content (R1 passes the basic validity bar).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However, the AI judge panel lacks the heterogeneity of human expert panels, which may compress the diversity of critical perspectives.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760" b="1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Left panel: HAI vs HH by AI model. Right panel: AIAI vs HH by model pair.</a:t>
            </a:r>
            <a:endParaRPr sz="760" b="1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233045" y="175260"/>
            <a:ext cx="8667115" cy="29972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Setup: Verifying Human Baseline Comparability (Year 1 vs Year 2)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Before pooling two human cohorts as "human-all," we test whether they are statistically equivalent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this matters: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human cohorts exist: Year 1 (n=12 proposals, evaluated by both human experts and AI) and Year 2 (n=11 proposals, AI-evaluated only).</a:t>
            </a:r>
            <a:endParaRPr sz="8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the cohorts differ substantially in quality, pooling them inflates within-group variance and biases comparisons to AI.</a:t>
            </a:r>
            <a:endParaRPr sz="8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Method: Mann–Whitney U + Cliff’s delta + BH-FDR, applied to all 8 scored dimensions.</a:t>
            </a:r>
            <a:endParaRPr sz="8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Results across 8 criteria (BH-FDR corrected):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Overall score: Y1 mean=3.51, Y2 mean=3.81, q=0.090 — NOT significant (δ=-0.42 medium)</a:t>
            </a:r>
            <a:endParaRPr sz="87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Relevance, Novelty, Rigor, Scope/Timeline, Synthesis, Open Science: all non-significant (q &gt; 0.05)</a:t>
            </a:r>
            <a:endParaRPr sz="87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EXCEPTION — Data Identification: Y1=3.36, Y2=4.06, q=0.005, δ=-0.69 (large, significant)</a:t>
            </a:r>
            <a:endParaRPr sz="87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Y2 proposals include stronger data identification plans, possibly reflecting evolved grant writing norms.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Conclusion: the two cohorts are equivalent on 7 of 8 dimensions. Pooling as "human-all" is justified for overall quality comparisons,</a:t>
            </a:r>
            <a:endParaRPr sz="8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with the caveat that Data Identification scores in human-all reflect a year-of-submission effect.</a:t>
            </a:r>
            <a:endParaRPr sz="8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Baseline: AI-Generated Proposals Score Higher Under AI Evaluation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All evaluators pooled; 23 AI proposals vs 23 human proposals per group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105855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000" y="1019495"/>
            <a:ext cx="400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1905" y="361980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Method: proposal-level means (averaged across all AI evaluators), Mann–Whitney + Cliff’s δ + BH-FDR + bootstrap CI.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Human-all: mean=3.65 │ Claude: 3.50 (q=0.358, ns) │ Gemini: 4.12 (q=&lt;0.001***) │ GPT-5.2: 4.39 (q=&lt;0.001***)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Robust bootstrap (human−AI): Claude +0.15 [95% CI: −0.11, +0.43] ns │ Gemini −0.47 [−0.68, −0.23] sig │ GPT −0.74 [−0.91, −0.57] sig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Gemini and GPT proposals receive substantially higher scores than human proposals under pooled AI evaluation.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proposals are statistically indistinguishable from human proposals (both on the 1–5 scale near 3.5).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IMPORTANT CAVEAT: these pooled scores include self-evaluations (AI evaluating its own proposals). R3 quantifies this bias.</a:t>
            </a:r>
            <a:endParaRPr sz="82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78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Left: overall score distributions by author group. Right: radar chart of 7 criteria reveals pattern heterogeneity.</a:t>
            </a:r>
            <a:endParaRPr sz="78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Criterion Decomposition: The AI Advantage Is Model- and Dimension-Specific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Effect-size heatmap and dot plot across 7 rubric criteria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790" y="1103630"/>
            <a:ext cx="3846195" cy="2747645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475" y="913765"/>
            <a:ext cx="3790950" cy="2992755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78740" y="3723890"/>
            <a:ext cx="8400000" cy="7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patterns (human-all vs each AI author group):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Relevance: all three AI models score near ceiling (5.0) vs human mean ≈3.75 — δ ≈ −0.87 large for all models.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Rigor: humans score significantly HIGHER than Claude proposals (δ=+0.48, large) but lower than GPT (δ=−0.92, large).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Scope/Timeline: humans score higher than Claude (δ=+0.58 large) but lower than GPT (δ=−0.50 large).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Science: GPT proposals score far higher than humans (δ=−0.92 large); Gemini also higher (δ=−0.53 large).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 Identification: GPT dramatically higher (δ=−0.70 large); Gemini not significantly different from humans.</a:t>
            </a: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"AI proposals score higher" is not uniform—models and criteria show opposite patterns.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underperforms humans on Rigor and Scope/Timeline while exceeding them on Relevance alone.</a:t>
            </a:r>
            <a:endParaRPr sz="8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78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Heatmap: blue=human higher, red=AI higher; gray=non-significant. Dot plot: filled=significant, hollow=ns.</a:t>
            </a:r>
            <a:endParaRPr sz="78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Step 1: AI Evaluators Differ Substantially in Scoring Leniency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Kruskal–Wallis test across all 276 AI reviews; evaluator identity predicts score independently of proposal quality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250000"/>
            <a:ext cx="4600000" cy="29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29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diagnose evaluator leniency first: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one evaluator systematically assigns higher scores, comparing author groups across a pooled panel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confounds proposal quality with evaluator severity—an evaluator effect, not a quality effect.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Result: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Kruskal–Wallis H = 70.034, p = 6.2 × 10⁻¹⁶ — evaluator identity is a highly significant predictor of score.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evaluator: mean = 4.32 (most lenient) │ Claude: 3.80 │ GPT: 3.62 (most strict)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0.71-point spread between Gemini and GPT evaluator means is larger than the human–GPT author group difference.</a:t>
            </a:r>
            <a:endParaRPr sz="85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Consequence: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Pooled-evaluator R2 results are a mixture of proposal quality and evaluator severity.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Before accepting the R2 baseline, we must check (a) self-preference bias (R3 Step 2) and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(b) whether findings replicate with evaluator configuration controlled (sensitivity analyses).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Step 2: Self-Preference Is Large in Magnitude and Model-Divergent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strongly self-inflates; Claude self-deprecates; Gemini is neutral—all three effects are large or negligible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745" y="1250315"/>
            <a:ext cx="3498850" cy="2273935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980" y="1250315"/>
            <a:ext cx="3427730" cy="2256155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50677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Method: for each AI evaluator, compare scores assigned to its own proposals (self) vs other models' proposals (other).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Mann–Whitney U + Cliff’s δ + BH-FDR, then criterion-level decomposition.</a:t>
            </a:r>
          </a:p>
          <a:p>
            <a:pPr algn="l"/>
            <a:r>
              <a:rPr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evaluator → strong self-INFLATION: δ=+0.987 large (q=&lt;0.001); own mean=4.08 vs others mean=3.57</a:t>
            </a:r>
            <a:endParaRPr sz="82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evaluator → strong self-DEPRECATION: δ=−0.581 large (q=&lt;0.001); own mean=3.54 vs others mean=4.10</a:t>
            </a:r>
            <a:endParaRPr sz="82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 b="1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 → NO significant self-preference: δ=+0.128 negligible (q=0.327)</a:t>
            </a:r>
            <a:endParaRPr sz="820" b="1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Criterion detail: GPT self-inflation concentrates in Rigor (+1.33), Data Identification (+0.93), Open Science (+0.80).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self-deprecation concentrates in Rigor (−0.98), Scope/Timeline (−0.67); Relevance scores are floor-capped (all=5.0).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Implication: GPT baseline R2 advantage is at least partly a self-evaluation artifact, not objective quality difference.</a:t>
            </a:r>
            <a:endParaRPr sz="820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76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Left: strip/box plot of self vs other by evaluator. Right: criterion-level heatmap of self−other mean differences.</a:t>
            </a:r>
            <a:endParaRPr sz="76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Step 3: Self-Preference Survives Proposal-Quality Controls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Fixed-effects regression isolates self-preference net of proposal identity, evaluator severity, and author group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250000"/>
            <a:ext cx="4600000" cy="30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30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a regression?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self vs other comparison conflates two mechanisms: (1) genuine self-preference bias and (2) AI models may simply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produce higher-quality proposals that any evaluator would rate higher.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regression removes the second explanation by adding proposal fixed effects.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Model: score ~ is_self * criterion + evaluator + author + proposal_uid (HC3-robust SEs)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Proposal fixed effects absorb all between-proposal quality variation.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Net self-preference (Data_ID reference criterion): +0.33 points persists after all controls.</a:t>
            </a:r>
            <a:endParaRPr sz="84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Evaluator effects confirmed: Gemini +0.40 above Claude baseline; GPT −0.20 below.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GPT-authored proposals receive ~+1.25 more points than the baseline, net of evaluator severity.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4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Conclusion: self-preference is a real evaluator bias, not a proxy for objective quality differences.</a:t>
            </a:r>
            <a:endParaRPr sz="84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Forest plot shows per-criterion self-preference coefficients (β ± 95% CI) and evaluator severity panel.</a:t>
            </a:r>
            <a:endParaRPr sz="8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→ R2: Why Bias-Controlled Reruns Are Necessary Before Drawing Conclusions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sources of confound identified; two sensitivity analyses designed to address them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Summary of R3 findings and their implications for R2: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 1 — Evaluator self-preference:</a:t>
            </a:r>
            <a:endParaRPr sz="90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evaluator strongly inflates own proposals (+0.99δ large). Including GPT self-evaluations in the pooled baseline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artificially elevates GPT-authored proposal scores.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Fix: Sensitivity 1 removes self-evaluations for AI authors (cross-evaluator-only).</a:t>
            </a:r>
            <a:endParaRPr sz="86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 2 — Evaluator leniency heterogeneity:</a:t>
            </a:r>
            <a:endParaRPr sz="90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 is 0.71 points more lenient than GPT evaluator. Pooling evaluators weights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proposal group comparisons by the leniency of whichever evaluator happened to review more of one group.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Fix: Sensitivity 2 uses Gemini-only as a single, uniform evaluator for all proposals.</a:t>
            </a:r>
            <a:endParaRPr sz="86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 framework for the two reruns: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Findings that hold under both controls are robust and interpretable.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Findings that disappear or reverse under one control are evaluator-configuration sensitive.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GPT’s elevated scores must survive cross-evaluator removal to be credible.</a:t>
            </a:r>
            <a:endParaRPr sz="8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Sensitivity 1 — Cross-Evaluator Only: GPT Advantage Is Robust; Gemini Attenuates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Removing self-evaluations: each AI proposal scored only by the 2 models that did not write it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745" y="1103630"/>
            <a:ext cx="3776980" cy="245491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105" y="1129665"/>
            <a:ext cx="3482340" cy="229235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635" y="366044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 for Claude-, Gemini-, and GPT-authored proposals, remove the 69 rows where evaluator==author (23 per model).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proposals are unaffected (all 3 AI models review them). This controls for self-preference without losing proposals.</a:t>
            </a: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Means (cross-eval only): Human 3.65 │ Claude 3.48 (q=0.262, ns) │ Gemini 3.84 (q=0.070, marginal) │ GPT 4.55 (q=&lt;0.001***)</a:t>
            </a:r>
            <a:endParaRPr sz="8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Robust bootstrap: Claude +0.17 [−0.11, +0.47] ns │ Gemini −0.19 [−0.40, +0.02] ns │ GPT −0.89 [−1.06, −0.73] sig</a:t>
            </a:r>
          </a:p>
          <a:p>
            <a:pPr algn="l"/>
            <a:r>
              <a:rPr sz="87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changes from baseline:</a:t>
            </a:r>
            <a:endParaRPr sz="8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advantage: baseline q=1.4×10⁻⁵ (large sig) → q=0.070 (marginal, non-significant after self-removal)</a:t>
            </a:r>
            <a:endParaRPr sz="8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Gemini’s elevated baseline score was substantially driven by self-evaluation inflation.</a:t>
            </a:r>
            <a:endParaRPr sz="8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advantage: remains highly significant (q=1.5×10⁻⁸, δ=−1.00 large); robust to self-removal.</a:t>
            </a:r>
            <a:endParaRPr sz="81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GPT proposals are rated higher even by models that did not write them—a more credible quality signal.</a:t>
            </a:r>
            <a:endParaRPr sz="80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Claude: unchanged (never significant), confirming Claude proposals are similar to human quality under fair evaluation.</a:t>
            </a:r>
            <a:endParaRPr sz="8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Sensitivity 2 — Gemini-Only Evaluator: Claude Falls Below Human Baseline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Single-evaluator control: all proposals evaluated by Gemini, eliminating leniency-mix confound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745" y="1250315"/>
            <a:ext cx="3332480" cy="2165985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105" y="1250315"/>
            <a:ext cx="3331845" cy="219329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500000" y="3526455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 restrict to Gemini-only reviews (92 rows). All 5 author groups evaluated by the same single evaluator.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eliminates leniency-mix bias, at the cost of reduced power (n=23 per group, single evaluator).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Note: Gemini evaluates its own proposals (self-preference not removed here), making Gemini results still potentially inflated.</a:t>
            </a: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Means (Gemini-only): Human 4.23 │ Claude 3.58 (q=0.029***) │ Gemini 4.66 (q=&lt;0.001***) │ GPT 4.83 (q=&lt;0.001***)</a:t>
            </a:r>
            <a:endParaRPr sz="8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Robust bootstrap: Claude +0.65 [+0.27, +1.03] sig │ Gemini −0.43 [−0.69, −0.14] sig │ GPT −0.60 [−0.78, −0.43] sig</a:t>
            </a:r>
          </a:p>
          <a:p>
            <a:pPr algn="l"/>
            <a:r>
              <a:rPr sz="87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changes from baseline:</a:t>
            </a:r>
            <a:endParaRPr sz="8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reversal: baseline q=0.358 (ns, Claude ≈ human) → Gemini-only q=0.029 (humans score significantly HIGHER than Claude).</a:t>
            </a:r>
            <a:endParaRPr sz="8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Under a strict single evaluator, Claude proposals fall below human quality. The baseline equivalence was partly an artifact of mixed leniency.</a:t>
            </a:r>
            <a:endParaRPr sz="8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GPT: still elevated above humans, robust across evaluator configurations.</a:t>
            </a:r>
            <a:endParaRPr sz="81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Gemini: elevated above humans (but Gemini evaluates own proposals—self-preference likely inflating this result).</a:t>
            </a:r>
            <a:endParaRPr sz="8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Summary: Key Findings, Big Picture, and Next Steps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Integrating R1–R3 and the sensitivity analyses into actionable conclusions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we found: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R1: AI reviews are not detectably dissimilar to human expert reviews in text content (proxy validity holds at the bar tested).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However, AI reviewers converge far more tightly with each other than human experts do—homogeneous critique is a limitation.</a:t>
            </a:r>
            <a:endParaRPr sz="84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(baseline): AI proposals—especially GPT and Gemini—score substantially higher than human proposals under pooled AI evaluation.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R3: Self-preference biases are large (GPT: +0.99δ; Claude: −0.58δ) and evaluator leniency varies by 0.71 points across models.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After controls: GPT advantage is robust (δ=−1.00, sig across both sensitivity analyses). Gemini advantage disappears after self-removal.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equivalence to humans flips to deficit under strict single-evaluator assessment.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Big picture: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 language models—particularly GPT-5.2—generate grant proposals that are consistently rated more highly than human proposals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even by other AI models that did not write them. This is not merely an artifact of self-preference.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pattern varies by model: Claude does not outperform humans; Gemini only does so under conditions that inflate its own score.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 evaluators can serve as a scalable screening proxy, but they systematically compress critique diversity compared to human panels.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Limitations to address next:</a:t>
            </a:r>
            <a:endParaRPr sz="95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1. Proxy validity beyond text similarity: ICC and rank-correlation with human panel are NaN—harmonization must be fixed.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2. Small n for human expert reviews (n=12 proposals, 47 reviews)—statistical power for human-AI calibration is limited.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3. Blinded external re-review: human raters have not scored AI proposals; the inverse direction (human rates AI) is untested.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4. GPT-5.2 near-zero variance in quality scores (SD=0.05) warrants investigation—are prompts saturating the rubric?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4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Recommended next steps: (a) repair proxy-validity harmonization; (b) recruit blinded human reviewers to rate AI proposals;</a:t>
            </a:r>
            <a:endParaRPr sz="84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(c) test whether AI–AI homogeneity in reviews leads to worse ranking discrimination than human review panels.</a:t>
            </a:r>
            <a:endParaRPr sz="840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31552</Words>
  <Application>WPS Presentation</Application>
  <PresentationFormat>On-screen Show (16:9)</PresentationFormat>
  <Paragraphs>623</Paragraphs>
  <Slides>30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6" baseType="lpstr">
      <vt:lpstr>Arial</vt:lpstr>
      <vt:lpstr>宋体</vt:lpstr>
      <vt:lpstr>Wingdings</vt:lpstr>
      <vt:lpstr>Arial</vt:lpstr>
      <vt:lpstr>Arial</vt:lpstr>
      <vt:lpstr>Arial Bold</vt:lpstr>
      <vt:lpstr>Arial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vs Human Research Proposal Diversity Analysis</dc:title>
  <dc:creator>Diversity Analysis</dc:creator>
  <dc:subject>PptxGenJS Presentation</dc:subject>
  <cp:lastModifiedBy>嘉馨</cp:lastModifiedBy>
  <cp:revision>16</cp:revision>
  <dcterms:created xsi:type="dcterms:W3CDTF">2026-02-27T16:07:40Z</dcterms:created>
  <dcterms:modified xsi:type="dcterms:W3CDTF">2026-02-27T16:07:40Z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FC05F9E07865875A12F58B69795AEE2A_42</vt:lpwstr>
  </property>
  <property fmtid="{D5CDD505-2E9C-101B-9397-08002B2CF9AE}" pid="3" name="KSOProductBuildVer">
    <vt:lpwstr>1033-7.2.2.8955</vt:lpwstr>
  </property>
</Properties>
</file>