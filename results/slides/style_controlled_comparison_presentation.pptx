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76" r:id="rId7"/>
    <p:sldId id="273" r:id="rId8"/>
    <p:sldId id="274" r:id="rId9"/>
    <p:sldId id="259" r:id="rId10"/>
    <p:sldId id="260" r:id="rId11"/>
    <p:sldId id="261" r:id="rId12"/>
    <p:sldId id="262" r:id="rId13"/>
    <p:sldId id="278" r:id="rId14"/>
    <p:sldId id="263" r:id="rId15"/>
    <p:sldId id="264" r:id="rId16"/>
    <p:sldId id="265" r:id="rId17"/>
    <p:sldId id="277" r:id="rId18"/>
    <p:sldId id="266" r:id="rId19"/>
    <p:sldId id="267" r:id="rId20"/>
    <p:sldId id="268" r:id="rId21"/>
    <p:sldId id="269" r:id="rId22"/>
    <p:sldId id="275" r:id="rId23"/>
    <p:sldId id="270" r:id="rId24"/>
    <p:sldId id="271" r:id="rId25"/>
    <p:sldId id="272" r:id="rId26"/>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4472C4"/>
          </a:solidFill>
        </p:spPr>
        <p:txBody>
          <a:bodyPr wrap="square" rtlCol="0" anchor="ctr"/>
          <a:lstStyle/>
          <a:p>
            <a:pPr marL="0" indent="0">
              <a:buNone/>
            </a:pPr>
            <a:endParaRPr lang="en-US" dirty="0"/>
          </a:p>
        </p:txBody>
      </p:sp>
      <p:sp>
        <p:nvSpPr>
          <p:cNvPr id="3" name="Text 1"/>
          <p:cNvSpPr/>
          <p:nvPr/>
        </p:nvSpPr>
        <p:spPr>
          <a:xfrm>
            <a:off x="0" y="5041999"/>
            <a:ext cx="9144000" cy="101501"/>
          </a:xfrm>
          <a:prstGeom prst="rect">
            <a:avLst/>
          </a:prstGeom>
          <a:solidFill>
            <a:srgbClr val="44546A"/>
          </a:solidFill>
        </p:spPr>
        <p:txBody>
          <a:bodyPr wrap="square" rtlCol="0" anchor="ctr"/>
          <a:lstStyle/>
          <a:p>
            <a:pPr marL="0" indent="0">
              <a:buNone/>
            </a:pPr>
            <a:endParaRPr lang="en-US" dirty="0"/>
          </a:p>
        </p:txBody>
      </p:sp>
      <p:sp>
        <p:nvSpPr>
          <p:cNvPr id="4" name="Text 2"/>
          <p:cNvSpPr/>
          <p:nvPr/>
        </p:nvSpPr>
        <p:spPr>
          <a:xfrm>
            <a:off x="0" y="101501"/>
            <a:ext cx="2793950" cy="4940201"/>
          </a:xfrm>
          <a:prstGeom prst="rect">
            <a:avLst/>
          </a:prstGeom>
          <a:solidFill>
            <a:srgbClr val="44546A"/>
          </a:solidFill>
        </p:spPr>
        <p:txBody>
          <a:bodyPr wrap="square" rtlCol="0" anchor="ctr"/>
          <a:lstStyle/>
          <a:p>
            <a:pPr marL="0" indent="0">
              <a:buNone/>
            </a:pPr>
            <a:endParaRPr lang="en-US" dirty="0"/>
          </a:p>
        </p:txBody>
      </p:sp>
      <p:sp>
        <p:nvSpPr>
          <p:cNvPr id="5" name="Text 3"/>
          <p:cNvSpPr/>
          <p:nvPr/>
        </p:nvSpPr>
        <p:spPr>
          <a:xfrm>
            <a:off x="253901" y="1749623"/>
            <a:ext cx="2793950" cy="234851"/>
          </a:xfrm>
          <a:prstGeom prst="roundRect">
            <a:avLst>
              <a:gd name="adj" fmla="val 21631"/>
            </a:avLst>
          </a:prstGeom>
          <a:solidFill>
            <a:srgbClr val="4472C4"/>
          </a:solidFill>
        </p:spPr>
        <p:txBody>
          <a:bodyPr wrap="square" rtlCol="0" anchor="ctr"/>
          <a:lstStyle/>
          <a:p>
            <a:pPr marL="0" indent="0">
              <a:buNone/>
            </a:pPr>
            <a:endParaRPr lang="en-US" dirty="0"/>
          </a:p>
        </p:txBody>
      </p:sp>
      <p:sp>
        <p:nvSpPr>
          <p:cNvPr id="6" name="Text 4"/>
          <p:cNvSpPr/>
          <p:nvPr/>
        </p:nvSpPr>
        <p:spPr>
          <a:xfrm>
            <a:off x="253901" y="1749623"/>
            <a:ext cx="2849829" cy="234851"/>
          </a:xfrm>
          <a:prstGeom prst="rect">
            <a:avLst/>
          </a:prstGeom>
          <a:noFill/>
        </p:spPr>
        <p:txBody>
          <a:bodyPr wrap="square" lIns="101600" tIns="50800" rIns="101600" bIns="50800" rtlCol="0" anchor="t"/>
          <a:lstStyle/>
          <a:p>
            <a:pPr marL="0" indent="0" algn="l">
              <a:buNone/>
            </a:pPr>
            <a:r>
              <a:rPr lang="en-US" sz="900" b="1" dirty="0">
                <a:solidFill>
                  <a:srgbClr val="FFFFFF"/>
                </a:solidFill>
                <a:latin typeface="Arial" panose="020B0604020202090204" pitchFamily="34" charset="0"/>
                <a:ea typeface="Arial" panose="020B0604020202090204" pitchFamily="34" charset="-122"/>
                <a:cs typeface="Arial" panose="020B0604020202090204" pitchFamily="34" charset="-120"/>
              </a:rPr>
              <a:t>STYLE-CONTROLLED</a:t>
            </a:r>
            <a:endParaRPr lang="en-US" sz="900" dirty="0"/>
          </a:p>
        </p:txBody>
      </p:sp>
      <p:sp>
        <p:nvSpPr>
          <p:cNvPr id="7" name="Text 5"/>
          <p:cNvSpPr/>
          <p:nvPr/>
        </p:nvSpPr>
        <p:spPr>
          <a:xfrm>
            <a:off x="253901" y="2136874"/>
            <a:ext cx="2849829" cy="142875"/>
          </a:xfrm>
          <a:prstGeom prst="rect">
            <a:avLst/>
          </a:prstGeom>
          <a:noFill/>
        </p:spPr>
        <p:txBody>
          <a:bodyPr wrap="square" lIns="0" tIns="0" rIns="0" bIns="0" rtlCol="0" anchor="t"/>
          <a:lstStyle/>
          <a:p>
            <a:pPr marL="0" indent="0" algn="l">
              <a:spcBef>
                <a:spcPts val="600"/>
              </a:spcBef>
              <a:spcAft>
                <a:spcPts val="200"/>
              </a:spcAft>
              <a:buNone/>
            </a:pPr>
            <a:r>
              <a:rPr lang="en-US" sz="1000" b="1" dirty="0">
                <a:solidFill>
                  <a:srgbClr val="E7E6E6"/>
                </a:solidFill>
                <a:latin typeface="Arial" panose="020B0604020202090204" pitchFamily="34" charset="0"/>
                <a:ea typeface="Arial" panose="020B0604020202090204" pitchFamily="34" charset="-122"/>
                <a:cs typeface="Arial" panose="020B0604020202090204" pitchFamily="34" charset="-120"/>
              </a:rPr>
              <a:t>Study</a:t>
            </a:r>
            <a:endParaRPr lang="en-US" sz="1000" dirty="0"/>
          </a:p>
        </p:txBody>
      </p:sp>
      <p:sp>
        <p:nvSpPr>
          <p:cNvPr id="8" name="Text 6"/>
          <p:cNvSpPr/>
          <p:nvPr/>
        </p:nvSpPr>
        <p:spPr>
          <a:xfrm>
            <a:off x="253901" y="2305050"/>
            <a:ext cx="2849829" cy="152400"/>
          </a:xfrm>
          <a:prstGeom prst="rect">
            <a:avLst/>
          </a:prstGeom>
          <a:noFill/>
        </p:spPr>
        <p:txBody>
          <a:bodyPr wrap="square" lIns="0" tIns="0" rIns="0" bIns="0" rtlCol="0" anchor="t"/>
          <a:lstStyle/>
          <a:p>
            <a:pPr marL="0" indent="0" algn="l">
              <a:spcAft>
                <a:spcPts val="800"/>
              </a:spcAft>
              <a:buNone/>
            </a:pPr>
            <a:r>
              <a:rPr lang="en-US" sz="1100" dirty="0">
                <a:solidFill>
                  <a:srgbClr val="FFFFFF"/>
                </a:solidFill>
                <a:latin typeface="Arial" panose="020B0604020202090204" pitchFamily="34" charset="0"/>
                <a:ea typeface="Arial" panose="020B0604020202090204" pitchFamily="34" charset="-122"/>
                <a:cs typeface="Arial" panose="020B0604020202090204" pitchFamily="34" charset="-120"/>
              </a:rPr>
              <a:t>NSF NCEMS Proposals</a:t>
            </a:r>
            <a:endParaRPr lang="en-US" sz="1100" dirty="0"/>
          </a:p>
        </p:txBody>
      </p:sp>
      <p:sp>
        <p:nvSpPr>
          <p:cNvPr id="9" name="Text 7"/>
          <p:cNvSpPr/>
          <p:nvPr/>
        </p:nvSpPr>
        <p:spPr>
          <a:xfrm>
            <a:off x="253901" y="2635151"/>
            <a:ext cx="2849829" cy="142875"/>
          </a:xfrm>
          <a:prstGeom prst="rect">
            <a:avLst/>
          </a:prstGeom>
          <a:noFill/>
        </p:spPr>
        <p:txBody>
          <a:bodyPr wrap="square" lIns="0" tIns="0" rIns="0" bIns="0" rtlCol="0" anchor="t"/>
          <a:lstStyle/>
          <a:p>
            <a:pPr marL="0" indent="0" algn="l">
              <a:spcBef>
                <a:spcPts val="600"/>
              </a:spcBef>
              <a:spcAft>
                <a:spcPts val="200"/>
              </a:spcAft>
              <a:buNone/>
            </a:pPr>
            <a:r>
              <a:rPr lang="en-US" sz="1000" b="1" dirty="0">
                <a:solidFill>
                  <a:srgbClr val="E7E6E6"/>
                </a:solidFill>
                <a:latin typeface="Arial" panose="020B0604020202090204" pitchFamily="34" charset="0"/>
                <a:ea typeface="Arial" panose="020B0604020202090204" pitchFamily="34" charset="-122"/>
                <a:cs typeface="Arial" panose="020B0604020202090204" pitchFamily="34" charset="-120"/>
              </a:rPr>
              <a:t>Proposals</a:t>
            </a:r>
            <a:endParaRPr lang="en-US" sz="1000" dirty="0"/>
          </a:p>
        </p:txBody>
      </p:sp>
      <p:sp>
        <p:nvSpPr>
          <p:cNvPr id="10" name="Text 8"/>
          <p:cNvSpPr/>
          <p:nvPr/>
        </p:nvSpPr>
        <p:spPr>
          <a:xfrm>
            <a:off x="253901" y="2803327"/>
            <a:ext cx="2849829" cy="152400"/>
          </a:xfrm>
          <a:prstGeom prst="rect">
            <a:avLst/>
          </a:prstGeom>
          <a:noFill/>
        </p:spPr>
        <p:txBody>
          <a:bodyPr wrap="square" lIns="0" tIns="0" rIns="0" bIns="0" rtlCol="0" anchor="t"/>
          <a:lstStyle/>
          <a:p>
            <a:pPr marL="0" indent="0" algn="l">
              <a:spcAft>
                <a:spcPts val="800"/>
              </a:spcAft>
              <a:buNone/>
            </a:pPr>
            <a:r>
              <a:rPr lang="en-US" sz="1100" dirty="0">
                <a:solidFill>
                  <a:srgbClr val="FFFFFF"/>
                </a:solidFill>
                <a:latin typeface="Arial" panose="020B0604020202090204" pitchFamily="34" charset="0"/>
                <a:ea typeface="Arial" panose="020B0604020202090204" pitchFamily="34" charset="-122"/>
                <a:cs typeface="Arial" panose="020B0604020202090204" pitchFamily="34" charset="-120"/>
              </a:rPr>
              <a:t>23 Human + 69 AI</a:t>
            </a:r>
            <a:endParaRPr lang="en-US" sz="1100" dirty="0"/>
          </a:p>
        </p:txBody>
      </p:sp>
      <p:sp>
        <p:nvSpPr>
          <p:cNvPr id="11" name="Text 9"/>
          <p:cNvSpPr/>
          <p:nvPr/>
        </p:nvSpPr>
        <p:spPr>
          <a:xfrm>
            <a:off x="253901" y="3133427"/>
            <a:ext cx="2849829" cy="142875"/>
          </a:xfrm>
          <a:prstGeom prst="rect">
            <a:avLst/>
          </a:prstGeom>
          <a:noFill/>
        </p:spPr>
        <p:txBody>
          <a:bodyPr wrap="square" lIns="0" tIns="0" rIns="0" bIns="0" rtlCol="0" anchor="t"/>
          <a:lstStyle/>
          <a:p>
            <a:pPr marL="0" indent="0" algn="l">
              <a:spcBef>
                <a:spcPts val="600"/>
              </a:spcBef>
              <a:spcAft>
                <a:spcPts val="200"/>
              </a:spcAft>
              <a:buNone/>
            </a:pPr>
            <a:r>
              <a:rPr lang="en-US" sz="1000" b="1" dirty="0">
                <a:solidFill>
                  <a:srgbClr val="E7E6E6"/>
                </a:solidFill>
                <a:latin typeface="Arial" panose="020B0604020202090204" pitchFamily="34" charset="0"/>
                <a:ea typeface="Arial" panose="020B0604020202090204" pitchFamily="34" charset="-122"/>
                <a:cs typeface="Arial" panose="020B0604020202090204" pitchFamily="34" charset="-120"/>
              </a:rPr>
              <a:t>Models Tested</a:t>
            </a:r>
            <a:endParaRPr lang="en-US" sz="1000" dirty="0"/>
          </a:p>
        </p:txBody>
      </p:sp>
      <p:sp>
        <p:nvSpPr>
          <p:cNvPr id="12" name="Text 10"/>
          <p:cNvSpPr/>
          <p:nvPr/>
        </p:nvSpPr>
        <p:spPr>
          <a:xfrm>
            <a:off x="253901" y="3301603"/>
            <a:ext cx="2849829" cy="457200"/>
          </a:xfrm>
          <a:prstGeom prst="rect">
            <a:avLst/>
          </a:prstGeom>
          <a:noFill/>
        </p:spPr>
        <p:txBody>
          <a:bodyPr wrap="square" lIns="0" tIns="0" rIns="0" bIns="0" rtlCol="0" anchor="t"/>
          <a:lstStyle/>
          <a:p>
            <a:pPr marL="0" indent="0" algn="l">
              <a:spcAft>
                <a:spcPts val="800"/>
              </a:spcAft>
              <a:buNone/>
            </a:pPr>
            <a:r>
              <a:rPr lang="en-US" sz="1100" dirty="0">
                <a:solidFill>
                  <a:srgbClr val="FFFFFF"/>
                </a:solidFill>
                <a:latin typeface="Arial" panose="020B0604020202090204" pitchFamily="34" charset="0"/>
                <a:ea typeface="Arial" panose="020B0604020202090204" pitchFamily="34" charset="-122"/>
                <a:cs typeface="Arial" panose="020B0604020202090204" pitchFamily="34" charset="-120"/>
              </a:rPr>
              <a:t>Claude Opus 4.5</a:t>
            </a:r>
            <a:endParaRPr lang="en-US" sz="1100" dirty="0"/>
          </a:p>
          <a:p>
            <a:pPr marL="0" indent="0" algn="l">
              <a:spcAft>
                <a:spcPts val="800"/>
              </a:spcAft>
              <a:buNone/>
            </a:pPr>
            <a:r>
              <a:rPr lang="en-US" sz="1100" dirty="0">
                <a:solidFill>
                  <a:srgbClr val="FFFFFF"/>
                </a:solidFill>
                <a:latin typeface="Arial" panose="020B0604020202090204" pitchFamily="34" charset="0"/>
                <a:ea typeface="Arial" panose="020B0604020202090204" pitchFamily="34" charset="-122"/>
                <a:cs typeface="Arial" panose="020B0604020202090204" pitchFamily="34" charset="-120"/>
              </a:rPr>
              <a:t>Gemini 3 Pro</a:t>
            </a:r>
            <a:endParaRPr lang="en-US" sz="1100" dirty="0"/>
          </a:p>
          <a:p>
            <a:pPr marL="0" indent="0" algn="l">
              <a:spcAft>
                <a:spcPts val="800"/>
              </a:spcAft>
              <a:buNone/>
            </a:pPr>
            <a:r>
              <a:rPr lang="en-US" sz="1100" dirty="0">
                <a:solidFill>
                  <a:srgbClr val="FFFFFF"/>
                </a:solidFill>
                <a:latin typeface="Arial" panose="020B0604020202090204" pitchFamily="34" charset="0"/>
                <a:ea typeface="Arial" panose="020B0604020202090204" pitchFamily="34" charset="-122"/>
                <a:cs typeface="Arial" panose="020B0604020202090204" pitchFamily="34" charset="-120"/>
              </a:rPr>
              <a:t>GPT-5.2</a:t>
            </a:r>
            <a:endParaRPr lang="en-US" sz="1100" dirty="0"/>
          </a:p>
        </p:txBody>
      </p:sp>
      <p:sp>
        <p:nvSpPr>
          <p:cNvPr id="13" name="Text 11"/>
          <p:cNvSpPr/>
          <p:nvPr/>
        </p:nvSpPr>
        <p:spPr>
          <a:xfrm>
            <a:off x="253901" y="4240034"/>
            <a:ext cx="2849829" cy="142875"/>
          </a:xfrm>
          <a:prstGeom prst="rect">
            <a:avLst/>
          </a:prstGeom>
          <a:noFill/>
        </p:spPr>
        <p:txBody>
          <a:bodyPr wrap="square" lIns="0" tIns="0" rIns="0" bIns="0" rtlCol="0" anchor="t"/>
          <a:lstStyle/>
          <a:p>
            <a:pPr marL="0" indent="0" algn="l">
              <a:spcBef>
                <a:spcPts val="600"/>
              </a:spcBef>
              <a:spcAft>
                <a:spcPts val="200"/>
              </a:spcAft>
              <a:buNone/>
            </a:pPr>
            <a:r>
              <a:rPr lang="en-US" sz="1000" b="1" dirty="0">
                <a:solidFill>
                  <a:srgbClr val="E7E6E6"/>
                </a:solidFill>
                <a:latin typeface="Arial" panose="020B0604020202090204" pitchFamily="34" charset="0"/>
                <a:ea typeface="Arial" panose="020B0604020202090204" pitchFamily="34" charset="-122"/>
                <a:cs typeface="Arial" panose="020B0604020202090204" pitchFamily="34" charset="-120"/>
              </a:rPr>
              <a:t>Date</a:t>
            </a:r>
            <a:endParaRPr lang="en-US" sz="1000" dirty="0"/>
          </a:p>
        </p:txBody>
      </p:sp>
      <p:sp>
        <p:nvSpPr>
          <p:cNvPr id="14" name="Text 12"/>
          <p:cNvSpPr/>
          <p:nvPr/>
        </p:nvSpPr>
        <p:spPr>
          <a:xfrm>
            <a:off x="253901" y="4408210"/>
            <a:ext cx="2849829" cy="152400"/>
          </a:xfrm>
          <a:prstGeom prst="rect">
            <a:avLst/>
          </a:prstGeom>
          <a:noFill/>
        </p:spPr>
        <p:txBody>
          <a:bodyPr wrap="square" lIns="0" tIns="0" rIns="0" bIns="0" rtlCol="0" anchor="t"/>
          <a:lstStyle/>
          <a:p>
            <a:pPr marL="0" indent="0" algn="l">
              <a:spcAft>
                <a:spcPts val="800"/>
              </a:spcAft>
              <a:buNone/>
            </a:pPr>
            <a:r>
              <a:rPr lang="en-US" sz="1100" dirty="0">
                <a:solidFill>
                  <a:srgbClr val="FFFFFF"/>
                </a:solidFill>
                <a:latin typeface="Arial" panose="020B0604020202090204" pitchFamily="34" charset="0"/>
                <a:ea typeface="Arial" panose="020B0604020202090204" pitchFamily="34" charset="-122"/>
                <a:cs typeface="Arial" panose="020B0604020202090204" pitchFamily="34" charset="-120"/>
              </a:rPr>
              <a:t>March 2026</a:t>
            </a:r>
            <a:endParaRPr lang="en-US" sz="1100" dirty="0"/>
          </a:p>
        </p:txBody>
      </p:sp>
      <p:sp>
        <p:nvSpPr>
          <p:cNvPr id="15" name="Text 13"/>
          <p:cNvSpPr/>
          <p:nvPr/>
        </p:nvSpPr>
        <p:spPr>
          <a:xfrm>
            <a:off x="2768501" y="507950"/>
            <a:ext cx="25301" cy="4127450"/>
          </a:xfrm>
          <a:prstGeom prst="rect">
            <a:avLst/>
          </a:prstGeom>
          <a:solidFill>
            <a:srgbClr val="4472C4"/>
          </a:solidFill>
        </p:spPr>
        <p:txBody>
          <a:bodyPr wrap="square" rtlCol="0" anchor="ctr"/>
          <a:lstStyle/>
          <a:p>
            <a:pPr marL="0" indent="0">
              <a:buNone/>
            </a:pPr>
            <a:endParaRPr lang="en-US" dirty="0"/>
          </a:p>
        </p:txBody>
      </p:sp>
      <p:sp>
        <p:nvSpPr>
          <p:cNvPr id="16" name="Text 14"/>
          <p:cNvSpPr/>
          <p:nvPr/>
        </p:nvSpPr>
        <p:spPr>
          <a:xfrm>
            <a:off x="3174950" y="1688157"/>
            <a:ext cx="5570169" cy="792361"/>
          </a:xfrm>
          <a:prstGeom prst="rect">
            <a:avLst/>
          </a:prstGeom>
          <a:noFill/>
        </p:spPr>
        <p:txBody>
          <a:bodyPr wrap="square" lIns="0" tIns="0" rIns="0" bIns="0" rtlCol="0" anchor="t"/>
          <a:lstStyle/>
          <a:p>
            <a:pPr marL="0" indent="0" algn="l">
              <a:lnSpc>
                <a:spcPts val="3120"/>
              </a:lnSpc>
              <a:spcAft>
                <a:spcPts val="800"/>
              </a:spcAft>
              <a:buNone/>
            </a:pPr>
            <a:r>
              <a:rPr lang="en-US" sz="2600" b="1" dirty="0">
                <a:solidFill>
                  <a:srgbClr val="44546A"/>
                </a:solidFill>
                <a:latin typeface="Arial" panose="020B0604020202090204" pitchFamily="34" charset="0"/>
                <a:ea typeface="Arial" panose="020B0604020202090204" pitchFamily="34" charset="-122"/>
                <a:cs typeface="Arial" panose="020B0604020202090204" pitchFamily="34" charset="-120"/>
              </a:rPr>
              <a:t>Style-Controlled Comparison of AI vs. Human Research Proposals</a:t>
            </a:r>
            <a:endParaRPr lang="en-US" sz="2600" dirty="0"/>
          </a:p>
        </p:txBody>
      </p:sp>
      <p:sp>
        <p:nvSpPr>
          <p:cNvPr id="17" name="Text 15"/>
          <p:cNvSpPr/>
          <p:nvPr/>
        </p:nvSpPr>
        <p:spPr>
          <a:xfrm>
            <a:off x="3174950" y="2582019"/>
            <a:ext cx="5570169" cy="400050"/>
          </a:xfrm>
          <a:prstGeom prst="rect">
            <a:avLst/>
          </a:prstGeom>
          <a:noFill/>
        </p:spPr>
        <p:txBody>
          <a:bodyPr wrap="square" lIns="0" tIns="0" rIns="0" bIns="0" rtlCol="0" anchor="t"/>
          <a:lstStyle/>
          <a:p>
            <a:pPr marL="0" indent="0" algn="l">
              <a:spcAft>
                <a:spcPts val="600"/>
              </a:spcAft>
              <a:buNone/>
            </a:pPr>
            <a:r>
              <a:rPr lang="en-US" sz="1300" dirty="0">
                <a:solidFill>
                  <a:srgbClr val="4472C4"/>
                </a:solidFill>
                <a:latin typeface="Arial" panose="020B0604020202090204" pitchFamily="34" charset="0"/>
                <a:ea typeface="Arial" panose="020B0604020202090204" pitchFamily="34" charset="-122"/>
                <a:cs typeface="Arial" panose="020B0604020202090204" pitchFamily="34" charset="-120"/>
              </a:rPr>
              <a:t>Rephrased-Proposal Analysis: Diversity, Novelty, Thematic Content, and Quality</a:t>
            </a:r>
            <a:endParaRPr lang="en-US" sz="1300" dirty="0"/>
          </a:p>
        </p:txBody>
      </p:sp>
      <p:sp>
        <p:nvSpPr>
          <p:cNvPr id="18" name="Text 16"/>
          <p:cNvSpPr/>
          <p:nvPr/>
        </p:nvSpPr>
        <p:spPr>
          <a:xfrm>
            <a:off x="3174950" y="3058269"/>
            <a:ext cx="5570169" cy="142875"/>
          </a:xfrm>
          <a:prstGeom prst="rect">
            <a:avLst/>
          </a:prstGeom>
          <a:noFill/>
        </p:spPr>
        <p:txBody>
          <a:bodyPr wrap="square" lIns="0" tIns="0" rIns="0" bIns="0" rtlCol="0" anchor="t"/>
          <a:lstStyle/>
          <a:p>
            <a:pPr marL="0" indent="0" algn="l">
              <a:buNone/>
            </a:pPr>
            <a:r>
              <a:rPr lang="en-US" sz="1000" dirty="0">
                <a:solidFill>
                  <a:srgbClr val="888888"/>
                </a:solidFill>
                <a:latin typeface="Arial" panose="020B0604020202090204" pitchFamily="34" charset="0"/>
                <a:ea typeface="Arial" panose="020B0604020202090204" pitchFamily="34" charset="-122"/>
                <a:cs typeface="Arial" panose="020B0604020202090204" pitchFamily="34" charset="-120"/>
              </a:rPr>
              <a:t>Embedding-Based Analysis Using BioLinkBERT · Rephrased via Gemini Flash</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4472C4"/>
          </a:solidFill>
        </p:spPr>
        <p:txBody>
          <a:bodyPr wrap="square" rtlCol="0" anchor="ctr"/>
          <a:lstStyle/>
          <a:p>
            <a:pPr marL="0" indent="0">
              <a:buNone/>
            </a:pPr>
            <a:endParaRPr lang="en-US" dirty="0"/>
          </a:p>
        </p:txBody>
      </p:sp>
      <p:sp>
        <p:nvSpPr>
          <p:cNvPr id="3" name="Text 1"/>
          <p:cNvSpPr/>
          <p:nvPr/>
        </p:nvSpPr>
        <p:spPr>
          <a:xfrm>
            <a:off x="0" y="5067300"/>
            <a:ext cx="9144000" cy="76200"/>
          </a:xfrm>
          <a:prstGeom prst="rect">
            <a:avLst/>
          </a:prstGeom>
          <a:solidFill>
            <a:srgbClr val="44546A"/>
          </a:solidFill>
        </p:spPr>
        <p:txBody>
          <a:bodyPr wrap="square" rtlCol="0" anchor="ctr"/>
          <a:lstStyle/>
          <a:p>
            <a:pPr marL="0" indent="0">
              <a:buNone/>
            </a:pPr>
            <a:endParaRPr lang="en-US" dirty="0"/>
          </a:p>
        </p:txBody>
      </p:sp>
      <p:sp>
        <p:nvSpPr>
          <p:cNvPr id="4" name="Text 2"/>
          <p:cNvSpPr/>
          <p:nvPr/>
        </p:nvSpPr>
        <p:spPr>
          <a:xfrm>
            <a:off x="7620000" y="76200"/>
            <a:ext cx="1524000" cy="355550"/>
          </a:xfrm>
          <a:prstGeom prst="rect">
            <a:avLst/>
          </a:prstGeom>
          <a:solidFill>
            <a:srgbClr val="44546A"/>
          </a:solidFill>
        </p:spPr>
        <p:txBody>
          <a:bodyPr wrap="square" rtlCol="0" anchor="ctr"/>
          <a:lstStyle/>
          <a:p>
            <a:pPr marL="0" indent="0">
              <a:buNone/>
            </a:pPr>
            <a:endParaRPr lang="en-US" dirty="0"/>
          </a:p>
        </p:txBody>
      </p:sp>
      <p:sp>
        <p:nvSpPr>
          <p:cNvPr id="5" name="Text 3"/>
          <p:cNvSpPr/>
          <p:nvPr/>
        </p:nvSpPr>
        <p:spPr>
          <a:xfrm>
            <a:off x="8031659" y="187226"/>
            <a:ext cx="714545" cy="133350"/>
          </a:xfrm>
          <a:prstGeom prst="rect">
            <a:avLst/>
          </a:prstGeom>
          <a:noFill/>
        </p:spPr>
        <p:txBody>
          <a:bodyPr wrap="square" lIns="0" tIns="0" rIns="0" bIns="0" rtlCol="0" anchor="t"/>
          <a:lstStyle/>
          <a:p>
            <a:pPr marL="0" indent="0" algn="l">
              <a:buNone/>
            </a:pPr>
            <a:r>
              <a:rPr lang="en-US" sz="900" b="1" dirty="0">
                <a:solidFill>
                  <a:srgbClr val="FFFFFF"/>
                </a:solidFill>
                <a:latin typeface="Arial" panose="020B0604020202090204" pitchFamily="34" charset="0"/>
                <a:ea typeface="Arial" panose="020B0604020202090204" pitchFamily="34" charset="-122"/>
                <a:cs typeface="Arial" panose="020B0604020202090204" pitchFamily="34" charset="-120"/>
              </a:rPr>
              <a:t>MOTIVATION</a:t>
            </a:r>
            <a:endParaRPr lang="en-US" sz="900" dirty="0"/>
          </a:p>
        </p:txBody>
      </p:sp>
      <p:sp>
        <p:nvSpPr>
          <p:cNvPr id="6" name="Text 4"/>
          <p:cNvSpPr/>
          <p:nvPr/>
        </p:nvSpPr>
        <p:spPr>
          <a:xfrm>
            <a:off x="304800" y="177701"/>
            <a:ext cx="7254139" cy="295275"/>
          </a:xfrm>
          <a:prstGeom prst="rect">
            <a:avLst/>
          </a:prstGeom>
          <a:noFill/>
        </p:spPr>
        <p:txBody>
          <a:bodyPr wrap="square" lIns="0" tIns="0" rIns="0" bIns="0" rtlCol="0" anchor="t"/>
          <a:lstStyle/>
          <a:p>
            <a:pPr marL="0" indent="0" algn="l">
              <a:buNone/>
            </a:pPr>
            <a:r>
              <a:rPr lang="en-US" sz="2000" b="1" dirty="0">
                <a:solidFill>
                  <a:srgbClr val="44546A"/>
                </a:solidFill>
                <a:latin typeface="Arial" panose="020B0604020202090204" pitchFamily="34" charset="0"/>
                <a:ea typeface="Arial" panose="020B0604020202090204" pitchFamily="34" charset="-122"/>
                <a:cs typeface="Arial" panose="020B0604020202090204" pitchFamily="34" charset="-120"/>
              </a:rPr>
              <a:t>Why a Style-Controlled Analysis?</a:t>
            </a:r>
            <a:endParaRPr lang="en-US" sz="2000" dirty="0"/>
          </a:p>
        </p:txBody>
      </p:sp>
      <p:sp>
        <p:nvSpPr>
          <p:cNvPr id="7" name="Text 5"/>
          <p:cNvSpPr/>
          <p:nvPr/>
        </p:nvSpPr>
        <p:spPr>
          <a:xfrm>
            <a:off x="304800" y="498277"/>
            <a:ext cx="7254139" cy="152400"/>
          </a:xfrm>
          <a:prstGeom prst="rect">
            <a:avLst/>
          </a:prstGeom>
          <a:noFill/>
        </p:spPr>
        <p:txBody>
          <a:bodyPr wrap="square" lIns="0" tIns="0" rIns="0" bIns="0" rtlCol="0" anchor="t"/>
          <a:lstStyle/>
          <a:p>
            <a:pPr marL="0" indent="0" algn="l">
              <a:spcBef>
                <a:spcPts val="200"/>
              </a:spcBef>
              <a:buNone/>
            </a:pPr>
            <a:r>
              <a:rPr lang="en-US" sz="1100" dirty="0">
                <a:solidFill>
                  <a:srgbClr val="4472C4"/>
                </a:solidFill>
                <a:latin typeface="Arial" panose="020B0604020202090204" pitchFamily="34" charset="0"/>
                <a:ea typeface="Arial" panose="020B0604020202090204" pitchFamily="34" charset="-122"/>
                <a:cs typeface="Arial" panose="020B0604020202090204" pitchFamily="34" charset="-120"/>
              </a:rPr>
              <a:t>The style confound problem and how rephrasing addresses it</a:t>
            </a:r>
            <a:endParaRPr lang="en-US" sz="1100" dirty="0"/>
          </a:p>
        </p:txBody>
      </p:sp>
      <p:sp>
        <p:nvSpPr>
          <p:cNvPr id="8" name="Text 6"/>
          <p:cNvSpPr/>
          <p:nvPr/>
        </p:nvSpPr>
        <p:spPr>
          <a:xfrm>
            <a:off x="304800" y="711101"/>
            <a:ext cx="8534400" cy="25301"/>
          </a:xfrm>
          <a:prstGeom prst="rect">
            <a:avLst/>
          </a:prstGeom>
          <a:solidFill>
            <a:srgbClr val="4472C4"/>
          </a:solidFill>
        </p:spPr>
        <p:txBody>
          <a:bodyPr wrap="square" rtlCol="0" anchor="ctr"/>
          <a:lstStyle/>
          <a:p>
            <a:pPr marL="0" indent="0">
              <a:buNone/>
            </a:pPr>
            <a:endParaRPr lang="en-US" dirty="0"/>
          </a:p>
        </p:txBody>
      </p:sp>
      <p:sp>
        <p:nvSpPr>
          <p:cNvPr id="9" name="Text 7"/>
          <p:cNvSpPr/>
          <p:nvPr/>
        </p:nvSpPr>
        <p:spPr>
          <a:xfrm>
            <a:off x="304800" y="838200"/>
            <a:ext cx="8534400" cy="1657350"/>
          </a:xfrm>
          <a:prstGeom prst="roundRect">
            <a:avLst>
              <a:gd name="adj" fmla="val 4598"/>
            </a:avLst>
          </a:prstGeom>
          <a:solidFill>
            <a:srgbClr val="FFF4F4"/>
          </a:solidFill>
          <a:ln w="19050">
            <a:solidFill>
              <a:srgbClr val="C00000"/>
            </a:solidFill>
          </a:ln>
        </p:spPr>
        <p:txBody>
          <a:bodyPr wrap="square" rtlCol="0" anchor="ctr"/>
          <a:lstStyle/>
          <a:p>
            <a:pPr marL="0" indent="0">
              <a:buNone/>
            </a:pPr>
            <a:endParaRPr lang="en-US" dirty="0"/>
          </a:p>
        </p:txBody>
      </p:sp>
      <p:sp>
        <p:nvSpPr>
          <p:cNvPr id="10" name="Text 8"/>
          <p:cNvSpPr/>
          <p:nvPr/>
        </p:nvSpPr>
        <p:spPr>
          <a:xfrm>
            <a:off x="527000" y="1162050"/>
            <a:ext cx="8251799" cy="171450"/>
          </a:xfrm>
          <a:prstGeom prst="rect">
            <a:avLst/>
          </a:prstGeom>
          <a:noFill/>
        </p:spPr>
        <p:txBody>
          <a:bodyPr wrap="square" lIns="0" tIns="0" rIns="0" bIns="0" rtlCol="0" anchor="t"/>
          <a:lstStyle/>
          <a:p>
            <a:pPr marL="0" indent="0" algn="l">
              <a:spcBef>
                <a:spcPts val="1200"/>
              </a:spcBef>
              <a:spcAft>
                <a:spcPts val="1200"/>
              </a:spcAft>
              <a:buNone/>
            </a:pPr>
            <a:r>
              <a:rPr lang="en-US" sz="1200" dirty="0">
                <a:solidFill>
                  <a:srgbClr val="000000"/>
                </a:solidFill>
                <a:latin typeface="Arial" panose="020B0604020202090204" pitchFamily="34" charset="0"/>
                <a:ea typeface="Arial" panose="020B0604020202090204" pitchFamily="34" charset="-122"/>
                <a:cs typeface="Arial" panose="020B0604020202090204" pitchFamily="34" charset="-120"/>
              </a:rPr>
              <a:t>The Problem:</a:t>
            </a:r>
            <a:endParaRPr lang="en-US" sz="1200" dirty="0"/>
          </a:p>
        </p:txBody>
      </p:sp>
      <p:sp>
        <p:nvSpPr>
          <p:cNvPr id="11" name="Text 9"/>
          <p:cNvSpPr/>
          <p:nvPr/>
        </p:nvSpPr>
        <p:spPr>
          <a:xfrm>
            <a:off x="527000" y="1485900"/>
            <a:ext cx="8251799" cy="685800"/>
          </a:xfrm>
          <a:prstGeom prst="rect">
            <a:avLst/>
          </a:prstGeom>
          <a:noFill/>
        </p:spPr>
        <p:txBody>
          <a:bodyPr wrap="square" lIns="0" tIns="0" rIns="0" bIns="0" rtlCol="0" anchor="t"/>
          <a:lstStyle/>
          <a:p>
            <a:pPr marL="0" indent="0" algn="l">
              <a:spcBef>
                <a:spcPts val="1200"/>
              </a:spcBef>
              <a:spcAft>
                <a:spcPts val="1200"/>
              </a:spcAft>
              <a:buNone/>
            </a:pPr>
            <a:r>
              <a:rPr lang="en-US" sz="1200" dirty="0">
                <a:solidFill>
                  <a:srgbClr val="000000"/>
                </a:solidFill>
                <a:latin typeface="Arial" panose="020B0604020202090204" pitchFamily="34" charset="0"/>
                <a:ea typeface="Arial" panose="020B0604020202090204" pitchFamily="34" charset="-122"/>
                <a:cs typeface="Arial" panose="020B0604020202090204" pitchFamily="34" charset="-120"/>
              </a:rPr>
              <a:t>AI and human proposals differ dramatically in writing style — sentence length, vocabulary, hedging, formatting, punctuation. BioLinkBERT embeddings capture both semantic content and stylistic signals. Observed diversity, novelty, and clustering differences in the baseline analysis could be partly or fully stylistic artifacts rather than genuine conceptual differences.</a:t>
            </a:r>
            <a:endParaRPr lang="en-US" sz="1200" dirty="0"/>
          </a:p>
        </p:txBody>
      </p:sp>
      <p:sp>
        <p:nvSpPr>
          <p:cNvPr id="12" name="Text 10"/>
          <p:cNvSpPr/>
          <p:nvPr/>
        </p:nvSpPr>
        <p:spPr>
          <a:xfrm>
            <a:off x="304800" y="2647950"/>
            <a:ext cx="4191000" cy="999976"/>
          </a:xfrm>
          <a:prstGeom prst="roundRect">
            <a:avLst>
              <a:gd name="adj" fmla="val 7620"/>
            </a:avLst>
          </a:prstGeom>
          <a:solidFill>
            <a:srgbClr val="EEF2FA"/>
          </a:solidFill>
          <a:ln w="9525">
            <a:solidFill>
              <a:srgbClr val="4472C4"/>
            </a:solidFill>
          </a:ln>
        </p:spPr>
        <p:txBody>
          <a:bodyPr wrap="square" rtlCol="0" anchor="ctr"/>
          <a:lstStyle/>
          <a:p>
            <a:pPr marL="0" indent="0">
              <a:buNone/>
            </a:pPr>
            <a:endParaRPr lang="en-US" dirty="0"/>
          </a:p>
        </p:txBody>
      </p:sp>
      <p:sp>
        <p:nvSpPr>
          <p:cNvPr id="13" name="Text 11"/>
          <p:cNvSpPr/>
          <p:nvPr/>
        </p:nvSpPr>
        <p:spPr>
          <a:xfrm>
            <a:off x="466725" y="2784425"/>
            <a:ext cx="3944493" cy="142875"/>
          </a:xfrm>
          <a:prstGeom prst="rect">
            <a:avLst/>
          </a:prstGeom>
          <a:noFill/>
        </p:spPr>
        <p:txBody>
          <a:bodyPr wrap="square" lIns="0" tIns="0" rIns="0" bIns="0" rtlCol="0" anchor="t"/>
          <a:lstStyle/>
          <a:p>
            <a:pPr marL="0" indent="0" algn="l">
              <a:spcAft>
                <a:spcPts val="400"/>
              </a:spcAft>
              <a:buNone/>
            </a:pPr>
            <a:r>
              <a:rPr lang="en-US" sz="1000" b="1" dirty="0">
                <a:solidFill>
                  <a:srgbClr val="4472C4"/>
                </a:solidFill>
                <a:latin typeface="Arial" panose="020B0604020202090204" pitchFamily="34" charset="0"/>
                <a:ea typeface="Arial" panose="020B0604020202090204" pitchFamily="34" charset="-122"/>
                <a:cs typeface="Arial" panose="020B0604020202090204" pitchFamily="34" charset="-120"/>
              </a:rPr>
              <a:t>The Solution: Standardized Rephrasing</a:t>
            </a:r>
            <a:endParaRPr lang="en-US" sz="1000" dirty="0"/>
          </a:p>
        </p:txBody>
      </p:sp>
      <p:sp>
        <p:nvSpPr>
          <p:cNvPr id="14" name="Text 12"/>
          <p:cNvSpPr/>
          <p:nvPr/>
        </p:nvSpPr>
        <p:spPr>
          <a:xfrm>
            <a:off x="466725" y="2978051"/>
            <a:ext cx="3944493" cy="533400"/>
          </a:xfrm>
          <a:prstGeom prst="rect">
            <a:avLst/>
          </a:prstGeom>
          <a:noFill/>
        </p:spPr>
        <p:txBody>
          <a:bodyPr wrap="square" lIns="0" tIns="0" rIns="0" bIns="0" rtlCol="0" anchor="t"/>
          <a:lstStyle/>
          <a:p>
            <a:pPr marL="0" indent="0" algn="l">
              <a:buNone/>
            </a:pPr>
            <a:r>
              <a:rPr lang="en-US" sz="950" dirty="0">
                <a:solidFill>
                  <a:srgbClr val="333333"/>
                </a:solidFill>
                <a:latin typeface="Arial" panose="020B0604020202090204" pitchFamily="34" charset="0"/>
                <a:ea typeface="Arial" panose="020B0604020202090204" pitchFamily="34" charset="-122"/>
                <a:cs typeface="Arial" panose="020B0604020202090204" pitchFamily="34" charset="-120"/>
              </a:rPr>
              <a:t>Each proposal is rewritten into a fixed 5-section template using a two-step AI pipeline (Gemini Flash), neutralizing stylistic fingerprints while preserving scientific content. All 92 proposals emerge with identical structure, register, and formatting.</a:t>
            </a:r>
            <a:endParaRPr lang="en-US" sz="950" dirty="0"/>
          </a:p>
        </p:txBody>
      </p:sp>
      <p:sp>
        <p:nvSpPr>
          <p:cNvPr id="15" name="Text 13"/>
          <p:cNvSpPr/>
          <p:nvPr/>
        </p:nvSpPr>
        <p:spPr>
          <a:xfrm>
            <a:off x="4648200" y="2647950"/>
            <a:ext cx="4191000" cy="999976"/>
          </a:xfrm>
          <a:prstGeom prst="roundRect">
            <a:avLst>
              <a:gd name="adj" fmla="val 7620"/>
            </a:avLst>
          </a:prstGeom>
          <a:solidFill>
            <a:srgbClr val="EEF2FA"/>
          </a:solidFill>
          <a:ln w="9525">
            <a:solidFill>
              <a:srgbClr val="4472C4"/>
            </a:solidFill>
          </a:ln>
        </p:spPr>
        <p:txBody>
          <a:bodyPr wrap="square" rtlCol="0" anchor="ctr"/>
          <a:lstStyle/>
          <a:p>
            <a:pPr marL="0" indent="0">
              <a:buNone/>
            </a:pPr>
            <a:endParaRPr lang="en-US" dirty="0"/>
          </a:p>
        </p:txBody>
      </p:sp>
      <p:sp>
        <p:nvSpPr>
          <p:cNvPr id="16" name="Text 14"/>
          <p:cNvSpPr/>
          <p:nvPr/>
        </p:nvSpPr>
        <p:spPr>
          <a:xfrm>
            <a:off x="4810125" y="2784425"/>
            <a:ext cx="3944493" cy="142875"/>
          </a:xfrm>
          <a:prstGeom prst="rect">
            <a:avLst/>
          </a:prstGeom>
          <a:noFill/>
        </p:spPr>
        <p:txBody>
          <a:bodyPr wrap="square" lIns="0" tIns="0" rIns="0" bIns="0" rtlCol="0" anchor="t"/>
          <a:lstStyle/>
          <a:p>
            <a:pPr marL="0" indent="0" algn="l">
              <a:spcAft>
                <a:spcPts val="400"/>
              </a:spcAft>
              <a:buNone/>
            </a:pPr>
            <a:r>
              <a:rPr lang="en-US" sz="1000" b="1" dirty="0">
                <a:solidFill>
                  <a:srgbClr val="4472C4"/>
                </a:solidFill>
                <a:latin typeface="Arial" panose="020B0604020202090204" pitchFamily="34" charset="0"/>
                <a:ea typeface="Arial" panose="020B0604020202090204" pitchFamily="34" charset="-122"/>
                <a:cs typeface="Arial" panose="020B0604020202090204" pitchFamily="34" charset="-120"/>
              </a:rPr>
              <a:t>What This Enables</a:t>
            </a:r>
            <a:endParaRPr lang="en-US" sz="1000" dirty="0"/>
          </a:p>
        </p:txBody>
      </p:sp>
      <p:sp>
        <p:nvSpPr>
          <p:cNvPr id="17" name="Text 15"/>
          <p:cNvSpPr/>
          <p:nvPr/>
        </p:nvSpPr>
        <p:spPr>
          <a:xfrm>
            <a:off x="4810125" y="2978051"/>
            <a:ext cx="3944493" cy="533400"/>
          </a:xfrm>
          <a:prstGeom prst="rect">
            <a:avLst/>
          </a:prstGeom>
          <a:noFill/>
        </p:spPr>
        <p:txBody>
          <a:bodyPr wrap="square" lIns="0" tIns="0" rIns="0" bIns="0" rtlCol="0" anchor="t"/>
          <a:lstStyle/>
          <a:p>
            <a:pPr marL="0" indent="0" algn="l">
              <a:buNone/>
            </a:pPr>
            <a:r>
              <a:rPr lang="en-US" sz="950" dirty="0">
                <a:solidFill>
                  <a:srgbClr val="333333"/>
                </a:solidFill>
                <a:latin typeface="Arial" panose="020B0604020202090204" pitchFamily="34" charset="0"/>
                <a:ea typeface="Arial" panose="020B0604020202090204" pitchFamily="34" charset="-122"/>
                <a:cs typeface="Arial" panose="020B0604020202090204" pitchFamily="34" charset="-120"/>
              </a:rPr>
              <a:t>Comparing embedding distances on rephrased proposals tests whether Human vs. AI differences persist after style equalization. Residual differences are semantic — in what ideas are proposed — rather than how they are written.</a:t>
            </a:r>
            <a:endParaRPr lang="en-US" sz="950" dirty="0"/>
          </a:p>
        </p:txBody>
      </p:sp>
      <p:sp>
        <p:nvSpPr>
          <p:cNvPr id="18" name="Text 16"/>
          <p:cNvSpPr/>
          <p:nvPr/>
        </p:nvSpPr>
        <p:spPr>
          <a:xfrm>
            <a:off x="304800" y="3800326"/>
            <a:ext cx="4191000" cy="999976"/>
          </a:xfrm>
          <a:prstGeom prst="roundRect">
            <a:avLst>
              <a:gd name="adj" fmla="val 7620"/>
            </a:avLst>
          </a:prstGeom>
          <a:solidFill>
            <a:srgbClr val="EEF6E8"/>
          </a:solidFill>
          <a:ln w="9525">
            <a:solidFill>
              <a:srgbClr val="70AD47"/>
            </a:solidFill>
          </a:ln>
        </p:spPr>
        <p:txBody>
          <a:bodyPr wrap="square" rtlCol="0" anchor="ctr"/>
          <a:lstStyle/>
          <a:p>
            <a:pPr marL="0" indent="0">
              <a:buNone/>
            </a:pPr>
            <a:endParaRPr lang="en-US" dirty="0"/>
          </a:p>
        </p:txBody>
      </p:sp>
      <p:sp>
        <p:nvSpPr>
          <p:cNvPr id="19" name="Text 17"/>
          <p:cNvSpPr/>
          <p:nvPr/>
        </p:nvSpPr>
        <p:spPr>
          <a:xfrm>
            <a:off x="466725" y="3936802"/>
            <a:ext cx="3944493" cy="142875"/>
          </a:xfrm>
          <a:prstGeom prst="rect">
            <a:avLst/>
          </a:prstGeom>
          <a:noFill/>
        </p:spPr>
        <p:txBody>
          <a:bodyPr wrap="square" lIns="0" tIns="0" rIns="0" bIns="0" rtlCol="0" anchor="t"/>
          <a:lstStyle/>
          <a:p>
            <a:pPr marL="0" indent="0" algn="l">
              <a:spcAft>
                <a:spcPts val="400"/>
              </a:spcAft>
              <a:buNone/>
            </a:pPr>
            <a:r>
              <a:rPr lang="en-US" sz="1000" b="1" dirty="0">
                <a:solidFill>
                  <a:srgbClr val="385C1F"/>
                </a:solidFill>
                <a:latin typeface="Arial" panose="020B0604020202090204" pitchFamily="34" charset="0"/>
                <a:ea typeface="Arial" panose="020B0604020202090204" pitchFamily="34" charset="-122"/>
                <a:cs typeface="Arial" panose="020B0604020202090204" pitchFamily="34" charset="-120"/>
              </a:rPr>
              <a:t>Key Change in Findings</a:t>
            </a:r>
            <a:endParaRPr lang="en-US" sz="1000" dirty="0"/>
          </a:p>
        </p:txBody>
      </p:sp>
      <p:sp>
        <p:nvSpPr>
          <p:cNvPr id="20" name="Text 18"/>
          <p:cNvSpPr/>
          <p:nvPr/>
        </p:nvSpPr>
        <p:spPr>
          <a:xfrm>
            <a:off x="466725" y="4130427"/>
            <a:ext cx="3944493" cy="533400"/>
          </a:xfrm>
          <a:prstGeom prst="rect">
            <a:avLst/>
          </a:prstGeom>
          <a:noFill/>
        </p:spPr>
        <p:txBody>
          <a:bodyPr wrap="square" lIns="0" tIns="0" rIns="0" bIns="0" rtlCol="0" anchor="t"/>
          <a:lstStyle/>
          <a:p>
            <a:pPr marL="0" indent="0" algn="l">
              <a:buNone/>
            </a:pPr>
            <a:r>
              <a:rPr lang="en-US" sz="950" dirty="0">
                <a:solidFill>
                  <a:srgbClr val="333333"/>
                </a:solidFill>
                <a:latin typeface="Arial" panose="020B0604020202090204" pitchFamily="34" charset="0"/>
                <a:ea typeface="Arial" panose="020B0604020202090204" pitchFamily="34" charset="-122"/>
                <a:cs typeface="Arial" panose="020B0604020202090204" pitchFamily="34" charset="-120"/>
              </a:rPr>
              <a:t>Baseline style-only AUROC = 1.000 (perfect separation). Rephrased style AUROC = 0.684. Raw novelty gap persists but attenuates (δ=−0.294, p&lt;0.001); local-density normalized gap disappears (p=0.22). Diversity pattern reverses: humans become more diverse than pooled AI; Claude-Opus-4.5 shows semantic mode collapse.</a:t>
            </a:r>
            <a:endParaRPr lang="en-US" sz="950" dirty="0"/>
          </a:p>
        </p:txBody>
      </p:sp>
      <p:sp>
        <p:nvSpPr>
          <p:cNvPr id="21" name="Text 19"/>
          <p:cNvSpPr/>
          <p:nvPr/>
        </p:nvSpPr>
        <p:spPr>
          <a:xfrm>
            <a:off x="4648200" y="3800326"/>
            <a:ext cx="4191000" cy="999976"/>
          </a:xfrm>
          <a:prstGeom prst="roundRect">
            <a:avLst>
              <a:gd name="adj" fmla="val 7620"/>
            </a:avLst>
          </a:prstGeom>
          <a:solidFill>
            <a:srgbClr val="EEF6E8"/>
          </a:solidFill>
          <a:ln w="9525">
            <a:solidFill>
              <a:srgbClr val="70AD47"/>
            </a:solidFill>
          </a:ln>
        </p:spPr>
        <p:txBody>
          <a:bodyPr wrap="square" rtlCol="0" anchor="ctr"/>
          <a:lstStyle/>
          <a:p>
            <a:pPr marL="0" indent="0">
              <a:buNone/>
            </a:pPr>
            <a:endParaRPr lang="en-US" dirty="0"/>
          </a:p>
        </p:txBody>
      </p:sp>
      <p:sp>
        <p:nvSpPr>
          <p:cNvPr id="22" name="Text 20"/>
          <p:cNvSpPr/>
          <p:nvPr/>
        </p:nvSpPr>
        <p:spPr>
          <a:xfrm>
            <a:off x="4810125" y="3936802"/>
            <a:ext cx="3944493" cy="142875"/>
          </a:xfrm>
          <a:prstGeom prst="rect">
            <a:avLst/>
          </a:prstGeom>
          <a:noFill/>
        </p:spPr>
        <p:txBody>
          <a:bodyPr wrap="square" lIns="0" tIns="0" rIns="0" bIns="0" rtlCol="0" anchor="t"/>
          <a:lstStyle/>
          <a:p>
            <a:pPr marL="0" indent="0" algn="l">
              <a:spcAft>
                <a:spcPts val="400"/>
              </a:spcAft>
              <a:buNone/>
            </a:pPr>
            <a:r>
              <a:rPr lang="en-US" sz="1000" b="1" dirty="0">
                <a:solidFill>
                  <a:srgbClr val="385C1F"/>
                </a:solidFill>
                <a:latin typeface="Arial" panose="020B0604020202090204" pitchFamily="34" charset="0"/>
                <a:ea typeface="Arial" panose="020B0604020202090204" pitchFamily="34" charset="-122"/>
                <a:cs typeface="Arial" panose="020B0604020202090204" pitchFamily="34" charset="-120"/>
              </a:rPr>
              <a:t>Analyses Preserved</a:t>
            </a:r>
            <a:endParaRPr lang="en-US" sz="1000" dirty="0"/>
          </a:p>
        </p:txBody>
      </p:sp>
      <p:sp>
        <p:nvSpPr>
          <p:cNvPr id="23" name="Text 21"/>
          <p:cNvSpPr/>
          <p:nvPr/>
        </p:nvSpPr>
        <p:spPr>
          <a:xfrm>
            <a:off x="4810125" y="4130427"/>
            <a:ext cx="3944493" cy="533400"/>
          </a:xfrm>
          <a:prstGeom prst="rect">
            <a:avLst/>
          </a:prstGeom>
          <a:noFill/>
        </p:spPr>
        <p:txBody>
          <a:bodyPr wrap="square" lIns="0" tIns="0" rIns="0" bIns="0" rtlCol="0" anchor="t"/>
          <a:lstStyle/>
          <a:p>
            <a:pPr marL="0" indent="0" algn="l">
              <a:buNone/>
            </a:pPr>
            <a:r>
              <a:rPr lang="en-US" sz="950" dirty="0">
                <a:solidFill>
                  <a:srgbClr val="333333"/>
                </a:solidFill>
                <a:latin typeface="Arial" panose="020B0604020202090204" pitchFamily="34" charset="0"/>
                <a:ea typeface="Arial" panose="020B0604020202090204" pitchFamily="34" charset="-122"/>
                <a:cs typeface="Arial" panose="020B0604020202090204" pitchFamily="34" charset="-120"/>
              </a:rPr>
              <a:t>All four analysis types (Diversity, Novelty, Thematic/Cluster, Quality) are run identically on rephrased proposals, enabling direct comparison with the baseline. Statistical framework is unchanged: BioLinkBERT + non-parametric tests + bootstrap CIs.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4472C4"/>
          </a:solidFill>
        </p:spPr>
        <p:txBody>
          <a:bodyPr wrap="square" rtlCol="0" anchor="ctr"/>
          <a:lstStyle/>
          <a:p>
            <a:pPr marL="0" indent="0">
              <a:buNone/>
            </a:pPr>
            <a:endParaRPr lang="en-US" dirty="0"/>
          </a:p>
        </p:txBody>
      </p:sp>
      <p:sp>
        <p:nvSpPr>
          <p:cNvPr id="3" name="Text 1"/>
          <p:cNvSpPr/>
          <p:nvPr/>
        </p:nvSpPr>
        <p:spPr>
          <a:xfrm>
            <a:off x="0" y="5067300"/>
            <a:ext cx="9144000" cy="76200"/>
          </a:xfrm>
          <a:prstGeom prst="rect">
            <a:avLst/>
          </a:prstGeom>
          <a:solidFill>
            <a:srgbClr val="44546A"/>
          </a:solidFill>
        </p:spPr>
        <p:txBody>
          <a:bodyPr wrap="square" rtlCol="0" anchor="ctr"/>
          <a:lstStyle/>
          <a:p>
            <a:pPr marL="0" indent="0">
              <a:buNone/>
            </a:pPr>
            <a:endParaRPr lang="en-US" dirty="0"/>
          </a:p>
        </p:txBody>
      </p:sp>
      <p:sp>
        <p:nvSpPr>
          <p:cNvPr id="4" name="Text 2"/>
          <p:cNvSpPr/>
          <p:nvPr/>
        </p:nvSpPr>
        <p:spPr>
          <a:xfrm>
            <a:off x="7366099" y="76200"/>
            <a:ext cx="1777901" cy="355550"/>
          </a:xfrm>
          <a:prstGeom prst="rect">
            <a:avLst/>
          </a:prstGeom>
          <a:solidFill>
            <a:srgbClr val="44546A"/>
          </a:solidFill>
        </p:spPr>
        <p:txBody>
          <a:bodyPr wrap="square" rtlCol="0" anchor="ctr"/>
          <a:lstStyle/>
          <a:p>
            <a:pPr marL="0" indent="0">
              <a:buNone/>
            </a:pPr>
            <a:endParaRPr lang="en-US" dirty="0"/>
          </a:p>
        </p:txBody>
      </p:sp>
      <p:sp>
        <p:nvSpPr>
          <p:cNvPr id="5" name="Text 3"/>
          <p:cNvSpPr/>
          <p:nvPr/>
        </p:nvSpPr>
        <p:spPr>
          <a:xfrm>
            <a:off x="7661077" y="187226"/>
            <a:ext cx="1211553" cy="133350"/>
          </a:xfrm>
          <a:prstGeom prst="rect">
            <a:avLst/>
          </a:prstGeom>
          <a:noFill/>
        </p:spPr>
        <p:txBody>
          <a:bodyPr wrap="square" lIns="0" tIns="0" rIns="0" bIns="0" rtlCol="0" anchor="t"/>
          <a:lstStyle/>
          <a:p>
            <a:pPr marL="0" indent="0" algn="l">
              <a:buNone/>
            </a:pPr>
            <a:r>
              <a:rPr lang="en-US" sz="900" b="1" dirty="0">
                <a:solidFill>
                  <a:srgbClr val="FFFFFF"/>
                </a:solidFill>
                <a:latin typeface="Arial" panose="020B0604020202090204" pitchFamily="34" charset="0"/>
                <a:ea typeface="Arial" panose="020B0604020202090204" pitchFamily="34" charset="-122"/>
                <a:cs typeface="Arial" panose="020B0604020202090204" pitchFamily="34" charset="-120"/>
              </a:rPr>
              <a:t>REPHRASE PIPELINE</a:t>
            </a:r>
            <a:endParaRPr lang="en-US" sz="900" dirty="0"/>
          </a:p>
        </p:txBody>
      </p:sp>
      <p:sp>
        <p:nvSpPr>
          <p:cNvPr id="6" name="Text 4"/>
          <p:cNvSpPr/>
          <p:nvPr/>
        </p:nvSpPr>
        <p:spPr>
          <a:xfrm>
            <a:off x="304800" y="177701"/>
            <a:ext cx="7124649" cy="295275"/>
          </a:xfrm>
          <a:prstGeom prst="rect">
            <a:avLst/>
          </a:prstGeom>
          <a:noFill/>
        </p:spPr>
        <p:txBody>
          <a:bodyPr wrap="square" lIns="0" tIns="0" rIns="0" bIns="0" rtlCol="0" anchor="t"/>
          <a:lstStyle/>
          <a:p>
            <a:pPr marL="0" indent="0" algn="l">
              <a:buNone/>
            </a:pPr>
            <a:r>
              <a:rPr lang="en-US" sz="2000" b="1" dirty="0">
                <a:solidFill>
                  <a:srgbClr val="44546A"/>
                </a:solidFill>
                <a:latin typeface="Arial" panose="020B0604020202090204" pitchFamily="34" charset="0"/>
                <a:ea typeface="Arial" panose="020B0604020202090204" pitchFamily="34" charset="-122"/>
                <a:cs typeface="Arial" panose="020B0604020202090204" pitchFamily="34" charset="-120"/>
              </a:rPr>
              <a:t>Proposal Rephrasing: Two-Step AI Pipeline</a:t>
            </a:r>
            <a:endParaRPr lang="en-US" sz="2000" dirty="0"/>
          </a:p>
        </p:txBody>
      </p:sp>
      <p:sp>
        <p:nvSpPr>
          <p:cNvPr id="7" name="Text 5"/>
          <p:cNvSpPr/>
          <p:nvPr/>
        </p:nvSpPr>
        <p:spPr>
          <a:xfrm>
            <a:off x="304800" y="498277"/>
            <a:ext cx="7124649" cy="152400"/>
          </a:xfrm>
          <a:prstGeom prst="rect">
            <a:avLst/>
          </a:prstGeom>
          <a:noFill/>
        </p:spPr>
        <p:txBody>
          <a:bodyPr wrap="square" lIns="0" tIns="0" rIns="0" bIns="0" rtlCol="0" anchor="t"/>
          <a:lstStyle/>
          <a:p>
            <a:pPr marL="0" indent="0" algn="l">
              <a:spcBef>
                <a:spcPts val="200"/>
              </a:spcBef>
              <a:buNone/>
            </a:pPr>
            <a:r>
              <a:rPr lang="en-US" sz="1100" dirty="0">
                <a:solidFill>
                  <a:srgbClr val="4472C4"/>
                </a:solidFill>
                <a:latin typeface="Arial" panose="020B0604020202090204" pitchFamily="34" charset="0"/>
                <a:ea typeface="Arial" panose="020B0604020202090204" pitchFamily="34" charset="-122"/>
                <a:cs typeface="Arial" panose="020B0604020202090204" pitchFamily="34" charset="-120"/>
              </a:rPr>
              <a:t>Gemini Flash extracts semantic facts then fills a fixed template, aiming to remove all stylistic fingerprints</a:t>
            </a:r>
            <a:endParaRPr lang="en-US" sz="1100" dirty="0"/>
          </a:p>
        </p:txBody>
      </p:sp>
      <p:sp>
        <p:nvSpPr>
          <p:cNvPr id="8" name="Text 6"/>
          <p:cNvSpPr/>
          <p:nvPr/>
        </p:nvSpPr>
        <p:spPr>
          <a:xfrm>
            <a:off x="304800" y="711101"/>
            <a:ext cx="8534400" cy="25301"/>
          </a:xfrm>
          <a:prstGeom prst="rect">
            <a:avLst/>
          </a:prstGeom>
          <a:solidFill>
            <a:srgbClr val="4472C4"/>
          </a:solidFill>
        </p:spPr>
        <p:txBody>
          <a:bodyPr wrap="square" rtlCol="0" anchor="ctr"/>
          <a:lstStyle/>
          <a:p>
            <a:pPr marL="0" indent="0">
              <a:buNone/>
            </a:pPr>
            <a:endParaRPr lang="en-US" dirty="0"/>
          </a:p>
        </p:txBody>
      </p:sp>
      <p:sp>
        <p:nvSpPr>
          <p:cNvPr id="9" name="Text 7"/>
          <p:cNvSpPr/>
          <p:nvPr/>
        </p:nvSpPr>
        <p:spPr>
          <a:xfrm>
            <a:off x="304800" y="838200"/>
            <a:ext cx="1631156" cy="1695301"/>
          </a:xfrm>
          <a:prstGeom prst="roundRect">
            <a:avLst>
              <a:gd name="adj" fmla="val 4672"/>
            </a:avLst>
          </a:prstGeom>
          <a:solidFill>
            <a:srgbClr val="E7E6E6"/>
          </a:solidFill>
        </p:spPr>
        <p:txBody>
          <a:bodyPr wrap="square" rtlCol="0" anchor="ctr"/>
          <a:lstStyle/>
          <a:p>
            <a:pPr marL="0" indent="0">
              <a:buNone/>
            </a:pPr>
            <a:endParaRPr lang="en-US" dirty="0"/>
          </a:p>
        </p:txBody>
      </p:sp>
      <p:sp>
        <p:nvSpPr>
          <p:cNvPr id="10" name="Shape 8"/>
          <p:cNvSpPr/>
          <p:nvPr/>
        </p:nvSpPr>
        <p:spPr>
          <a:xfrm>
            <a:off x="328613" y="838200"/>
            <a:ext cx="0" cy="1695301"/>
          </a:xfrm>
          <a:prstGeom prst="line">
            <a:avLst/>
          </a:prstGeom>
          <a:noFill/>
          <a:ln w="47625">
            <a:solidFill>
              <a:srgbClr val="A5A5A5"/>
            </a:solidFill>
            <a:prstDash val="solid"/>
          </a:ln>
        </p:spPr>
      </p:sp>
      <p:sp>
        <p:nvSpPr>
          <p:cNvPr id="11" name="Text 9"/>
          <p:cNvSpPr/>
          <p:nvPr/>
        </p:nvSpPr>
        <p:spPr>
          <a:xfrm>
            <a:off x="504825" y="965150"/>
            <a:ext cx="1304306" cy="114300"/>
          </a:xfrm>
          <a:prstGeom prst="rect">
            <a:avLst/>
          </a:prstGeom>
          <a:noFill/>
        </p:spPr>
        <p:txBody>
          <a:bodyPr wrap="square" lIns="0" tIns="0" rIns="0" bIns="0" rtlCol="0" anchor="t"/>
          <a:lstStyle/>
          <a:p>
            <a:pPr marL="0" indent="0" algn="l">
              <a:spcAft>
                <a:spcPts val="300"/>
              </a:spcAft>
              <a:buNone/>
            </a:pPr>
            <a:r>
              <a:rPr lang="en-US" sz="800" b="1" dirty="0">
                <a:solidFill>
                  <a:srgbClr val="666666"/>
                </a:solidFill>
                <a:latin typeface="Arial" panose="020B0604020202090204" pitchFamily="34" charset="0"/>
                <a:ea typeface="Arial" panose="020B0604020202090204" pitchFamily="34" charset="-122"/>
                <a:cs typeface="Arial" panose="020B0604020202090204" pitchFamily="34" charset="-120"/>
              </a:rPr>
              <a:t>INPUT</a:t>
            </a:r>
            <a:endParaRPr lang="en-US" sz="800" dirty="0"/>
          </a:p>
        </p:txBody>
      </p:sp>
      <p:sp>
        <p:nvSpPr>
          <p:cNvPr id="12" name="Text 10"/>
          <p:cNvSpPr/>
          <p:nvPr/>
        </p:nvSpPr>
        <p:spPr>
          <a:xfrm>
            <a:off x="504825" y="1117550"/>
            <a:ext cx="1304306" cy="152400"/>
          </a:xfrm>
          <a:prstGeom prst="rect">
            <a:avLst/>
          </a:prstGeom>
          <a:noFill/>
        </p:spPr>
        <p:txBody>
          <a:bodyPr wrap="square" lIns="0" tIns="0" rIns="0" bIns="0" rtlCol="0" anchor="t"/>
          <a:lstStyle/>
          <a:p>
            <a:pPr marL="0" indent="0" algn="l">
              <a:spcAft>
                <a:spcPts val="400"/>
              </a:spcAft>
              <a:buNone/>
            </a:pPr>
            <a:r>
              <a:rPr lang="en-US" sz="1100" b="1" dirty="0">
                <a:solidFill>
                  <a:srgbClr val="44546A"/>
                </a:solidFill>
                <a:latin typeface="Arial" panose="020B0604020202090204" pitchFamily="34" charset="0"/>
                <a:ea typeface="Arial" panose="020B0604020202090204" pitchFamily="34" charset="-122"/>
                <a:cs typeface="Arial" panose="020B0604020202090204" pitchFamily="34" charset="-120"/>
              </a:rPr>
              <a:t>Original Proposal</a:t>
            </a:r>
            <a:endParaRPr lang="en-US" sz="1100" dirty="0"/>
          </a:p>
        </p:txBody>
      </p:sp>
      <p:sp>
        <p:nvSpPr>
          <p:cNvPr id="13" name="Text 11"/>
          <p:cNvSpPr/>
          <p:nvPr/>
        </p:nvSpPr>
        <p:spPr>
          <a:xfrm>
            <a:off x="504825" y="1320701"/>
            <a:ext cx="1304306" cy="66675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Full text (AI: 6 fields; Human: abstract + full draft). Variable length, structure, and style per author group.</a:t>
            </a:r>
            <a:endParaRPr lang="en-US" sz="900" dirty="0"/>
          </a:p>
        </p:txBody>
      </p:sp>
      <p:sp>
        <p:nvSpPr>
          <p:cNvPr id="14" name="Text 12"/>
          <p:cNvSpPr/>
          <p:nvPr/>
        </p:nvSpPr>
        <p:spPr>
          <a:xfrm>
            <a:off x="2062758" y="1566714"/>
            <a:ext cx="207365" cy="238125"/>
          </a:xfrm>
          <a:prstGeom prst="rect">
            <a:avLst/>
          </a:prstGeom>
          <a:noFill/>
        </p:spPr>
        <p:txBody>
          <a:bodyPr wrap="square" lIns="0" tIns="0" rIns="0" bIns="0" rtlCol="0" anchor="t"/>
          <a:lstStyle/>
          <a:p>
            <a:pPr marL="0" indent="0" algn="l">
              <a:buNone/>
            </a:pPr>
            <a:r>
              <a:rPr lang="en-US" sz="1600" b="1" dirty="0">
                <a:solidFill>
                  <a:srgbClr val="4472C4"/>
                </a:solidFill>
                <a:latin typeface="Arial" panose="020B0604020202090204" pitchFamily="34" charset="0"/>
                <a:ea typeface="Arial" panose="020B0604020202090204" pitchFamily="34" charset="-122"/>
                <a:cs typeface="Arial" panose="020B0604020202090204" pitchFamily="34" charset="-120"/>
              </a:rPr>
              <a:t>→</a:t>
            </a:r>
            <a:endParaRPr lang="en-US" sz="1600" dirty="0"/>
          </a:p>
        </p:txBody>
      </p:sp>
      <p:sp>
        <p:nvSpPr>
          <p:cNvPr id="15" name="Text 13"/>
          <p:cNvSpPr/>
          <p:nvPr/>
        </p:nvSpPr>
        <p:spPr>
          <a:xfrm>
            <a:off x="2392859" y="838200"/>
            <a:ext cx="1950690" cy="1695301"/>
          </a:xfrm>
          <a:prstGeom prst="roundRect">
            <a:avLst>
              <a:gd name="adj" fmla="val 4495"/>
            </a:avLst>
          </a:prstGeom>
          <a:solidFill>
            <a:srgbClr val="EEF2FA"/>
          </a:solidFill>
        </p:spPr>
        <p:txBody>
          <a:bodyPr wrap="square" rtlCol="0" anchor="ctr"/>
          <a:lstStyle/>
          <a:p>
            <a:pPr marL="0" indent="0">
              <a:buNone/>
            </a:pPr>
            <a:endParaRPr lang="en-US" dirty="0"/>
          </a:p>
        </p:txBody>
      </p:sp>
      <p:sp>
        <p:nvSpPr>
          <p:cNvPr id="16" name="Shape 14"/>
          <p:cNvSpPr/>
          <p:nvPr/>
        </p:nvSpPr>
        <p:spPr>
          <a:xfrm>
            <a:off x="2416671" y="838200"/>
            <a:ext cx="0" cy="1695301"/>
          </a:xfrm>
          <a:prstGeom prst="line">
            <a:avLst/>
          </a:prstGeom>
          <a:noFill/>
          <a:ln w="47625">
            <a:solidFill>
              <a:srgbClr val="4472C4"/>
            </a:solidFill>
            <a:prstDash val="solid"/>
          </a:ln>
        </p:spPr>
      </p:sp>
      <p:sp>
        <p:nvSpPr>
          <p:cNvPr id="17" name="Text 15"/>
          <p:cNvSpPr/>
          <p:nvPr/>
        </p:nvSpPr>
        <p:spPr>
          <a:xfrm>
            <a:off x="2592884" y="965150"/>
            <a:ext cx="1630231" cy="114300"/>
          </a:xfrm>
          <a:prstGeom prst="rect">
            <a:avLst/>
          </a:prstGeom>
          <a:noFill/>
        </p:spPr>
        <p:txBody>
          <a:bodyPr wrap="square" lIns="0" tIns="0" rIns="0" bIns="0" rtlCol="0" anchor="t"/>
          <a:lstStyle/>
          <a:p>
            <a:pPr marL="0" indent="0" algn="l">
              <a:spcAft>
                <a:spcPts val="300"/>
              </a:spcAft>
              <a:buNone/>
            </a:pPr>
            <a:r>
              <a:rPr lang="en-US" sz="800" b="1" dirty="0">
                <a:solidFill>
                  <a:srgbClr val="4472C4"/>
                </a:solidFill>
                <a:latin typeface="Arial" panose="020B0604020202090204" pitchFamily="34" charset="0"/>
                <a:ea typeface="Arial" panose="020B0604020202090204" pitchFamily="34" charset="-122"/>
                <a:cs typeface="Arial" panose="020B0604020202090204" pitchFamily="34" charset="-120"/>
              </a:rPr>
              <a:t>STEP 1: SUMMARIZE</a:t>
            </a:r>
            <a:endParaRPr lang="en-US" sz="800" dirty="0"/>
          </a:p>
        </p:txBody>
      </p:sp>
      <p:sp>
        <p:nvSpPr>
          <p:cNvPr id="18" name="Text 16"/>
          <p:cNvSpPr/>
          <p:nvPr/>
        </p:nvSpPr>
        <p:spPr>
          <a:xfrm>
            <a:off x="2592884" y="1117550"/>
            <a:ext cx="1630231" cy="152400"/>
          </a:xfrm>
          <a:prstGeom prst="rect">
            <a:avLst/>
          </a:prstGeom>
          <a:noFill/>
        </p:spPr>
        <p:txBody>
          <a:bodyPr wrap="square" lIns="0" tIns="0" rIns="0" bIns="0" rtlCol="0" anchor="t"/>
          <a:lstStyle/>
          <a:p>
            <a:pPr marL="0" indent="0" algn="l">
              <a:spcAft>
                <a:spcPts val="400"/>
              </a:spcAft>
              <a:buNone/>
            </a:pPr>
            <a:r>
              <a:rPr lang="en-US" sz="1100" b="1" dirty="0">
                <a:solidFill>
                  <a:srgbClr val="4472C4"/>
                </a:solidFill>
                <a:latin typeface="Arial" panose="020B0604020202090204" pitchFamily="34" charset="0"/>
                <a:ea typeface="Arial" panose="020B0604020202090204" pitchFamily="34" charset="-122"/>
                <a:cs typeface="Arial" panose="020B0604020202090204" pitchFamily="34" charset="-120"/>
              </a:rPr>
              <a:t>Extract Semantic Facts</a:t>
            </a:r>
            <a:endParaRPr lang="en-US" sz="1100" dirty="0"/>
          </a:p>
        </p:txBody>
      </p:sp>
      <p:sp>
        <p:nvSpPr>
          <p:cNvPr id="19" name="Text 17"/>
          <p:cNvSpPr/>
          <p:nvPr/>
        </p:nvSpPr>
        <p:spPr>
          <a:xfrm>
            <a:off x="2592884" y="1320701"/>
            <a:ext cx="1630231" cy="93345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15 structured fact categories extracted as plain declarative statements. Strips sentence rhythms, punctuation habits, vocabulary, hedging, and rhetorical framing. Output is style-free numbered fact list.</a:t>
            </a:r>
            <a:endParaRPr lang="en-US" sz="900" dirty="0"/>
          </a:p>
        </p:txBody>
      </p:sp>
      <p:sp>
        <p:nvSpPr>
          <p:cNvPr id="20" name="Text 18"/>
          <p:cNvSpPr/>
          <p:nvPr/>
        </p:nvSpPr>
        <p:spPr>
          <a:xfrm>
            <a:off x="4470350" y="1566714"/>
            <a:ext cx="207365" cy="238125"/>
          </a:xfrm>
          <a:prstGeom prst="rect">
            <a:avLst/>
          </a:prstGeom>
          <a:noFill/>
        </p:spPr>
        <p:txBody>
          <a:bodyPr wrap="square" lIns="0" tIns="0" rIns="0" bIns="0" rtlCol="0" anchor="t"/>
          <a:lstStyle/>
          <a:p>
            <a:pPr marL="0" indent="0" algn="l">
              <a:buNone/>
            </a:pPr>
            <a:r>
              <a:rPr lang="en-US" sz="1600" b="1" dirty="0">
                <a:solidFill>
                  <a:srgbClr val="4472C4"/>
                </a:solidFill>
                <a:latin typeface="Arial" panose="020B0604020202090204" pitchFamily="34" charset="0"/>
                <a:ea typeface="Arial" panose="020B0604020202090204" pitchFamily="34" charset="-122"/>
                <a:cs typeface="Arial" panose="020B0604020202090204" pitchFamily="34" charset="-120"/>
              </a:rPr>
              <a:t>→</a:t>
            </a:r>
            <a:endParaRPr lang="en-US" sz="1600" dirty="0"/>
          </a:p>
        </p:txBody>
      </p:sp>
      <p:sp>
        <p:nvSpPr>
          <p:cNvPr id="21" name="Text 19"/>
          <p:cNvSpPr/>
          <p:nvPr/>
        </p:nvSpPr>
        <p:spPr>
          <a:xfrm>
            <a:off x="4800451" y="838200"/>
            <a:ext cx="1950690" cy="1695301"/>
          </a:xfrm>
          <a:prstGeom prst="roundRect">
            <a:avLst>
              <a:gd name="adj" fmla="val 4495"/>
            </a:avLst>
          </a:prstGeom>
          <a:solidFill>
            <a:srgbClr val="FEF4EC"/>
          </a:solidFill>
        </p:spPr>
        <p:txBody>
          <a:bodyPr wrap="square" rtlCol="0" anchor="ctr"/>
          <a:lstStyle/>
          <a:p>
            <a:pPr marL="0" indent="0">
              <a:buNone/>
            </a:pPr>
            <a:endParaRPr lang="en-US" dirty="0"/>
          </a:p>
        </p:txBody>
      </p:sp>
      <p:sp>
        <p:nvSpPr>
          <p:cNvPr id="22" name="Shape 20"/>
          <p:cNvSpPr/>
          <p:nvPr/>
        </p:nvSpPr>
        <p:spPr>
          <a:xfrm>
            <a:off x="4824264" y="838200"/>
            <a:ext cx="0" cy="1695301"/>
          </a:xfrm>
          <a:prstGeom prst="line">
            <a:avLst/>
          </a:prstGeom>
          <a:noFill/>
          <a:ln w="47625">
            <a:solidFill>
              <a:srgbClr val="ED7D31"/>
            </a:solidFill>
            <a:prstDash val="solid"/>
          </a:ln>
        </p:spPr>
      </p:sp>
      <p:sp>
        <p:nvSpPr>
          <p:cNvPr id="23" name="Text 21"/>
          <p:cNvSpPr/>
          <p:nvPr/>
        </p:nvSpPr>
        <p:spPr>
          <a:xfrm>
            <a:off x="5000476" y="965150"/>
            <a:ext cx="1630231" cy="114300"/>
          </a:xfrm>
          <a:prstGeom prst="rect">
            <a:avLst/>
          </a:prstGeom>
          <a:noFill/>
        </p:spPr>
        <p:txBody>
          <a:bodyPr wrap="square" lIns="0" tIns="0" rIns="0" bIns="0" rtlCol="0" anchor="t"/>
          <a:lstStyle/>
          <a:p>
            <a:pPr marL="0" indent="0" algn="l">
              <a:spcAft>
                <a:spcPts val="300"/>
              </a:spcAft>
              <a:buNone/>
            </a:pPr>
            <a:r>
              <a:rPr lang="en-US" sz="800" b="1" dirty="0">
                <a:solidFill>
                  <a:srgbClr val="ED7D31"/>
                </a:solidFill>
                <a:latin typeface="Arial" panose="020B0604020202090204" pitchFamily="34" charset="0"/>
                <a:ea typeface="Arial" panose="020B0604020202090204" pitchFamily="34" charset="-122"/>
                <a:cs typeface="Arial" panose="020B0604020202090204" pitchFamily="34" charset="-120"/>
              </a:rPr>
              <a:t>STEP 2: FILL</a:t>
            </a:r>
            <a:endParaRPr lang="en-US" sz="800" dirty="0"/>
          </a:p>
        </p:txBody>
      </p:sp>
      <p:sp>
        <p:nvSpPr>
          <p:cNvPr id="24" name="Text 22"/>
          <p:cNvSpPr/>
          <p:nvPr/>
        </p:nvSpPr>
        <p:spPr>
          <a:xfrm>
            <a:off x="5000476" y="1117550"/>
            <a:ext cx="1630231" cy="304800"/>
          </a:xfrm>
          <a:prstGeom prst="rect">
            <a:avLst/>
          </a:prstGeom>
          <a:noFill/>
        </p:spPr>
        <p:txBody>
          <a:bodyPr wrap="square" lIns="0" tIns="0" rIns="0" bIns="0" rtlCol="0" anchor="t"/>
          <a:lstStyle/>
          <a:p>
            <a:pPr marL="0" indent="0" algn="l">
              <a:spcAft>
                <a:spcPts val="400"/>
              </a:spcAft>
              <a:buNone/>
            </a:pPr>
            <a:r>
              <a:rPr lang="en-US" sz="1100" b="1" dirty="0">
                <a:solidFill>
                  <a:srgbClr val="C55A11"/>
                </a:solidFill>
                <a:latin typeface="Arial" panose="020B0604020202090204" pitchFamily="34" charset="0"/>
                <a:ea typeface="Arial" panose="020B0604020202090204" pitchFamily="34" charset="-122"/>
                <a:cs typeface="Arial" panose="020B0604020202090204" pitchFamily="34" charset="-120"/>
              </a:rPr>
              <a:t>Generate Fixed Template</a:t>
            </a:r>
            <a:endParaRPr lang="en-US" sz="1100" dirty="0"/>
          </a:p>
        </p:txBody>
      </p:sp>
      <p:sp>
        <p:nvSpPr>
          <p:cNvPr id="25" name="Text 23"/>
          <p:cNvSpPr/>
          <p:nvPr/>
        </p:nvSpPr>
        <p:spPr>
          <a:xfrm>
            <a:off x="5000476" y="1473101"/>
            <a:ext cx="1630231" cy="93345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Template prose written from facts only — output style is governed by strict formatting rules, not source patterns. Third-person neutral, declarative, controlled sentence count per section.</a:t>
            </a:r>
            <a:endParaRPr lang="en-US" sz="900" dirty="0"/>
          </a:p>
        </p:txBody>
      </p:sp>
      <p:sp>
        <p:nvSpPr>
          <p:cNvPr id="26" name="Text 24"/>
          <p:cNvSpPr/>
          <p:nvPr/>
        </p:nvSpPr>
        <p:spPr>
          <a:xfrm>
            <a:off x="6877943" y="1566714"/>
            <a:ext cx="207365" cy="238125"/>
          </a:xfrm>
          <a:prstGeom prst="rect">
            <a:avLst/>
          </a:prstGeom>
          <a:noFill/>
        </p:spPr>
        <p:txBody>
          <a:bodyPr wrap="square" lIns="0" tIns="0" rIns="0" bIns="0" rtlCol="0" anchor="t"/>
          <a:lstStyle/>
          <a:p>
            <a:pPr marL="0" indent="0" algn="l">
              <a:buNone/>
            </a:pPr>
            <a:r>
              <a:rPr lang="en-US" sz="1600" b="1" dirty="0">
                <a:solidFill>
                  <a:srgbClr val="4472C4"/>
                </a:solidFill>
                <a:latin typeface="Arial" panose="020B0604020202090204" pitchFamily="34" charset="0"/>
                <a:ea typeface="Arial" panose="020B0604020202090204" pitchFamily="34" charset="-122"/>
                <a:cs typeface="Arial" panose="020B0604020202090204" pitchFamily="34" charset="-120"/>
              </a:rPr>
              <a:t>→</a:t>
            </a:r>
            <a:endParaRPr lang="en-US" sz="1600" dirty="0"/>
          </a:p>
        </p:txBody>
      </p:sp>
      <p:sp>
        <p:nvSpPr>
          <p:cNvPr id="27" name="Text 25"/>
          <p:cNvSpPr/>
          <p:nvPr/>
        </p:nvSpPr>
        <p:spPr>
          <a:xfrm>
            <a:off x="7208044" y="838200"/>
            <a:ext cx="1631156" cy="1695301"/>
          </a:xfrm>
          <a:prstGeom prst="roundRect">
            <a:avLst>
              <a:gd name="adj" fmla="val 4672"/>
            </a:avLst>
          </a:prstGeom>
          <a:solidFill>
            <a:srgbClr val="EEF6E8"/>
          </a:solidFill>
        </p:spPr>
        <p:txBody>
          <a:bodyPr wrap="square" rtlCol="0" anchor="ctr"/>
          <a:lstStyle/>
          <a:p>
            <a:pPr marL="0" indent="0">
              <a:buNone/>
            </a:pPr>
            <a:endParaRPr lang="en-US" dirty="0"/>
          </a:p>
        </p:txBody>
      </p:sp>
      <p:sp>
        <p:nvSpPr>
          <p:cNvPr id="28" name="Shape 26"/>
          <p:cNvSpPr/>
          <p:nvPr/>
        </p:nvSpPr>
        <p:spPr>
          <a:xfrm>
            <a:off x="7231856" y="838200"/>
            <a:ext cx="0" cy="1695301"/>
          </a:xfrm>
          <a:prstGeom prst="line">
            <a:avLst/>
          </a:prstGeom>
          <a:noFill/>
          <a:ln w="47625">
            <a:solidFill>
              <a:srgbClr val="70AD47"/>
            </a:solidFill>
            <a:prstDash val="solid"/>
          </a:ln>
        </p:spPr>
      </p:sp>
      <p:sp>
        <p:nvSpPr>
          <p:cNvPr id="29" name="Text 27"/>
          <p:cNvSpPr/>
          <p:nvPr/>
        </p:nvSpPr>
        <p:spPr>
          <a:xfrm>
            <a:off x="7408069" y="965150"/>
            <a:ext cx="1304306" cy="114300"/>
          </a:xfrm>
          <a:prstGeom prst="rect">
            <a:avLst/>
          </a:prstGeom>
          <a:noFill/>
        </p:spPr>
        <p:txBody>
          <a:bodyPr wrap="square" lIns="0" tIns="0" rIns="0" bIns="0" rtlCol="0" anchor="t"/>
          <a:lstStyle/>
          <a:p>
            <a:pPr marL="0" indent="0" algn="l">
              <a:spcAft>
                <a:spcPts val="300"/>
              </a:spcAft>
              <a:buNone/>
            </a:pPr>
            <a:r>
              <a:rPr lang="en-US" sz="800" b="1" dirty="0">
                <a:solidFill>
                  <a:srgbClr val="70AD47"/>
                </a:solidFill>
                <a:latin typeface="Arial" panose="020B0604020202090204" pitchFamily="34" charset="0"/>
                <a:ea typeface="Arial" panose="020B0604020202090204" pitchFamily="34" charset="-122"/>
                <a:cs typeface="Arial" panose="020B0604020202090204" pitchFamily="34" charset="-120"/>
              </a:rPr>
              <a:t>OUTPUT</a:t>
            </a:r>
            <a:endParaRPr lang="en-US" sz="800" dirty="0"/>
          </a:p>
        </p:txBody>
      </p:sp>
      <p:sp>
        <p:nvSpPr>
          <p:cNvPr id="30" name="Text 28"/>
          <p:cNvSpPr/>
          <p:nvPr/>
        </p:nvSpPr>
        <p:spPr>
          <a:xfrm>
            <a:off x="7408069" y="1117550"/>
            <a:ext cx="1304306" cy="304800"/>
          </a:xfrm>
          <a:prstGeom prst="rect">
            <a:avLst/>
          </a:prstGeom>
          <a:noFill/>
        </p:spPr>
        <p:txBody>
          <a:bodyPr wrap="square" lIns="0" tIns="0" rIns="0" bIns="0" rtlCol="0" anchor="t"/>
          <a:lstStyle/>
          <a:p>
            <a:pPr marL="0" indent="0" algn="l">
              <a:spcAft>
                <a:spcPts val="400"/>
              </a:spcAft>
              <a:buNone/>
            </a:pPr>
            <a:r>
              <a:rPr lang="en-US" sz="1100" b="1" dirty="0">
                <a:solidFill>
                  <a:srgbClr val="385C1F"/>
                </a:solidFill>
                <a:latin typeface="Arial" panose="020B0604020202090204" pitchFamily="34" charset="0"/>
                <a:ea typeface="Arial" panose="020B0604020202090204" pitchFamily="34" charset="-122"/>
                <a:cs typeface="Arial" panose="020B0604020202090204" pitchFamily="34" charset="-120"/>
              </a:rPr>
              <a:t>Standardized Proposal</a:t>
            </a:r>
            <a:endParaRPr lang="en-US" sz="1100" dirty="0"/>
          </a:p>
        </p:txBody>
      </p:sp>
      <p:sp>
        <p:nvSpPr>
          <p:cNvPr id="31" name="Text 29"/>
          <p:cNvSpPr/>
          <p:nvPr/>
        </p:nvSpPr>
        <p:spPr>
          <a:xfrm>
            <a:off x="7408069" y="1473101"/>
            <a:ext cx="1304306" cy="53340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~2,200 chars (uniform across all 92 proposals). Identical structure, register, and format.</a:t>
            </a:r>
            <a:endParaRPr lang="en-US" sz="900" dirty="0"/>
          </a:p>
        </p:txBody>
      </p:sp>
      <p:sp>
        <p:nvSpPr>
          <p:cNvPr id="32" name="Text 30"/>
          <p:cNvSpPr/>
          <p:nvPr/>
        </p:nvSpPr>
        <p:spPr>
          <a:xfrm>
            <a:off x="304800" y="2635002"/>
            <a:ext cx="1625650" cy="704850"/>
          </a:xfrm>
          <a:prstGeom prst="roundRect">
            <a:avLst>
              <a:gd name="adj" fmla="val 7207"/>
            </a:avLst>
          </a:prstGeom>
          <a:solidFill>
            <a:srgbClr val="F4F4F4"/>
          </a:solidFill>
          <a:ln w="9525">
            <a:solidFill>
              <a:srgbClr val="CCCCCC"/>
            </a:solidFill>
          </a:ln>
        </p:spPr>
        <p:txBody>
          <a:bodyPr wrap="square" rtlCol="0" anchor="ctr"/>
          <a:lstStyle/>
          <a:p>
            <a:pPr marL="0" indent="0">
              <a:buNone/>
            </a:pPr>
            <a:endParaRPr lang="en-US" dirty="0"/>
          </a:p>
        </p:txBody>
      </p:sp>
      <p:sp>
        <p:nvSpPr>
          <p:cNvPr id="33" name="Text 31"/>
          <p:cNvSpPr/>
          <p:nvPr/>
        </p:nvSpPr>
        <p:spPr>
          <a:xfrm>
            <a:off x="415826" y="2720727"/>
            <a:ext cx="1431670" cy="266700"/>
          </a:xfrm>
          <a:prstGeom prst="rect">
            <a:avLst/>
          </a:prstGeom>
          <a:noFill/>
        </p:spPr>
        <p:txBody>
          <a:bodyPr wrap="square" lIns="0" tIns="0" rIns="0" bIns="0" rtlCol="0" anchor="t"/>
          <a:lstStyle/>
          <a:p>
            <a:pPr marL="0" indent="0" algn="l">
              <a:buNone/>
            </a:pPr>
            <a:r>
              <a:rPr lang="en-US" sz="950" b="1" dirty="0">
                <a:solidFill>
                  <a:srgbClr val="44546A"/>
                </a:solidFill>
                <a:latin typeface="Arial" panose="020B0604020202090204" pitchFamily="34" charset="0"/>
                <a:ea typeface="Arial" panose="020B0604020202090204" pitchFamily="34" charset="-122"/>
                <a:cs typeface="Arial" panose="020B0604020202090204" pitchFamily="34" charset="-120"/>
              </a:rPr>
              <a:t>Section 1 · Background (3 sentences)</a:t>
            </a:r>
            <a:endParaRPr lang="en-US" sz="950" dirty="0"/>
          </a:p>
        </p:txBody>
      </p:sp>
      <p:sp>
        <p:nvSpPr>
          <p:cNvPr id="34" name="Text 32"/>
          <p:cNvSpPr/>
          <p:nvPr/>
        </p:nvSpPr>
        <p:spPr>
          <a:xfrm>
            <a:off x="415826" y="2987427"/>
            <a:ext cx="1431670" cy="266700"/>
          </a:xfrm>
          <a:prstGeom prst="rect">
            <a:avLst/>
          </a:prstGeom>
          <a:noFill/>
        </p:spPr>
        <p:txBody>
          <a:bodyPr wrap="square" lIns="0" tIns="0" rIns="0" bIns="0" rtlCol="0" anchor="t"/>
          <a:lstStyle/>
          <a:p>
            <a:pPr marL="0" indent="0" algn="l">
              <a:buNone/>
            </a:pPr>
            <a:r>
              <a:rPr lang="en-US" sz="900" dirty="0">
                <a:solidFill>
                  <a:srgbClr val="333333"/>
                </a:solidFill>
                <a:latin typeface="Arial" panose="020B0604020202090204" pitchFamily="34" charset="0"/>
                <a:ea typeface="Arial" panose="020B0604020202090204" pitchFamily="34" charset="-122"/>
                <a:cs typeface="Arial" panose="020B0604020202090204" pitchFamily="34" charset="-120"/>
              </a:rPr>
              <a:t>Domain, gap, research question</a:t>
            </a:r>
            <a:endParaRPr lang="en-US" sz="900" dirty="0"/>
          </a:p>
        </p:txBody>
      </p:sp>
      <p:sp>
        <p:nvSpPr>
          <p:cNvPr id="35" name="Text 33"/>
          <p:cNvSpPr/>
          <p:nvPr/>
        </p:nvSpPr>
        <p:spPr>
          <a:xfrm>
            <a:off x="2031950" y="2635002"/>
            <a:ext cx="1625798" cy="704850"/>
          </a:xfrm>
          <a:prstGeom prst="roundRect">
            <a:avLst>
              <a:gd name="adj" fmla="val 7207"/>
            </a:avLst>
          </a:prstGeom>
          <a:solidFill>
            <a:srgbClr val="F4F4F4"/>
          </a:solidFill>
          <a:ln w="9525">
            <a:solidFill>
              <a:srgbClr val="CCCCCC"/>
            </a:solidFill>
          </a:ln>
        </p:spPr>
        <p:txBody>
          <a:bodyPr wrap="square" rtlCol="0" anchor="ctr"/>
          <a:lstStyle/>
          <a:p>
            <a:pPr marL="0" indent="0">
              <a:buNone/>
            </a:pPr>
            <a:endParaRPr lang="en-US" dirty="0"/>
          </a:p>
        </p:txBody>
      </p:sp>
      <p:sp>
        <p:nvSpPr>
          <p:cNvPr id="36" name="Text 34"/>
          <p:cNvSpPr/>
          <p:nvPr/>
        </p:nvSpPr>
        <p:spPr>
          <a:xfrm>
            <a:off x="2142976" y="2720727"/>
            <a:ext cx="1431822" cy="266700"/>
          </a:xfrm>
          <a:prstGeom prst="rect">
            <a:avLst/>
          </a:prstGeom>
          <a:noFill/>
        </p:spPr>
        <p:txBody>
          <a:bodyPr wrap="square" lIns="0" tIns="0" rIns="0" bIns="0" rtlCol="0" anchor="t"/>
          <a:lstStyle/>
          <a:p>
            <a:pPr marL="0" indent="0" algn="l">
              <a:buNone/>
            </a:pPr>
            <a:r>
              <a:rPr lang="en-US" sz="950" b="1" dirty="0">
                <a:solidFill>
                  <a:srgbClr val="44546A"/>
                </a:solidFill>
                <a:latin typeface="Arial" panose="020B0604020202090204" pitchFamily="34" charset="0"/>
                <a:ea typeface="Arial" panose="020B0604020202090204" pitchFamily="34" charset="-122"/>
                <a:cs typeface="Arial" panose="020B0604020202090204" pitchFamily="34" charset="-120"/>
              </a:rPr>
              <a:t>Section 2 · Methods (3 sentences)</a:t>
            </a:r>
            <a:endParaRPr lang="en-US" sz="950" dirty="0"/>
          </a:p>
        </p:txBody>
      </p:sp>
      <p:sp>
        <p:nvSpPr>
          <p:cNvPr id="37" name="Text 35"/>
          <p:cNvSpPr/>
          <p:nvPr/>
        </p:nvSpPr>
        <p:spPr>
          <a:xfrm>
            <a:off x="2142976" y="2987427"/>
            <a:ext cx="1431822" cy="266700"/>
          </a:xfrm>
          <a:prstGeom prst="rect">
            <a:avLst/>
          </a:prstGeom>
          <a:noFill/>
        </p:spPr>
        <p:txBody>
          <a:bodyPr wrap="square" lIns="0" tIns="0" rIns="0" bIns="0" rtlCol="0" anchor="t"/>
          <a:lstStyle/>
          <a:p>
            <a:pPr marL="0" indent="0" algn="l">
              <a:buNone/>
            </a:pPr>
            <a:r>
              <a:rPr lang="en-US" sz="900" dirty="0">
                <a:solidFill>
                  <a:srgbClr val="333333"/>
                </a:solidFill>
                <a:latin typeface="Arial" panose="020B0604020202090204" pitchFamily="34" charset="0"/>
                <a:ea typeface="Arial" panose="020B0604020202090204" pitchFamily="34" charset="-122"/>
                <a:cs typeface="Arial" panose="020B0604020202090204" pitchFamily="34" charset="-120"/>
              </a:rPr>
              <a:t>Study design, tools, validation</a:t>
            </a:r>
            <a:endParaRPr lang="en-US" sz="900" dirty="0"/>
          </a:p>
        </p:txBody>
      </p:sp>
      <p:sp>
        <p:nvSpPr>
          <p:cNvPr id="38" name="Text 36"/>
          <p:cNvSpPr/>
          <p:nvPr/>
        </p:nvSpPr>
        <p:spPr>
          <a:xfrm>
            <a:off x="3759250" y="2635002"/>
            <a:ext cx="1625650" cy="704850"/>
          </a:xfrm>
          <a:prstGeom prst="roundRect">
            <a:avLst>
              <a:gd name="adj" fmla="val 7207"/>
            </a:avLst>
          </a:prstGeom>
          <a:solidFill>
            <a:srgbClr val="F4F4F4"/>
          </a:solidFill>
          <a:ln w="9525">
            <a:solidFill>
              <a:srgbClr val="CCCCCC"/>
            </a:solidFill>
          </a:ln>
        </p:spPr>
        <p:txBody>
          <a:bodyPr wrap="square" rtlCol="0" anchor="ctr"/>
          <a:lstStyle/>
          <a:p>
            <a:pPr marL="0" indent="0">
              <a:buNone/>
            </a:pPr>
            <a:endParaRPr lang="en-US" dirty="0"/>
          </a:p>
        </p:txBody>
      </p:sp>
      <p:sp>
        <p:nvSpPr>
          <p:cNvPr id="39" name="Text 37"/>
          <p:cNvSpPr/>
          <p:nvPr/>
        </p:nvSpPr>
        <p:spPr>
          <a:xfrm>
            <a:off x="3870275" y="2720727"/>
            <a:ext cx="1431670" cy="266700"/>
          </a:xfrm>
          <a:prstGeom prst="rect">
            <a:avLst/>
          </a:prstGeom>
          <a:noFill/>
        </p:spPr>
        <p:txBody>
          <a:bodyPr wrap="square" lIns="0" tIns="0" rIns="0" bIns="0" rtlCol="0" anchor="t"/>
          <a:lstStyle/>
          <a:p>
            <a:pPr marL="0" indent="0" algn="l">
              <a:buNone/>
            </a:pPr>
            <a:r>
              <a:rPr lang="en-US" sz="950" b="1" dirty="0">
                <a:solidFill>
                  <a:srgbClr val="44546A"/>
                </a:solidFill>
                <a:latin typeface="Arial" panose="020B0604020202090204" pitchFamily="34" charset="0"/>
                <a:ea typeface="Arial" panose="020B0604020202090204" pitchFamily="34" charset="-122"/>
                <a:cs typeface="Arial" panose="020B0604020202090204" pitchFamily="34" charset="-120"/>
              </a:rPr>
              <a:t>Section 3 · Data Sources (3 sentences)</a:t>
            </a:r>
            <a:endParaRPr lang="en-US" sz="950" dirty="0"/>
          </a:p>
        </p:txBody>
      </p:sp>
      <p:sp>
        <p:nvSpPr>
          <p:cNvPr id="40" name="Text 38"/>
          <p:cNvSpPr/>
          <p:nvPr/>
        </p:nvSpPr>
        <p:spPr>
          <a:xfrm>
            <a:off x="3870275" y="2987427"/>
            <a:ext cx="1431670" cy="266700"/>
          </a:xfrm>
          <a:prstGeom prst="rect">
            <a:avLst/>
          </a:prstGeom>
          <a:noFill/>
        </p:spPr>
        <p:txBody>
          <a:bodyPr wrap="square" lIns="0" tIns="0" rIns="0" bIns="0" rtlCol="0" anchor="t"/>
          <a:lstStyle/>
          <a:p>
            <a:pPr marL="0" indent="0" algn="l">
              <a:buNone/>
            </a:pPr>
            <a:r>
              <a:rPr lang="en-US" sz="900" dirty="0">
                <a:solidFill>
                  <a:srgbClr val="333333"/>
                </a:solidFill>
                <a:latin typeface="Arial" panose="020B0604020202090204" pitchFamily="34" charset="0"/>
                <a:ea typeface="Arial" panose="020B0604020202090204" pitchFamily="34" charset="-122"/>
                <a:cs typeface="Arial" panose="020B0604020202090204" pitchFamily="34" charset="-120"/>
              </a:rPr>
              <a:t>Datasets, integration, limitations</a:t>
            </a:r>
            <a:endParaRPr lang="en-US" sz="900" dirty="0"/>
          </a:p>
        </p:txBody>
      </p:sp>
      <p:sp>
        <p:nvSpPr>
          <p:cNvPr id="41" name="Text 39"/>
          <p:cNvSpPr/>
          <p:nvPr/>
        </p:nvSpPr>
        <p:spPr>
          <a:xfrm>
            <a:off x="5486400" y="2635002"/>
            <a:ext cx="1625650" cy="704850"/>
          </a:xfrm>
          <a:prstGeom prst="roundRect">
            <a:avLst>
              <a:gd name="adj" fmla="val 7207"/>
            </a:avLst>
          </a:prstGeom>
          <a:solidFill>
            <a:srgbClr val="F4F4F4"/>
          </a:solidFill>
          <a:ln w="9525">
            <a:solidFill>
              <a:srgbClr val="CCCCCC"/>
            </a:solidFill>
          </a:ln>
        </p:spPr>
        <p:txBody>
          <a:bodyPr wrap="square" rtlCol="0" anchor="ctr"/>
          <a:lstStyle/>
          <a:p>
            <a:pPr marL="0" indent="0">
              <a:buNone/>
            </a:pPr>
            <a:endParaRPr lang="en-US" dirty="0"/>
          </a:p>
        </p:txBody>
      </p:sp>
      <p:sp>
        <p:nvSpPr>
          <p:cNvPr id="42" name="Text 40"/>
          <p:cNvSpPr/>
          <p:nvPr/>
        </p:nvSpPr>
        <p:spPr>
          <a:xfrm>
            <a:off x="5597426" y="2720727"/>
            <a:ext cx="1431670" cy="266700"/>
          </a:xfrm>
          <a:prstGeom prst="rect">
            <a:avLst/>
          </a:prstGeom>
          <a:noFill/>
        </p:spPr>
        <p:txBody>
          <a:bodyPr wrap="square" lIns="0" tIns="0" rIns="0" bIns="0" rtlCol="0" anchor="t"/>
          <a:lstStyle/>
          <a:p>
            <a:pPr marL="0" indent="0" algn="l">
              <a:buNone/>
            </a:pPr>
            <a:r>
              <a:rPr lang="en-US" sz="950" b="1" dirty="0">
                <a:solidFill>
                  <a:srgbClr val="44546A"/>
                </a:solidFill>
                <a:latin typeface="Arial" panose="020B0604020202090204" pitchFamily="34" charset="0"/>
                <a:ea typeface="Arial" panose="020B0604020202090204" pitchFamily="34" charset="-122"/>
                <a:cs typeface="Arial" panose="020B0604020202090204" pitchFamily="34" charset="-120"/>
              </a:rPr>
              <a:t>Section 4 · Feasibility (2 sentences)</a:t>
            </a:r>
            <a:endParaRPr lang="en-US" sz="950" dirty="0"/>
          </a:p>
        </p:txBody>
      </p:sp>
      <p:sp>
        <p:nvSpPr>
          <p:cNvPr id="43" name="Text 41"/>
          <p:cNvSpPr/>
          <p:nvPr/>
        </p:nvSpPr>
        <p:spPr>
          <a:xfrm>
            <a:off x="5597426" y="2987427"/>
            <a:ext cx="1431670" cy="266700"/>
          </a:xfrm>
          <a:prstGeom prst="rect">
            <a:avLst/>
          </a:prstGeom>
          <a:noFill/>
        </p:spPr>
        <p:txBody>
          <a:bodyPr wrap="square" lIns="0" tIns="0" rIns="0" bIns="0" rtlCol="0" anchor="t"/>
          <a:lstStyle/>
          <a:p>
            <a:pPr marL="0" indent="0" algn="l">
              <a:buNone/>
            </a:pPr>
            <a:r>
              <a:rPr lang="en-US" sz="900" dirty="0">
                <a:solidFill>
                  <a:srgbClr val="333333"/>
                </a:solidFill>
                <a:latin typeface="Arial" panose="020B0604020202090204" pitchFamily="34" charset="0"/>
                <a:ea typeface="Arial" panose="020B0604020202090204" pitchFamily="34" charset="-122"/>
                <a:cs typeface="Arial" panose="020B0604020202090204" pitchFamily="34" charset="-120"/>
              </a:rPr>
              <a:t>Timeline, collaboration rationale</a:t>
            </a:r>
            <a:endParaRPr lang="en-US" sz="900" dirty="0"/>
          </a:p>
        </p:txBody>
      </p:sp>
      <p:sp>
        <p:nvSpPr>
          <p:cNvPr id="44" name="Text 42"/>
          <p:cNvSpPr/>
          <p:nvPr/>
        </p:nvSpPr>
        <p:spPr>
          <a:xfrm>
            <a:off x="7213550" y="2635002"/>
            <a:ext cx="1625650" cy="704850"/>
          </a:xfrm>
          <a:prstGeom prst="roundRect">
            <a:avLst>
              <a:gd name="adj" fmla="val 7207"/>
            </a:avLst>
          </a:prstGeom>
          <a:solidFill>
            <a:srgbClr val="F4F4F4"/>
          </a:solidFill>
          <a:ln w="9525">
            <a:solidFill>
              <a:srgbClr val="CCCCCC"/>
            </a:solidFill>
          </a:ln>
        </p:spPr>
        <p:txBody>
          <a:bodyPr wrap="square" rtlCol="0" anchor="ctr"/>
          <a:lstStyle/>
          <a:p>
            <a:pPr marL="0" indent="0">
              <a:buNone/>
            </a:pPr>
            <a:endParaRPr lang="en-US" dirty="0"/>
          </a:p>
        </p:txBody>
      </p:sp>
      <p:sp>
        <p:nvSpPr>
          <p:cNvPr id="45" name="Text 43"/>
          <p:cNvSpPr/>
          <p:nvPr/>
        </p:nvSpPr>
        <p:spPr>
          <a:xfrm>
            <a:off x="7324576" y="2720727"/>
            <a:ext cx="1431670" cy="266700"/>
          </a:xfrm>
          <a:prstGeom prst="rect">
            <a:avLst/>
          </a:prstGeom>
          <a:noFill/>
        </p:spPr>
        <p:txBody>
          <a:bodyPr wrap="square" lIns="0" tIns="0" rIns="0" bIns="0" rtlCol="0" anchor="t"/>
          <a:lstStyle/>
          <a:p>
            <a:pPr marL="0" indent="0" algn="l">
              <a:buNone/>
            </a:pPr>
            <a:r>
              <a:rPr lang="en-US" sz="950" b="1" dirty="0">
                <a:solidFill>
                  <a:srgbClr val="44546A"/>
                </a:solidFill>
                <a:latin typeface="Arial" panose="020B0604020202090204" pitchFamily="34" charset="0"/>
                <a:ea typeface="Arial" panose="020B0604020202090204" pitchFamily="34" charset="-122"/>
                <a:cs typeface="Arial" panose="020B0604020202090204" pitchFamily="34" charset="-120"/>
              </a:rPr>
              <a:t>Section 5 · Open Science (2 sentences)</a:t>
            </a:r>
            <a:endParaRPr lang="en-US" sz="950" dirty="0"/>
          </a:p>
        </p:txBody>
      </p:sp>
      <p:sp>
        <p:nvSpPr>
          <p:cNvPr id="46" name="Text 44"/>
          <p:cNvSpPr/>
          <p:nvPr/>
        </p:nvSpPr>
        <p:spPr>
          <a:xfrm>
            <a:off x="7324576" y="2987427"/>
            <a:ext cx="1431670" cy="266700"/>
          </a:xfrm>
          <a:prstGeom prst="rect">
            <a:avLst/>
          </a:prstGeom>
          <a:noFill/>
        </p:spPr>
        <p:txBody>
          <a:bodyPr wrap="square" lIns="0" tIns="0" rIns="0" bIns="0" rtlCol="0" anchor="t"/>
          <a:lstStyle/>
          <a:p>
            <a:pPr marL="0" indent="0" algn="l">
              <a:buNone/>
            </a:pPr>
            <a:r>
              <a:rPr lang="en-US" sz="900" dirty="0">
                <a:solidFill>
                  <a:srgbClr val="333333"/>
                </a:solidFill>
                <a:latin typeface="Arial" panose="020B0604020202090204" pitchFamily="34" charset="0"/>
                <a:ea typeface="Arial" panose="020B0604020202090204" pitchFamily="34" charset="-122"/>
                <a:cs typeface="Arial" panose="020B0604020202090204" pitchFamily="34" charset="-120"/>
              </a:rPr>
              <a:t>Data sharing, team composition</a:t>
            </a:r>
            <a:endParaRPr lang="en-US" sz="900" dirty="0"/>
          </a:p>
        </p:txBody>
      </p:sp>
      <p:sp>
        <p:nvSpPr>
          <p:cNvPr id="47" name="Text 45"/>
          <p:cNvSpPr/>
          <p:nvPr/>
        </p:nvSpPr>
        <p:spPr>
          <a:xfrm>
            <a:off x="304800" y="3441353"/>
            <a:ext cx="8534400" cy="488752"/>
          </a:xfrm>
          <a:prstGeom prst="roundRect">
            <a:avLst>
              <a:gd name="adj" fmla="val 10394"/>
            </a:avLst>
          </a:prstGeom>
          <a:solidFill>
            <a:srgbClr val="FFFBE6"/>
          </a:solidFill>
          <a:ln w="9525">
            <a:solidFill>
              <a:srgbClr val="FFC000"/>
            </a:solidFill>
          </a:ln>
        </p:spPr>
        <p:txBody>
          <a:bodyPr wrap="square" rtlCol="0" anchor="ctr"/>
          <a:lstStyle/>
          <a:p>
            <a:pPr marL="0" indent="0">
              <a:buNone/>
            </a:pPr>
            <a:endParaRPr lang="en-US" dirty="0"/>
          </a:p>
        </p:txBody>
      </p:sp>
      <p:sp>
        <p:nvSpPr>
          <p:cNvPr id="48" name="Text 46"/>
          <p:cNvSpPr/>
          <p:nvPr/>
        </p:nvSpPr>
        <p:spPr>
          <a:xfrm>
            <a:off x="466725" y="3552379"/>
            <a:ext cx="8374761" cy="266700"/>
          </a:xfrm>
          <a:prstGeom prst="rect">
            <a:avLst/>
          </a:prstGeom>
          <a:noFill/>
        </p:spPr>
        <p:txBody>
          <a:bodyPr wrap="square" lIns="0" tIns="0" rIns="0" bIns="0" rtlCol="0" anchor="t"/>
          <a:lstStyle/>
          <a:p>
            <a:pPr marL="0" indent="0" algn="l">
              <a:buNone/>
            </a:pPr>
            <a:r>
              <a:rPr lang="en-US" sz="900" b="1" dirty="0">
                <a:solidFill>
                  <a:srgbClr val="444444"/>
                </a:solidFill>
                <a:latin typeface="Arial" panose="020B0604020202090204" pitchFamily="34" charset="0"/>
                <a:ea typeface="Arial" panose="020B0604020202090204" pitchFamily="34" charset="-122"/>
                <a:cs typeface="Arial" panose="020B0604020202090204" pitchFamily="34" charset="-120"/>
              </a:rPr>
              <a:t>Style rules enforced:</a:t>
            </a: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 Third-person neutral · Declarative-only (no hedging unless fact states uncertainty) · 18–22 word avg sentences · No bullet points · No serial commas · Acronym definitions on first use · Title rephrased to 8–15 words in noun-phrase format</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star-graph-cross-evaluation"/>
          <p:cNvPicPr>
            <a:picLocks noChangeAspect="1"/>
          </p:cNvPicPr>
          <p:nvPr/>
        </p:nvPicPr>
        <p:blipFill>
          <a:blip r:embed="rId1"/>
          <a:stretch>
            <a:fillRect/>
          </a:stretch>
        </p:blipFill>
        <p:spPr>
          <a:xfrm>
            <a:off x="68580" y="953135"/>
            <a:ext cx="4333240" cy="3658870"/>
          </a:xfrm>
          <a:prstGeom prst="rect">
            <a:avLst/>
          </a:prstGeom>
        </p:spPr>
      </p:pic>
      <p:sp>
        <p:nvSpPr>
          <p:cNvPr id="5" name="Text Box 4"/>
          <p:cNvSpPr txBox="1"/>
          <p:nvPr/>
        </p:nvSpPr>
        <p:spPr>
          <a:xfrm>
            <a:off x="951230" y="179070"/>
            <a:ext cx="2568575" cy="645160"/>
          </a:xfrm>
          <a:prstGeom prst="rect">
            <a:avLst/>
          </a:prstGeom>
          <a:noFill/>
        </p:spPr>
        <p:txBody>
          <a:bodyPr wrap="square" rtlCol="0">
            <a:spAutoFit/>
          </a:bodyPr>
          <a:p>
            <a:r>
              <a:rPr lang="en-US">
                <a:highlight>
                  <a:srgbClr val="FFFF00"/>
                </a:highlight>
              </a:rPr>
              <a:t>BASELINE (NO style control) </a:t>
            </a:r>
            <a:endParaRPr lang="en-US">
              <a:highlight>
                <a:srgbClr val="FFFF00"/>
              </a:highlight>
            </a:endParaRPr>
          </a:p>
        </p:txBody>
      </p:sp>
      <p:sp>
        <p:nvSpPr>
          <p:cNvPr id="6" name="Text Box 5"/>
          <p:cNvSpPr txBox="1"/>
          <p:nvPr/>
        </p:nvSpPr>
        <p:spPr>
          <a:xfrm>
            <a:off x="5713730" y="129540"/>
            <a:ext cx="2569210" cy="645160"/>
          </a:xfrm>
          <a:prstGeom prst="rect">
            <a:avLst/>
          </a:prstGeom>
          <a:noFill/>
        </p:spPr>
        <p:txBody>
          <a:bodyPr wrap="square" rtlCol="0">
            <a:spAutoFit/>
          </a:bodyPr>
          <a:p>
            <a:r>
              <a:rPr lang="en-US">
                <a:highlight>
                  <a:srgbClr val="FFFF00"/>
                </a:highlight>
              </a:rPr>
              <a:t>AFTER rephrase (with style control)</a:t>
            </a:r>
            <a:endParaRPr lang="en-US">
              <a:highlight>
                <a:srgbClr val="FFFF00"/>
              </a:highlight>
            </a:endParaRPr>
          </a:p>
        </p:txBody>
      </p:sp>
      <p:sp>
        <p:nvSpPr>
          <p:cNvPr id="8" name="Text Box 7"/>
          <p:cNvSpPr txBox="1"/>
          <p:nvPr/>
        </p:nvSpPr>
        <p:spPr>
          <a:xfrm>
            <a:off x="2855595" y="4741545"/>
            <a:ext cx="2568575" cy="460375"/>
          </a:xfrm>
          <a:prstGeom prst="rect">
            <a:avLst/>
          </a:prstGeom>
          <a:noFill/>
        </p:spPr>
        <p:txBody>
          <a:bodyPr wrap="square" rtlCol="0">
            <a:spAutoFit/>
          </a:bodyPr>
          <a:p>
            <a:r>
              <a:rPr lang="en-US" sz="1200">
                <a:highlight>
                  <a:srgbClr val="FFFF00"/>
                </a:highlight>
              </a:rPr>
              <a:t>both cross-eval only to remove AI self-preference bias</a:t>
            </a:r>
            <a:endParaRPr lang="en-US" sz="1200">
              <a:highlight>
                <a:srgbClr val="FFFF00"/>
              </a:highlight>
            </a:endParaRPr>
          </a:p>
        </p:txBody>
      </p:sp>
      <p:pic>
        <p:nvPicPr>
          <p:cNvPr id="9" name="Picture 8" descr="criterion-cross-eval"/>
          <p:cNvPicPr>
            <a:picLocks noChangeAspect="1"/>
          </p:cNvPicPr>
          <p:nvPr/>
        </p:nvPicPr>
        <p:blipFill>
          <a:blip r:embed="rId2"/>
          <a:stretch>
            <a:fillRect/>
          </a:stretch>
        </p:blipFill>
        <p:spPr>
          <a:xfrm>
            <a:off x="4768215" y="906780"/>
            <a:ext cx="4391660" cy="37084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Picture 4" descr="quality_effectsize_heatmap_cross_eval_only"/>
          <p:cNvPicPr>
            <a:picLocks noChangeAspect="1"/>
          </p:cNvPicPr>
          <p:nvPr/>
        </p:nvPicPr>
        <p:blipFill>
          <a:blip r:embed="rId1"/>
          <a:stretch>
            <a:fillRect/>
          </a:stretch>
        </p:blipFill>
        <p:spPr>
          <a:xfrm>
            <a:off x="0" y="0"/>
            <a:ext cx="7586980"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 name="Shape 22"/>
          <p:cNvSpPr/>
          <p:nvPr/>
        </p:nvSpPr>
        <p:spPr>
          <a:xfrm>
            <a:off x="6163310" y="2995295"/>
            <a:ext cx="635" cy="907415"/>
          </a:xfrm>
          <a:prstGeom prst="line">
            <a:avLst/>
          </a:prstGeom>
          <a:noFill/>
          <a:ln w="38100">
            <a:solidFill>
              <a:srgbClr val="A5A5A5"/>
            </a:solidFill>
            <a:prstDash val="solid"/>
          </a:ln>
        </p:spPr>
      </p:sp>
      <p:sp>
        <p:nvSpPr>
          <p:cNvPr id="25" name="Text 23"/>
          <p:cNvSpPr/>
          <p:nvPr/>
        </p:nvSpPr>
        <p:spPr>
          <a:xfrm>
            <a:off x="6322695" y="2934970"/>
            <a:ext cx="2526030" cy="133350"/>
          </a:xfrm>
          <a:prstGeom prst="rect">
            <a:avLst/>
          </a:prstGeom>
          <a:noFill/>
        </p:spPr>
        <p:txBody>
          <a:bodyPr wrap="square" lIns="0" tIns="0" rIns="0" bIns="0" rtlCol="0" anchor="t"/>
          <a:lstStyle/>
          <a:p>
            <a:pPr marL="0" indent="0" algn="l">
              <a:spcAft>
                <a:spcPts val="300"/>
              </a:spcAft>
              <a:buNone/>
            </a:pPr>
            <a:r>
              <a:rPr lang="en-US" sz="950" b="1" dirty="0">
                <a:solidFill>
                  <a:srgbClr val="44546A"/>
                </a:solidFill>
                <a:latin typeface="Arial" panose="020B0604020202090204" pitchFamily="34" charset="0"/>
                <a:ea typeface="Arial" panose="020B0604020202090204" pitchFamily="34" charset="-122"/>
                <a:cs typeface="Arial" panose="020B0604020202090204" pitchFamily="34" charset="-120"/>
              </a:rPr>
              <a:t>ALL proposals: NN distance negatively correlated with novelty score</a:t>
            </a:r>
            <a:endParaRPr lang="en-US" sz="950" dirty="0"/>
          </a:p>
        </p:txBody>
      </p:sp>
      <p:sp>
        <p:nvSpPr>
          <p:cNvPr id="26" name="Text 24"/>
          <p:cNvSpPr/>
          <p:nvPr/>
        </p:nvSpPr>
        <p:spPr>
          <a:xfrm>
            <a:off x="6328410" y="3369945"/>
            <a:ext cx="2567940" cy="66421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Spearman r = −0.576 (p = 0.004) for humans; much weaker for AI models. Human outliers explore unique territory but are not rewarded by AI reviewers for it.</a:t>
            </a:r>
            <a:endParaRPr lang="en-US" sz="900" dirty="0"/>
          </a:p>
        </p:txBody>
      </p:sp>
      <p:pic>
        <p:nvPicPr>
          <p:cNvPr id="2" name="Picture 1" descr="metric_score_correlation_heatmap"/>
          <p:cNvPicPr>
            <a:picLocks noChangeAspect="1"/>
          </p:cNvPicPr>
          <p:nvPr/>
        </p:nvPicPr>
        <p:blipFill>
          <a:blip r:embed="rId1"/>
          <a:stretch>
            <a:fillRect/>
          </a:stretch>
        </p:blipFill>
        <p:spPr>
          <a:xfrm>
            <a:off x="115570" y="0"/>
            <a:ext cx="5819775"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4472C4"/>
          </a:solidFill>
        </p:spPr>
        <p:txBody>
          <a:bodyPr wrap="square" rtlCol="0" anchor="ctr"/>
          <a:lstStyle/>
          <a:p>
            <a:pPr marL="0" indent="0">
              <a:buNone/>
            </a:pPr>
            <a:endParaRPr lang="en-US" dirty="0"/>
          </a:p>
        </p:txBody>
      </p:sp>
      <p:sp>
        <p:nvSpPr>
          <p:cNvPr id="3" name="Text 1"/>
          <p:cNvSpPr/>
          <p:nvPr/>
        </p:nvSpPr>
        <p:spPr>
          <a:xfrm>
            <a:off x="0" y="5067300"/>
            <a:ext cx="9144000" cy="76200"/>
          </a:xfrm>
          <a:prstGeom prst="rect">
            <a:avLst/>
          </a:prstGeom>
          <a:solidFill>
            <a:srgbClr val="44546A"/>
          </a:solidFill>
        </p:spPr>
        <p:txBody>
          <a:bodyPr wrap="square" rtlCol="0" anchor="ctr"/>
          <a:lstStyle/>
          <a:p>
            <a:pPr marL="0" indent="0">
              <a:buNone/>
            </a:pPr>
            <a:endParaRPr lang="en-US" dirty="0"/>
          </a:p>
        </p:txBody>
      </p:sp>
      <p:sp>
        <p:nvSpPr>
          <p:cNvPr id="4" name="Text 2"/>
          <p:cNvSpPr/>
          <p:nvPr/>
        </p:nvSpPr>
        <p:spPr>
          <a:xfrm>
            <a:off x="7620000" y="76200"/>
            <a:ext cx="1524000" cy="355550"/>
          </a:xfrm>
          <a:prstGeom prst="rect">
            <a:avLst/>
          </a:prstGeom>
          <a:solidFill>
            <a:srgbClr val="44546A"/>
          </a:solidFill>
        </p:spPr>
        <p:txBody>
          <a:bodyPr wrap="square" rtlCol="0" anchor="ctr"/>
          <a:lstStyle/>
          <a:p>
            <a:pPr marL="0" indent="0">
              <a:buNone/>
            </a:pPr>
            <a:endParaRPr lang="en-US" dirty="0"/>
          </a:p>
        </p:txBody>
      </p:sp>
      <p:sp>
        <p:nvSpPr>
          <p:cNvPr id="5" name="Text 3"/>
          <p:cNvSpPr/>
          <p:nvPr/>
        </p:nvSpPr>
        <p:spPr>
          <a:xfrm>
            <a:off x="8074968" y="187226"/>
            <a:ext cx="626346" cy="133350"/>
          </a:xfrm>
          <a:prstGeom prst="rect">
            <a:avLst/>
          </a:prstGeom>
          <a:noFill/>
        </p:spPr>
        <p:txBody>
          <a:bodyPr wrap="square" lIns="0" tIns="0" rIns="0" bIns="0" rtlCol="0" anchor="t"/>
          <a:lstStyle/>
          <a:p>
            <a:pPr marL="0" indent="0" algn="l">
              <a:buNone/>
            </a:pPr>
            <a:r>
              <a:rPr lang="en-US" sz="900" b="1" dirty="0">
                <a:solidFill>
                  <a:srgbClr val="FFFFFF"/>
                </a:solidFill>
                <a:latin typeface="Arial" panose="020B0604020202090204" pitchFamily="34" charset="0"/>
                <a:ea typeface="Arial" panose="020B0604020202090204" pitchFamily="34" charset="-122"/>
                <a:cs typeface="Arial" panose="020B0604020202090204" pitchFamily="34" charset="-120"/>
              </a:rPr>
              <a:t>OVERVIEW</a:t>
            </a:r>
            <a:endParaRPr lang="en-US" sz="900" dirty="0"/>
          </a:p>
        </p:txBody>
      </p:sp>
      <p:sp>
        <p:nvSpPr>
          <p:cNvPr id="6" name="Text 4"/>
          <p:cNvSpPr/>
          <p:nvPr/>
        </p:nvSpPr>
        <p:spPr>
          <a:xfrm>
            <a:off x="304800" y="177701"/>
            <a:ext cx="7124649" cy="295275"/>
          </a:xfrm>
          <a:prstGeom prst="rect">
            <a:avLst/>
          </a:prstGeom>
          <a:noFill/>
        </p:spPr>
        <p:txBody>
          <a:bodyPr wrap="square" lIns="0" tIns="0" rIns="0" bIns="0" rtlCol="0" anchor="t"/>
          <a:lstStyle/>
          <a:p>
            <a:pPr marL="0" indent="0" algn="l">
              <a:buNone/>
            </a:pPr>
            <a:r>
              <a:rPr lang="en-US" sz="2000" b="1" dirty="0">
                <a:solidFill>
                  <a:srgbClr val="44546A"/>
                </a:solidFill>
                <a:latin typeface="Arial" panose="020B0604020202090204" pitchFamily="34" charset="0"/>
                <a:ea typeface="Arial" panose="020B0604020202090204" pitchFamily="34" charset="-122"/>
                <a:cs typeface="Arial" panose="020B0604020202090204" pitchFamily="34" charset="-120"/>
              </a:rPr>
              <a:t>Analysis Overview</a:t>
            </a:r>
            <a:endParaRPr lang="en-US" sz="2000" dirty="0"/>
          </a:p>
        </p:txBody>
      </p:sp>
      <p:sp>
        <p:nvSpPr>
          <p:cNvPr id="7" name="Text 5"/>
          <p:cNvSpPr/>
          <p:nvPr/>
        </p:nvSpPr>
        <p:spPr>
          <a:xfrm>
            <a:off x="304800" y="498277"/>
            <a:ext cx="7124649" cy="152400"/>
          </a:xfrm>
          <a:prstGeom prst="rect">
            <a:avLst/>
          </a:prstGeom>
          <a:noFill/>
        </p:spPr>
        <p:txBody>
          <a:bodyPr wrap="square" lIns="0" tIns="0" rIns="0" bIns="0" rtlCol="0" anchor="t"/>
          <a:lstStyle/>
          <a:p>
            <a:pPr marL="0" indent="0" algn="l">
              <a:spcBef>
                <a:spcPts val="200"/>
              </a:spcBef>
              <a:buNone/>
            </a:pPr>
            <a:r>
              <a:rPr lang="en-US" sz="1100" dirty="0">
                <a:solidFill>
                  <a:srgbClr val="4472C4"/>
                </a:solidFill>
                <a:latin typeface="Arial" panose="020B0604020202090204" pitchFamily="34" charset="0"/>
                <a:ea typeface="Arial" panose="020B0604020202090204" pitchFamily="34" charset="-122"/>
                <a:cs typeface="Arial" panose="020B0604020202090204" pitchFamily="34" charset="-120"/>
              </a:rPr>
              <a:t>Data, methodology, and analysis structure for the style-controlled comparison</a:t>
            </a:r>
            <a:endParaRPr lang="en-US" sz="1100" dirty="0"/>
          </a:p>
        </p:txBody>
      </p:sp>
      <p:sp>
        <p:nvSpPr>
          <p:cNvPr id="8" name="Text 6"/>
          <p:cNvSpPr/>
          <p:nvPr/>
        </p:nvSpPr>
        <p:spPr>
          <a:xfrm>
            <a:off x="304800" y="711101"/>
            <a:ext cx="8534400" cy="25301"/>
          </a:xfrm>
          <a:prstGeom prst="rect">
            <a:avLst/>
          </a:prstGeom>
          <a:solidFill>
            <a:srgbClr val="4472C4"/>
          </a:solidFill>
        </p:spPr>
        <p:txBody>
          <a:bodyPr wrap="square" rtlCol="0" anchor="ctr"/>
          <a:lstStyle/>
          <a:p>
            <a:pPr marL="0" indent="0">
              <a:buNone/>
            </a:pPr>
            <a:endParaRPr lang="en-US" dirty="0"/>
          </a:p>
        </p:txBody>
      </p:sp>
      <p:sp>
        <p:nvSpPr>
          <p:cNvPr id="9" name="Text 7"/>
          <p:cNvSpPr/>
          <p:nvPr/>
        </p:nvSpPr>
        <p:spPr>
          <a:xfrm>
            <a:off x="304800" y="838200"/>
            <a:ext cx="2539901" cy="1990427"/>
          </a:xfrm>
          <a:prstGeom prst="roundRect">
            <a:avLst>
              <a:gd name="adj" fmla="val 3828"/>
            </a:avLst>
          </a:prstGeom>
          <a:solidFill>
            <a:srgbClr val="F4F4F4"/>
          </a:solidFill>
        </p:spPr>
        <p:txBody>
          <a:bodyPr wrap="square" rtlCol="0" anchor="ctr"/>
          <a:lstStyle/>
          <a:p>
            <a:pPr marL="0" indent="0">
              <a:buNone/>
            </a:pPr>
            <a:endParaRPr lang="en-US" dirty="0"/>
          </a:p>
        </p:txBody>
      </p:sp>
      <p:sp>
        <p:nvSpPr>
          <p:cNvPr id="10" name="Text 8"/>
          <p:cNvSpPr/>
          <p:nvPr/>
        </p:nvSpPr>
        <p:spPr>
          <a:xfrm>
            <a:off x="457200" y="990600"/>
            <a:ext cx="2279803" cy="142875"/>
          </a:xfrm>
          <a:prstGeom prst="rect">
            <a:avLst/>
          </a:prstGeom>
          <a:noFill/>
        </p:spPr>
        <p:txBody>
          <a:bodyPr wrap="square" lIns="0" tIns="0" rIns="0" bIns="0" rtlCol="0" anchor="t"/>
          <a:lstStyle/>
          <a:p>
            <a:pPr marL="0" indent="0" algn="l">
              <a:spcAft>
                <a:spcPts val="600"/>
              </a:spcAft>
              <a:buNone/>
            </a:pPr>
            <a:r>
              <a:rPr lang="en-US" sz="1000" b="1" dirty="0">
                <a:solidFill>
                  <a:srgbClr val="44546A"/>
                </a:solidFill>
                <a:latin typeface="Arial" panose="020B0604020202090204" pitchFamily="34" charset="0"/>
                <a:ea typeface="Arial" panose="020B0604020202090204" pitchFamily="34" charset="-122"/>
                <a:cs typeface="Arial" panose="020B0604020202090204" pitchFamily="34" charset="-120"/>
              </a:rPr>
              <a:t>Data (Rephrased)</a:t>
            </a:r>
            <a:endParaRPr lang="en-US" sz="1000" dirty="0"/>
          </a:p>
        </p:txBody>
      </p:sp>
      <p:sp>
        <p:nvSpPr>
          <p:cNvPr id="11" name="Text 9"/>
          <p:cNvSpPr/>
          <p:nvPr/>
        </p:nvSpPr>
        <p:spPr>
          <a:xfrm>
            <a:off x="457200" y="1209675"/>
            <a:ext cx="1066800" cy="653951"/>
          </a:xfrm>
          <a:prstGeom prst="roundRect">
            <a:avLst>
              <a:gd name="adj" fmla="val 7768"/>
            </a:avLst>
          </a:prstGeom>
          <a:solidFill>
            <a:srgbClr val="FFFFFF"/>
          </a:solidFill>
          <a:ln w="9525">
            <a:solidFill>
              <a:srgbClr val="CCCCCC"/>
            </a:solidFill>
          </a:ln>
        </p:spPr>
        <p:txBody>
          <a:bodyPr wrap="square" rtlCol="0" anchor="ctr"/>
          <a:lstStyle/>
          <a:p>
            <a:pPr marL="0" indent="0">
              <a:buNone/>
            </a:pPr>
            <a:endParaRPr lang="en-US" dirty="0"/>
          </a:p>
        </p:txBody>
      </p:sp>
      <p:sp>
        <p:nvSpPr>
          <p:cNvPr id="12" name="Text 10"/>
          <p:cNvSpPr/>
          <p:nvPr/>
        </p:nvSpPr>
        <p:spPr>
          <a:xfrm>
            <a:off x="559778" y="1295400"/>
            <a:ext cx="861643" cy="228600"/>
          </a:xfrm>
          <a:prstGeom prst="rect">
            <a:avLst/>
          </a:prstGeom>
          <a:noFill/>
        </p:spPr>
        <p:txBody>
          <a:bodyPr wrap="square" lIns="0" tIns="0" rIns="0" bIns="0" rtlCol="0" anchor="t"/>
          <a:lstStyle/>
          <a:p>
            <a:pPr marL="0" indent="0" algn="ctr">
              <a:lnSpc>
                <a:spcPts val="1800"/>
              </a:lnSpc>
              <a:buNone/>
            </a:pPr>
            <a:r>
              <a:rPr lang="en-US" sz="1800" b="1" dirty="0">
                <a:solidFill>
                  <a:srgbClr val="4472C4"/>
                </a:solidFill>
                <a:latin typeface="Arial" panose="020B0604020202090204" pitchFamily="34" charset="0"/>
                <a:ea typeface="Arial" panose="020B0604020202090204" pitchFamily="34" charset="-122"/>
                <a:cs typeface="Arial" panose="020B0604020202090204" pitchFamily="34" charset="-120"/>
              </a:rPr>
              <a:t>23</a:t>
            </a:r>
            <a:endParaRPr lang="en-US" sz="1800" dirty="0"/>
          </a:p>
        </p:txBody>
      </p:sp>
      <p:sp>
        <p:nvSpPr>
          <p:cNvPr id="13" name="Text 11"/>
          <p:cNvSpPr/>
          <p:nvPr/>
        </p:nvSpPr>
        <p:spPr>
          <a:xfrm>
            <a:off x="559778" y="1549301"/>
            <a:ext cx="861643" cy="228600"/>
          </a:xfrm>
          <a:prstGeom prst="rect">
            <a:avLst/>
          </a:prstGeom>
          <a:noFill/>
        </p:spPr>
        <p:txBody>
          <a:bodyPr wrap="square" lIns="0" tIns="0" rIns="0" bIns="0" rtlCol="0" anchor="t"/>
          <a:lstStyle/>
          <a:p>
            <a:pPr marL="0" indent="0" algn="ctr">
              <a:spcBef>
                <a:spcPts val="200"/>
              </a:spcBef>
              <a:buNone/>
            </a:pPr>
            <a:r>
              <a:rPr lang="en-US" sz="800" dirty="0">
                <a:solidFill>
                  <a:srgbClr val="666666"/>
                </a:solidFill>
                <a:latin typeface="Arial" panose="020B0604020202090204" pitchFamily="34" charset="0"/>
                <a:ea typeface="Arial" panose="020B0604020202090204" pitchFamily="34" charset="-122"/>
                <a:cs typeface="Arial" panose="020B0604020202090204" pitchFamily="34" charset="-120"/>
              </a:rPr>
              <a:t>Human proposals (Y1+Y2)</a:t>
            </a:r>
            <a:endParaRPr lang="en-US" sz="800" dirty="0"/>
          </a:p>
        </p:txBody>
      </p:sp>
      <p:sp>
        <p:nvSpPr>
          <p:cNvPr id="14" name="Text 12"/>
          <p:cNvSpPr/>
          <p:nvPr/>
        </p:nvSpPr>
        <p:spPr>
          <a:xfrm>
            <a:off x="1625501" y="1209675"/>
            <a:ext cx="1066800" cy="653951"/>
          </a:xfrm>
          <a:prstGeom prst="roundRect">
            <a:avLst>
              <a:gd name="adj" fmla="val 7768"/>
            </a:avLst>
          </a:prstGeom>
          <a:solidFill>
            <a:srgbClr val="FFFFFF"/>
          </a:solidFill>
          <a:ln w="9525">
            <a:solidFill>
              <a:srgbClr val="CCCCCC"/>
            </a:solidFill>
          </a:ln>
        </p:spPr>
        <p:txBody>
          <a:bodyPr wrap="square" rtlCol="0" anchor="ctr"/>
          <a:lstStyle/>
          <a:p>
            <a:pPr marL="0" indent="0">
              <a:buNone/>
            </a:pPr>
            <a:endParaRPr lang="en-US" dirty="0"/>
          </a:p>
        </p:txBody>
      </p:sp>
      <p:sp>
        <p:nvSpPr>
          <p:cNvPr id="15" name="Text 13"/>
          <p:cNvSpPr/>
          <p:nvPr/>
        </p:nvSpPr>
        <p:spPr>
          <a:xfrm>
            <a:off x="1728079" y="1295400"/>
            <a:ext cx="861643" cy="228600"/>
          </a:xfrm>
          <a:prstGeom prst="rect">
            <a:avLst/>
          </a:prstGeom>
          <a:noFill/>
        </p:spPr>
        <p:txBody>
          <a:bodyPr wrap="square" lIns="0" tIns="0" rIns="0" bIns="0" rtlCol="0" anchor="t"/>
          <a:lstStyle/>
          <a:p>
            <a:pPr marL="0" indent="0" algn="ctr">
              <a:lnSpc>
                <a:spcPts val="1800"/>
              </a:lnSpc>
              <a:buNone/>
            </a:pPr>
            <a:r>
              <a:rPr lang="en-US" sz="1800" b="1" dirty="0">
                <a:solidFill>
                  <a:srgbClr val="4472C4"/>
                </a:solidFill>
                <a:latin typeface="Arial" panose="020B0604020202090204" pitchFamily="34" charset="0"/>
                <a:ea typeface="Arial" panose="020B0604020202090204" pitchFamily="34" charset="-122"/>
                <a:cs typeface="Arial" panose="020B0604020202090204" pitchFamily="34" charset="-120"/>
              </a:rPr>
              <a:t>69</a:t>
            </a:r>
            <a:endParaRPr lang="en-US" sz="1800" dirty="0"/>
          </a:p>
        </p:txBody>
      </p:sp>
      <p:sp>
        <p:nvSpPr>
          <p:cNvPr id="16" name="Text 14"/>
          <p:cNvSpPr/>
          <p:nvPr/>
        </p:nvSpPr>
        <p:spPr>
          <a:xfrm>
            <a:off x="1728079" y="1549301"/>
            <a:ext cx="861643" cy="228600"/>
          </a:xfrm>
          <a:prstGeom prst="rect">
            <a:avLst/>
          </a:prstGeom>
          <a:noFill/>
        </p:spPr>
        <p:txBody>
          <a:bodyPr wrap="square" lIns="0" tIns="0" rIns="0" bIns="0" rtlCol="0" anchor="t"/>
          <a:lstStyle/>
          <a:p>
            <a:pPr marL="0" indent="0" algn="ctr">
              <a:spcBef>
                <a:spcPts val="200"/>
              </a:spcBef>
              <a:buNone/>
            </a:pPr>
            <a:r>
              <a:rPr lang="en-US" sz="800" dirty="0">
                <a:solidFill>
                  <a:srgbClr val="666666"/>
                </a:solidFill>
                <a:latin typeface="Arial" panose="020B0604020202090204" pitchFamily="34" charset="0"/>
                <a:ea typeface="Arial" panose="020B0604020202090204" pitchFamily="34" charset="-122"/>
                <a:cs typeface="Arial" panose="020B0604020202090204" pitchFamily="34" charset="-120"/>
              </a:rPr>
              <a:t>AI proposals (3 models)</a:t>
            </a:r>
            <a:endParaRPr lang="en-US" sz="800" dirty="0"/>
          </a:p>
        </p:txBody>
      </p:sp>
      <p:sp>
        <p:nvSpPr>
          <p:cNvPr id="17" name="Text 15"/>
          <p:cNvSpPr/>
          <p:nvPr/>
        </p:nvSpPr>
        <p:spPr>
          <a:xfrm>
            <a:off x="457200" y="1955750"/>
            <a:ext cx="101501" cy="101501"/>
          </a:xfrm>
          <a:prstGeom prst="roundRect">
            <a:avLst>
              <a:gd name="adj" fmla="val 900878"/>
            </a:avLst>
          </a:prstGeom>
          <a:solidFill>
            <a:srgbClr val="E74C3C"/>
          </a:solidFill>
        </p:spPr>
        <p:txBody>
          <a:bodyPr wrap="square" rtlCol="0" anchor="ctr"/>
          <a:lstStyle/>
          <a:p>
            <a:pPr marL="0" indent="0">
              <a:buNone/>
            </a:pPr>
            <a:endParaRPr lang="en-US" dirty="0"/>
          </a:p>
        </p:txBody>
      </p:sp>
      <p:sp>
        <p:nvSpPr>
          <p:cNvPr id="18" name="Text 16"/>
          <p:cNvSpPr/>
          <p:nvPr/>
        </p:nvSpPr>
        <p:spPr>
          <a:xfrm>
            <a:off x="634901" y="1939826"/>
            <a:ext cx="1214134" cy="133350"/>
          </a:xfrm>
          <a:prstGeom prst="rect">
            <a:avLst/>
          </a:prstGeom>
          <a:noFill/>
        </p:spPr>
        <p:txBody>
          <a:bodyPr wrap="square" lIns="0" tIns="0" rIns="0" bIns="0" rtlCol="0" anchor="t"/>
          <a:lstStyle/>
          <a:p>
            <a:pPr marL="0" indent="0" algn="l">
              <a:buNone/>
            </a:pPr>
            <a:r>
              <a:rPr lang="en-US" sz="900" dirty="0">
                <a:solidFill>
                  <a:srgbClr val="333333"/>
                </a:solidFill>
                <a:latin typeface="Arial" panose="020B0604020202090204" pitchFamily="34" charset="0"/>
                <a:ea typeface="Arial" panose="020B0604020202090204" pitchFamily="34" charset="-122"/>
                <a:cs typeface="Arial" panose="020B0604020202090204" pitchFamily="34" charset="-120"/>
              </a:rPr>
              <a:t>Human (Y1: 12, Y2: 11)</a:t>
            </a:r>
            <a:endParaRPr lang="en-US" sz="900" dirty="0"/>
          </a:p>
        </p:txBody>
      </p:sp>
      <p:sp>
        <p:nvSpPr>
          <p:cNvPr id="19" name="Text 17"/>
          <p:cNvSpPr/>
          <p:nvPr/>
        </p:nvSpPr>
        <p:spPr>
          <a:xfrm>
            <a:off x="457200" y="2139851"/>
            <a:ext cx="101501" cy="101501"/>
          </a:xfrm>
          <a:prstGeom prst="roundRect">
            <a:avLst>
              <a:gd name="adj" fmla="val 900878"/>
            </a:avLst>
          </a:prstGeom>
          <a:solidFill>
            <a:srgbClr val="2980B9"/>
          </a:solidFill>
        </p:spPr>
        <p:txBody>
          <a:bodyPr wrap="square" rtlCol="0" anchor="ctr"/>
          <a:lstStyle/>
          <a:p>
            <a:pPr marL="0" indent="0">
              <a:buNone/>
            </a:pPr>
            <a:endParaRPr lang="en-US" dirty="0"/>
          </a:p>
        </p:txBody>
      </p:sp>
      <p:sp>
        <p:nvSpPr>
          <p:cNvPr id="20" name="Text 18"/>
          <p:cNvSpPr/>
          <p:nvPr/>
        </p:nvSpPr>
        <p:spPr>
          <a:xfrm>
            <a:off x="634901" y="2123926"/>
            <a:ext cx="1247683" cy="133350"/>
          </a:xfrm>
          <a:prstGeom prst="rect">
            <a:avLst/>
          </a:prstGeom>
          <a:noFill/>
        </p:spPr>
        <p:txBody>
          <a:bodyPr wrap="square" lIns="0" tIns="0" rIns="0" bIns="0" rtlCol="0" anchor="t"/>
          <a:lstStyle/>
          <a:p>
            <a:pPr marL="0" indent="0" algn="l">
              <a:buNone/>
            </a:pPr>
            <a:r>
              <a:rPr lang="en-US" sz="900" dirty="0">
                <a:solidFill>
                  <a:srgbClr val="333333"/>
                </a:solidFill>
                <a:latin typeface="Arial" panose="020B0604020202090204" pitchFamily="34" charset="0"/>
                <a:ea typeface="Arial" panose="020B0604020202090204" pitchFamily="34" charset="-122"/>
                <a:cs typeface="Arial" panose="020B0604020202090204" pitchFamily="34" charset="-120"/>
              </a:rPr>
              <a:t>Claude Opus 4.5 (n=23)</a:t>
            </a:r>
            <a:endParaRPr lang="en-US" sz="900" dirty="0"/>
          </a:p>
        </p:txBody>
      </p:sp>
      <p:sp>
        <p:nvSpPr>
          <p:cNvPr id="21" name="Text 19"/>
          <p:cNvSpPr/>
          <p:nvPr/>
        </p:nvSpPr>
        <p:spPr>
          <a:xfrm>
            <a:off x="457200" y="2323951"/>
            <a:ext cx="101501" cy="101501"/>
          </a:xfrm>
          <a:prstGeom prst="roundRect">
            <a:avLst>
              <a:gd name="adj" fmla="val 900878"/>
            </a:avLst>
          </a:prstGeom>
          <a:solidFill>
            <a:srgbClr val="8E44AD"/>
          </a:solidFill>
        </p:spPr>
        <p:txBody>
          <a:bodyPr wrap="square" rtlCol="0" anchor="ctr"/>
          <a:lstStyle/>
          <a:p>
            <a:pPr marL="0" indent="0">
              <a:buNone/>
            </a:pPr>
            <a:endParaRPr lang="en-US" dirty="0"/>
          </a:p>
        </p:txBody>
      </p:sp>
      <p:sp>
        <p:nvSpPr>
          <p:cNvPr id="22" name="Text 20"/>
          <p:cNvSpPr/>
          <p:nvPr/>
        </p:nvSpPr>
        <p:spPr>
          <a:xfrm>
            <a:off x="634901" y="2308027"/>
            <a:ext cx="1500134" cy="133350"/>
          </a:xfrm>
          <a:prstGeom prst="rect">
            <a:avLst/>
          </a:prstGeom>
          <a:noFill/>
        </p:spPr>
        <p:txBody>
          <a:bodyPr wrap="square" lIns="0" tIns="0" rIns="0" bIns="0" rtlCol="0" anchor="t"/>
          <a:lstStyle/>
          <a:p>
            <a:pPr marL="0" indent="0" algn="l">
              <a:buNone/>
            </a:pPr>
            <a:r>
              <a:rPr lang="en-US" sz="900" dirty="0">
                <a:solidFill>
                  <a:srgbClr val="333333"/>
                </a:solidFill>
                <a:latin typeface="Arial" panose="020B0604020202090204" pitchFamily="34" charset="0"/>
                <a:ea typeface="Arial" panose="020B0604020202090204" pitchFamily="34" charset="-122"/>
                <a:cs typeface="Arial" panose="020B0604020202090204" pitchFamily="34" charset="-120"/>
              </a:rPr>
              <a:t>Gemini 3 Pro Preview (n=23)</a:t>
            </a:r>
            <a:endParaRPr lang="en-US" sz="900" dirty="0"/>
          </a:p>
        </p:txBody>
      </p:sp>
      <p:sp>
        <p:nvSpPr>
          <p:cNvPr id="23" name="Text 21"/>
          <p:cNvSpPr/>
          <p:nvPr/>
        </p:nvSpPr>
        <p:spPr>
          <a:xfrm>
            <a:off x="457200" y="2508052"/>
            <a:ext cx="101501" cy="101501"/>
          </a:xfrm>
          <a:prstGeom prst="roundRect">
            <a:avLst>
              <a:gd name="adj" fmla="val 900878"/>
            </a:avLst>
          </a:prstGeom>
          <a:solidFill>
            <a:srgbClr val="E67E22"/>
          </a:solidFill>
        </p:spPr>
        <p:txBody>
          <a:bodyPr wrap="square" rtlCol="0" anchor="ctr"/>
          <a:lstStyle/>
          <a:p>
            <a:pPr marL="0" indent="0">
              <a:buNone/>
            </a:pPr>
            <a:endParaRPr lang="en-US" dirty="0"/>
          </a:p>
        </p:txBody>
      </p:sp>
      <p:sp>
        <p:nvSpPr>
          <p:cNvPr id="24" name="Text 22"/>
          <p:cNvSpPr/>
          <p:nvPr/>
        </p:nvSpPr>
        <p:spPr>
          <a:xfrm>
            <a:off x="634901" y="2492127"/>
            <a:ext cx="806842" cy="133350"/>
          </a:xfrm>
          <a:prstGeom prst="rect">
            <a:avLst/>
          </a:prstGeom>
          <a:noFill/>
        </p:spPr>
        <p:txBody>
          <a:bodyPr wrap="square" lIns="0" tIns="0" rIns="0" bIns="0" rtlCol="0" anchor="t"/>
          <a:lstStyle/>
          <a:p>
            <a:pPr marL="0" indent="0" algn="l">
              <a:buNone/>
            </a:pPr>
            <a:r>
              <a:rPr lang="en-US" sz="900" dirty="0">
                <a:solidFill>
                  <a:srgbClr val="333333"/>
                </a:solidFill>
                <a:latin typeface="Arial" panose="020B0604020202090204" pitchFamily="34" charset="0"/>
                <a:ea typeface="Arial" panose="020B0604020202090204" pitchFamily="34" charset="-122"/>
                <a:cs typeface="Arial" panose="020B0604020202090204" pitchFamily="34" charset="-120"/>
              </a:rPr>
              <a:t>GPT-5.2 (n=23)</a:t>
            </a:r>
            <a:endParaRPr lang="en-US" sz="900" dirty="0"/>
          </a:p>
        </p:txBody>
      </p:sp>
      <p:sp>
        <p:nvSpPr>
          <p:cNvPr id="25" name="Text 23"/>
          <p:cNvSpPr/>
          <p:nvPr/>
        </p:nvSpPr>
        <p:spPr>
          <a:xfrm>
            <a:off x="304800" y="2955578"/>
            <a:ext cx="2539901" cy="1609725"/>
          </a:xfrm>
          <a:prstGeom prst="roundRect">
            <a:avLst>
              <a:gd name="adj" fmla="val 4734"/>
            </a:avLst>
          </a:prstGeom>
          <a:solidFill>
            <a:srgbClr val="F4F4F4"/>
          </a:solidFill>
        </p:spPr>
        <p:txBody>
          <a:bodyPr wrap="square" rtlCol="0" anchor="ctr"/>
          <a:lstStyle/>
          <a:p>
            <a:pPr marL="0" indent="0">
              <a:buNone/>
            </a:pPr>
            <a:endParaRPr lang="en-US" dirty="0"/>
          </a:p>
        </p:txBody>
      </p:sp>
      <p:sp>
        <p:nvSpPr>
          <p:cNvPr id="26" name="Text 24"/>
          <p:cNvSpPr/>
          <p:nvPr/>
        </p:nvSpPr>
        <p:spPr>
          <a:xfrm>
            <a:off x="457200" y="3107978"/>
            <a:ext cx="2279803" cy="142875"/>
          </a:xfrm>
          <a:prstGeom prst="rect">
            <a:avLst/>
          </a:prstGeom>
          <a:noFill/>
        </p:spPr>
        <p:txBody>
          <a:bodyPr wrap="square" lIns="0" tIns="0" rIns="0" bIns="0" rtlCol="0" anchor="t"/>
          <a:lstStyle/>
          <a:p>
            <a:pPr marL="0" indent="0" algn="l">
              <a:spcAft>
                <a:spcPts val="600"/>
              </a:spcAft>
              <a:buNone/>
            </a:pPr>
            <a:r>
              <a:rPr lang="en-US" sz="1000" b="1" dirty="0">
                <a:solidFill>
                  <a:srgbClr val="44546A"/>
                </a:solidFill>
                <a:latin typeface="Arial" panose="020B0604020202090204" pitchFamily="34" charset="0"/>
                <a:ea typeface="Arial" panose="020B0604020202090204" pitchFamily="34" charset="-122"/>
                <a:cs typeface="Arial" panose="020B0604020202090204" pitchFamily="34" charset="-120"/>
              </a:rPr>
              <a:t>Embedding Pipeline (Unchanged)</a:t>
            </a:r>
            <a:endParaRPr lang="en-US" sz="1000" dirty="0"/>
          </a:p>
        </p:txBody>
      </p:sp>
      <p:sp>
        <p:nvSpPr>
          <p:cNvPr id="27" name="Text 25"/>
          <p:cNvSpPr/>
          <p:nvPr/>
        </p:nvSpPr>
        <p:spPr>
          <a:xfrm>
            <a:off x="457200" y="3327053"/>
            <a:ext cx="2235101" cy="1047750"/>
          </a:xfrm>
          <a:prstGeom prst="rect">
            <a:avLst/>
          </a:prstGeom>
          <a:noFill/>
        </p:spPr>
        <p:txBody>
          <a:bodyPr wrap="square" lIns="88900" tIns="0" rIns="0" bIns="0" rtlCol="0" anchor="t"/>
          <a:lstStyle/>
          <a:p>
            <a:pPr marL="88900" indent="-88900" algn="l">
              <a:spcAft>
                <a:spcPts val="300"/>
              </a:spcAft>
              <a:buSzPct val="100000"/>
              <a:buChar char="•"/>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BioLinkBERT-large (333M params, 1024-dim)</a:t>
            </a:r>
            <a:endParaRPr lang="en-US" sz="900" dirty="0"/>
          </a:p>
          <a:p>
            <a:pPr marL="88900" indent="-88900" algn="l">
              <a:spcAft>
                <a:spcPts val="300"/>
              </a:spcAft>
              <a:buSzPct val="100000"/>
              <a:buChar char="•"/>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400-word chunks, 50-word overlap, averaged</a:t>
            </a:r>
            <a:endParaRPr lang="en-US" sz="900" dirty="0"/>
          </a:p>
          <a:p>
            <a:pPr marL="88900" indent="-88900" algn="l">
              <a:spcAft>
                <a:spcPts val="300"/>
              </a:spcAft>
              <a:buSzPct val="100000"/>
              <a:buChar char="•"/>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Cosine distance for all metrics</a:t>
            </a:r>
            <a:endParaRPr lang="en-US" sz="900" dirty="0"/>
          </a:p>
          <a:p>
            <a:pPr marL="88900" indent="-88900" algn="l">
              <a:spcAft>
                <a:spcPts val="300"/>
              </a:spcAft>
              <a:buSzPct val="100000"/>
              <a:buChar char="•"/>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Mann-Whitney U + Cliff's δ + bootstrap CIs</a:t>
            </a:r>
            <a:endParaRPr lang="en-US" sz="900" dirty="0"/>
          </a:p>
        </p:txBody>
      </p:sp>
      <p:sp>
        <p:nvSpPr>
          <p:cNvPr id="28" name="Text 26"/>
          <p:cNvSpPr/>
          <p:nvPr/>
        </p:nvSpPr>
        <p:spPr>
          <a:xfrm>
            <a:off x="3022402" y="838200"/>
            <a:ext cx="2857649" cy="1082129"/>
          </a:xfrm>
          <a:prstGeom prst="roundRect">
            <a:avLst>
              <a:gd name="adj" fmla="val 7042"/>
            </a:avLst>
          </a:prstGeom>
          <a:solidFill>
            <a:srgbClr val="EEF2FA"/>
          </a:solidFill>
        </p:spPr>
        <p:txBody>
          <a:bodyPr wrap="square" rtlCol="0" anchor="ctr"/>
          <a:lstStyle/>
          <a:p>
            <a:pPr marL="0" indent="0">
              <a:buNone/>
            </a:pPr>
            <a:endParaRPr lang="en-US" dirty="0"/>
          </a:p>
        </p:txBody>
      </p:sp>
      <p:sp>
        <p:nvSpPr>
          <p:cNvPr id="29" name="Text 27"/>
          <p:cNvSpPr/>
          <p:nvPr/>
        </p:nvSpPr>
        <p:spPr>
          <a:xfrm>
            <a:off x="3174802" y="965150"/>
            <a:ext cx="2603906" cy="142875"/>
          </a:xfrm>
          <a:prstGeom prst="rect">
            <a:avLst/>
          </a:prstGeom>
          <a:noFill/>
        </p:spPr>
        <p:txBody>
          <a:bodyPr wrap="square" lIns="0" tIns="0" rIns="0" bIns="0" rtlCol="0" anchor="t"/>
          <a:lstStyle/>
          <a:p>
            <a:pPr marL="0" indent="0" algn="l">
              <a:spcAft>
                <a:spcPts val="400"/>
              </a:spcAft>
              <a:buNone/>
            </a:pPr>
            <a:r>
              <a:rPr lang="en-US" sz="1000" b="1" dirty="0">
                <a:solidFill>
                  <a:srgbClr val="4472C4"/>
                </a:solidFill>
                <a:latin typeface="Arial" panose="020B0604020202090204" pitchFamily="34" charset="0"/>
                <a:ea typeface="Arial" panose="020B0604020202090204" pitchFamily="34" charset="-122"/>
                <a:cs typeface="Arial" panose="020B0604020202090204" pitchFamily="34" charset="-120"/>
              </a:rPr>
              <a:t>Part I: Diversity (Slides 6–8)</a:t>
            </a:r>
            <a:endParaRPr lang="en-US" sz="1000" dirty="0"/>
          </a:p>
        </p:txBody>
      </p:sp>
      <p:sp>
        <p:nvSpPr>
          <p:cNvPr id="30" name="Text 28"/>
          <p:cNvSpPr/>
          <p:nvPr/>
        </p:nvSpPr>
        <p:spPr>
          <a:xfrm>
            <a:off x="3174802" y="1158776"/>
            <a:ext cx="2552849" cy="609302"/>
          </a:xfrm>
          <a:prstGeom prst="rect">
            <a:avLst/>
          </a:prstGeom>
          <a:noFill/>
        </p:spPr>
        <p:txBody>
          <a:bodyPr wrap="square" lIns="88900" tIns="0" rIns="0" bIns="0" rtlCol="0" anchor="t"/>
          <a:lstStyle/>
          <a:p>
            <a:pPr marL="88900" indent="-88900" algn="l">
              <a:spcAft>
                <a:spcPts val="200"/>
              </a:spcAft>
              <a:buSzPct val="100000"/>
              <a:buChar char="•"/>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Pairwise diversity (proposal-level means)</a:t>
            </a:r>
            <a:endParaRPr lang="en-US" sz="900" dirty="0"/>
          </a:p>
          <a:p>
            <a:pPr marL="88900" indent="-88900" algn="l">
              <a:spcAft>
                <a:spcPts val="200"/>
              </a:spcAft>
              <a:buSzPct val="100000"/>
              <a:buChar char="•"/>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Centroid dispersion (distance to group center)</a:t>
            </a:r>
            <a:endParaRPr lang="en-US" sz="900" dirty="0"/>
          </a:p>
          <a:p>
            <a:pPr marL="88900" indent="-88900" algn="l">
              <a:spcAft>
                <a:spcPts val="200"/>
              </a:spcAft>
              <a:buSzPct val="100000"/>
              <a:buChar char="•"/>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Nearest-neighbor outlier detection</a:t>
            </a:r>
            <a:endParaRPr lang="en-US" sz="900" dirty="0"/>
          </a:p>
          <a:p>
            <a:pPr marL="88900" indent="-88900" algn="l">
              <a:spcAft>
                <a:spcPts val="200"/>
              </a:spcAft>
              <a:buSzPct val="100000"/>
              <a:buChar char="•"/>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UMAP 2D embedding visualization</a:t>
            </a:r>
            <a:endParaRPr lang="en-US" sz="900" dirty="0"/>
          </a:p>
        </p:txBody>
      </p:sp>
      <p:sp>
        <p:nvSpPr>
          <p:cNvPr id="31" name="Text 29"/>
          <p:cNvSpPr/>
          <p:nvPr/>
        </p:nvSpPr>
        <p:spPr>
          <a:xfrm>
            <a:off x="5981551" y="838200"/>
            <a:ext cx="2857649" cy="1082129"/>
          </a:xfrm>
          <a:prstGeom prst="roundRect">
            <a:avLst>
              <a:gd name="adj" fmla="val 7042"/>
            </a:avLst>
          </a:prstGeom>
          <a:solidFill>
            <a:srgbClr val="FEF4EC"/>
          </a:solidFill>
        </p:spPr>
        <p:txBody>
          <a:bodyPr wrap="square" rtlCol="0" anchor="ctr"/>
          <a:lstStyle/>
          <a:p>
            <a:pPr marL="0" indent="0">
              <a:buNone/>
            </a:pPr>
            <a:endParaRPr lang="en-US" dirty="0"/>
          </a:p>
        </p:txBody>
      </p:sp>
      <p:sp>
        <p:nvSpPr>
          <p:cNvPr id="32" name="Text 30"/>
          <p:cNvSpPr/>
          <p:nvPr/>
        </p:nvSpPr>
        <p:spPr>
          <a:xfrm>
            <a:off x="6133951" y="965150"/>
            <a:ext cx="2603906" cy="142875"/>
          </a:xfrm>
          <a:prstGeom prst="rect">
            <a:avLst/>
          </a:prstGeom>
          <a:noFill/>
        </p:spPr>
        <p:txBody>
          <a:bodyPr wrap="square" lIns="0" tIns="0" rIns="0" bIns="0" rtlCol="0" anchor="t"/>
          <a:lstStyle/>
          <a:p>
            <a:pPr marL="0" indent="0" algn="l">
              <a:spcAft>
                <a:spcPts val="400"/>
              </a:spcAft>
              <a:buNone/>
            </a:pPr>
            <a:r>
              <a:rPr lang="en-US" sz="1000" b="1" dirty="0">
                <a:solidFill>
                  <a:srgbClr val="C55A11"/>
                </a:solidFill>
                <a:latin typeface="Arial" panose="020B0604020202090204" pitchFamily="34" charset="0"/>
                <a:ea typeface="Arial" panose="020B0604020202090204" pitchFamily="34" charset="-122"/>
                <a:cs typeface="Arial" panose="020B0604020202090204" pitchFamily="34" charset="-120"/>
              </a:rPr>
              <a:t>Part II: Novelty (Slides 9–10)</a:t>
            </a:r>
            <a:endParaRPr lang="en-US" sz="1000" dirty="0"/>
          </a:p>
        </p:txBody>
      </p:sp>
      <p:sp>
        <p:nvSpPr>
          <p:cNvPr id="33" name="Text 31"/>
          <p:cNvSpPr/>
          <p:nvPr/>
        </p:nvSpPr>
        <p:spPr>
          <a:xfrm>
            <a:off x="6133951" y="1158776"/>
            <a:ext cx="2552849" cy="609302"/>
          </a:xfrm>
          <a:prstGeom prst="rect">
            <a:avLst/>
          </a:prstGeom>
          <a:noFill/>
        </p:spPr>
        <p:txBody>
          <a:bodyPr wrap="square" lIns="88900" tIns="0" rIns="0" bIns="0" rtlCol="0" anchor="t"/>
          <a:lstStyle/>
          <a:p>
            <a:pPr marL="88900" indent="-88900" algn="l">
              <a:spcAft>
                <a:spcPts val="200"/>
              </a:spcAft>
              <a:buSzPct val="100000"/>
              <a:buChar char="•"/>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k=10 NN distance to 1,030 PubMed articles</a:t>
            </a:r>
            <a:endParaRPr lang="en-US" sz="900" dirty="0"/>
          </a:p>
          <a:p>
            <a:pPr marL="88900" indent="-88900" algn="l">
              <a:spcAft>
                <a:spcPts val="200"/>
              </a:spcAft>
              <a:buSzPct val="100000"/>
              <a:buChar char="•"/>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Literature-normalized z-scores</a:t>
            </a:r>
            <a:endParaRPr lang="en-US" sz="900" dirty="0"/>
          </a:p>
          <a:p>
            <a:pPr marL="88900" indent="-88900" algn="l">
              <a:spcAft>
                <a:spcPts val="200"/>
              </a:spcAft>
              <a:buSzPct val="100000"/>
              <a:buChar char="•"/>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Section-1 only embeddings (fair comparison)</a:t>
            </a:r>
            <a:endParaRPr lang="en-US" sz="900" dirty="0"/>
          </a:p>
          <a:p>
            <a:pPr marL="88900" indent="-88900" algn="l">
              <a:spcAft>
                <a:spcPts val="200"/>
              </a:spcAft>
              <a:buSzPct val="100000"/>
              <a:buChar char="•"/>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Proposals visualized in literature space</a:t>
            </a:r>
            <a:endParaRPr lang="en-US" sz="900" dirty="0"/>
          </a:p>
        </p:txBody>
      </p:sp>
      <p:sp>
        <p:nvSpPr>
          <p:cNvPr id="34" name="Text 32"/>
          <p:cNvSpPr/>
          <p:nvPr/>
        </p:nvSpPr>
        <p:spPr>
          <a:xfrm>
            <a:off x="3022402" y="2021830"/>
            <a:ext cx="2857649" cy="1215479"/>
          </a:xfrm>
          <a:prstGeom prst="roundRect">
            <a:avLst>
              <a:gd name="adj" fmla="val 6269"/>
            </a:avLst>
          </a:prstGeom>
          <a:solidFill>
            <a:srgbClr val="EEF6E8"/>
          </a:solidFill>
        </p:spPr>
        <p:txBody>
          <a:bodyPr wrap="square" rtlCol="0" anchor="ctr"/>
          <a:lstStyle/>
          <a:p>
            <a:pPr marL="0" indent="0">
              <a:buNone/>
            </a:pPr>
            <a:endParaRPr lang="en-US" dirty="0"/>
          </a:p>
        </p:txBody>
      </p:sp>
      <p:sp>
        <p:nvSpPr>
          <p:cNvPr id="35" name="Text 33"/>
          <p:cNvSpPr/>
          <p:nvPr/>
        </p:nvSpPr>
        <p:spPr>
          <a:xfrm>
            <a:off x="3174802" y="2148780"/>
            <a:ext cx="2603906" cy="142875"/>
          </a:xfrm>
          <a:prstGeom prst="rect">
            <a:avLst/>
          </a:prstGeom>
          <a:noFill/>
        </p:spPr>
        <p:txBody>
          <a:bodyPr wrap="square" lIns="0" tIns="0" rIns="0" bIns="0" rtlCol="0" anchor="t"/>
          <a:lstStyle/>
          <a:p>
            <a:pPr marL="0" indent="0" algn="l">
              <a:spcAft>
                <a:spcPts val="400"/>
              </a:spcAft>
              <a:buNone/>
            </a:pPr>
            <a:r>
              <a:rPr lang="en-US" sz="1000" b="1" dirty="0">
                <a:solidFill>
                  <a:srgbClr val="385C1F"/>
                </a:solidFill>
                <a:latin typeface="Arial" panose="020B0604020202090204" pitchFamily="34" charset="0"/>
                <a:ea typeface="Arial" panose="020B0604020202090204" pitchFamily="34" charset="-122"/>
                <a:cs typeface="Arial" panose="020B0604020202090204" pitchFamily="34" charset="-120"/>
              </a:rPr>
              <a:t>Part III: Thematic &amp; Style (Slides 11–13)</a:t>
            </a:r>
            <a:endParaRPr lang="en-US" sz="1000" dirty="0"/>
          </a:p>
        </p:txBody>
      </p:sp>
      <p:sp>
        <p:nvSpPr>
          <p:cNvPr id="36" name="Text 34"/>
          <p:cNvSpPr/>
          <p:nvPr/>
        </p:nvSpPr>
        <p:spPr>
          <a:xfrm>
            <a:off x="3174802" y="2342406"/>
            <a:ext cx="2552849" cy="609302"/>
          </a:xfrm>
          <a:prstGeom prst="rect">
            <a:avLst/>
          </a:prstGeom>
          <a:noFill/>
        </p:spPr>
        <p:txBody>
          <a:bodyPr wrap="square" lIns="88900" tIns="0" rIns="0" bIns="0" rtlCol="0" anchor="t"/>
          <a:lstStyle/>
          <a:p>
            <a:pPr marL="88900" indent="-88900" algn="l">
              <a:spcAft>
                <a:spcPts val="200"/>
              </a:spcAft>
              <a:buSzPct val="100000"/>
              <a:buChar char="•"/>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LDA topic modeling (k=5, strong priors)</a:t>
            </a:r>
            <a:endParaRPr lang="en-US" sz="900" dirty="0"/>
          </a:p>
          <a:p>
            <a:pPr marL="88900" indent="-88900" algn="l">
              <a:spcAft>
                <a:spcPts val="200"/>
              </a:spcAft>
              <a:buSzPct val="100000"/>
              <a:buChar char="•"/>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GMM clustering (k=3, BIC selection)</a:t>
            </a:r>
            <a:endParaRPr lang="en-US" sz="900" dirty="0"/>
          </a:p>
          <a:p>
            <a:pPr marL="88900" indent="-88900" algn="l">
              <a:spcAft>
                <a:spcPts val="200"/>
              </a:spcAft>
              <a:buSzPct val="100000"/>
              <a:buChar char="•"/>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Style baseline: AUROC after rephrasing</a:t>
            </a:r>
            <a:endParaRPr lang="en-US" sz="900" dirty="0"/>
          </a:p>
          <a:p>
            <a:pPr marL="88900" indent="-88900" algn="l">
              <a:spcAft>
                <a:spcPts val="200"/>
              </a:spcAft>
              <a:buSzPct val="100000"/>
              <a:buChar char="•"/>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Residualized centroid + NN sensitivity tests</a:t>
            </a:r>
            <a:endParaRPr lang="en-US" sz="900" dirty="0"/>
          </a:p>
        </p:txBody>
      </p:sp>
      <p:sp>
        <p:nvSpPr>
          <p:cNvPr id="37" name="Text 35"/>
          <p:cNvSpPr/>
          <p:nvPr/>
        </p:nvSpPr>
        <p:spPr>
          <a:xfrm>
            <a:off x="5981551" y="2021830"/>
            <a:ext cx="2857649" cy="1215479"/>
          </a:xfrm>
          <a:prstGeom prst="roundRect">
            <a:avLst>
              <a:gd name="adj" fmla="val 6269"/>
            </a:avLst>
          </a:prstGeom>
          <a:solidFill>
            <a:srgbClr val="F4F4F4"/>
          </a:solidFill>
        </p:spPr>
        <p:txBody>
          <a:bodyPr wrap="square" rtlCol="0" anchor="ctr"/>
          <a:lstStyle/>
          <a:p>
            <a:pPr marL="0" indent="0">
              <a:buNone/>
            </a:pPr>
            <a:endParaRPr lang="en-US" dirty="0"/>
          </a:p>
        </p:txBody>
      </p:sp>
      <p:sp>
        <p:nvSpPr>
          <p:cNvPr id="38" name="Text 36"/>
          <p:cNvSpPr/>
          <p:nvPr/>
        </p:nvSpPr>
        <p:spPr>
          <a:xfrm>
            <a:off x="6133951" y="2148780"/>
            <a:ext cx="2603906" cy="142875"/>
          </a:xfrm>
          <a:prstGeom prst="rect">
            <a:avLst/>
          </a:prstGeom>
          <a:noFill/>
        </p:spPr>
        <p:txBody>
          <a:bodyPr wrap="square" lIns="0" tIns="0" rIns="0" bIns="0" rtlCol="0" anchor="t"/>
          <a:lstStyle/>
          <a:p>
            <a:pPr marL="0" indent="0" algn="l">
              <a:spcAft>
                <a:spcPts val="400"/>
              </a:spcAft>
              <a:buNone/>
            </a:pPr>
            <a:r>
              <a:rPr lang="en-US" sz="1000" b="1" dirty="0">
                <a:solidFill>
                  <a:srgbClr val="44546A"/>
                </a:solidFill>
                <a:latin typeface="Arial" panose="020B0604020202090204" pitchFamily="34" charset="0"/>
                <a:ea typeface="Arial" panose="020B0604020202090204" pitchFamily="34" charset="-122"/>
                <a:cs typeface="Arial" panose="020B0604020202090204" pitchFamily="34" charset="-120"/>
              </a:rPr>
              <a:t>Part IV: Quality (Slides 14–16)</a:t>
            </a:r>
            <a:endParaRPr lang="en-US" sz="1000" dirty="0"/>
          </a:p>
        </p:txBody>
      </p:sp>
      <p:sp>
        <p:nvSpPr>
          <p:cNvPr id="39" name="Text 37"/>
          <p:cNvSpPr/>
          <p:nvPr/>
        </p:nvSpPr>
        <p:spPr>
          <a:xfrm>
            <a:off x="6133951" y="2342406"/>
            <a:ext cx="2552849" cy="742652"/>
          </a:xfrm>
          <a:prstGeom prst="rect">
            <a:avLst/>
          </a:prstGeom>
          <a:noFill/>
        </p:spPr>
        <p:txBody>
          <a:bodyPr wrap="square" lIns="88900" tIns="0" rIns="0" bIns="0" rtlCol="0" anchor="t"/>
          <a:lstStyle/>
          <a:p>
            <a:pPr marL="88900" indent="-88900" algn="l">
              <a:spcAft>
                <a:spcPts val="200"/>
              </a:spcAft>
              <a:buSzPct val="100000"/>
              <a:buChar char="•"/>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R1: AI review proxy validity vs. human experts</a:t>
            </a:r>
            <a:endParaRPr lang="en-US" sz="900" dirty="0"/>
          </a:p>
          <a:p>
            <a:pPr marL="88900" indent="-88900" algn="l">
              <a:spcAft>
                <a:spcPts val="200"/>
              </a:spcAft>
              <a:buSzPct val="100000"/>
              <a:buChar char="•"/>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R2: Proposal scores under AI evaluation</a:t>
            </a:r>
            <a:endParaRPr lang="en-US" sz="900" dirty="0"/>
          </a:p>
          <a:p>
            <a:pPr marL="88900" indent="-88900" algn="l">
              <a:spcAft>
                <a:spcPts val="200"/>
              </a:spcAft>
              <a:buSzPct val="100000"/>
              <a:buChar char="•"/>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R3: Evaluator bias + self-preference</a:t>
            </a:r>
            <a:endParaRPr lang="en-US" sz="900" dirty="0"/>
          </a:p>
          <a:p>
            <a:pPr marL="88900" indent="-88900" algn="l">
              <a:spcAft>
                <a:spcPts val="200"/>
              </a:spcAft>
              <a:buSzPct val="100000"/>
              <a:buChar char="•"/>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Sensitivity: cross-evaluator + Gemini-only reruns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4472C4"/>
          </a:solidFill>
        </p:spPr>
        <p:txBody>
          <a:bodyPr wrap="square" rtlCol="0" anchor="ctr"/>
          <a:lstStyle/>
          <a:p>
            <a:pPr marL="0" indent="0">
              <a:buNone/>
            </a:pPr>
            <a:endParaRPr lang="en-US" dirty="0"/>
          </a:p>
        </p:txBody>
      </p:sp>
      <p:sp>
        <p:nvSpPr>
          <p:cNvPr id="3" name="Text 1"/>
          <p:cNvSpPr/>
          <p:nvPr/>
        </p:nvSpPr>
        <p:spPr>
          <a:xfrm>
            <a:off x="0" y="5067300"/>
            <a:ext cx="9144000" cy="76200"/>
          </a:xfrm>
          <a:prstGeom prst="rect">
            <a:avLst/>
          </a:prstGeom>
          <a:solidFill>
            <a:srgbClr val="44546A"/>
          </a:solidFill>
        </p:spPr>
        <p:txBody>
          <a:bodyPr wrap="square" rtlCol="0" anchor="ctr"/>
          <a:lstStyle/>
          <a:p>
            <a:pPr marL="0" indent="0">
              <a:buNone/>
            </a:pPr>
            <a:endParaRPr lang="en-US" dirty="0"/>
          </a:p>
        </p:txBody>
      </p:sp>
      <p:sp>
        <p:nvSpPr>
          <p:cNvPr id="4" name="Text 2"/>
          <p:cNvSpPr/>
          <p:nvPr/>
        </p:nvSpPr>
        <p:spPr>
          <a:xfrm>
            <a:off x="7620000" y="76200"/>
            <a:ext cx="1524000" cy="355550"/>
          </a:xfrm>
          <a:prstGeom prst="rect">
            <a:avLst/>
          </a:prstGeom>
          <a:solidFill>
            <a:srgbClr val="4472C4"/>
          </a:solidFill>
        </p:spPr>
        <p:txBody>
          <a:bodyPr wrap="square" rtlCol="0" anchor="ctr"/>
          <a:lstStyle/>
          <a:p>
            <a:pPr marL="0" indent="0">
              <a:buNone/>
            </a:pPr>
            <a:endParaRPr lang="en-US" dirty="0"/>
          </a:p>
        </p:txBody>
      </p:sp>
      <p:sp>
        <p:nvSpPr>
          <p:cNvPr id="5" name="Text 3"/>
          <p:cNvSpPr/>
          <p:nvPr/>
        </p:nvSpPr>
        <p:spPr>
          <a:xfrm>
            <a:off x="7976592" y="187226"/>
            <a:ext cx="827032" cy="133350"/>
          </a:xfrm>
          <a:prstGeom prst="rect">
            <a:avLst/>
          </a:prstGeom>
          <a:noFill/>
        </p:spPr>
        <p:txBody>
          <a:bodyPr wrap="square" lIns="0" tIns="0" rIns="0" bIns="0" rtlCol="0" anchor="t"/>
          <a:lstStyle/>
          <a:p>
            <a:pPr marL="0" indent="0" algn="l">
              <a:buNone/>
            </a:pPr>
            <a:r>
              <a:rPr lang="en-US" sz="900" b="1" dirty="0">
                <a:solidFill>
                  <a:srgbClr val="FFFFFF"/>
                </a:solidFill>
                <a:latin typeface="Arial" panose="020B0604020202090204" pitchFamily="34" charset="0"/>
                <a:ea typeface="Arial" panose="020B0604020202090204" pitchFamily="34" charset="-122"/>
                <a:cs typeface="Arial" panose="020B0604020202090204" pitchFamily="34" charset="-120"/>
              </a:rPr>
              <a:t>KEY FINDINGS</a:t>
            </a:r>
            <a:endParaRPr lang="en-US" sz="900" dirty="0"/>
          </a:p>
        </p:txBody>
      </p:sp>
      <p:sp>
        <p:nvSpPr>
          <p:cNvPr id="6" name="Text 4"/>
          <p:cNvSpPr/>
          <p:nvPr/>
        </p:nvSpPr>
        <p:spPr>
          <a:xfrm>
            <a:off x="304800" y="177701"/>
            <a:ext cx="7124649" cy="295275"/>
          </a:xfrm>
          <a:prstGeom prst="rect">
            <a:avLst/>
          </a:prstGeom>
          <a:noFill/>
        </p:spPr>
        <p:txBody>
          <a:bodyPr wrap="square" lIns="0" tIns="0" rIns="0" bIns="0" rtlCol="0" anchor="t"/>
          <a:lstStyle/>
          <a:p>
            <a:pPr marL="0" indent="0" algn="l">
              <a:buNone/>
            </a:pPr>
            <a:r>
              <a:rPr lang="en-US" sz="2000" b="1" dirty="0">
                <a:solidFill>
                  <a:srgbClr val="44546A"/>
                </a:solidFill>
                <a:latin typeface="Arial" panose="020B0604020202090204" pitchFamily="34" charset="0"/>
                <a:ea typeface="Arial" panose="020B0604020202090204" pitchFamily="34" charset="-122"/>
                <a:cs typeface="Arial" panose="020B0604020202090204" pitchFamily="34" charset="-120"/>
              </a:rPr>
              <a:t>Key Findings — Style-Controlled Analysis</a:t>
            </a:r>
            <a:endParaRPr lang="en-US" sz="2000" dirty="0"/>
          </a:p>
        </p:txBody>
      </p:sp>
      <p:sp>
        <p:nvSpPr>
          <p:cNvPr id="7" name="Text 5"/>
          <p:cNvSpPr/>
          <p:nvPr/>
        </p:nvSpPr>
        <p:spPr>
          <a:xfrm>
            <a:off x="304800" y="498277"/>
            <a:ext cx="7124649" cy="152400"/>
          </a:xfrm>
          <a:prstGeom prst="rect">
            <a:avLst/>
          </a:prstGeom>
          <a:noFill/>
        </p:spPr>
        <p:txBody>
          <a:bodyPr wrap="square" lIns="0" tIns="0" rIns="0" bIns="0" rtlCol="0" anchor="t"/>
          <a:lstStyle/>
          <a:p>
            <a:pPr marL="0" indent="0" algn="l">
              <a:spcBef>
                <a:spcPts val="200"/>
              </a:spcBef>
              <a:buNone/>
            </a:pPr>
            <a:r>
              <a:rPr lang="en-US" sz="1100" dirty="0">
                <a:solidFill>
                  <a:srgbClr val="4472C4"/>
                </a:solidFill>
                <a:latin typeface="Arial" panose="020B0604020202090204" pitchFamily="34" charset="0"/>
                <a:ea typeface="Arial" panose="020B0604020202090204" pitchFamily="34" charset="-122"/>
                <a:cs typeface="Arial" panose="020B0604020202090204" pitchFamily="34" charset="-120"/>
              </a:rPr>
              <a:t>One-sentence answers from the rephrased-proposal analyses</a:t>
            </a:r>
            <a:endParaRPr lang="en-US" sz="1100" dirty="0"/>
          </a:p>
        </p:txBody>
      </p:sp>
      <p:sp>
        <p:nvSpPr>
          <p:cNvPr id="8" name="Text 6"/>
          <p:cNvSpPr/>
          <p:nvPr/>
        </p:nvSpPr>
        <p:spPr>
          <a:xfrm>
            <a:off x="304800" y="711101"/>
            <a:ext cx="8534400" cy="25301"/>
          </a:xfrm>
          <a:prstGeom prst="rect">
            <a:avLst/>
          </a:prstGeom>
          <a:solidFill>
            <a:srgbClr val="4472C4"/>
          </a:solidFill>
        </p:spPr>
        <p:txBody>
          <a:bodyPr wrap="square" rtlCol="0" anchor="ctr"/>
          <a:lstStyle/>
          <a:p>
            <a:pPr marL="0" indent="0">
              <a:buNone/>
            </a:pPr>
            <a:endParaRPr lang="en-US" dirty="0"/>
          </a:p>
        </p:txBody>
      </p:sp>
      <p:sp>
        <p:nvSpPr>
          <p:cNvPr id="9" name="Text 7"/>
          <p:cNvSpPr/>
          <p:nvPr/>
        </p:nvSpPr>
        <p:spPr>
          <a:xfrm>
            <a:off x="304800" y="838200"/>
            <a:ext cx="2038350" cy="1707952"/>
          </a:xfrm>
          <a:prstGeom prst="roundRect">
            <a:avLst>
              <a:gd name="adj" fmla="val 4461"/>
            </a:avLst>
          </a:prstGeom>
          <a:solidFill>
            <a:srgbClr val="EEF2FA"/>
          </a:solidFill>
        </p:spPr>
        <p:txBody>
          <a:bodyPr wrap="square" rtlCol="0" anchor="ctr"/>
          <a:lstStyle/>
          <a:p>
            <a:pPr marL="0" indent="0">
              <a:buNone/>
            </a:pPr>
            <a:endParaRPr lang="en-US" dirty="0"/>
          </a:p>
        </p:txBody>
      </p:sp>
      <p:sp>
        <p:nvSpPr>
          <p:cNvPr id="10" name="Shape 8"/>
          <p:cNvSpPr/>
          <p:nvPr/>
        </p:nvSpPr>
        <p:spPr>
          <a:xfrm>
            <a:off x="304800" y="857250"/>
            <a:ext cx="2038350" cy="0"/>
          </a:xfrm>
          <a:prstGeom prst="line">
            <a:avLst/>
          </a:prstGeom>
          <a:noFill/>
          <a:ln w="38100">
            <a:solidFill>
              <a:srgbClr val="4472C4"/>
            </a:solidFill>
            <a:prstDash val="solid"/>
          </a:ln>
        </p:spPr>
      </p:sp>
      <p:sp>
        <p:nvSpPr>
          <p:cNvPr id="11" name="Text 9"/>
          <p:cNvSpPr/>
          <p:nvPr/>
        </p:nvSpPr>
        <p:spPr>
          <a:xfrm>
            <a:off x="457200" y="1003250"/>
            <a:ext cx="1768221" cy="114300"/>
          </a:xfrm>
          <a:prstGeom prst="rect">
            <a:avLst/>
          </a:prstGeom>
          <a:noFill/>
        </p:spPr>
        <p:txBody>
          <a:bodyPr wrap="square" lIns="0" tIns="0" rIns="0" bIns="0" rtlCol="0" anchor="t"/>
          <a:lstStyle/>
          <a:p>
            <a:pPr marL="0" indent="0" algn="l">
              <a:spcAft>
                <a:spcPts val="300"/>
              </a:spcAft>
              <a:buNone/>
            </a:pPr>
            <a:r>
              <a:rPr lang="en-US" sz="800" b="1" dirty="0">
                <a:solidFill>
                  <a:srgbClr val="4472C4"/>
                </a:solidFill>
                <a:latin typeface="Arial" panose="020B0604020202090204" pitchFamily="34" charset="0"/>
                <a:ea typeface="Arial" panose="020B0604020202090204" pitchFamily="34" charset="-122"/>
                <a:cs typeface="Arial" panose="020B0604020202090204" pitchFamily="34" charset="-120"/>
              </a:rPr>
              <a:t>RQ1 — DIVERSITY</a:t>
            </a:r>
            <a:endParaRPr lang="en-US" sz="800" dirty="0"/>
          </a:p>
        </p:txBody>
      </p:sp>
      <p:sp>
        <p:nvSpPr>
          <p:cNvPr id="12" name="Text 10"/>
          <p:cNvSpPr/>
          <p:nvPr/>
        </p:nvSpPr>
        <p:spPr>
          <a:xfrm>
            <a:off x="457200" y="1155650"/>
            <a:ext cx="1768221" cy="400050"/>
          </a:xfrm>
          <a:prstGeom prst="rect">
            <a:avLst/>
          </a:prstGeom>
          <a:noFill/>
        </p:spPr>
        <p:txBody>
          <a:bodyPr wrap="square" lIns="0" tIns="0" rIns="0" bIns="0" rtlCol="0" anchor="t"/>
          <a:lstStyle/>
          <a:p>
            <a:pPr marL="0" indent="0" algn="l">
              <a:spcAft>
                <a:spcPts val="500"/>
              </a:spcAft>
              <a:buNone/>
            </a:pPr>
            <a:r>
              <a:rPr lang="en-US" sz="900" b="1" dirty="0">
                <a:solidFill>
                  <a:srgbClr val="44546A"/>
                </a:solidFill>
                <a:latin typeface="Arial" panose="020B0604020202090204" pitchFamily="34" charset="0"/>
                <a:ea typeface="Arial" panose="020B0604020202090204" pitchFamily="34" charset="-122"/>
                <a:cs typeface="Arial" panose="020B0604020202090204" pitchFamily="34" charset="-120"/>
              </a:rPr>
              <a:t>Are AI proposals more or less diverse than human proposals after style control?</a:t>
            </a:r>
            <a:endParaRPr lang="en-US" sz="900" dirty="0"/>
          </a:p>
        </p:txBody>
      </p:sp>
      <p:sp>
        <p:nvSpPr>
          <p:cNvPr id="13" name="Text 11"/>
          <p:cNvSpPr/>
          <p:nvPr/>
        </p:nvSpPr>
        <p:spPr>
          <a:xfrm>
            <a:off x="457200" y="1619101"/>
            <a:ext cx="1768221" cy="800100"/>
          </a:xfrm>
          <a:prstGeom prst="rect">
            <a:avLst/>
          </a:prstGeom>
          <a:noFill/>
        </p:spPr>
        <p:txBody>
          <a:bodyPr wrap="square" lIns="0" tIns="0" rIns="0" bIns="0" rtlCol="0" anchor="t"/>
          <a:lstStyle/>
          <a:p>
            <a:pPr marL="0" indent="0" algn="l">
              <a:buNone/>
            </a:pPr>
            <a:r>
              <a:rPr lang="en-US" sz="900" b="1" dirty="0">
                <a:solidFill>
                  <a:srgbClr val="333333"/>
                </a:solidFill>
                <a:latin typeface="Arial" panose="020B0604020202090204" pitchFamily="34" charset="0"/>
                <a:ea typeface="Arial" panose="020B0604020202090204" pitchFamily="34" charset="-122"/>
                <a:cs typeface="Arial" panose="020B0604020202090204" pitchFamily="34" charset="-120"/>
              </a:rPr>
              <a:t>Reversed vs. baseline:</a:t>
            </a:r>
            <a:r>
              <a:rPr lang="en-US" sz="900" dirty="0">
                <a:solidFill>
                  <a:srgbClr val="333333"/>
                </a:solidFill>
                <a:latin typeface="Arial" panose="020B0604020202090204" pitchFamily="34" charset="0"/>
                <a:ea typeface="Arial" panose="020B0604020202090204" pitchFamily="34" charset="-122"/>
                <a:cs typeface="Arial" panose="020B0604020202090204" pitchFamily="34" charset="-120"/>
              </a:rPr>
              <a:t> Humans are significantly more diverse than pooled AI (δ=−0.768, p&lt;0.001). Claude-Opus-4.5 is maximally homogeneous (mode collapse); GPT-5.2 and Gemini are intermediate.</a:t>
            </a:r>
            <a:endParaRPr lang="en-US" sz="900" dirty="0"/>
          </a:p>
        </p:txBody>
      </p:sp>
      <p:sp>
        <p:nvSpPr>
          <p:cNvPr id="14" name="Text 12"/>
          <p:cNvSpPr/>
          <p:nvPr/>
        </p:nvSpPr>
        <p:spPr>
          <a:xfrm>
            <a:off x="2470100" y="838200"/>
            <a:ext cx="2038499" cy="1707952"/>
          </a:xfrm>
          <a:prstGeom prst="roundRect">
            <a:avLst>
              <a:gd name="adj" fmla="val 4461"/>
            </a:avLst>
          </a:prstGeom>
          <a:solidFill>
            <a:srgbClr val="FEF4EC"/>
          </a:solidFill>
        </p:spPr>
        <p:txBody>
          <a:bodyPr wrap="square" rtlCol="0" anchor="ctr"/>
          <a:lstStyle/>
          <a:p>
            <a:pPr marL="0" indent="0">
              <a:buNone/>
            </a:pPr>
            <a:endParaRPr lang="en-US" dirty="0"/>
          </a:p>
        </p:txBody>
      </p:sp>
      <p:sp>
        <p:nvSpPr>
          <p:cNvPr id="15" name="Shape 13"/>
          <p:cNvSpPr/>
          <p:nvPr/>
        </p:nvSpPr>
        <p:spPr>
          <a:xfrm>
            <a:off x="2470100" y="857250"/>
            <a:ext cx="2038499" cy="0"/>
          </a:xfrm>
          <a:prstGeom prst="line">
            <a:avLst/>
          </a:prstGeom>
          <a:noFill/>
          <a:ln w="38100">
            <a:solidFill>
              <a:srgbClr val="ED7D31"/>
            </a:solidFill>
            <a:prstDash val="solid"/>
          </a:ln>
        </p:spPr>
      </p:sp>
      <p:sp>
        <p:nvSpPr>
          <p:cNvPr id="16" name="Text 14"/>
          <p:cNvSpPr/>
          <p:nvPr/>
        </p:nvSpPr>
        <p:spPr>
          <a:xfrm>
            <a:off x="2622500" y="1003250"/>
            <a:ext cx="1768373" cy="114300"/>
          </a:xfrm>
          <a:prstGeom prst="rect">
            <a:avLst/>
          </a:prstGeom>
          <a:noFill/>
        </p:spPr>
        <p:txBody>
          <a:bodyPr wrap="square" lIns="0" tIns="0" rIns="0" bIns="0" rtlCol="0" anchor="t"/>
          <a:lstStyle/>
          <a:p>
            <a:pPr marL="0" indent="0" algn="l">
              <a:spcAft>
                <a:spcPts val="300"/>
              </a:spcAft>
              <a:buNone/>
            </a:pPr>
            <a:r>
              <a:rPr lang="en-US" sz="800" b="1" dirty="0">
                <a:solidFill>
                  <a:srgbClr val="C55A11"/>
                </a:solidFill>
                <a:latin typeface="Arial" panose="020B0604020202090204" pitchFamily="34" charset="0"/>
                <a:ea typeface="Arial" panose="020B0604020202090204" pitchFamily="34" charset="-122"/>
                <a:cs typeface="Arial" panose="020B0604020202090204" pitchFamily="34" charset="-120"/>
              </a:rPr>
              <a:t>RQ2 — NOVELTY</a:t>
            </a:r>
            <a:endParaRPr lang="en-US" sz="800" dirty="0"/>
          </a:p>
        </p:txBody>
      </p:sp>
      <p:sp>
        <p:nvSpPr>
          <p:cNvPr id="17" name="Text 15"/>
          <p:cNvSpPr/>
          <p:nvPr/>
        </p:nvSpPr>
        <p:spPr>
          <a:xfrm>
            <a:off x="2622500" y="1155650"/>
            <a:ext cx="1768373" cy="400050"/>
          </a:xfrm>
          <a:prstGeom prst="rect">
            <a:avLst/>
          </a:prstGeom>
          <a:noFill/>
        </p:spPr>
        <p:txBody>
          <a:bodyPr wrap="square" lIns="0" tIns="0" rIns="0" bIns="0" rtlCol="0" anchor="t"/>
          <a:lstStyle/>
          <a:p>
            <a:pPr marL="0" indent="0" algn="l">
              <a:spcAft>
                <a:spcPts val="500"/>
              </a:spcAft>
              <a:buNone/>
            </a:pPr>
            <a:r>
              <a:rPr lang="en-US" sz="900" b="1" dirty="0">
                <a:solidFill>
                  <a:srgbClr val="44546A"/>
                </a:solidFill>
                <a:latin typeface="Arial" panose="020B0604020202090204" pitchFamily="34" charset="0"/>
                <a:ea typeface="Arial" panose="020B0604020202090204" pitchFamily="34" charset="-122"/>
                <a:cs typeface="Arial" panose="020B0604020202090204" pitchFamily="34" charset="-120"/>
              </a:rPr>
              <a:t>Are AI proposals less novel than human proposals relative to literature?</a:t>
            </a:r>
            <a:endParaRPr lang="en-US" sz="900" dirty="0"/>
          </a:p>
        </p:txBody>
      </p:sp>
      <p:sp>
        <p:nvSpPr>
          <p:cNvPr id="18" name="Text 16"/>
          <p:cNvSpPr/>
          <p:nvPr/>
        </p:nvSpPr>
        <p:spPr>
          <a:xfrm>
            <a:off x="2622500" y="1619101"/>
            <a:ext cx="1768373" cy="666750"/>
          </a:xfrm>
          <a:prstGeom prst="rect">
            <a:avLst/>
          </a:prstGeom>
          <a:noFill/>
        </p:spPr>
        <p:txBody>
          <a:bodyPr wrap="square" lIns="0" tIns="0" rIns="0" bIns="0" rtlCol="0" anchor="t"/>
          <a:lstStyle/>
          <a:p>
            <a:pPr marL="0" indent="0" algn="l">
              <a:buNone/>
            </a:pPr>
            <a:r>
              <a:rPr lang="en-US" sz="900" b="1" dirty="0">
                <a:solidFill>
                  <a:srgbClr val="333333"/>
                </a:solidFill>
                <a:latin typeface="Arial" panose="020B0604020202090204" pitchFamily="34" charset="0"/>
                <a:ea typeface="Arial" panose="020B0604020202090204" pitchFamily="34" charset="-122"/>
                <a:cs typeface="Arial" panose="020B0604020202090204" pitchFamily="34" charset="-120"/>
              </a:rPr>
              <a:t>Partially attenuated:</a:t>
            </a:r>
            <a:r>
              <a:rPr lang="en-US" sz="900" dirty="0">
                <a:solidFill>
                  <a:srgbClr val="333333"/>
                </a:solidFill>
                <a:latin typeface="Arial" panose="020B0604020202090204" pitchFamily="34" charset="0"/>
                <a:ea typeface="Arial" panose="020B0604020202090204" pitchFamily="34" charset="-122"/>
                <a:cs typeface="Arial" panose="020B0604020202090204" pitchFamily="34" charset="-120"/>
              </a:rPr>
              <a:t> Raw novelty gap persists after rephrasing (δ=−0.294, p&lt;0.001) but is smaller than baseline (δ=−0.34). Local-density normalized gap disappears (δ=+0.016, p=0.22) — humans target sparser literature regions.</a:t>
            </a:r>
            <a:endParaRPr lang="en-US" sz="900" dirty="0"/>
          </a:p>
        </p:txBody>
      </p:sp>
      <p:sp>
        <p:nvSpPr>
          <p:cNvPr id="19" name="Text 17"/>
          <p:cNvSpPr/>
          <p:nvPr/>
        </p:nvSpPr>
        <p:spPr>
          <a:xfrm>
            <a:off x="4635550" y="838200"/>
            <a:ext cx="2038350" cy="1707952"/>
          </a:xfrm>
          <a:prstGeom prst="roundRect">
            <a:avLst>
              <a:gd name="adj" fmla="val 4461"/>
            </a:avLst>
          </a:prstGeom>
          <a:solidFill>
            <a:srgbClr val="EEF6E8"/>
          </a:solidFill>
        </p:spPr>
        <p:txBody>
          <a:bodyPr wrap="square" rtlCol="0" anchor="ctr"/>
          <a:lstStyle/>
          <a:p>
            <a:pPr marL="0" indent="0">
              <a:buNone/>
            </a:pPr>
            <a:endParaRPr lang="en-US" dirty="0"/>
          </a:p>
        </p:txBody>
      </p:sp>
      <p:sp>
        <p:nvSpPr>
          <p:cNvPr id="20" name="Shape 18"/>
          <p:cNvSpPr/>
          <p:nvPr/>
        </p:nvSpPr>
        <p:spPr>
          <a:xfrm>
            <a:off x="4635550" y="857250"/>
            <a:ext cx="2038350" cy="0"/>
          </a:xfrm>
          <a:prstGeom prst="line">
            <a:avLst/>
          </a:prstGeom>
          <a:noFill/>
          <a:ln w="38100">
            <a:solidFill>
              <a:srgbClr val="70AD47"/>
            </a:solidFill>
            <a:prstDash val="solid"/>
          </a:ln>
        </p:spPr>
      </p:sp>
      <p:sp>
        <p:nvSpPr>
          <p:cNvPr id="21" name="Text 19"/>
          <p:cNvSpPr/>
          <p:nvPr/>
        </p:nvSpPr>
        <p:spPr>
          <a:xfrm>
            <a:off x="4787950" y="1003250"/>
            <a:ext cx="1768221" cy="114300"/>
          </a:xfrm>
          <a:prstGeom prst="rect">
            <a:avLst/>
          </a:prstGeom>
          <a:noFill/>
        </p:spPr>
        <p:txBody>
          <a:bodyPr wrap="square" lIns="0" tIns="0" rIns="0" bIns="0" rtlCol="0" anchor="t"/>
          <a:lstStyle/>
          <a:p>
            <a:pPr marL="0" indent="0" algn="l">
              <a:spcAft>
                <a:spcPts val="300"/>
              </a:spcAft>
              <a:buNone/>
            </a:pPr>
            <a:r>
              <a:rPr lang="en-US" sz="800" b="1" dirty="0">
                <a:solidFill>
                  <a:srgbClr val="385C1F"/>
                </a:solidFill>
                <a:latin typeface="Arial" panose="020B0604020202090204" pitchFamily="34" charset="0"/>
                <a:ea typeface="Arial" panose="020B0604020202090204" pitchFamily="34" charset="-122"/>
                <a:cs typeface="Arial" panose="020B0604020202090204" pitchFamily="34" charset="-120"/>
              </a:rPr>
              <a:t>RQ3 — THEMATIC SEPARATION</a:t>
            </a:r>
            <a:endParaRPr lang="en-US" sz="800" dirty="0"/>
          </a:p>
        </p:txBody>
      </p:sp>
      <p:sp>
        <p:nvSpPr>
          <p:cNvPr id="22" name="Text 20"/>
          <p:cNvSpPr/>
          <p:nvPr/>
        </p:nvSpPr>
        <p:spPr>
          <a:xfrm>
            <a:off x="4787950" y="1155650"/>
            <a:ext cx="1768221" cy="400050"/>
          </a:xfrm>
          <a:prstGeom prst="rect">
            <a:avLst/>
          </a:prstGeom>
          <a:noFill/>
        </p:spPr>
        <p:txBody>
          <a:bodyPr wrap="square" lIns="0" tIns="0" rIns="0" bIns="0" rtlCol="0" anchor="t"/>
          <a:lstStyle/>
          <a:p>
            <a:pPr marL="0" indent="0" algn="l">
              <a:spcAft>
                <a:spcPts val="500"/>
              </a:spcAft>
              <a:buNone/>
            </a:pPr>
            <a:r>
              <a:rPr lang="en-US" sz="900" b="1" dirty="0">
                <a:solidFill>
                  <a:srgbClr val="44546A"/>
                </a:solidFill>
                <a:latin typeface="Arial" panose="020B0604020202090204" pitchFamily="34" charset="0"/>
                <a:ea typeface="Arial" panose="020B0604020202090204" pitchFamily="34" charset="-122"/>
                <a:cs typeface="Arial" panose="020B0604020202090204" pitchFamily="34" charset="-120"/>
              </a:rPr>
              <a:t>Do human and AI proposals still cluster differently after style removal?</a:t>
            </a:r>
            <a:endParaRPr lang="en-US" sz="900" dirty="0"/>
          </a:p>
        </p:txBody>
      </p:sp>
      <p:sp>
        <p:nvSpPr>
          <p:cNvPr id="23" name="Text 21"/>
          <p:cNvSpPr/>
          <p:nvPr/>
        </p:nvSpPr>
        <p:spPr>
          <a:xfrm>
            <a:off x="4787950" y="1619101"/>
            <a:ext cx="1768221" cy="666750"/>
          </a:xfrm>
          <a:prstGeom prst="rect">
            <a:avLst/>
          </a:prstGeom>
          <a:noFill/>
        </p:spPr>
        <p:txBody>
          <a:bodyPr wrap="square" lIns="0" tIns="0" rIns="0" bIns="0" rtlCol="0" anchor="t"/>
          <a:lstStyle/>
          <a:p>
            <a:pPr marL="0" indent="0" algn="l">
              <a:buNone/>
            </a:pPr>
            <a:r>
              <a:rPr lang="en-US" sz="900" b="1" dirty="0">
                <a:solidFill>
                  <a:srgbClr val="333333"/>
                </a:solidFill>
                <a:latin typeface="Arial" panose="020B0604020202090204" pitchFamily="34" charset="0"/>
                <a:ea typeface="Arial" panose="020B0604020202090204" pitchFamily="34" charset="-122"/>
                <a:cs typeface="Arial" panose="020B0604020202090204" pitchFamily="34" charset="-120"/>
              </a:rPr>
              <a:t>Yes, but reduced:</a:t>
            </a:r>
            <a:r>
              <a:rPr lang="en-US" sz="900" dirty="0">
                <a:solidFill>
                  <a:srgbClr val="333333"/>
                </a:solidFill>
                <a:latin typeface="Arial" panose="020B0604020202090204" pitchFamily="34" charset="0"/>
                <a:ea typeface="Arial" panose="020B0604020202090204" pitchFamily="34" charset="-122"/>
                <a:cs typeface="Arial" panose="020B0604020202090204" pitchFamily="34" charset="-120"/>
              </a:rPr>
              <a:t> Significant cluster segregation remains (NMI=0.089, p=0.003). Style-reduced AUROC = 0.684 vs. 1.000 baseline.</a:t>
            </a:r>
            <a:endParaRPr lang="en-US" sz="900" dirty="0"/>
          </a:p>
        </p:txBody>
      </p:sp>
      <p:sp>
        <p:nvSpPr>
          <p:cNvPr id="24" name="Text 22"/>
          <p:cNvSpPr/>
          <p:nvPr/>
        </p:nvSpPr>
        <p:spPr>
          <a:xfrm>
            <a:off x="6800850" y="838200"/>
            <a:ext cx="2038350" cy="1707952"/>
          </a:xfrm>
          <a:prstGeom prst="roundRect">
            <a:avLst>
              <a:gd name="adj" fmla="val 4461"/>
            </a:avLst>
          </a:prstGeom>
          <a:solidFill>
            <a:srgbClr val="F4F4F4"/>
          </a:solidFill>
        </p:spPr>
        <p:txBody>
          <a:bodyPr wrap="square" rtlCol="0" anchor="ctr"/>
          <a:lstStyle/>
          <a:p>
            <a:pPr marL="0" indent="0">
              <a:buNone/>
            </a:pPr>
            <a:endParaRPr lang="en-US" dirty="0"/>
          </a:p>
        </p:txBody>
      </p:sp>
      <p:sp>
        <p:nvSpPr>
          <p:cNvPr id="25" name="Shape 23"/>
          <p:cNvSpPr/>
          <p:nvPr/>
        </p:nvSpPr>
        <p:spPr>
          <a:xfrm>
            <a:off x="6800850" y="857250"/>
            <a:ext cx="2038350" cy="0"/>
          </a:xfrm>
          <a:prstGeom prst="line">
            <a:avLst/>
          </a:prstGeom>
          <a:noFill/>
          <a:ln w="38100">
            <a:solidFill>
              <a:srgbClr val="A5A5A5"/>
            </a:solidFill>
            <a:prstDash val="solid"/>
          </a:ln>
        </p:spPr>
      </p:sp>
      <p:sp>
        <p:nvSpPr>
          <p:cNvPr id="26" name="Text 24"/>
          <p:cNvSpPr/>
          <p:nvPr/>
        </p:nvSpPr>
        <p:spPr>
          <a:xfrm>
            <a:off x="6953250" y="1003250"/>
            <a:ext cx="1768221" cy="114300"/>
          </a:xfrm>
          <a:prstGeom prst="rect">
            <a:avLst/>
          </a:prstGeom>
          <a:noFill/>
        </p:spPr>
        <p:txBody>
          <a:bodyPr wrap="square" lIns="0" tIns="0" rIns="0" bIns="0" rtlCol="0" anchor="t"/>
          <a:lstStyle/>
          <a:p>
            <a:pPr marL="0" indent="0" algn="l">
              <a:spcAft>
                <a:spcPts val="300"/>
              </a:spcAft>
              <a:buNone/>
            </a:pPr>
            <a:r>
              <a:rPr lang="en-US" sz="800" b="1" dirty="0">
                <a:solidFill>
                  <a:srgbClr val="44546A"/>
                </a:solidFill>
                <a:latin typeface="Arial" panose="020B0604020202090204" pitchFamily="34" charset="0"/>
                <a:ea typeface="Arial" panose="020B0604020202090204" pitchFamily="34" charset="-122"/>
                <a:cs typeface="Arial" panose="020B0604020202090204" pitchFamily="34" charset="-120"/>
              </a:rPr>
              <a:t>RQ4 — QUALITY</a:t>
            </a:r>
            <a:endParaRPr lang="en-US" sz="800" dirty="0"/>
          </a:p>
        </p:txBody>
      </p:sp>
      <p:sp>
        <p:nvSpPr>
          <p:cNvPr id="27" name="Text 25"/>
          <p:cNvSpPr/>
          <p:nvPr/>
        </p:nvSpPr>
        <p:spPr>
          <a:xfrm>
            <a:off x="6953250" y="1155650"/>
            <a:ext cx="1768221" cy="400050"/>
          </a:xfrm>
          <a:prstGeom prst="rect">
            <a:avLst/>
          </a:prstGeom>
          <a:noFill/>
        </p:spPr>
        <p:txBody>
          <a:bodyPr wrap="square" lIns="0" tIns="0" rIns="0" bIns="0" rtlCol="0" anchor="t"/>
          <a:lstStyle/>
          <a:p>
            <a:pPr marL="0" indent="0" algn="l">
              <a:spcAft>
                <a:spcPts val="500"/>
              </a:spcAft>
              <a:buNone/>
            </a:pPr>
            <a:r>
              <a:rPr lang="en-US" sz="900" b="1" dirty="0">
                <a:solidFill>
                  <a:srgbClr val="44546A"/>
                </a:solidFill>
                <a:latin typeface="Arial" panose="020B0604020202090204" pitchFamily="34" charset="0"/>
                <a:ea typeface="Arial" panose="020B0604020202090204" pitchFamily="34" charset="-122"/>
                <a:cs typeface="Arial" panose="020B0604020202090204" pitchFamily="34" charset="-120"/>
              </a:rPr>
              <a:t>Do AI proposals score higher under AI evaluation on rephrased proposals?</a:t>
            </a:r>
            <a:endParaRPr lang="en-US" sz="900" dirty="0"/>
          </a:p>
        </p:txBody>
      </p:sp>
      <p:sp>
        <p:nvSpPr>
          <p:cNvPr id="28" name="Text 26"/>
          <p:cNvSpPr/>
          <p:nvPr/>
        </p:nvSpPr>
        <p:spPr>
          <a:xfrm>
            <a:off x="6953250" y="1619101"/>
            <a:ext cx="1768221" cy="666750"/>
          </a:xfrm>
          <a:prstGeom prst="rect">
            <a:avLst/>
          </a:prstGeom>
          <a:noFill/>
        </p:spPr>
        <p:txBody>
          <a:bodyPr wrap="square" lIns="0" tIns="0" rIns="0" bIns="0" rtlCol="0" anchor="t"/>
          <a:lstStyle/>
          <a:p>
            <a:pPr marL="0" indent="0" algn="l">
              <a:buNone/>
            </a:pPr>
            <a:r>
              <a:rPr lang="en-US" sz="900" b="1" dirty="0">
                <a:solidFill>
                  <a:srgbClr val="333333"/>
                </a:solidFill>
                <a:latin typeface="Arial" panose="020B0604020202090204" pitchFamily="34" charset="0"/>
                <a:ea typeface="Arial" panose="020B0604020202090204" pitchFamily="34" charset="-122"/>
                <a:cs typeface="Arial" panose="020B0604020202090204" pitchFamily="34" charset="-120"/>
              </a:rPr>
              <a:t>Yes, pattern holds:</a:t>
            </a:r>
            <a:r>
              <a:rPr lang="en-US" sz="900" dirty="0">
                <a:solidFill>
                  <a:srgbClr val="333333"/>
                </a:solidFill>
                <a:latin typeface="Arial" panose="020B0604020202090204" pitchFamily="34" charset="0"/>
                <a:ea typeface="Arial" panose="020B0604020202090204" pitchFamily="34" charset="-122"/>
                <a:cs typeface="Arial" panose="020B0604020202090204" pitchFamily="34" charset="-120"/>
              </a:rPr>
              <a:t> GPT (4.32) and Claude (4.01) score above human (3.59). GPT self-inflates (δ=+0.933). Cross-evaluator reruns confirm GPT and Claude advantage; Gemini is not significant. Gemini strongly self-deprecates (δ=−0.732).</a:t>
            </a:r>
            <a:endParaRPr lang="en-US" sz="900" dirty="0"/>
          </a:p>
        </p:txBody>
      </p:sp>
      <p:sp>
        <p:nvSpPr>
          <p:cNvPr id="29" name="Text 27"/>
          <p:cNvSpPr/>
          <p:nvPr/>
        </p:nvSpPr>
        <p:spPr>
          <a:xfrm>
            <a:off x="304800" y="2673102"/>
            <a:ext cx="8534400" cy="847576"/>
          </a:xfrm>
          <a:prstGeom prst="roundRect">
            <a:avLst>
              <a:gd name="adj" fmla="val 8990"/>
            </a:avLst>
          </a:prstGeom>
          <a:solidFill>
            <a:srgbClr val="44546A"/>
          </a:solidFill>
        </p:spPr>
        <p:txBody>
          <a:bodyPr wrap="square" rtlCol="0" anchor="ctr"/>
          <a:lstStyle/>
          <a:p>
            <a:pPr marL="0" indent="0">
              <a:buNone/>
            </a:pPr>
            <a:endParaRPr lang="en-US" dirty="0"/>
          </a:p>
        </p:txBody>
      </p:sp>
      <p:sp>
        <p:nvSpPr>
          <p:cNvPr id="30" name="Text 28"/>
          <p:cNvSpPr/>
          <p:nvPr/>
        </p:nvSpPr>
        <p:spPr>
          <a:xfrm>
            <a:off x="507950" y="2800052"/>
            <a:ext cx="8290661" cy="142875"/>
          </a:xfrm>
          <a:prstGeom prst="rect">
            <a:avLst/>
          </a:prstGeom>
          <a:noFill/>
        </p:spPr>
        <p:txBody>
          <a:bodyPr wrap="square" lIns="0" tIns="0" rIns="0" bIns="0" rtlCol="0" anchor="t"/>
          <a:lstStyle/>
          <a:p>
            <a:pPr marL="0" indent="0" algn="l">
              <a:spcAft>
                <a:spcPts val="400"/>
              </a:spcAft>
              <a:buNone/>
            </a:pPr>
            <a:r>
              <a:rPr lang="en-US" sz="1000" b="1" dirty="0">
                <a:solidFill>
                  <a:srgbClr val="FFFFFF"/>
                </a:solidFill>
                <a:latin typeface="Arial" panose="020B0604020202090204" pitchFamily="34" charset="0"/>
                <a:ea typeface="Arial" panose="020B0604020202090204" pitchFamily="34" charset="-122"/>
                <a:cs typeface="Arial" panose="020B0604020202090204" pitchFamily="34" charset="-120"/>
              </a:rPr>
              <a:t>Main Takeaway</a:t>
            </a:r>
            <a:endParaRPr lang="en-US" sz="1000" dirty="0"/>
          </a:p>
        </p:txBody>
      </p:sp>
      <p:sp>
        <p:nvSpPr>
          <p:cNvPr id="31" name="Text 29"/>
          <p:cNvSpPr/>
          <p:nvPr/>
        </p:nvSpPr>
        <p:spPr>
          <a:xfrm>
            <a:off x="507950" y="2993678"/>
            <a:ext cx="8290661" cy="400050"/>
          </a:xfrm>
          <a:prstGeom prst="rect">
            <a:avLst/>
          </a:prstGeom>
          <a:noFill/>
        </p:spPr>
        <p:txBody>
          <a:bodyPr wrap="square" lIns="0" tIns="0" rIns="0" bIns="0" rtlCol="0" anchor="t"/>
          <a:lstStyle/>
          <a:p>
            <a:pPr marL="0" indent="0" algn="l">
              <a:buNone/>
            </a:pPr>
            <a:r>
              <a:rPr lang="en-US" sz="950" dirty="0">
                <a:solidFill>
                  <a:srgbClr val="E7E6E6"/>
                </a:solidFill>
                <a:latin typeface="Arial" panose="020B0604020202090204" pitchFamily="34" charset="0"/>
                <a:ea typeface="Arial" panose="020B0604020202090204" pitchFamily="34" charset="-122"/>
                <a:cs typeface="Arial" panose="020B0604020202090204" pitchFamily="34" charset="-120"/>
              </a:rPr>
              <a:t>Rephrasing reveals that the baseline novelty gap was largely stylistic, while diversity and thematic separation reflect genuine semantic differences. Human proposals are semantically more varied; Claude-Opus-4.5 shows near-zero diversity (mode collapse). Raw novelty gap persists. Evaluator biases diverge: GPT self-inflates (δ=+0.933) while Gemini self-deprecates (δ=−0.732).</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4472C4"/>
          </a:solidFill>
        </p:spPr>
        <p:txBody>
          <a:bodyPr wrap="square" rtlCol="0" anchor="ctr"/>
          <a:lstStyle/>
          <a:p>
            <a:pPr marL="0" indent="0">
              <a:buNone/>
            </a:pPr>
            <a:endParaRPr lang="en-US" dirty="0"/>
          </a:p>
        </p:txBody>
      </p:sp>
      <p:sp>
        <p:nvSpPr>
          <p:cNvPr id="3" name="Text 1"/>
          <p:cNvSpPr/>
          <p:nvPr/>
        </p:nvSpPr>
        <p:spPr>
          <a:xfrm>
            <a:off x="0" y="5067300"/>
            <a:ext cx="9144000" cy="76200"/>
          </a:xfrm>
          <a:prstGeom prst="rect">
            <a:avLst/>
          </a:prstGeom>
          <a:solidFill>
            <a:srgbClr val="44546A"/>
          </a:solidFill>
        </p:spPr>
        <p:txBody>
          <a:bodyPr wrap="square" rtlCol="0" anchor="ctr"/>
          <a:lstStyle/>
          <a:p>
            <a:pPr marL="0" indent="0">
              <a:buNone/>
            </a:pPr>
            <a:endParaRPr lang="en-US" dirty="0"/>
          </a:p>
        </p:txBody>
      </p:sp>
      <p:sp>
        <p:nvSpPr>
          <p:cNvPr id="4" name="Text 2"/>
          <p:cNvSpPr/>
          <p:nvPr/>
        </p:nvSpPr>
        <p:spPr>
          <a:xfrm>
            <a:off x="7112050" y="76200"/>
            <a:ext cx="2031950" cy="355550"/>
          </a:xfrm>
          <a:prstGeom prst="rect">
            <a:avLst/>
          </a:prstGeom>
          <a:solidFill>
            <a:srgbClr val="44546A"/>
          </a:solidFill>
        </p:spPr>
        <p:txBody>
          <a:bodyPr wrap="square" rtlCol="0" anchor="ctr"/>
          <a:lstStyle/>
          <a:p>
            <a:pPr marL="0" indent="0">
              <a:buNone/>
            </a:pPr>
            <a:endParaRPr lang="en-US" dirty="0"/>
          </a:p>
        </p:txBody>
      </p:sp>
      <p:sp>
        <p:nvSpPr>
          <p:cNvPr id="5" name="Text 3"/>
          <p:cNvSpPr/>
          <p:nvPr/>
        </p:nvSpPr>
        <p:spPr>
          <a:xfrm>
            <a:off x="7592467" y="187226"/>
            <a:ext cx="1092538" cy="133350"/>
          </a:xfrm>
          <a:prstGeom prst="rect">
            <a:avLst/>
          </a:prstGeom>
          <a:noFill/>
        </p:spPr>
        <p:txBody>
          <a:bodyPr wrap="square" lIns="0" tIns="0" rIns="0" bIns="0" rtlCol="0" anchor="t"/>
          <a:lstStyle/>
          <a:p>
            <a:pPr marL="0" indent="0" algn="l">
              <a:buNone/>
            </a:pPr>
            <a:r>
              <a:rPr lang="en-US" sz="900" b="1" dirty="0">
                <a:solidFill>
                  <a:srgbClr val="FFFFFF"/>
                </a:solidFill>
                <a:latin typeface="Arial" panose="020B0604020202090204" pitchFamily="34" charset="0"/>
                <a:ea typeface="Arial" panose="020B0604020202090204" pitchFamily="34" charset="-122"/>
                <a:cs typeface="Arial" panose="020B0604020202090204" pitchFamily="34" charset="-120"/>
              </a:rPr>
              <a:t>PART I · DIVERSITY</a:t>
            </a:r>
            <a:endParaRPr lang="en-US" sz="900" dirty="0"/>
          </a:p>
        </p:txBody>
      </p:sp>
      <p:sp>
        <p:nvSpPr>
          <p:cNvPr id="6" name="Text 4"/>
          <p:cNvSpPr/>
          <p:nvPr/>
        </p:nvSpPr>
        <p:spPr>
          <a:xfrm>
            <a:off x="304800" y="76200"/>
            <a:ext cx="790129" cy="190500"/>
          </a:xfrm>
          <a:prstGeom prst="roundRect">
            <a:avLst>
              <a:gd name="adj" fmla="val 20000"/>
            </a:avLst>
          </a:prstGeom>
          <a:solidFill>
            <a:srgbClr val="4472C4"/>
          </a:solidFill>
        </p:spPr>
        <p:txBody>
          <a:bodyPr wrap="square" rtlCol="0" anchor="ctr"/>
          <a:lstStyle/>
          <a:p>
            <a:pPr marL="0" indent="0">
              <a:buNone/>
            </a:pPr>
            <a:endParaRPr lang="en-US" dirty="0"/>
          </a:p>
        </p:txBody>
      </p:sp>
      <p:sp>
        <p:nvSpPr>
          <p:cNvPr id="7" name="Text 5"/>
          <p:cNvSpPr/>
          <p:nvPr/>
        </p:nvSpPr>
        <p:spPr>
          <a:xfrm>
            <a:off x="406301" y="114300"/>
            <a:ext cx="598869" cy="114300"/>
          </a:xfrm>
          <a:prstGeom prst="rect">
            <a:avLst/>
          </a:prstGeom>
          <a:noFill/>
        </p:spPr>
        <p:txBody>
          <a:bodyPr wrap="square" lIns="0" tIns="0" rIns="0" bIns="0" rtlCol="0" anchor="t"/>
          <a:lstStyle/>
          <a:p>
            <a:pPr marL="0" indent="0" algn="l">
              <a:buNone/>
            </a:pPr>
            <a:r>
              <a:rPr lang="en-US" sz="800" b="1" dirty="0">
                <a:solidFill>
                  <a:srgbClr val="FFFFFF"/>
                </a:solidFill>
                <a:latin typeface="Arial" panose="020B0604020202090204" pitchFamily="34" charset="0"/>
                <a:ea typeface="Arial" panose="020B0604020202090204" pitchFamily="34" charset="-122"/>
                <a:cs typeface="Arial" panose="020B0604020202090204" pitchFamily="34" charset="-120"/>
              </a:rPr>
              <a:t>Analysis 1.1</a:t>
            </a:r>
            <a:endParaRPr lang="en-US" sz="800" dirty="0"/>
          </a:p>
        </p:txBody>
      </p:sp>
      <p:sp>
        <p:nvSpPr>
          <p:cNvPr id="8" name="Text 6"/>
          <p:cNvSpPr/>
          <p:nvPr/>
        </p:nvSpPr>
        <p:spPr>
          <a:xfrm>
            <a:off x="304800" y="381000"/>
            <a:ext cx="7124649" cy="266700"/>
          </a:xfrm>
          <a:prstGeom prst="rect">
            <a:avLst/>
          </a:prstGeom>
          <a:noFill/>
        </p:spPr>
        <p:txBody>
          <a:bodyPr wrap="square" lIns="0" tIns="0" rIns="0" bIns="0" rtlCol="0" anchor="t"/>
          <a:lstStyle/>
          <a:p>
            <a:pPr marL="0" indent="0" algn="l">
              <a:buNone/>
            </a:pPr>
            <a:r>
              <a:rPr lang="en-US" sz="1800" b="1" dirty="0">
                <a:solidFill>
                  <a:srgbClr val="44546A"/>
                </a:solidFill>
                <a:latin typeface="Arial" panose="020B0604020202090204" pitchFamily="34" charset="0"/>
                <a:ea typeface="Arial" panose="020B0604020202090204" pitchFamily="34" charset="-122"/>
                <a:cs typeface="Arial" panose="020B0604020202090204" pitchFamily="34" charset="-120"/>
              </a:rPr>
              <a:t>Within-Group Pairwise Diversity</a:t>
            </a:r>
            <a:endParaRPr lang="en-US" sz="1800" dirty="0"/>
          </a:p>
        </p:txBody>
      </p:sp>
      <p:sp>
        <p:nvSpPr>
          <p:cNvPr id="9" name="Text 7"/>
          <p:cNvSpPr/>
          <p:nvPr/>
        </p:nvSpPr>
        <p:spPr>
          <a:xfrm>
            <a:off x="304800" y="673001"/>
            <a:ext cx="7124649" cy="142875"/>
          </a:xfrm>
          <a:prstGeom prst="rect">
            <a:avLst/>
          </a:prstGeom>
          <a:noFill/>
        </p:spPr>
        <p:txBody>
          <a:bodyPr wrap="square" lIns="0" tIns="0" rIns="0" bIns="0" rtlCol="0" anchor="t"/>
          <a:lstStyle/>
          <a:p>
            <a:pPr marL="0" indent="0" algn="l">
              <a:spcBef>
                <a:spcPts val="200"/>
              </a:spcBef>
              <a:buNone/>
            </a:pPr>
            <a:r>
              <a:rPr lang="en-US" sz="1000" dirty="0">
                <a:solidFill>
                  <a:srgbClr val="4472C4"/>
                </a:solidFill>
                <a:latin typeface="Arial" panose="020B0604020202090204" pitchFamily="34" charset="0"/>
                <a:ea typeface="Arial" panose="020B0604020202090204" pitchFamily="34" charset="-122"/>
                <a:cs typeface="Arial" panose="020B0604020202090204" pitchFamily="34" charset="-120"/>
              </a:rPr>
              <a:t>Proposal-level mean pairwise cosine distance; Mann-Whitney U + Cliff's δ + permutation tests</a:t>
            </a:r>
            <a:endParaRPr lang="en-US" sz="1000" dirty="0"/>
          </a:p>
        </p:txBody>
      </p:sp>
      <p:sp>
        <p:nvSpPr>
          <p:cNvPr id="10" name="Text 8"/>
          <p:cNvSpPr/>
          <p:nvPr/>
        </p:nvSpPr>
        <p:spPr>
          <a:xfrm>
            <a:off x="304800" y="812750"/>
            <a:ext cx="8534400" cy="25301"/>
          </a:xfrm>
          <a:prstGeom prst="rect">
            <a:avLst/>
          </a:prstGeom>
          <a:solidFill>
            <a:srgbClr val="4472C4"/>
          </a:solidFill>
        </p:spPr>
        <p:txBody>
          <a:bodyPr wrap="square" rtlCol="0" anchor="ctr"/>
          <a:lstStyle/>
          <a:p>
            <a:pPr marL="0" indent="0">
              <a:buNone/>
            </a:pPr>
            <a:endParaRPr lang="en-US" dirty="0"/>
          </a:p>
        </p:txBody>
      </p:sp>
      <p:sp>
        <p:nvSpPr>
          <p:cNvPr id="12" name="Text 10"/>
          <p:cNvSpPr/>
          <p:nvPr/>
        </p:nvSpPr>
        <p:spPr>
          <a:xfrm>
            <a:off x="142240" y="3957320"/>
            <a:ext cx="3754120" cy="810895"/>
          </a:xfrm>
          <a:prstGeom prst="roundRect">
            <a:avLst>
              <a:gd name="adj" fmla="val 9904"/>
            </a:avLst>
          </a:prstGeom>
          <a:solidFill>
            <a:srgbClr val="FFF4F4"/>
          </a:solidFill>
        </p:spPr>
        <p:txBody>
          <a:bodyPr wrap="square" rtlCol="0" anchor="ctr"/>
          <a:lstStyle/>
          <a:p>
            <a:pPr marL="0" indent="0">
              <a:buNone/>
            </a:pPr>
            <a:endParaRPr lang="en-US" dirty="0"/>
          </a:p>
        </p:txBody>
      </p:sp>
      <p:sp>
        <p:nvSpPr>
          <p:cNvPr id="13" name="Shape 11"/>
          <p:cNvSpPr/>
          <p:nvPr/>
        </p:nvSpPr>
        <p:spPr>
          <a:xfrm>
            <a:off x="142091" y="3957320"/>
            <a:ext cx="0" cy="641152"/>
          </a:xfrm>
          <a:prstGeom prst="line">
            <a:avLst/>
          </a:prstGeom>
          <a:noFill/>
          <a:ln w="38100">
            <a:solidFill>
              <a:srgbClr val="C00000"/>
            </a:solidFill>
            <a:prstDash val="solid"/>
          </a:ln>
        </p:spPr>
        <p:txBody>
          <a:bodyPr/>
          <a:p/>
        </p:txBody>
      </p:sp>
      <p:sp>
        <p:nvSpPr>
          <p:cNvPr id="14" name="Text 12"/>
          <p:cNvSpPr/>
          <p:nvPr/>
        </p:nvSpPr>
        <p:spPr>
          <a:xfrm>
            <a:off x="269240" y="4058920"/>
            <a:ext cx="3596005" cy="133350"/>
          </a:xfrm>
          <a:prstGeom prst="rect">
            <a:avLst/>
          </a:prstGeom>
          <a:noFill/>
        </p:spPr>
        <p:txBody>
          <a:bodyPr wrap="square" lIns="0" tIns="0" rIns="0" bIns="0" rtlCol="0" anchor="t"/>
          <a:lstStyle/>
          <a:p>
            <a:pPr marL="0" indent="0" algn="l">
              <a:spcAft>
                <a:spcPts val="300"/>
              </a:spcAft>
              <a:buNone/>
            </a:pPr>
            <a:r>
              <a:rPr lang="en-US" sz="950" b="1" dirty="0">
                <a:solidFill>
                  <a:srgbClr val="C00000"/>
                </a:solidFill>
                <a:latin typeface="Arial" panose="020B0604020202090204" pitchFamily="34" charset="0"/>
                <a:ea typeface="Arial" panose="020B0604020202090204" pitchFamily="34" charset="-122"/>
                <a:cs typeface="Arial" panose="020B0604020202090204" pitchFamily="34" charset="-120"/>
              </a:rPr>
              <a:t>Humans most diverse — reversal from baseline</a:t>
            </a:r>
            <a:endParaRPr lang="en-US" sz="950" dirty="0"/>
          </a:p>
        </p:txBody>
      </p:sp>
      <p:sp>
        <p:nvSpPr>
          <p:cNvPr id="15" name="Text 13"/>
          <p:cNvSpPr/>
          <p:nvPr/>
        </p:nvSpPr>
        <p:spPr>
          <a:xfrm>
            <a:off x="269240" y="4230370"/>
            <a:ext cx="3596005" cy="26670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Human mean pairwise distance = 0.443; All AI combined = 0.183. Cliff's δ = −0.768 (large effect), permutation p &lt; 0.001. Bootstrap 95% CI for mean diff: [−0.303, −0.211].</a:t>
            </a:r>
            <a:endParaRPr lang="en-US" sz="900" dirty="0"/>
          </a:p>
        </p:txBody>
      </p:sp>
      <p:sp>
        <p:nvSpPr>
          <p:cNvPr id="16" name="Text 14"/>
          <p:cNvSpPr/>
          <p:nvPr/>
        </p:nvSpPr>
        <p:spPr>
          <a:xfrm>
            <a:off x="3952240" y="3941445"/>
            <a:ext cx="3753485" cy="847725"/>
          </a:xfrm>
          <a:prstGeom prst="roundRect">
            <a:avLst>
              <a:gd name="adj" fmla="val 9904"/>
            </a:avLst>
          </a:prstGeom>
          <a:solidFill>
            <a:srgbClr val="FEF4EC"/>
          </a:solidFill>
        </p:spPr>
        <p:txBody>
          <a:bodyPr wrap="square" rtlCol="0" anchor="ctr"/>
          <a:lstStyle/>
          <a:p>
            <a:pPr marL="0" indent="0">
              <a:buNone/>
            </a:pPr>
            <a:endParaRPr lang="en-US" dirty="0"/>
          </a:p>
        </p:txBody>
      </p:sp>
      <p:sp>
        <p:nvSpPr>
          <p:cNvPr id="17" name="Shape 15"/>
          <p:cNvSpPr/>
          <p:nvPr/>
        </p:nvSpPr>
        <p:spPr>
          <a:xfrm>
            <a:off x="4008120" y="3941445"/>
            <a:ext cx="635" cy="641350"/>
          </a:xfrm>
          <a:prstGeom prst="line">
            <a:avLst/>
          </a:prstGeom>
          <a:noFill/>
          <a:ln w="38100">
            <a:solidFill>
              <a:srgbClr val="ED7D31"/>
            </a:solidFill>
            <a:prstDash val="solid"/>
          </a:ln>
        </p:spPr>
        <p:txBody>
          <a:bodyPr/>
          <a:p/>
        </p:txBody>
      </p:sp>
      <p:sp>
        <p:nvSpPr>
          <p:cNvPr id="18" name="Text 16"/>
          <p:cNvSpPr/>
          <p:nvPr/>
        </p:nvSpPr>
        <p:spPr>
          <a:xfrm>
            <a:off x="4117340" y="4042410"/>
            <a:ext cx="3596005" cy="133350"/>
          </a:xfrm>
          <a:prstGeom prst="rect">
            <a:avLst/>
          </a:prstGeom>
          <a:noFill/>
        </p:spPr>
        <p:txBody>
          <a:bodyPr wrap="square" lIns="0" tIns="0" rIns="0" bIns="0" rtlCol="0" anchor="t"/>
          <a:lstStyle/>
          <a:p>
            <a:pPr marL="0" indent="0" algn="l">
              <a:spcAft>
                <a:spcPts val="300"/>
              </a:spcAft>
              <a:buNone/>
            </a:pPr>
            <a:r>
              <a:rPr lang="en-US" sz="950" b="1" dirty="0">
                <a:solidFill>
                  <a:srgbClr val="C55A11"/>
                </a:solidFill>
                <a:latin typeface="Arial" panose="020B0604020202090204" pitchFamily="34" charset="0"/>
                <a:ea typeface="Arial" panose="020B0604020202090204" pitchFamily="34" charset="-122"/>
                <a:cs typeface="Arial" panose="020B0604020202090204" pitchFamily="34" charset="-120"/>
              </a:rPr>
              <a:t>Claude-Opus-4.5 is maximally homogeneous (mode collapse)</a:t>
            </a:r>
            <a:endParaRPr lang="en-US" sz="950" dirty="0"/>
          </a:p>
        </p:txBody>
      </p:sp>
      <p:sp>
        <p:nvSpPr>
          <p:cNvPr id="19" name="Text 17"/>
          <p:cNvSpPr/>
          <p:nvPr/>
        </p:nvSpPr>
        <p:spPr>
          <a:xfrm>
            <a:off x="4117340" y="4213860"/>
            <a:ext cx="3596005" cy="26670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Mean = 0.034; near-zero variance (Std = 0.007). Cliff's δ = −1.00, p &lt; 0.001. All Claude proposals occupy essentially the same point in embedding space.</a:t>
            </a:r>
            <a:endParaRPr lang="en-US" sz="900" dirty="0"/>
          </a:p>
        </p:txBody>
      </p:sp>
      <p:sp>
        <p:nvSpPr>
          <p:cNvPr id="20" name="Text 18"/>
          <p:cNvSpPr/>
          <p:nvPr/>
        </p:nvSpPr>
        <p:spPr>
          <a:xfrm>
            <a:off x="4038451" y="2374404"/>
            <a:ext cx="4800749" cy="641152"/>
          </a:xfrm>
          <a:prstGeom prst="roundRect">
            <a:avLst>
              <a:gd name="adj" fmla="val 9904"/>
            </a:avLst>
          </a:prstGeom>
          <a:solidFill>
            <a:srgbClr val="EEF2FA"/>
          </a:solidFill>
        </p:spPr>
        <p:txBody>
          <a:bodyPr wrap="square" rtlCol="0" anchor="ctr"/>
          <a:lstStyle/>
          <a:p>
            <a:pPr marL="0" indent="0">
              <a:buNone/>
            </a:pPr>
            <a:endParaRPr lang="en-US" dirty="0"/>
          </a:p>
        </p:txBody>
      </p:sp>
      <p:sp>
        <p:nvSpPr>
          <p:cNvPr id="21" name="Shape 19"/>
          <p:cNvSpPr/>
          <p:nvPr/>
        </p:nvSpPr>
        <p:spPr>
          <a:xfrm>
            <a:off x="4057501" y="2374404"/>
            <a:ext cx="0" cy="641152"/>
          </a:xfrm>
          <a:prstGeom prst="line">
            <a:avLst/>
          </a:prstGeom>
          <a:noFill/>
          <a:ln w="38100">
            <a:solidFill>
              <a:srgbClr val="4472C4"/>
            </a:solidFill>
            <a:prstDash val="solid"/>
          </a:ln>
        </p:spPr>
        <p:txBody>
          <a:bodyPr/>
          <a:p/>
        </p:txBody>
      </p:sp>
      <p:sp>
        <p:nvSpPr>
          <p:cNvPr id="22" name="Text 20"/>
          <p:cNvSpPr/>
          <p:nvPr/>
        </p:nvSpPr>
        <p:spPr>
          <a:xfrm>
            <a:off x="4203502" y="2475905"/>
            <a:ext cx="4598923" cy="133350"/>
          </a:xfrm>
          <a:prstGeom prst="rect">
            <a:avLst/>
          </a:prstGeom>
          <a:noFill/>
        </p:spPr>
        <p:txBody>
          <a:bodyPr wrap="square" lIns="0" tIns="0" rIns="0" bIns="0" rtlCol="0" anchor="t"/>
          <a:lstStyle/>
          <a:p>
            <a:pPr marL="0" indent="0" algn="l">
              <a:spcAft>
                <a:spcPts val="300"/>
              </a:spcAft>
              <a:buNone/>
            </a:pPr>
            <a:r>
              <a:rPr lang="en-US" sz="950" b="1" dirty="0">
                <a:solidFill>
                  <a:srgbClr val="4472C4"/>
                </a:solidFill>
                <a:latin typeface="Arial" panose="020B0604020202090204" pitchFamily="34" charset="0"/>
                <a:ea typeface="Arial" panose="020B0604020202090204" pitchFamily="34" charset="-122"/>
                <a:cs typeface="Arial" panose="020B0604020202090204" pitchFamily="34" charset="-120"/>
              </a:rPr>
              <a:t>GPT-5.2 and Gemini intermediate</a:t>
            </a:r>
            <a:endParaRPr lang="en-US" sz="950" dirty="0"/>
          </a:p>
        </p:txBody>
      </p:sp>
      <p:sp>
        <p:nvSpPr>
          <p:cNvPr id="23" name="Text 21"/>
          <p:cNvSpPr/>
          <p:nvPr/>
        </p:nvSpPr>
        <p:spPr>
          <a:xfrm>
            <a:off x="4203502" y="2647355"/>
            <a:ext cx="4598923" cy="26670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GPT-5.2 mean = 0.315 (Std = 0.159); Gemini mean = 0.151 (Std = 0.173). Both significantly less diverse than humans. Claude (mean = 0.034) shows the sharpest collapse.</a:t>
            </a:r>
            <a:endParaRPr lang="en-US" sz="900" dirty="0"/>
          </a:p>
        </p:txBody>
      </p:sp>
      <p:sp>
        <p:nvSpPr>
          <p:cNvPr id="24" name="Text 22"/>
          <p:cNvSpPr/>
          <p:nvPr/>
        </p:nvSpPr>
        <p:spPr>
          <a:xfrm>
            <a:off x="4038451" y="3104406"/>
            <a:ext cx="4800749" cy="514350"/>
          </a:xfrm>
          <a:prstGeom prst="roundRect">
            <a:avLst>
              <a:gd name="adj" fmla="val 9877"/>
            </a:avLst>
          </a:prstGeom>
          <a:solidFill>
            <a:srgbClr val="FFFBE6"/>
          </a:solidFill>
          <a:ln w="9525">
            <a:solidFill>
              <a:srgbClr val="FFC000"/>
            </a:solidFill>
          </a:ln>
        </p:spPr>
        <p:txBody>
          <a:bodyPr wrap="square" rtlCol="0" anchor="ctr"/>
          <a:lstStyle/>
          <a:p>
            <a:pPr marL="0" indent="0">
              <a:buNone/>
            </a:pPr>
            <a:endParaRPr lang="en-US" dirty="0"/>
          </a:p>
        </p:txBody>
      </p:sp>
      <p:sp>
        <p:nvSpPr>
          <p:cNvPr id="25" name="Text 23"/>
          <p:cNvSpPr/>
          <p:nvPr/>
        </p:nvSpPr>
        <p:spPr>
          <a:xfrm>
            <a:off x="4174927" y="3190131"/>
            <a:ext cx="4618354" cy="342900"/>
          </a:xfrm>
          <a:prstGeom prst="rect">
            <a:avLst/>
          </a:prstGeom>
          <a:noFill/>
        </p:spPr>
        <p:txBody>
          <a:bodyPr wrap="square" lIns="0" tIns="0" rIns="0" bIns="0" rtlCol="0" anchor="t"/>
          <a:lstStyle/>
          <a:p>
            <a:pPr marL="0" indent="0" algn="l">
              <a:buNone/>
            </a:pPr>
            <a:r>
              <a:rPr lang="en-US" sz="850" b="1" dirty="0">
                <a:solidFill>
                  <a:srgbClr val="444444"/>
                </a:solidFill>
                <a:latin typeface="Arial" panose="020B0604020202090204" pitchFamily="34" charset="0"/>
                <a:ea typeface="Arial" panose="020B0604020202090204" pitchFamily="34" charset="-122"/>
                <a:cs typeface="Arial" panose="020B0604020202090204" pitchFamily="34" charset="-120"/>
              </a:rPr>
              <a:t>Key difference from baseline:</a:t>
            </a:r>
            <a:r>
              <a:rPr lang="en-US" sz="850" dirty="0">
                <a:solidFill>
                  <a:srgbClr val="444444"/>
                </a:solidFill>
                <a:latin typeface="Arial" panose="020B0604020202090204" pitchFamily="34" charset="0"/>
                <a:ea typeface="Arial" panose="020B0604020202090204" pitchFamily="34" charset="-122"/>
                <a:cs typeface="Arial" panose="020B0604020202090204" pitchFamily="34" charset="-120"/>
              </a:rPr>
              <a:t> Baseline showed Claude &gt; Human in pairwise diversity (Cliff's δ = +1.00) and All AI &gt; Human. After rephrasing: Human &gt; GPT-5.2 &gt; Gemini &gt;&gt; Claude (near-zero). Style was entirely masking Claude's semantic homogeneity — Claude collapses to mode collapse after rephrasing.</a:t>
            </a:r>
            <a:endParaRPr lang="en-US" sz="850" dirty="0"/>
          </a:p>
        </p:txBody>
      </p:sp>
      <p:pic>
        <p:nvPicPr>
          <p:cNvPr id="28" name="Picture 27" descr="pairwise_diversity_by_model"/>
          <p:cNvPicPr>
            <a:picLocks noChangeAspect="1"/>
          </p:cNvPicPr>
          <p:nvPr/>
        </p:nvPicPr>
        <p:blipFill>
          <a:blip r:embed="rId1"/>
          <a:srcRect l="299" t="32753" r="-299" b="43247"/>
          <a:stretch>
            <a:fillRect/>
          </a:stretch>
        </p:blipFill>
        <p:spPr>
          <a:xfrm>
            <a:off x="304800" y="893445"/>
            <a:ext cx="5520690" cy="1234440"/>
          </a:xfrm>
          <a:prstGeom prst="rect">
            <a:avLst/>
          </a:prstGeom>
        </p:spPr>
      </p:pic>
      <p:pic>
        <p:nvPicPr>
          <p:cNvPr id="29" name="Picture 28" descr="pairwise_diversity_boxplot"/>
          <p:cNvPicPr>
            <a:picLocks noChangeAspect="1"/>
          </p:cNvPicPr>
          <p:nvPr/>
        </p:nvPicPr>
        <p:blipFill>
          <a:blip r:embed="rId2"/>
          <a:stretch>
            <a:fillRect/>
          </a:stretch>
        </p:blipFill>
        <p:spPr>
          <a:xfrm>
            <a:off x="406400" y="2028825"/>
            <a:ext cx="3269615" cy="179006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4472C4"/>
          </a:solidFill>
        </p:spPr>
        <p:txBody>
          <a:bodyPr wrap="square" rtlCol="0" anchor="ctr"/>
          <a:lstStyle/>
          <a:p>
            <a:pPr marL="0" indent="0">
              <a:buNone/>
            </a:pPr>
            <a:endParaRPr lang="en-US" dirty="0"/>
          </a:p>
        </p:txBody>
      </p:sp>
      <p:sp>
        <p:nvSpPr>
          <p:cNvPr id="3" name="Text 1"/>
          <p:cNvSpPr/>
          <p:nvPr/>
        </p:nvSpPr>
        <p:spPr>
          <a:xfrm>
            <a:off x="0" y="5067300"/>
            <a:ext cx="9144000" cy="76200"/>
          </a:xfrm>
          <a:prstGeom prst="rect">
            <a:avLst/>
          </a:prstGeom>
          <a:solidFill>
            <a:srgbClr val="44546A"/>
          </a:solidFill>
        </p:spPr>
        <p:txBody>
          <a:bodyPr wrap="square" rtlCol="0" anchor="ctr"/>
          <a:lstStyle/>
          <a:p>
            <a:pPr marL="0" indent="0">
              <a:buNone/>
            </a:pPr>
            <a:endParaRPr lang="en-US" dirty="0"/>
          </a:p>
        </p:txBody>
      </p:sp>
      <p:sp>
        <p:nvSpPr>
          <p:cNvPr id="4" name="Text 2"/>
          <p:cNvSpPr/>
          <p:nvPr/>
        </p:nvSpPr>
        <p:spPr>
          <a:xfrm>
            <a:off x="7112050" y="76200"/>
            <a:ext cx="2031950" cy="355550"/>
          </a:xfrm>
          <a:prstGeom prst="rect">
            <a:avLst/>
          </a:prstGeom>
          <a:solidFill>
            <a:srgbClr val="44546A"/>
          </a:solidFill>
        </p:spPr>
        <p:txBody>
          <a:bodyPr wrap="square" rtlCol="0" anchor="ctr"/>
          <a:lstStyle/>
          <a:p>
            <a:pPr marL="0" indent="0">
              <a:buNone/>
            </a:pPr>
            <a:endParaRPr lang="en-US" dirty="0"/>
          </a:p>
        </p:txBody>
      </p:sp>
      <p:sp>
        <p:nvSpPr>
          <p:cNvPr id="5" name="Text 3"/>
          <p:cNvSpPr/>
          <p:nvPr/>
        </p:nvSpPr>
        <p:spPr>
          <a:xfrm>
            <a:off x="7592467" y="187226"/>
            <a:ext cx="1092538" cy="133350"/>
          </a:xfrm>
          <a:prstGeom prst="rect">
            <a:avLst/>
          </a:prstGeom>
          <a:noFill/>
        </p:spPr>
        <p:txBody>
          <a:bodyPr wrap="square" lIns="0" tIns="0" rIns="0" bIns="0" rtlCol="0" anchor="t"/>
          <a:lstStyle/>
          <a:p>
            <a:pPr marL="0" indent="0" algn="l">
              <a:buNone/>
            </a:pPr>
            <a:r>
              <a:rPr lang="en-US" sz="900" b="1" dirty="0">
                <a:solidFill>
                  <a:srgbClr val="FFFFFF"/>
                </a:solidFill>
                <a:latin typeface="Arial" panose="020B0604020202090204" pitchFamily="34" charset="0"/>
                <a:ea typeface="Arial" panose="020B0604020202090204" pitchFamily="34" charset="-122"/>
                <a:cs typeface="Arial" panose="020B0604020202090204" pitchFamily="34" charset="-120"/>
              </a:rPr>
              <a:t>PART I · DIVERSITY</a:t>
            </a:r>
            <a:endParaRPr lang="en-US" sz="900" dirty="0"/>
          </a:p>
        </p:txBody>
      </p:sp>
      <p:sp>
        <p:nvSpPr>
          <p:cNvPr id="6" name="Text 4"/>
          <p:cNvSpPr/>
          <p:nvPr/>
        </p:nvSpPr>
        <p:spPr>
          <a:xfrm>
            <a:off x="304800" y="76200"/>
            <a:ext cx="1089273" cy="190500"/>
          </a:xfrm>
          <a:prstGeom prst="roundRect">
            <a:avLst>
              <a:gd name="adj" fmla="val 20000"/>
            </a:avLst>
          </a:prstGeom>
          <a:solidFill>
            <a:srgbClr val="4472C4"/>
          </a:solidFill>
        </p:spPr>
        <p:txBody>
          <a:bodyPr wrap="square" rtlCol="0" anchor="ctr"/>
          <a:lstStyle/>
          <a:p>
            <a:pPr marL="0" indent="0">
              <a:buNone/>
            </a:pPr>
            <a:endParaRPr lang="en-US" dirty="0"/>
          </a:p>
        </p:txBody>
      </p:sp>
      <p:sp>
        <p:nvSpPr>
          <p:cNvPr id="7" name="Text 5"/>
          <p:cNvSpPr/>
          <p:nvPr/>
        </p:nvSpPr>
        <p:spPr>
          <a:xfrm>
            <a:off x="406301" y="114300"/>
            <a:ext cx="903997" cy="114300"/>
          </a:xfrm>
          <a:prstGeom prst="rect">
            <a:avLst/>
          </a:prstGeom>
          <a:noFill/>
        </p:spPr>
        <p:txBody>
          <a:bodyPr wrap="square" lIns="0" tIns="0" rIns="0" bIns="0" rtlCol="0" anchor="t"/>
          <a:lstStyle/>
          <a:p>
            <a:pPr marL="0" indent="0" algn="l">
              <a:buNone/>
            </a:pPr>
            <a:r>
              <a:rPr lang="en-US" sz="800" b="1" dirty="0">
                <a:solidFill>
                  <a:srgbClr val="FFFFFF"/>
                </a:solidFill>
                <a:latin typeface="Arial" panose="020B0604020202090204" pitchFamily="34" charset="0"/>
                <a:ea typeface="Arial" panose="020B0604020202090204" pitchFamily="34" charset="-122"/>
                <a:cs typeface="Arial" panose="020B0604020202090204" pitchFamily="34" charset="-120"/>
              </a:rPr>
              <a:t>Analyses 1.2 &amp; 1.3</a:t>
            </a:r>
            <a:endParaRPr lang="en-US" sz="800" dirty="0"/>
          </a:p>
        </p:txBody>
      </p:sp>
      <p:sp>
        <p:nvSpPr>
          <p:cNvPr id="8" name="Text 6"/>
          <p:cNvSpPr/>
          <p:nvPr/>
        </p:nvSpPr>
        <p:spPr>
          <a:xfrm>
            <a:off x="304800" y="381000"/>
            <a:ext cx="7124649" cy="266700"/>
          </a:xfrm>
          <a:prstGeom prst="rect">
            <a:avLst/>
          </a:prstGeom>
          <a:noFill/>
        </p:spPr>
        <p:txBody>
          <a:bodyPr wrap="square" lIns="0" tIns="0" rIns="0" bIns="0" rtlCol="0" anchor="t"/>
          <a:lstStyle/>
          <a:p>
            <a:pPr marL="0" indent="0" algn="l">
              <a:buNone/>
            </a:pPr>
            <a:r>
              <a:rPr lang="en-US" sz="1800" b="1" dirty="0">
                <a:solidFill>
                  <a:srgbClr val="44546A"/>
                </a:solidFill>
                <a:latin typeface="Arial" panose="020B0604020202090204" pitchFamily="34" charset="0"/>
                <a:ea typeface="Arial" panose="020B0604020202090204" pitchFamily="34" charset="-122"/>
                <a:cs typeface="Arial" panose="020B0604020202090204" pitchFamily="34" charset="-120"/>
              </a:rPr>
              <a:t>Centroid Dispersion &amp; Nearest-Neighbor Analysis</a:t>
            </a:r>
            <a:endParaRPr lang="en-US" sz="1800" dirty="0"/>
          </a:p>
        </p:txBody>
      </p:sp>
      <p:sp>
        <p:nvSpPr>
          <p:cNvPr id="9" name="Text 7"/>
          <p:cNvSpPr/>
          <p:nvPr/>
        </p:nvSpPr>
        <p:spPr>
          <a:xfrm>
            <a:off x="304800" y="673001"/>
            <a:ext cx="7124649" cy="142875"/>
          </a:xfrm>
          <a:prstGeom prst="rect">
            <a:avLst/>
          </a:prstGeom>
          <a:noFill/>
        </p:spPr>
        <p:txBody>
          <a:bodyPr wrap="square" lIns="0" tIns="0" rIns="0" bIns="0" rtlCol="0" anchor="t"/>
          <a:lstStyle/>
          <a:p>
            <a:pPr marL="0" indent="0" algn="l">
              <a:spcBef>
                <a:spcPts val="200"/>
              </a:spcBef>
              <a:buNone/>
            </a:pPr>
            <a:r>
              <a:rPr lang="en-US" sz="1000" dirty="0">
                <a:solidFill>
                  <a:srgbClr val="4472C4"/>
                </a:solidFill>
                <a:latin typeface="Arial" panose="020B0604020202090204" pitchFamily="34" charset="0"/>
                <a:ea typeface="Arial" panose="020B0604020202090204" pitchFamily="34" charset="-122"/>
                <a:cs typeface="Arial" panose="020B0604020202090204" pitchFamily="34" charset="-120"/>
              </a:rPr>
              <a:t>Distance to group centroid and outlier detection across 92 proposals in combined space</a:t>
            </a:r>
            <a:endParaRPr lang="en-US" sz="1000" dirty="0"/>
          </a:p>
        </p:txBody>
      </p:sp>
      <p:sp>
        <p:nvSpPr>
          <p:cNvPr id="10" name="Text 8"/>
          <p:cNvSpPr/>
          <p:nvPr/>
        </p:nvSpPr>
        <p:spPr>
          <a:xfrm>
            <a:off x="304800" y="812750"/>
            <a:ext cx="8534400" cy="25301"/>
          </a:xfrm>
          <a:prstGeom prst="rect">
            <a:avLst/>
          </a:prstGeom>
          <a:solidFill>
            <a:srgbClr val="4472C4"/>
          </a:solidFill>
        </p:spPr>
        <p:txBody>
          <a:bodyPr wrap="square" rtlCol="0" anchor="ctr"/>
          <a:lstStyle/>
          <a:p>
            <a:pPr marL="0" indent="0">
              <a:buNone/>
            </a:pPr>
            <a:endParaRPr lang="en-US" dirty="0"/>
          </a:p>
        </p:txBody>
      </p:sp>
      <p:sp>
        <p:nvSpPr>
          <p:cNvPr id="11" name="Text 9"/>
          <p:cNvSpPr/>
          <p:nvPr/>
        </p:nvSpPr>
        <p:spPr>
          <a:xfrm>
            <a:off x="866141" y="3847366"/>
            <a:ext cx="2590699" cy="228600"/>
          </a:xfrm>
          <a:prstGeom prst="rect">
            <a:avLst/>
          </a:prstGeom>
          <a:noFill/>
        </p:spPr>
        <p:txBody>
          <a:bodyPr wrap="square" lIns="0" tIns="0" rIns="0" bIns="0" rtlCol="0" anchor="t"/>
          <a:lstStyle/>
          <a:p>
            <a:pPr marL="0" indent="0" algn="ctr">
              <a:spcBef>
                <a:spcPts val="300"/>
              </a:spcBef>
              <a:buNone/>
            </a:pPr>
            <a:r>
              <a:rPr lang="en-US" sz="800" dirty="0">
                <a:solidFill>
                  <a:srgbClr val="666666"/>
                </a:solidFill>
                <a:latin typeface="Arial" panose="020B0604020202090204" pitchFamily="34" charset="0"/>
                <a:ea typeface="Arial" panose="020B0604020202090204" pitchFamily="34" charset="-122"/>
                <a:cs typeface="Arial" panose="020B0604020202090204" pitchFamily="34" charset="-120"/>
              </a:rPr>
              <a:t>Centroid dispersion by model. Larger = more spread from center.</a:t>
            </a:r>
            <a:endParaRPr lang="en-US" sz="800" dirty="0"/>
          </a:p>
        </p:txBody>
      </p:sp>
      <p:sp>
        <p:nvSpPr>
          <p:cNvPr id="30" name="Text 28"/>
          <p:cNvSpPr/>
          <p:nvPr/>
        </p:nvSpPr>
        <p:spPr>
          <a:xfrm>
            <a:off x="5740003" y="1015901"/>
            <a:ext cx="3161181" cy="133350"/>
          </a:xfrm>
          <a:prstGeom prst="rect">
            <a:avLst/>
          </a:prstGeom>
          <a:noFill/>
        </p:spPr>
        <p:txBody>
          <a:bodyPr wrap="square" lIns="0" tIns="0" rIns="0" bIns="0" rtlCol="0" anchor="t"/>
          <a:lstStyle/>
          <a:p>
            <a:pPr marL="0" indent="0" algn="l">
              <a:spcBef>
                <a:spcPts val="800"/>
              </a:spcBef>
              <a:spcAft>
                <a:spcPts val="400"/>
              </a:spcAft>
              <a:buNone/>
            </a:pPr>
            <a:r>
              <a:rPr lang="en-US" sz="900" b="1" dirty="0">
                <a:solidFill>
                  <a:srgbClr val="44546A"/>
                </a:solidFill>
                <a:latin typeface="Arial" panose="020B0604020202090204" pitchFamily="34" charset="0"/>
                <a:ea typeface="Arial" panose="020B0604020202090204" pitchFamily="34" charset="-122"/>
                <a:cs typeface="Arial" panose="020B0604020202090204" pitchFamily="34" charset="-120"/>
              </a:rPr>
              <a:t>Key Findings — Centroid Dispersion</a:t>
            </a:r>
            <a:endParaRPr lang="en-US" sz="900" dirty="0"/>
          </a:p>
        </p:txBody>
      </p:sp>
      <p:sp>
        <p:nvSpPr>
          <p:cNvPr id="31" name="Text 29"/>
          <p:cNvSpPr/>
          <p:nvPr/>
        </p:nvSpPr>
        <p:spPr>
          <a:xfrm>
            <a:off x="5740003" y="1200001"/>
            <a:ext cx="3099197" cy="876300"/>
          </a:xfrm>
          <a:prstGeom prst="rect">
            <a:avLst/>
          </a:prstGeom>
          <a:noFill/>
        </p:spPr>
        <p:txBody>
          <a:bodyPr wrap="square" lIns="88900" tIns="0" rIns="0" bIns="0" rtlCol="0" anchor="t"/>
          <a:lstStyle/>
          <a:p>
            <a:pPr marL="88900" indent="-88900" algn="l">
              <a:spcAft>
                <a:spcPts val="300"/>
              </a:spcAft>
              <a:buSzPct val="100000"/>
              <a:buChar char="•"/>
            </a:pPr>
            <a:r>
              <a:rPr lang="en-US" sz="900" dirty="0">
                <a:solidFill>
                  <a:srgbClr val="333333"/>
                </a:solidFill>
                <a:latin typeface="Arial" panose="020B0604020202090204" pitchFamily="34" charset="0"/>
                <a:ea typeface="Arial" panose="020B0604020202090204" pitchFamily="34" charset="-122"/>
                <a:cs typeface="Arial" panose="020B0604020202090204" pitchFamily="34" charset="-120"/>
              </a:rPr>
              <a:t>Human proposals are the most dispersed from their centroid (Mean = 0.241), consistent with pairwise results.</a:t>
            </a:r>
            <a:endParaRPr lang="en-US" sz="900" dirty="0"/>
          </a:p>
          <a:p>
            <a:pPr marL="88900" indent="-88900" algn="l">
              <a:spcAft>
                <a:spcPts val="300"/>
              </a:spcAft>
              <a:buSzPct val="100000"/>
              <a:buChar char="•"/>
            </a:pPr>
            <a:r>
              <a:rPr lang="en-US" sz="900" dirty="0">
                <a:solidFill>
                  <a:srgbClr val="333333"/>
                </a:solidFill>
                <a:latin typeface="Arial" panose="020B0604020202090204" pitchFamily="34" charset="0"/>
                <a:ea typeface="Arial" panose="020B0604020202090204" pitchFamily="34" charset="-122"/>
                <a:cs typeface="Arial" panose="020B0604020202090204" pitchFamily="34" charset="-120"/>
              </a:rPr>
              <a:t>All AI models are significantly less dispersed than humans (large effects, p &lt; 0.001).</a:t>
            </a:r>
            <a:endParaRPr lang="en-US" sz="900" dirty="0"/>
          </a:p>
          <a:p>
            <a:pPr marL="88900" indent="-88900" algn="l">
              <a:spcAft>
                <a:spcPts val="300"/>
              </a:spcAft>
              <a:buSzPct val="100000"/>
              <a:buChar char="•"/>
            </a:pPr>
            <a:r>
              <a:rPr lang="en-US" sz="900" dirty="0">
                <a:solidFill>
                  <a:srgbClr val="333333"/>
                </a:solidFill>
                <a:latin typeface="Arial" panose="020B0604020202090204" pitchFamily="34" charset="0"/>
                <a:ea typeface="Arial" panose="020B0604020202090204" pitchFamily="34" charset="-122"/>
                <a:cs typeface="Arial" panose="020B0604020202090204" pitchFamily="34" charset="-120"/>
              </a:rPr>
              <a:t>Claude-Opus-4.5 is essentially a single point (Mean = 0.016, Std = 0.004) — consistent mode collapse across pairwise, centroid, and NN analyses.</a:t>
            </a:r>
            <a:endParaRPr lang="en-US" sz="900" dirty="0"/>
          </a:p>
        </p:txBody>
      </p:sp>
      <p:sp>
        <p:nvSpPr>
          <p:cNvPr id="32" name="Text 30"/>
          <p:cNvSpPr/>
          <p:nvPr/>
        </p:nvSpPr>
        <p:spPr>
          <a:xfrm>
            <a:off x="5740003" y="2177802"/>
            <a:ext cx="3161181" cy="133350"/>
          </a:xfrm>
          <a:prstGeom prst="rect">
            <a:avLst/>
          </a:prstGeom>
          <a:noFill/>
        </p:spPr>
        <p:txBody>
          <a:bodyPr wrap="square" lIns="0" tIns="0" rIns="0" bIns="0" rtlCol="0" anchor="t"/>
          <a:lstStyle/>
          <a:p>
            <a:pPr marL="0" indent="0" algn="l">
              <a:spcBef>
                <a:spcPts val="800"/>
              </a:spcBef>
              <a:spcAft>
                <a:spcPts val="400"/>
              </a:spcAft>
              <a:buNone/>
            </a:pPr>
            <a:r>
              <a:rPr lang="en-US" sz="900" b="1" dirty="0">
                <a:solidFill>
                  <a:srgbClr val="44546A"/>
                </a:solidFill>
                <a:latin typeface="Arial" panose="020B0604020202090204" pitchFamily="34" charset="0"/>
                <a:ea typeface="Arial" panose="020B0604020202090204" pitchFamily="34" charset="-122"/>
                <a:cs typeface="Arial" panose="020B0604020202090204" pitchFamily="34" charset="-120"/>
              </a:rPr>
              <a:t>Key Findings — Nearest-Neighbor</a:t>
            </a:r>
            <a:endParaRPr lang="en-US" sz="900" dirty="0"/>
          </a:p>
        </p:txBody>
      </p:sp>
      <p:sp>
        <p:nvSpPr>
          <p:cNvPr id="33" name="Text 31"/>
          <p:cNvSpPr/>
          <p:nvPr/>
        </p:nvSpPr>
        <p:spPr>
          <a:xfrm>
            <a:off x="5740003" y="2361902"/>
            <a:ext cx="3099197" cy="1009650"/>
          </a:xfrm>
          <a:prstGeom prst="rect">
            <a:avLst/>
          </a:prstGeom>
          <a:noFill/>
        </p:spPr>
        <p:txBody>
          <a:bodyPr wrap="square" lIns="88900" tIns="0" rIns="0" bIns="0" rtlCol="0" anchor="t"/>
          <a:lstStyle/>
          <a:p>
            <a:pPr marL="88900" indent="-88900" algn="l">
              <a:spcAft>
                <a:spcPts val="300"/>
              </a:spcAft>
              <a:buSzPct val="100000"/>
              <a:buChar char="•"/>
            </a:pPr>
            <a:r>
              <a:rPr lang="en-US" sz="900" dirty="0">
                <a:solidFill>
                  <a:srgbClr val="333333"/>
                </a:solidFill>
                <a:latin typeface="Arial" panose="020B0604020202090204" pitchFamily="34" charset="0"/>
                <a:ea typeface="Arial" panose="020B0604020202090204" pitchFamily="34" charset="-122"/>
                <a:cs typeface="Arial" panose="020B0604020202090204" pitchFamily="34" charset="-120"/>
              </a:rPr>
              <a:t>Human proposals have highest mean NN distance (0.074) and highest outlier rate (30.4%; 7 of 23 proposals).</a:t>
            </a:r>
            <a:endParaRPr lang="en-US" sz="900" dirty="0"/>
          </a:p>
          <a:p>
            <a:pPr marL="88900" indent="-88900" algn="l">
              <a:spcAft>
                <a:spcPts val="300"/>
              </a:spcAft>
              <a:buSzPct val="100000"/>
              <a:buChar char="•"/>
            </a:pPr>
            <a:r>
              <a:rPr lang="en-US" sz="900" dirty="0">
                <a:solidFill>
                  <a:srgbClr val="333333"/>
                </a:solidFill>
                <a:latin typeface="Arial" panose="020B0604020202090204" pitchFamily="34" charset="0"/>
                <a:ea typeface="Arial" panose="020B0604020202090204" pitchFamily="34" charset="-122"/>
                <a:cs typeface="Arial" panose="020B0604020202090204" pitchFamily="34" charset="-120"/>
              </a:rPr>
              <a:t>87.0% of AI proposals have their nearest neighbor from within the AI group — semantic source-segregation persists after rephrasing.</a:t>
            </a:r>
            <a:endParaRPr lang="en-US" sz="900" dirty="0"/>
          </a:p>
          <a:p>
            <a:pPr marL="88900" indent="-88900" algn="l">
              <a:spcAft>
                <a:spcPts val="300"/>
              </a:spcAft>
              <a:buSzPct val="100000"/>
              <a:buChar char="•"/>
            </a:pPr>
            <a:r>
              <a:rPr lang="en-US" sz="900" dirty="0">
                <a:solidFill>
                  <a:srgbClr val="333333"/>
                </a:solidFill>
                <a:latin typeface="Arial" panose="020B0604020202090204" pitchFamily="34" charset="0"/>
                <a:ea typeface="Arial" panose="020B0604020202090204" pitchFamily="34" charset="-122"/>
                <a:cs typeface="Arial" panose="020B0604020202090204" pitchFamily="34" charset="-120"/>
              </a:rPr>
              <a:t>Claude-Opus-4.5 = 0 outliers; 82.6% of its NNs are other Claude proposals — highest same-model NN rate of any group.</a:t>
            </a:r>
            <a:endParaRPr lang="en-US" sz="900" dirty="0"/>
          </a:p>
        </p:txBody>
      </p:sp>
      <p:sp>
        <p:nvSpPr>
          <p:cNvPr id="34" name="Text 32"/>
          <p:cNvSpPr/>
          <p:nvPr/>
        </p:nvSpPr>
        <p:spPr>
          <a:xfrm>
            <a:off x="5739765" y="3472815"/>
            <a:ext cx="3099435" cy="772160"/>
          </a:xfrm>
          <a:prstGeom prst="roundRect">
            <a:avLst>
              <a:gd name="adj" fmla="val 6062"/>
            </a:avLst>
          </a:prstGeom>
          <a:solidFill>
            <a:srgbClr val="FFFBE6"/>
          </a:solidFill>
          <a:ln w="9525">
            <a:solidFill>
              <a:srgbClr val="FFC000"/>
            </a:solidFill>
          </a:ln>
        </p:spPr>
        <p:txBody>
          <a:bodyPr wrap="square" rtlCol="0" anchor="ctr"/>
          <a:lstStyle/>
          <a:p>
            <a:pPr marL="0" indent="0">
              <a:buNone/>
            </a:pPr>
            <a:endParaRPr lang="en-US" dirty="0"/>
          </a:p>
        </p:txBody>
      </p:sp>
      <p:sp>
        <p:nvSpPr>
          <p:cNvPr id="35" name="Text 33"/>
          <p:cNvSpPr/>
          <p:nvPr/>
        </p:nvSpPr>
        <p:spPr>
          <a:xfrm>
            <a:off x="5851029" y="3584079"/>
            <a:ext cx="2934688" cy="457200"/>
          </a:xfrm>
          <a:prstGeom prst="rect">
            <a:avLst/>
          </a:prstGeom>
          <a:noFill/>
        </p:spPr>
        <p:txBody>
          <a:bodyPr wrap="square" lIns="0" tIns="0" rIns="0" bIns="0" rtlCol="0" anchor="t"/>
          <a:lstStyle/>
          <a:p>
            <a:pPr marL="0" indent="0" algn="l">
              <a:spcBef>
                <a:spcPts val="400"/>
              </a:spcBef>
              <a:buNone/>
            </a:pPr>
            <a:r>
              <a:rPr lang="en-US" sz="850" b="1" dirty="0">
                <a:solidFill>
                  <a:srgbClr val="555555"/>
                </a:solidFill>
                <a:latin typeface="Arial" panose="020B0604020202090204" pitchFamily="34" charset="0"/>
                <a:ea typeface="Arial" panose="020B0604020202090204" pitchFamily="34" charset="-122"/>
                <a:cs typeface="Arial" panose="020B0604020202090204" pitchFamily="34" charset="-120"/>
              </a:rPr>
              <a:t>Vs. baseline:</a:t>
            </a:r>
            <a:r>
              <a:rPr lang="en-US" sz="850" dirty="0">
                <a:solidFill>
                  <a:srgbClr val="555555"/>
                </a:solidFill>
                <a:latin typeface="Arial" panose="020B0604020202090204" pitchFamily="34" charset="0"/>
                <a:ea typeface="Arial" panose="020B0604020202090204" pitchFamily="34" charset="-122"/>
                <a:cs typeface="Arial" panose="020B0604020202090204" pitchFamily="34" charset="-120"/>
              </a:rPr>
              <a:t> Pattern is consistent with centroid analysis: Human &gt; GPT-5.2 &gt; Gemini &gt;&gt; Claude-Opus-4.5. AI same-group NN rate (87.0%) suggests conceptual, not just stylistic, source clustering.</a:t>
            </a:r>
            <a:endParaRPr lang="en-US" sz="850" dirty="0"/>
          </a:p>
        </p:txBody>
      </p:sp>
      <p:pic>
        <p:nvPicPr>
          <p:cNvPr id="38" name="Picture 37" descr="centroid_dispersion_by_model"/>
          <p:cNvPicPr>
            <a:picLocks noChangeAspect="1"/>
          </p:cNvPicPr>
          <p:nvPr/>
        </p:nvPicPr>
        <p:blipFill>
          <a:blip r:embed="rId1"/>
          <a:srcRect r="49632"/>
          <a:stretch>
            <a:fillRect/>
          </a:stretch>
        </p:blipFill>
        <p:spPr>
          <a:xfrm>
            <a:off x="304800" y="979805"/>
            <a:ext cx="4418330" cy="32435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9" name="Picture 38" descr="nearest_neighbor_by_model"/>
          <p:cNvPicPr>
            <a:picLocks noChangeAspect="1"/>
          </p:cNvPicPr>
          <p:nvPr/>
        </p:nvPicPr>
        <p:blipFill>
          <a:blip r:embed="rId1"/>
          <a:stretch>
            <a:fillRect/>
          </a:stretch>
        </p:blipFill>
        <p:spPr>
          <a:xfrm>
            <a:off x="231775" y="975360"/>
            <a:ext cx="7249160" cy="2529840"/>
          </a:xfrm>
          <a:prstGeom prst="rect">
            <a:avLst/>
          </a:prstGeom>
        </p:spPr>
      </p:pic>
      <p:sp>
        <p:nvSpPr>
          <p:cNvPr id="2" name="Text 11"/>
          <p:cNvSpPr/>
          <p:nvPr/>
        </p:nvSpPr>
        <p:spPr>
          <a:xfrm>
            <a:off x="1679377" y="3612952"/>
            <a:ext cx="2590699" cy="133350"/>
          </a:xfrm>
          <a:prstGeom prst="rect">
            <a:avLst/>
          </a:prstGeom>
          <a:noFill/>
        </p:spPr>
        <p:txBody>
          <a:bodyPr wrap="square" lIns="0" tIns="0" rIns="0" bIns="0" rtlCol="0" anchor="t"/>
          <a:lstStyle/>
          <a:p>
            <a:pPr marL="0" indent="0" algn="l">
              <a:spcBef>
                <a:spcPts val="800"/>
              </a:spcBef>
              <a:spcAft>
                <a:spcPts val="400"/>
              </a:spcAft>
              <a:buNone/>
            </a:pPr>
            <a:r>
              <a:rPr lang="en-US" sz="900" b="1" dirty="0">
                <a:solidFill>
                  <a:srgbClr val="44546A"/>
                </a:solidFill>
                <a:latin typeface="Arial" panose="020B0604020202090204" pitchFamily="34" charset="0"/>
                <a:ea typeface="Arial" panose="020B0604020202090204" pitchFamily="34" charset="-122"/>
                <a:cs typeface="Arial" panose="020B0604020202090204" pitchFamily="34" charset="-120"/>
              </a:rPr>
              <a:t>NN Group Membership</a:t>
            </a:r>
            <a:endParaRPr lang="en-US" sz="900" dirty="0"/>
          </a:p>
        </p:txBody>
      </p:sp>
      <p:sp>
        <p:nvSpPr>
          <p:cNvPr id="3" name="Text 12"/>
          <p:cNvSpPr/>
          <p:nvPr/>
        </p:nvSpPr>
        <p:spPr>
          <a:xfrm>
            <a:off x="993577" y="3824992"/>
            <a:ext cx="1428452" cy="485626"/>
          </a:xfrm>
          <a:prstGeom prst="roundRect">
            <a:avLst>
              <a:gd name="adj" fmla="val 10461"/>
            </a:avLst>
          </a:prstGeom>
          <a:solidFill>
            <a:srgbClr val="FFF4F4"/>
          </a:solidFill>
          <a:ln w="9525">
            <a:solidFill>
              <a:srgbClr val="C00000"/>
            </a:solidFill>
          </a:ln>
        </p:spPr>
        <p:txBody>
          <a:bodyPr wrap="square" rtlCol="0" anchor="ctr"/>
          <a:lstStyle/>
          <a:p>
            <a:pPr marL="0" indent="0">
              <a:buNone/>
            </a:pPr>
            <a:endParaRPr lang="en-US" dirty="0"/>
          </a:p>
        </p:txBody>
      </p:sp>
      <p:sp>
        <p:nvSpPr>
          <p:cNvPr id="4" name="Text 13"/>
          <p:cNvSpPr/>
          <p:nvPr/>
        </p:nvSpPr>
        <p:spPr>
          <a:xfrm>
            <a:off x="1104602" y="3885267"/>
            <a:ext cx="1230529" cy="114300"/>
          </a:xfrm>
          <a:prstGeom prst="rect">
            <a:avLst/>
          </a:prstGeom>
          <a:noFill/>
        </p:spPr>
        <p:txBody>
          <a:bodyPr wrap="square" lIns="0" tIns="0" rIns="0" bIns="0" rtlCol="0" anchor="t"/>
          <a:lstStyle/>
          <a:p>
            <a:pPr marL="0" indent="0" algn="l">
              <a:spcAft>
                <a:spcPts val="100"/>
              </a:spcAft>
              <a:buNone/>
            </a:pPr>
            <a:r>
              <a:rPr lang="en-US" sz="850" b="1" dirty="0">
                <a:solidFill>
                  <a:srgbClr val="C00000"/>
                </a:solidFill>
                <a:latin typeface="Arial" panose="020B0604020202090204" pitchFamily="34" charset="0"/>
                <a:ea typeface="Arial" panose="020B0604020202090204" pitchFamily="34" charset="-122"/>
                <a:cs typeface="Arial" panose="020B0604020202090204" pitchFamily="34" charset="-120"/>
              </a:rPr>
              <a:t>Human</a:t>
            </a:r>
            <a:endParaRPr lang="en-US" sz="850" dirty="0"/>
          </a:p>
        </p:txBody>
      </p:sp>
      <p:sp>
        <p:nvSpPr>
          <p:cNvPr id="5" name="Text 14"/>
          <p:cNvSpPr/>
          <p:nvPr/>
        </p:nvSpPr>
        <p:spPr>
          <a:xfrm>
            <a:off x="1104602" y="4012218"/>
            <a:ext cx="1230529" cy="133350"/>
          </a:xfrm>
          <a:prstGeom prst="rect">
            <a:avLst/>
          </a:prstGeom>
          <a:noFill/>
        </p:spPr>
        <p:txBody>
          <a:bodyPr wrap="square" lIns="0" tIns="0" rIns="0" bIns="0" rtlCol="0" anchor="t"/>
          <a:lstStyle/>
          <a:p>
            <a:pPr marL="0" indent="0" algn="l">
              <a:buNone/>
            </a:pPr>
            <a:r>
              <a:rPr lang="en-US" sz="900" b="1" dirty="0">
                <a:solidFill>
                  <a:srgbClr val="000000"/>
                </a:solidFill>
                <a:latin typeface="Arial" panose="020B0604020202090204" pitchFamily="34" charset="0"/>
                <a:ea typeface="Arial" panose="020B0604020202090204" pitchFamily="34" charset="-122"/>
                <a:cs typeface="Arial" panose="020B0604020202090204" pitchFamily="34" charset="-120"/>
              </a:rPr>
              <a:t>30.4% outliers</a:t>
            </a:r>
            <a:endParaRPr lang="en-US" sz="900" dirty="0"/>
          </a:p>
        </p:txBody>
      </p:sp>
      <p:sp>
        <p:nvSpPr>
          <p:cNvPr id="6" name="Text 15"/>
          <p:cNvSpPr/>
          <p:nvPr/>
        </p:nvSpPr>
        <p:spPr>
          <a:xfrm>
            <a:off x="1104602" y="4145568"/>
            <a:ext cx="1230529" cy="104775"/>
          </a:xfrm>
          <a:prstGeom prst="rect">
            <a:avLst/>
          </a:prstGeom>
          <a:noFill/>
        </p:spPr>
        <p:txBody>
          <a:bodyPr wrap="square" lIns="0" tIns="0" rIns="0" bIns="0" rtlCol="0" anchor="t"/>
          <a:lstStyle/>
          <a:p>
            <a:pPr marL="0" indent="0" algn="l">
              <a:buNone/>
            </a:pPr>
            <a:r>
              <a:rPr lang="en-US" sz="750" dirty="0">
                <a:solidFill>
                  <a:srgbClr val="555555"/>
                </a:solidFill>
                <a:latin typeface="Arial" panose="020B0604020202090204" pitchFamily="34" charset="0"/>
                <a:ea typeface="Arial" panose="020B0604020202090204" pitchFamily="34" charset="-122"/>
                <a:cs typeface="Arial" panose="020B0604020202090204" pitchFamily="34" charset="-120"/>
              </a:rPr>
              <a:t>69.6% NN from AI</a:t>
            </a:r>
            <a:endParaRPr lang="en-US" sz="750" dirty="0"/>
          </a:p>
        </p:txBody>
      </p:sp>
      <p:sp>
        <p:nvSpPr>
          <p:cNvPr id="7" name="Text 16"/>
          <p:cNvSpPr/>
          <p:nvPr/>
        </p:nvSpPr>
        <p:spPr>
          <a:xfrm>
            <a:off x="2532817" y="3819664"/>
            <a:ext cx="1428452" cy="485626"/>
          </a:xfrm>
          <a:prstGeom prst="roundRect">
            <a:avLst>
              <a:gd name="adj" fmla="val 10461"/>
            </a:avLst>
          </a:prstGeom>
          <a:solidFill>
            <a:srgbClr val="EEF2FA"/>
          </a:solidFill>
          <a:ln w="9525">
            <a:solidFill>
              <a:srgbClr val="4472C4"/>
            </a:solidFill>
          </a:ln>
        </p:spPr>
        <p:txBody>
          <a:bodyPr wrap="square" rtlCol="0" anchor="ctr"/>
          <a:lstStyle/>
          <a:p>
            <a:pPr marL="0" indent="0">
              <a:buNone/>
            </a:pPr>
            <a:endParaRPr lang="en-US" dirty="0"/>
          </a:p>
        </p:txBody>
      </p:sp>
      <p:sp>
        <p:nvSpPr>
          <p:cNvPr id="8" name="Text 17"/>
          <p:cNvSpPr/>
          <p:nvPr/>
        </p:nvSpPr>
        <p:spPr>
          <a:xfrm>
            <a:off x="2643842" y="3879939"/>
            <a:ext cx="1230529" cy="114300"/>
          </a:xfrm>
          <a:prstGeom prst="rect">
            <a:avLst/>
          </a:prstGeom>
          <a:noFill/>
        </p:spPr>
        <p:txBody>
          <a:bodyPr wrap="square" lIns="0" tIns="0" rIns="0" bIns="0" rtlCol="0" anchor="t"/>
          <a:lstStyle/>
          <a:p>
            <a:pPr marL="0" indent="0" algn="l">
              <a:spcAft>
                <a:spcPts val="100"/>
              </a:spcAft>
              <a:buNone/>
            </a:pPr>
            <a:r>
              <a:rPr lang="en-US" sz="850" b="1" dirty="0">
                <a:solidFill>
                  <a:srgbClr val="4472C4"/>
                </a:solidFill>
                <a:latin typeface="Arial" panose="020B0604020202090204" pitchFamily="34" charset="0"/>
                <a:ea typeface="Arial" panose="020B0604020202090204" pitchFamily="34" charset="-122"/>
                <a:cs typeface="Arial" panose="020B0604020202090204" pitchFamily="34" charset="-120"/>
              </a:rPr>
              <a:t>Claude</a:t>
            </a:r>
            <a:endParaRPr lang="en-US" sz="850" dirty="0"/>
          </a:p>
        </p:txBody>
      </p:sp>
      <p:sp>
        <p:nvSpPr>
          <p:cNvPr id="9" name="Text 18"/>
          <p:cNvSpPr/>
          <p:nvPr/>
        </p:nvSpPr>
        <p:spPr>
          <a:xfrm>
            <a:off x="2643842" y="4006890"/>
            <a:ext cx="1230529" cy="133350"/>
          </a:xfrm>
          <a:prstGeom prst="rect">
            <a:avLst/>
          </a:prstGeom>
          <a:noFill/>
        </p:spPr>
        <p:txBody>
          <a:bodyPr wrap="square" lIns="0" tIns="0" rIns="0" bIns="0" rtlCol="0" anchor="t"/>
          <a:lstStyle/>
          <a:p>
            <a:pPr marL="0" indent="0" algn="l">
              <a:buNone/>
            </a:pPr>
            <a:r>
              <a:rPr lang="en-US" sz="900" b="1" dirty="0">
                <a:solidFill>
                  <a:srgbClr val="000000"/>
                </a:solidFill>
                <a:latin typeface="Arial" panose="020B0604020202090204" pitchFamily="34" charset="0"/>
                <a:ea typeface="Arial" panose="020B0604020202090204" pitchFamily="34" charset="-122"/>
                <a:cs typeface="Arial" panose="020B0604020202090204" pitchFamily="34" charset="-120"/>
              </a:rPr>
              <a:t>0% outliers</a:t>
            </a:r>
            <a:endParaRPr lang="en-US" sz="900" dirty="0"/>
          </a:p>
        </p:txBody>
      </p:sp>
      <p:sp>
        <p:nvSpPr>
          <p:cNvPr id="10" name="Text 19"/>
          <p:cNvSpPr/>
          <p:nvPr/>
        </p:nvSpPr>
        <p:spPr>
          <a:xfrm>
            <a:off x="2643842" y="4140240"/>
            <a:ext cx="1230529" cy="104775"/>
          </a:xfrm>
          <a:prstGeom prst="rect">
            <a:avLst/>
          </a:prstGeom>
          <a:noFill/>
        </p:spPr>
        <p:txBody>
          <a:bodyPr wrap="square" lIns="0" tIns="0" rIns="0" bIns="0" rtlCol="0" anchor="t"/>
          <a:lstStyle/>
          <a:p>
            <a:pPr marL="0" indent="0" algn="l">
              <a:buNone/>
            </a:pPr>
            <a:r>
              <a:rPr lang="en-US" sz="750" dirty="0">
                <a:solidFill>
                  <a:srgbClr val="555555"/>
                </a:solidFill>
                <a:latin typeface="Arial" panose="020B0604020202090204" pitchFamily="34" charset="0"/>
                <a:ea typeface="Arial" panose="020B0604020202090204" pitchFamily="34" charset="-122"/>
                <a:cs typeface="Arial" panose="020B0604020202090204" pitchFamily="34" charset="-120"/>
              </a:rPr>
              <a:t>82.6% NN same model</a:t>
            </a:r>
            <a:endParaRPr lang="en-US" sz="750" dirty="0"/>
          </a:p>
        </p:txBody>
      </p:sp>
      <p:sp>
        <p:nvSpPr>
          <p:cNvPr id="11" name="Text 20"/>
          <p:cNvSpPr/>
          <p:nvPr/>
        </p:nvSpPr>
        <p:spPr>
          <a:xfrm>
            <a:off x="992942" y="4376311"/>
            <a:ext cx="1428452" cy="485626"/>
          </a:xfrm>
          <a:prstGeom prst="roundRect">
            <a:avLst>
              <a:gd name="adj" fmla="val 10461"/>
            </a:avLst>
          </a:prstGeom>
          <a:solidFill>
            <a:srgbClr val="F5EEF8"/>
          </a:solidFill>
          <a:ln w="9525">
            <a:solidFill>
              <a:srgbClr val="8E44AD"/>
            </a:solidFill>
          </a:ln>
        </p:spPr>
        <p:txBody>
          <a:bodyPr wrap="square" rtlCol="0" anchor="ctr"/>
          <a:lstStyle/>
          <a:p>
            <a:pPr marL="0" indent="0">
              <a:buNone/>
            </a:pPr>
            <a:endParaRPr lang="en-US" dirty="0"/>
          </a:p>
        </p:txBody>
      </p:sp>
      <p:sp>
        <p:nvSpPr>
          <p:cNvPr id="12" name="Text 21"/>
          <p:cNvSpPr/>
          <p:nvPr/>
        </p:nvSpPr>
        <p:spPr>
          <a:xfrm>
            <a:off x="1103967" y="4436586"/>
            <a:ext cx="1230529" cy="114300"/>
          </a:xfrm>
          <a:prstGeom prst="rect">
            <a:avLst/>
          </a:prstGeom>
          <a:noFill/>
        </p:spPr>
        <p:txBody>
          <a:bodyPr wrap="square" lIns="0" tIns="0" rIns="0" bIns="0" rtlCol="0" anchor="t"/>
          <a:lstStyle/>
          <a:p>
            <a:pPr marL="0" indent="0" algn="l">
              <a:spcAft>
                <a:spcPts val="100"/>
              </a:spcAft>
              <a:buNone/>
            </a:pPr>
            <a:r>
              <a:rPr lang="en-US" sz="850" b="1" dirty="0">
                <a:solidFill>
                  <a:srgbClr val="8E44AD"/>
                </a:solidFill>
                <a:latin typeface="Arial" panose="020B0604020202090204" pitchFamily="34" charset="0"/>
                <a:ea typeface="Arial" panose="020B0604020202090204" pitchFamily="34" charset="-122"/>
                <a:cs typeface="Arial" panose="020B0604020202090204" pitchFamily="34" charset="-120"/>
              </a:rPr>
              <a:t>Gemini</a:t>
            </a:r>
            <a:endParaRPr lang="en-US" sz="850" dirty="0"/>
          </a:p>
        </p:txBody>
      </p:sp>
      <p:sp>
        <p:nvSpPr>
          <p:cNvPr id="30" name="Text 22"/>
          <p:cNvSpPr/>
          <p:nvPr/>
        </p:nvSpPr>
        <p:spPr>
          <a:xfrm>
            <a:off x="1103967" y="4563537"/>
            <a:ext cx="1230529" cy="133350"/>
          </a:xfrm>
          <a:prstGeom prst="rect">
            <a:avLst/>
          </a:prstGeom>
          <a:noFill/>
        </p:spPr>
        <p:txBody>
          <a:bodyPr wrap="square" lIns="0" tIns="0" rIns="0" bIns="0" rtlCol="0" anchor="t"/>
          <a:lstStyle/>
          <a:p>
            <a:pPr marL="0" indent="0" algn="l">
              <a:buNone/>
            </a:pPr>
            <a:r>
              <a:rPr lang="en-US" sz="900" b="1" dirty="0">
                <a:solidFill>
                  <a:srgbClr val="000000"/>
                </a:solidFill>
                <a:latin typeface="Arial" panose="020B0604020202090204" pitchFamily="34" charset="0"/>
                <a:ea typeface="Arial" panose="020B0604020202090204" pitchFamily="34" charset="-122"/>
                <a:cs typeface="Arial" panose="020B0604020202090204" pitchFamily="34" charset="-120"/>
              </a:rPr>
              <a:t>4.3% outliers</a:t>
            </a:r>
            <a:endParaRPr lang="en-US" sz="900" dirty="0"/>
          </a:p>
        </p:txBody>
      </p:sp>
      <p:sp>
        <p:nvSpPr>
          <p:cNvPr id="31" name="Text 23"/>
          <p:cNvSpPr/>
          <p:nvPr/>
        </p:nvSpPr>
        <p:spPr>
          <a:xfrm>
            <a:off x="1103967" y="4696887"/>
            <a:ext cx="1230529" cy="104775"/>
          </a:xfrm>
          <a:prstGeom prst="rect">
            <a:avLst/>
          </a:prstGeom>
          <a:noFill/>
        </p:spPr>
        <p:txBody>
          <a:bodyPr wrap="square" lIns="0" tIns="0" rIns="0" bIns="0" rtlCol="0" anchor="t"/>
          <a:lstStyle/>
          <a:p>
            <a:pPr marL="0" indent="0" algn="l">
              <a:buNone/>
            </a:pPr>
            <a:r>
              <a:rPr lang="en-US" sz="750" dirty="0">
                <a:solidFill>
                  <a:srgbClr val="555555"/>
                </a:solidFill>
                <a:latin typeface="Arial" panose="020B0604020202090204" pitchFamily="34" charset="0"/>
                <a:ea typeface="Arial" panose="020B0604020202090204" pitchFamily="34" charset="-122"/>
                <a:cs typeface="Arial" panose="020B0604020202090204" pitchFamily="34" charset="-120"/>
              </a:rPr>
              <a:t>39.1% NN other AI</a:t>
            </a:r>
            <a:endParaRPr lang="en-US" sz="750" dirty="0"/>
          </a:p>
        </p:txBody>
      </p:sp>
      <p:sp>
        <p:nvSpPr>
          <p:cNvPr id="32" name="Text 24"/>
          <p:cNvSpPr/>
          <p:nvPr/>
        </p:nvSpPr>
        <p:spPr>
          <a:xfrm>
            <a:off x="2532817" y="4378603"/>
            <a:ext cx="1428452" cy="485626"/>
          </a:xfrm>
          <a:prstGeom prst="roundRect">
            <a:avLst>
              <a:gd name="adj" fmla="val 10461"/>
            </a:avLst>
          </a:prstGeom>
          <a:solidFill>
            <a:srgbClr val="FEF4EC"/>
          </a:solidFill>
          <a:ln w="9525">
            <a:solidFill>
              <a:srgbClr val="ED7D31"/>
            </a:solidFill>
          </a:ln>
        </p:spPr>
        <p:txBody>
          <a:bodyPr wrap="square" rtlCol="0" anchor="ctr"/>
          <a:lstStyle/>
          <a:p>
            <a:pPr marL="0" indent="0">
              <a:buNone/>
            </a:pPr>
            <a:endParaRPr lang="en-US" dirty="0"/>
          </a:p>
        </p:txBody>
      </p:sp>
      <p:sp>
        <p:nvSpPr>
          <p:cNvPr id="33" name="Text 25"/>
          <p:cNvSpPr/>
          <p:nvPr/>
        </p:nvSpPr>
        <p:spPr>
          <a:xfrm>
            <a:off x="2643842" y="4438878"/>
            <a:ext cx="1230529" cy="114300"/>
          </a:xfrm>
          <a:prstGeom prst="rect">
            <a:avLst/>
          </a:prstGeom>
          <a:noFill/>
        </p:spPr>
        <p:txBody>
          <a:bodyPr wrap="square" lIns="0" tIns="0" rIns="0" bIns="0" rtlCol="0" anchor="t"/>
          <a:lstStyle/>
          <a:p>
            <a:pPr marL="0" indent="0" algn="l">
              <a:spcAft>
                <a:spcPts val="100"/>
              </a:spcAft>
              <a:buNone/>
            </a:pPr>
            <a:r>
              <a:rPr lang="en-US" sz="850" b="1" dirty="0">
                <a:solidFill>
                  <a:srgbClr val="C55A11"/>
                </a:solidFill>
                <a:latin typeface="Arial" panose="020B0604020202090204" pitchFamily="34" charset="0"/>
                <a:ea typeface="Arial" panose="020B0604020202090204" pitchFamily="34" charset="-122"/>
                <a:cs typeface="Arial" panose="020B0604020202090204" pitchFamily="34" charset="-120"/>
              </a:rPr>
              <a:t>GPT-5.2</a:t>
            </a:r>
            <a:endParaRPr lang="en-US" sz="850" dirty="0"/>
          </a:p>
        </p:txBody>
      </p:sp>
      <p:sp>
        <p:nvSpPr>
          <p:cNvPr id="34" name="Text 26"/>
          <p:cNvSpPr/>
          <p:nvPr/>
        </p:nvSpPr>
        <p:spPr>
          <a:xfrm>
            <a:off x="2643842" y="4565829"/>
            <a:ext cx="1230529" cy="133350"/>
          </a:xfrm>
          <a:prstGeom prst="rect">
            <a:avLst/>
          </a:prstGeom>
          <a:noFill/>
        </p:spPr>
        <p:txBody>
          <a:bodyPr wrap="square" lIns="0" tIns="0" rIns="0" bIns="0" rtlCol="0" anchor="t"/>
          <a:lstStyle/>
          <a:p>
            <a:pPr marL="0" indent="0" algn="l">
              <a:buNone/>
            </a:pPr>
            <a:r>
              <a:rPr lang="en-US" sz="900" b="1" dirty="0">
                <a:solidFill>
                  <a:srgbClr val="000000"/>
                </a:solidFill>
                <a:latin typeface="Arial" panose="020B0604020202090204" pitchFamily="34" charset="0"/>
                <a:ea typeface="Arial" panose="020B0604020202090204" pitchFamily="34" charset="-122"/>
                <a:cs typeface="Arial" panose="020B0604020202090204" pitchFamily="34" charset="-120"/>
              </a:rPr>
              <a:t>8.7% outliers</a:t>
            </a:r>
            <a:endParaRPr lang="en-US" sz="900" dirty="0"/>
          </a:p>
        </p:txBody>
      </p:sp>
      <p:sp>
        <p:nvSpPr>
          <p:cNvPr id="35" name="Text 27"/>
          <p:cNvSpPr/>
          <p:nvPr/>
        </p:nvSpPr>
        <p:spPr>
          <a:xfrm>
            <a:off x="2643842" y="4699179"/>
            <a:ext cx="1230529" cy="104775"/>
          </a:xfrm>
          <a:prstGeom prst="rect">
            <a:avLst/>
          </a:prstGeom>
          <a:noFill/>
        </p:spPr>
        <p:txBody>
          <a:bodyPr wrap="square" lIns="0" tIns="0" rIns="0" bIns="0" rtlCol="0" anchor="t"/>
          <a:lstStyle/>
          <a:p>
            <a:pPr marL="0" indent="0" algn="l">
              <a:buNone/>
            </a:pPr>
            <a:r>
              <a:rPr lang="en-US" sz="750" dirty="0">
                <a:solidFill>
                  <a:srgbClr val="555555"/>
                </a:solidFill>
                <a:latin typeface="Arial" panose="020B0604020202090204" pitchFamily="34" charset="0"/>
                <a:ea typeface="Arial" panose="020B0604020202090204" pitchFamily="34" charset="-122"/>
                <a:cs typeface="Arial" panose="020B0604020202090204" pitchFamily="34" charset="-120"/>
              </a:rPr>
              <a:t>47.8% NN same model</a:t>
            </a:r>
            <a:endParaRPr lang="en-US" sz="750" dirty="0"/>
          </a:p>
        </p:txBody>
      </p:sp>
      <p:sp>
        <p:nvSpPr>
          <p:cNvPr id="36" name="Text 10"/>
          <p:cNvSpPr/>
          <p:nvPr/>
        </p:nvSpPr>
        <p:spPr>
          <a:xfrm>
            <a:off x="2997003" y="3444776"/>
            <a:ext cx="2590699" cy="114300"/>
          </a:xfrm>
          <a:prstGeom prst="rect">
            <a:avLst/>
          </a:prstGeom>
          <a:noFill/>
        </p:spPr>
        <p:txBody>
          <a:bodyPr wrap="square" lIns="0" tIns="0" rIns="0" bIns="0" rtlCol="0" anchor="t"/>
          <a:lstStyle/>
          <a:p>
            <a:pPr marL="0" indent="0" algn="ctr">
              <a:spcBef>
                <a:spcPts val="300"/>
              </a:spcBef>
              <a:buNone/>
            </a:pPr>
            <a:r>
              <a:rPr lang="en-US" sz="800" dirty="0">
                <a:solidFill>
                  <a:srgbClr val="666666"/>
                </a:solidFill>
                <a:latin typeface="Arial" panose="020B0604020202090204" pitchFamily="34" charset="0"/>
                <a:ea typeface="Arial" panose="020B0604020202090204" pitchFamily="34" charset="-122"/>
                <a:cs typeface="Arial" panose="020B0604020202090204" pitchFamily="34" charset="-120"/>
              </a:rPr>
              <a:t>Nearest-neighbor distances by model group.</a:t>
            </a:r>
            <a:endParaRPr lang="en-US" sz="800" dirty="0"/>
          </a:p>
        </p:txBody>
      </p:sp>
      <p:sp>
        <p:nvSpPr>
          <p:cNvPr id="37" name="Text 3"/>
          <p:cNvSpPr/>
          <p:nvPr/>
        </p:nvSpPr>
        <p:spPr>
          <a:xfrm>
            <a:off x="7592467" y="187226"/>
            <a:ext cx="1092538" cy="133350"/>
          </a:xfrm>
          <a:prstGeom prst="rect">
            <a:avLst/>
          </a:prstGeom>
          <a:noFill/>
        </p:spPr>
        <p:txBody>
          <a:bodyPr wrap="square" lIns="0" tIns="0" rIns="0" bIns="0" rtlCol="0" anchor="t"/>
          <a:lstStyle/>
          <a:p>
            <a:pPr marL="0" indent="0" algn="l">
              <a:buNone/>
            </a:pPr>
            <a:r>
              <a:rPr lang="en-US" sz="900" b="1" dirty="0">
                <a:solidFill>
                  <a:srgbClr val="FFFFFF"/>
                </a:solidFill>
                <a:latin typeface="Arial" panose="020B0604020202090204" pitchFamily="34" charset="0"/>
                <a:ea typeface="Arial" panose="020B0604020202090204" pitchFamily="34" charset="-122"/>
                <a:cs typeface="Arial" panose="020B0604020202090204" pitchFamily="34" charset="-120"/>
              </a:rPr>
              <a:t>PART I · DIVERSITY</a:t>
            </a:r>
            <a:endParaRPr lang="en-US" sz="900" dirty="0"/>
          </a:p>
        </p:txBody>
      </p:sp>
      <p:sp>
        <p:nvSpPr>
          <p:cNvPr id="38" name="Text 4"/>
          <p:cNvSpPr/>
          <p:nvPr/>
        </p:nvSpPr>
        <p:spPr>
          <a:xfrm>
            <a:off x="304800" y="76200"/>
            <a:ext cx="1089273" cy="190500"/>
          </a:xfrm>
          <a:prstGeom prst="roundRect">
            <a:avLst>
              <a:gd name="adj" fmla="val 20000"/>
            </a:avLst>
          </a:prstGeom>
          <a:solidFill>
            <a:srgbClr val="4472C4"/>
          </a:solidFill>
        </p:spPr>
        <p:txBody>
          <a:bodyPr wrap="square" rtlCol="0" anchor="ctr"/>
          <a:lstStyle/>
          <a:p>
            <a:pPr marL="0" indent="0">
              <a:buNone/>
            </a:pPr>
            <a:endParaRPr lang="en-US" dirty="0"/>
          </a:p>
        </p:txBody>
      </p:sp>
      <p:sp>
        <p:nvSpPr>
          <p:cNvPr id="40" name="Text 5"/>
          <p:cNvSpPr/>
          <p:nvPr/>
        </p:nvSpPr>
        <p:spPr>
          <a:xfrm>
            <a:off x="406301" y="114300"/>
            <a:ext cx="903997" cy="114300"/>
          </a:xfrm>
          <a:prstGeom prst="rect">
            <a:avLst/>
          </a:prstGeom>
          <a:noFill/>
        </p:spPr>
        <p:txBody>
          <a:bodyPr wrap="square" lIns="0" tIns="0" rIns="0" bIns="0" rtlCol="0" anchor="t"/>
          <a:lstStyle/>
          <a:p>
            <a:pPr marL="0" indent="0" algn="l">
              <a:buNone/>
            </a:pPr>
            <a:r>
              <a:rPr lang="en-US" sz="800" b="1" dirty="0">
                <a:solidFill>
                  <a:srgbClr val="FFFFFF"/>
                </a:solidFill>
                <a:latin typeface="Arial" panose="020B0604020202090204" pitchFamily="34" charset="0"/>
                <a:ea typeface="Arial" panose="020B0604020202090204" pitchFamily="34" charset="-122"/>
                <a:cs typeface="Arial" panose="020B0604020202090204" pitchFamily="34" charset="-120"/>
              </a:rPr>
              <a:t>Analyses 1.2 &amp; 1.3</a:t>
            </a:r>
            <a:endParaRPr lang="en-US" sz="800" dirty="0"/>
          </a:p>
        </p:txBody>
      </p:sp>
      <p:sp>
        <p:nvSpPr>
          <p:cNvPr id="41" name="Text 6"/>
          <p:cNvSpPr/>
          <p:nvPr/>
        </p:nvSpPr>
        <p:spPr>
          <a:xfrm>
            <a:off x="304800" y="381000"/>
            <a:ext cx="7124649" cy="266700"/>
          </a:xfrm>
          <a:prstGeom prst="rect">
            <a:avLst/>
          </a:prstGeom>
          <a:noFill/>
        </p:spPr>
        <p:txBody>
          <a:bodyPr wrap="square" lIns="0" tIns="0" rIns="0" bIns="0" rtlCol="0" anchor="t"/>
          <a:lstStyle/>
          <a:p>
            <a:pPr marL="0" indent="0" algn="l">
              <a:buNone/>
            </a:pPr>
            <a:r>
              <a:rPr lang="en-US" sz="1800" b="1" dirty="0">
                <a:solidFill>
                  <a:srgbClr val="44546A"/>
                </a:solidFill>
                <a:latin typeface="Arial" panose="020B0604020202090204" pitchFamily="34" charset="0"/>
                <a:ea typeface="Arial" panose="020B0604020202090204" pitchFamily="34" charset="-122"/>
                <a:cs typeface="Arial" panose="020B0604020202090204" pitchFamily="34" charset="-120"/>
              </a:rPr>
              <a:t>Nearest-Neighbor Analysis</a:t>
            </a:r>
            <a:endParaRPr lang="en-US" sz="1800" dirty="0"/>
          </a:p>
        </p:txBody>
      </p:sp>
      <p:sp>
        <p:nvSpPr>
          <p:cNvPr id="42" name="Text 7"/>
          <p:cNvSpPr/>
          <p:nvPr/>
        </p:nvSpPr>
        <p:spPr>
          <a:xfrm>
            <a:off x="304800" y="673001"/>
            <a:ext cx="7124649" cy="142875"/>
          </a:xfrm>
          <a:prstGeom prst="rect">
            <a:avLst/>
          </a:prstGeom>
          <a:noFill/>
        </p:spPr>
        <p:txBody>
          <a:bodyPr wrap="square" lIns="0" tIns="0" rIns="0" bIns="0" rtlCol="0" anchor="t"/>
          <a:lstStyle/>
          <a:p>
            <a:pPr marL="0" indent="0" algn="l">
              <a:spcBef>
                <a:spcPts val="200"/>
              </a:spcBef>
              <a:buNone/>
            </a:pPr>
            <a:r>
              <a:rPr lang="en-US" sz="1000" dirty="0">
                <a:solidFill>
                  <a:srgbClr val="4472C4"/>
                </a:solidFill>
                <a:latin typeface="Arial" panose="020B0604020202090204" pitchFamily="34" charset="0"/>
                <a:ea typeface="Arial" panose="020B0604020202090204" pitchFamily="34" charset="-122"/>
                <a:cs typeface="Arial" panose="020B0604020202090204" pitchFamily="34" charset="-120"/>
              </a:rPr>
              <a:t>Distance to group centroid and outlier detection across 92 proposals in combined space</a:t>
            </a:r>
            <a:endParaRPr lang="en-US" sz="1000" dirty="0"/>
          </a:p>
        </p:txBody>
      </p:sp>
      <p:sp>
        <p:nvSpPr>
          <p:cNvPr id="43" name="Text 8"/>
          <p:cNvSpPr/>
          <p:nvPr/>
        </p:nvSpPr>
        <p:spPr>
          <a:xfrm>
            <a:off x="304800" y="812750"/>
            <a:ext cx="8534400" cy="25301"/>
          </a:xfrm>
          <a:prstGeom prst="rect">
            <a:avLst/>
          </a:prstGeom>
          <a:solidFill>
            <a:srgbClr val="4472C4"/>
          </a:solidFill>
        </p:spPr>
        <p:txBody>
          <a:bodyPr wrap="square" rtlCol="0" anchor="ctr"/>
          <a:lstStyle/>
          <a:p>
            <a:pPr marL="0" indent="0">
              <a:buNone/>
            </a:pPr>
            <a:endParaRPr lang="en-US" dirty="0"/>
          </a:p>
        </p:txBody>
      </p:sp>
      <p:sp>
        <p:nvSpPr>
          <p:cNvPr id="44" name="Text 0"/>
          <p:cNvSpPr/>
          <p:nvPr/>
        </p:nvSpPr>
        <p:spPr>
          <a:xfrm>
            <a:off x="0" y="0"/>
            <a:ext cx="9144000" cy="76200"/>
          </a:xfrm>
          <a:prstGeom prst="rect">
            <a:avLst/>
          </a:prstGeom>
          <a:solidFill>
            <a:srgbClr val="4472C4"/>
          </a:solidFill>
        </p:spPr>
        <p:txBody>
          <a:bodyPr wrap="square" rtlCol="0" anchor="ctr"/>
          <a:lstStyle/>
          <a:p>
            <a:pPr marL="0" indent="0">
              <a:buNone/>
            </a:pPr>
            <a:endParaRPr lang="en-US" dirty="0"/>
          </a:p>
        </p:txBody>
      </p:sp>
      <p:sp>
        <p:nvSpPr>
          <p:cNvPr id="45" name="Text 2"/>
          <p:cNvSpPr/>
          <p:nvPr/>
        </p:nvSpPr>
        <p:spPr>
          <a:xfrm>
            <a:off x="7112050" y="76200"/>
            <a:ext cx="2031950" cy="355550"/>
          </a:xfrm>
          <a:prstGeom prst="rect">
            <a:avLst/>
          </a:prstGeom>
          <a:solidFill>
            <a:srgbClr val="44546A"/>
          </a:solidFill>
        </p:spPr>
        <p:txBody>
          <a:bodyPr wrap="square" rtlCol="0" anchor="ctr"/>
          <a:lstStyle/>
          <a:p>
            <a:pPr marL="0" indent="0">
              <a:buNone/>
            </a:pPr>
            <a:endParaRPr lang="en-US" dirty="0"/>
          </a:p>
        </p:txBody>
      </p:sp>
      <p:sp>
        <p:nvSpPr>
          <p:cNvPr id="46" name="Text 3"/>
          <p:cNvSpPr/>
          <p:nvPr/>
        </p:nvSpPr>
        <p:spPr>
          <a:xfrm>
            <a:off x="7718832" y="187226"/>
            <a:ext cx="1092538" cy="133350"/>
          </a:xfrm>
          <a:prstGeom prst="rect">
            <a:avLst/>
          </a:prstGeom>
          <a:noFill/>
        </p:spPr>
        <p:txBody>
          <a:bodyPr wrap="square" lIns="0" tIns="0" rIns="0" bIns="0" rtlCol="0" anchor="t"/>
          <a:lstStyle/>
          <a:p>
            <a:pPr marL="0" indent="0" algn="l">
              <a:buNone/>
            </a:pPr>
            <a:r>
              <a:rPr lang="en-US" sz="900" b="1" dirty="0">
                <a:solidFill>
                  <a:srgbClr val="FFFFFF"/>
                </a:solidFill>
                <a:latin typeface="Arial" panose="020B0604020202090204" pitchFamily="34" charset="0"/>
                <a:ea typeface="Arial" panose="020B0604020202090204" pitchFamily="34" charset="-122"/>
                <a:cs typeface="Arial" panose="020B0604020202090204" pitchFamily="34" charset="-120"/>
              </a:rPr>
              <a:t>PART I · DIVERSITY</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4472C4"/>
          </a:solidFill>
        </p:spPr>
        <p:txBody>
          <a:bodyPr wrap="square" rtlCol="0" anchor="ctr"/>
          <a:lstStyle/>
          <a:p>
            <a:pPr marL="0" indent="0">
              <a:buNone/>
            </a:pPr>
            <a:endParaRPr lang="en-US" dirty="0"/>
          </a:p>
        </p:txBody>
      </p:sp>
      <p:sp>
        <p:nvSpPr>
          <p:cNvPr id="3" name="Text 1"/>
          <p:cNvSpPr/>
          <p:nvPr/>
        </p:nvSpPr>
        <p:spPr>
          <a:xfrm>
            <a:off x="0" y="5067300"/>
            <a:ext cx="9144000" cy="76200"/>
          </a:xfrm>
          <a:prstGeom prst="rect">
            <a:avLst/>
          </a:prstGeom>
          <a:solidFill>
            <a:srgbClr val="44546A"/>
          </a:solidFill>
        </p:spPr>
        <p:txBody>
          <a:bodyPr wrap="square" rtlCol="0" anchor="ctr"/>
          <a:lstStyle/>
          <a:p>
            <a:pPr marL="0" indent="0">
              <a:buNone/>
            </a:pPr>
            <a:endParaRPr lang="en-US" dirty="0"/>
          </a:p>
        </p:txBody>
      </p:sp>
      <p:sp>
        <p:nvSpPr>
          <p:cNvPr id="4" name="Text 2"/>
          <p:cNvSpPr/>
          <p:nvPr/>
        </p:nvSpPr>
        <p:spPr>
          <a:xfrm>
            <a:off x="7112050" y="76200"/>
            <a:ext cx="2031950" cy="355550"/>
          </a:xfrm>
          <a:prstGeom prst="rect">
            <a:avLst/>
          </a:prstGeom>
          <a:solidFill>
            <a:srgbClr val="44546A"/>
          </a:solidFill>
        </p:spPr>
        <p:txBody>
          <a:bodyPr wrap="square" rtlCol="0" anchor="ctr"/>
          <a:lstStyle/>
          <a:p>
            <a:pPr marL="0" indent="0">
              <a:buNone/>
            </a:pPr>
            <a:endParaRPr lang="en-US" dirty="0"/>
          </a:p>
        </p:txBody>
      </p:sp>
      <p:sp>
        <p:nvSpPr>
          <p:cNvPr id="5" name="Text 3"/>
          <p:cNvSpPr/>
          <p:nvPr/>
        </p:nvSpPr>
        <p:spPr>
          <a:xfrm>
            <a:off x="7592467" y="187226"/>
            <a:ext cx="1092538" cy="133350"/>
          </a:xfrm>
          <a:prstGeom prst="rect">
            <a:avLst/>
          </a:prstGeom>
          <a:noFill/>
        </p:spPr>
        <p:txBody>
          <a:bodyPr wrap="square" lIns="0" tIns="0" rIns="0" bIns="0" rtlCol="0" anchor="t"/>
          <a:lstStyle/>
          <a:p>
            <a:pPr marL="0" indent="0" algn="l">
              <a:buNone/>
            </a:pPr>
            <a:r>
              <a:rPr lang="en-US" sz="900" b="1" dirty="0">
                <a:solidFill>
                  <a:srgbClr val="FFFFFF"/>
                </a:solidFill>
                <a:latin typeface="Arial" panose="020B0604020202090204" pitchFamily="34" charset="0"/>
                <a:ea typeface="Arial" panose="020B0604020202090204" pitchFamily="34" charset="-122"/>
                <a:cs typeface="Arial" panose="020B0604020202090204" pitchFamily="34" charset="-120"/>
              </a:rPr>
              <a:t>PART I · DIVERSITY</a:t>
            </a:r>
            <a:endParaRPr lang="en-US" sz="900" dirty="0"/>
          </a:p>
        </p:txBody>
      </p:sp>
      <p:sp>
        <p:nvSpPr>
          <p:cNvPr id="6" name="Text 4"/>
          <p:cNvSpPr/>
          <p:nvPr/>
        </p:nvSpPr>
        <p:spPr>
          <a:xfrm>
            <a:off x="304800" y="177701"/>
            <a:ext cx="7124649" cy="295275"/>
          </a:xfrm>
          <a:prstGeom prst="rect">
            <a:avLst/>
          </a:prstGeom>
          <a:noFill/>
        </p:spPr>
        <p:txBody>
          <a:bodyPr wrap="square" lIns="0" tIns="0" rIns="0" bIns="0" rtlCol="0" anchor="t"/>
          <a:lstStyle/>
          <a:p>
            <a:pPr marL="0" indent="0" algn="l">
              <a:buNone/>
            </a:pPr>
            <a:r>
              <a:rPr lang="en-US" sz="2000" b="1" dirty="0">
                <a:solidFill>
                  <a:srgbClr val="44546A"/>
                </a:solidFill>
                <a:latin typeface="Arial" panose="020B0604020202090204" pitchFamily="34" charset="0"/>
                <a:ea typeface="Arial" panose="020B0604020202090204" pitchFamily="34" charset="-122"/>
                <a:cs typeface="Arial" panose="020B0604020202090204" pitchFamily="34" charset="-120"/>
              </a:rPr>
              <a:t>Embedding Space Visualization</a:t>
            </a:r>
            <a:endParaRPr lang="en-US" sz="2000" dirty="0"/>
          </a:p>
        </p:txBody>
      </p:sp>
      <p:sp>
        <p:nvSpPr>
          <p:cNvPr id="7" name="Text 5"/>
          <p:cNvSpPr/>
          <p:nvPr/>
        </p:nvSpPr>
        <p:spPr>
          <a:xfrm>
            <a:off x="304800" y="498277"/>
            <a:ext cx="7124649" cy="142875"/>
          </a:xfrm>
          <a:prstGeom prst="rect">
            <a:avLst/>
          </a:prstGeom>
          <a:noFill/>
        </p:spPr>
        <p:txBody>
          <a:bodyPr wrap="square" lIns="0" tIns="0" rIns="0" bIns="0" rtlCol="0" anchor="t"/>
          <a:lstStyle/>
          <a:p>
            <a:pPr marL="0" indent="0" algn="l">
              <a:spcBef>
                <a:spcPts val="200"/>
              </a:spcBef>
              <a:buNone/>
            </a:pPr>
            <a:r>
              <a:rPr lang="en-US" sz="1000" dirty="0">
                <a:solidFill>
                  <a:srgbClr val="4472C4"/>
                </a:solidFill>
                <a:latin typeface="Arial" panose="020B0604020202090204" pitchFamily="34" charset="0"/>
                <a:ea typeface="Arial" panose="020B0604020202090204" pitchFamily="34" charset="-122"/>
                <a:cs typeface="Arial" panose="020B0604020202090204" pitchFamily="34" charset="-120"/>
              </a:rPr>
              <a:t>TSNE 2D projection of 92 rephrased proposals; X = group centroids; magenta circles = outliers (top 10% NN distance)</a:t>
            </a:r>
            <a:endParaRPr lang="en-US" sz="1000" dirty="0"/>
          </a:p>
        </p:txBody>
      </p:sp>
      <p:sp>
        <p:nvSpPr>
          <p:cNvPr id="8" name="Text 6"/>
          <p:cNvSpPr/>
          <p:nvPr/>
        </p:nvSpPr>
        <p:spPr>
          <a:xfrm>
            <a:off x="304800" y="711101"/>
            <a:ext cx="8534400" cy="25301"/>
          </a:xfrm>
          <a:prstGeom prst="rect">
            <a:avLst/>
          </a:prstGeom>
          <a:solidFill>
            <a:srgbClr val="4472C4"/>
          </a:solidFill>
        </p:spPr>
        <p:txBody>
          <a:bodyPr wrap="square" rtlCol="0" anchor="ctr"/>
          <a:lstStyle/>
          <a:p>
            <a:pPr marL="0" indent="0">
              <a:buNone/>
            </a:pPr>
            <a:endParaRPr lang="en-US" dirty="0"/>
          </a:p>
        </p:txBody>
      </p:sp>
      <p:sp>
        <p:nvSpPr>
          <p:cNvPr id="9" name="Text 7"/>
          <p:cNvSpPr/>
          <p:nvPr/>
        </p:nvSpPr>
        <p:spPr>
          <a:xfrm>
            <a:off x="5905500" y="812800"/>
            <a:ext cx="2933700" cy="762000"/>
          </a:xfrm>
          <a:prstGeom prst="roundRect">
            <a:avLst>
              <a:gd name="adj" fmla="val 8337"/>
            </a:avLst>
          </a:prstGeom>
          <a:solidFill>
            <a:srgbClr val="FFF4F4"/>
          </a:solidFill>
        </p:spPr>
        <p:txBody>
          <a:bodyPr wrap="square" rtlCol="0" anchor="ctr"/>
          <a:lstStyle/>
          <a:p>
            <a:pPr marL="0" indent="0">
              <a:buNone/>
            </a:pPr>
            <a:endParaRPr lang="en-US" dirty="0"/>
          </a:p>
        </p:txBody>
      </p:sp>
      <p:sp>
        <p:nvSpPr>
          <p:cNvPr id="10" name="Shape 8"/>
          <p:cNvSpPr/>
          <p:nvPr/>
        </p:nvSpPr>
        <p:spPr>
          <a:xfrm>
            <a:off x="5904865" y="812800"/>
            <a:ext cx="635" cy="762000"/>
          </a:xfrm>
          <a:prstGeom prst="line">
            <a:avLst/>
          </a:prstGeom>
          <a:noFill/>
          <a:ln w="38100">
            <a:solidFill>
              <a:srgbClr val="E74C3C"/>
            </a:solidFill>
            <a:prstDash val="solid"/>
          </a:ln>
        </p:spPr>
      </p:sp>
      <p:sp>
        <p:nvSpPr>
          <p:cNvPr id="11" name="Text 9"/>
          <p:cNvSpPr/>
          <p:nvPr/>
        </p:nvSpPr>
        <p:spPr>
          <a:xfrm>
            <a:off x="6033135" y="914400"/>
            <a:ext cx="2743835" cy="133350"/>
          </a:xfrm>
          <a:prstGeom prst="rect">
            <a:avLst/>
          </a:prstGeom>
          <a:noFill/>
        </p:spPr>
        <p:txBody>
          <a:bodyPr wrap="square" lIns="0" tIns="0" rIns="0" bIns="0" rtlCol="0" anchor="t"/>
          <a:lstStyle/>
          <a:p>
            <a:pPr marL="0" indent="0" algn="l">
              <a:spcAft>
                <a:spcPts val="200"/>
              </a:spcAft>
              <a:buNone/>
            </a:pPr>
            <a:r>
              <a:rPr lang="en-US" sz="950" b="1" dirty="0">
                <a:solidFill>
                  <a:srgbClr val="C0392B"/>
                </a:solidFill>
                <a:latin typeface="Arial" panose="020B0604020202090204" pitchFamily="34" charset="0"/>
                <a:ea typeface="Arial" panose="020B0604020202090204" pitchFamily="34" charset="-122"/>
                <a:cs typeface="Arial" panose="020B0604020202090204" pitchFamily="34" charset="-120"/>
              </a:rPr>
              <a:t>Human (red)</a:t>
            </a:r>
            <a:endParaRPr lang="en-US" sz="950" dirty="0"/>
          </a:p>
        </p:txBody>
      </p:sp>
      <p:sp>
        <p:nvSpPr>
          <p:cNvPr id="12" name="Text 10"/>
          <p:cNvSpPr/>
          <p:nvPr/>
        </p:nvSpPr>
        <p:spPr>
          <a:xfrm>
            <a:off x="6033135" y="1073150"/>
            <a:ext cx="2743835" cy="40005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Distributed broadly across the embedding space. Account for 7 of 10 total outliers (30.4% outlier rate). Overlap with Claude and Gemini but extend to periphery.</a:t>
            </a:r>
            <a:endParaRPr lang="en-US" sz="900" dirty="0"/>
          </a:p>
        </p:txBody>
      </p:sp>
      <p:sp>
        <p:nvSpPr>
          <p:cNvPr id="13" name="Text 11"/>
          <p:cNvSpPr/>
          <p:nvPr/>
        </p:nvSpPr>
        <p:spPr>
          <a:xfrm>
            <a:off x="5905500" y="1663065"/>
            <a:ext cx="2933700" cy="762000"/>
          </a:xfrm>
          <a:prstGeom prst="roundRect">
            <a:avLst>
              <a:gd name="adj" fmla="val 8337"/>
            </a:avLst>
          </a:prstGeom>
          <a:solidFill>
            <a:srgbClr val="EEF2FA"/>
          </a:solidFill>
        </p:spPr>
        <p:txBody>
          <a:bodyPr wrap="square" rtlCol="0" anchor="ctr"/>
          <a:lstStyle/>
          <a:p>
            <a:pPr marL="0" indent="0">
              <a:buNone/>
            </a:pPr>
            <a:endParaRPr lang="en-US" dirty="0"/>
          </a:p>
        </p:txBody>
      </p:sp>
      <p:sp>
        <p:nvSpPr>
          <p:cNvPr id="14" name="Shape 12"/>
          <p:cNvSpPr/>
          <p:nvPr/>
        </p:nvSpPr>
        <p:spPr>
          <a:xfrm>
            <a:off x="5904716" y="1663303"/>
            <a:ext cx="0" cy="761702"/>
          </a:xfrm>
          <a:prstGeom prst="line">
            <a:avLst/>
          </a:prstGeom>
          <a:noFill/>
          <a:ln w="38100">
            <a:solidFill>
              <a:srgbClr val="2980B9"/>
            </a:solidFill>
            <a:prstDash val="solid"/>
          </a:ln>
        </p:spPr>
      </p:sp>
      <p:sp>
        <p:nvSpPr>
          <p:cNvPr id="15" name="Text 13"/>
          <p:cNvSpPr/>
          <p:nvPr/>
        </p:nvSpPr>
        <p:spPr>
          <a:xfrm>
            <a:off x="6033135" y="1764665"/>
            <a:ext cx="2743835" cy="133350"/>
          </a:xfrm>
          <a:prstGeom prst="rect">
            <a:avLst/>
          </a:prstGeom>
          <a:noFill/>
        </p:spPr>
        <p:txBody>
          <a:bodyPr wrap="square" lIns="0" tIns="0" rIns="0" bIns="0" rtlCol="0" anchor="t"/>
          <a:lstStyle/>
          <a:p>
            <a:pPr marL="0" indent="0" algn="l">
              <a:spcAft>
                <a:spcPts val="200"/>
              </a:spcAft>
              <a:buNone/>
            </a:pPr>
            <a:r>
              <a:rPr lang="en-US" sz="950" b="1" dirty="0">
                <a:solidFill>
                  <a:srgbClr val="2980B9"/>
                </a:solidFill>
                <a:latin typeface="Arial" panose="020B0604020202090204" pitchFamily="34" charset="0"/>
                <a:ea typeface="Arial" panose="020B0604020202090204" pitchFamily="34" charset="-122"/>
                <a:cs typeface="Arial" panose="020B0604020202090204" pitchFamily="34" charset="-120"/>
              </a:rPr>
              <a:t>Claude (grey)</a:t>
            </a:r>
            <a:endParaRPr lang="en-US" sz="950" dirty="0"/>
          </a:p>
        </p:txBody>
      </p:sp>
      <p:sp>
        <p:nvSpPr>
          <p:cNvPr id="16" name="Text 14"/>
          <p:cNvSpPr/>
          <p:nvPr/>
        </p:nvSpPr>
        <p:spPr>
          <a:xfrm>
            <a:off x="6033135" y="1923415"/>
            <a:ext cx="2743835" cy="40005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Near-zero spread; 0 outlier proposals. Claude collapses to a tight cluster after rephrasing — baseline Claude diversity was entirely stylistic (semantic mode collapse).</a:t>
            </a:r>
            <a:endParaRPr lang="en-US" sz="900" dirty="0"/>
          </a:p>
        </p:txBody>
      </p:sp>
      <p:sp>
        <p:nvSpPr>
          <p:cNvPr id="17" name="Text 15"/>
          <p:cNvSpPr/>
          <p:nvPr/>
        </p:nvSpPr>
        <p:spPr>
          <a:xfrm>
            <a:off x="5905500" y="2513965"/>
            <a:ext cx="2933700" cy="628650"/>
          </a:xfrm>
          <a:prstGeom prst="roundRect">
            <a:avLst>
              <a:gd name="adj" fmla="val 10106"/>
            </a:avLst>
          </a:prstGeom>
          <a:solidFill>
            <a:srgbClr val="F5EEF8"/>
          </a:solidFill>
        </p:spPr>
        <p:txBody>
          <a:bodyPr wrap="square" rtlCol="0" anchor="ctr"/>
          <a:lstStyle/>
          <a:p>
            <a:pPr marL="0" indent="0">
              <a:buNone/>
            </a:pPr>
            <a:endParaRPr lang="en-US" dirty="0"/>
          </a:p>
        </p:txBody>
      </p:sp>
      <p:sp>
        <p:nvSpPr>
          <p:cNvPr id="18" name="Shape 16"/>
          <p:cNvSpPr/>
          <p:nvPr/>
        </p:nvSpPr>
        <p:spPr>
          <a:xfrm>
            <a:off x="5904716" y="2513856"/>
            <a:ext cx="0" cy="628352"/>
          </a:xfrm>
          <a:prstGeom prst="line">
            <a:avLst/>
          </a:prstGeom>
          <a:noFill/>
          <a:ln w="38100">
            <a:solidFill>
              <a:srgbClr val="8E44AD"/>
            </a:solidFill>
            <a:prstDash val="solid"/>
          </a:ln>
        </p:spPr>
      </p:sp>
      <p:sp>
        <p:nvSpPr>
          <p:cNvPr id="19" name="Text 17"/>
          <p:cNvSpPr/>
          <p:nvPr/>
        </p:nvSpPr>
        <p:spPr>
          <a:xfrm>
            <a:off x="6033135" y="2615565"/>
            <a:ext cx="2743835" cy="133350"/>
          </a:xfrm>
          <a:prstGeom prst="rect">
            <a:avLst/>
          </a:prstGeom>
          <a:noFill/>
        </p:spPr>
        <p:txBody>
          <a:bodyPr wrap="square" lIns="0" tIns="0" rIns="0" bIns="0" rtlCol="0" anchor="t"/>
          <a:lstStyle/>
          <a:p>
            <a:pPr marL="0" indent="0" algn="l">
              <a:spcAft>
                <a:spcPts val="200"/>
              </a:spcAft>
              <a:buNone/>
            </a:pPr>
            <a:r>
              <a:rPr lang="en-US" sz="950" b="1" dirty="0">
                <a:solidFill>
                  <a:srgbClr val="7D3C98"/>
                </a:solidFill>
                <a:latin typeface="Arial" panose="020B0604020202090204" pitchFamily="34" charset="0"/>
                <a:ea typeface="Arial" panose="020B0604020202090204" pitchFamily="34" charset="-122"/>
                <a:cs typeface="Arial" panose="020B0604020202090204" pitchFamily="34" charset="-120"/>
              </a:rPr>
              <a:t>Gemini (purple)</a:t>
            </a:r>
            <a:endParaRPr lang="en-US" sz="950" dirty="0"/>
          </a:p>
        </p:txBody>
      </p:sp>
      <p:sp>
        <p:nvSpPr>
          <p:cNvPr id="20" name="Text 18"/>
          <p:cNvSpPr/>
          <p:nvPr/>
        </p:nvSpPr>
        <p:spPr>
          <a:xfrm>
            <a:off x="6033135" y="2774315"/>
            <a:ext cx="2743835" cy="26670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Intermediate spread. 1 outlier proposal at periphery. Overlaps with human and Claude regions.</a:t>
            </a:r>
            <a:endParaRPr lang="en-US" sz="900" dirty="0"/>
          </a:p>
        </p:txBody>
      </p:sp>
      <p:sp>
        <p:nvSpPr>
          <p:cNvPr id="21" name="Text 19"/>
          <p:cNvSpPr/>
          <p:nvPr/>
        </p:nvSpPr>
        <p:spPr>
          <a:xfrm>
            <a:off x="5905500" y="3230880"/>
            <a:ext cx="2933700" cy="762000"/>
          </a:xfrm>
          <a:prstGeom prst="roundRect">
            <a:avLst>
              <a:gd name="adj" fmla="val 8337"/>
            </a:avLst>
          </a:prstGeom>
          <a:solidFill>
            <a:srgbClr val="FEF4EC"/>
          </a:solidFill>
        </p:spPr>
        <p:txBody>
          <a:bodyPr wrap="square" rtlCol="0" anchor="ctr"/>
          <a:lstStyle/>
          <a:p>
            <a:pPr marL="0" indent="0">
              <a:buNone/>
            </a:pPr>
            <a:endParaRPr lang="en-US" dirty="0"/>
          </a:p>
        </p:txBody>
      </p:sp>
      <p:sp>
        <p:nvSpPr>
          <p:cNvPr id="22" name="Shape 20"/>
          <p:cNvSpPr/>
          <p:nvPr/>
        </p:nvSpPr>
        <p:spPr>
          <a:xfrm>
            <a:off x="5904716" y="3231059"/>
            <a:ext cx="0" cy="761702"/>
          </a:xfrm>
          <a:prstGeom prst="line">
            <a:avLst/>
          </a:prstGeom>
          <a:noFill/>
          <a:ln w="38100">
            <a:solidFill>
              <a:srgbClr val="E67E22"/>
            </a:solidFill>
            <a:prstDash val="solid"/>
          </a:ln>
        </p:spPr>
      </p:sp>
      <p:sp>
        <p:nvSpPr>
          <p:cNvPr id="23" name="Text 21"/>
          <p:cNvSpPr/>
          <p:nvPr/>
        </p:nvSpPr>
        <p:spPr>
          <a:xfrm>
            <a:off x="6033135" y="3332480"/>
            <a:ext cx="2743835" cy="133350"/>
          </a:xfrm>
          <a:prstGeom prst="rect">
            <a:avLst/>
          </a:prstGeom>
          <a:noFill/>
        </p:spPr>
        <p:txBody>
          <a:bodyPr wrap="square" lIns="0" tIns="0" rIns="0" bIns="0" rtlCol="0" anchor="t"/>
          <a:lstStyle/>
          <a:p>
            <a:pPr marL="0" indent="0" algn="l">
              <a:spcAft>
                <a:spcPts val="200"/>
              </a:spcAft>
              <a:buNone/>
            </a:pPr>
            <a:r>
              <a:rPr lang="en-US" sz="950" b="1" dirty="0">
                <a:solidFill>
                  <a:srgbClr val="C55A11"/>
                </a:solidFill>
                <a:latin typeface="Arial" panose="020B0604020202090204" pitchFamily="34" charset="0"/>
                <a:ea typeface="Arial" panose="020B0604020202090204" pitchFamily="34" charset="-122"/>
                <a:cs typeface="Arial" panose="020B0604020202090204" pitchFamily="34" charset="-120"/>
              </a:rPr>
              <a:t>GPT-5.2 (orange)</a:t>
            </a:r>
            <a:endParaRPr lang="en-US" sz="950" dirty="0"/>
          </a:p>
        </p:txBody>
      </p:sp>
      <p:sp>
        <p:nvSpPr>
          <p:cNvPr id="24" name="Text 22"/>
          <p:cNvSpPr/>
          <p:nvPr/>
        </p:nvSpPr>
        <p:spPr>
          <a:xfrm>
            <a:off x="6033135" y="3491230"/>
            <a:ext cx="2743835" cy="40005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Intermediate spread; 2 outlier proposals. GPT-5.2 shows moderate within-group variance (mean pairwise dist = 0.315), distinct from Claude mode collapse.</a:t>
            </a:r>
            <a:endParaRPr lang="en-US" sz="900" dirty="0"/>
          </a:p>
        </p:txBody>
      </p:sp>
      <p:sp>
        <p:nvSpPr>
          <p:cNvPr id="25" name="Text 23"/>
          <p:cNvSpPr/>
          <p:nvPr/>
        </p:nvSpPr>
        <p:spPr>
          <a:xfrm>
            <a:off x="5905500" y="4081780"/>
            <a:ext cx="2933700" cy="609600"/>
          </a:xfrm>
          <a:prstGeom prst="roundRect">
            <a:avLst>
              <a:gd name="adj" fmla="val 8333"/>
            </a:avLst>
          </a:prstGeom>
          <a:solidFill>
            <a:srgbClr val="F4F4F4"/>
          </a:solidFill>
        </p:spPr>
        <p:txBody>
          <a:bodyPr wrap="square" rtlCol="0" anchor="ctr"/>
          <a:lstStyle/>
          <a:p>
            <a:pPr marL="0" indent="0">
              <a:buNone/>
            </a:pPr>
            <a:endParaRPr lang="en-US" dirty="0"/>
          </a:p>
        </p:txBody>
      </p:sp>
      <p:sp>
        <p:nvSpPr>
          <p:cNvPr id="26" name="Text 24"/>
          <p:cNvSpPr/>
          <p:nvPr/>
        </p:nvSpPr>
        <p:spPr>
          <a:xfrm>
            <a:off x="6001385" y="4157980"/>
            <a:ext cx="2776220" cy="457200"/>
          </a:xfrm>
          <a:prstGeom prst="rect">
            <a:avLst/>
          </a:prstGeom>
          <a:noFill/>
        </p:spPr>
        <p:txBody>
          <a:bodyPr wrap="square" lIns="0" tIns="0" rIns="0" bIns="0" rtlCol="0" anchor="t"/>
          <a:lstStyle/>
          <a:p>
            <a:pPr marL="0" indent="0" algn="l">
              <a:buNone/>
            </a:pPr>
            <a:r>
              <a:rPr lang="en-US" sz="850" b="1" dirty="0">
                <a:solidFill>
                  <a:srgbClr val="555555"/>
                </a:solidFill>
                <a:latin typeface="Arial" panose="020B0604020202090204" pitchFamily="34" charset="0"/>
                <a:ea typeface="Arial" panose="020B0604020202090204" pitchFamily="34" charset="-122"/>
                <a:cs typeface="Arial" panose="020B0604020202090204" pitchFamily="34" charset="-120"/>
              </a:rPr>
              <a:t>Caveat:</a:t>
            </a:r>
            <a:r>
              <a:rPr lang="en-US" sz="850" dirty="0">
                <a:solidFill>
                  <a:srgbClr val="555555"/>
                </a:solidFill>
                <a:latin typeface="Arial" panose="020B0604020202090204" pitchFamily="34" charset="0"/>
                <a:ea typeface="Arial" panose="020B0604020202090204" pitchFamily="34" charset="-122"/>
                <a:cs typeface="Arial" panose="020B0604020202090204" pitchFamily="34" charset="-120"/>
              </a:rPr>
              <a:t> UMAP projections distort distances in high-dimensional space. The quantitative analyses (pairwise, centroid, NN) are primary evidence; this visualization serves as a qualitative consistency check.</a:t>
            </a:r>
            <a:endParaRPr lang="en-US" sz="850" dirty="0"/>
          </a:p>
        </p:txBody>
      </p:sp>
      <p:pic>
        <p:nvPicPr>
          <p:cNvPr id="29" name="Picture 28" descr="embedding_space_tsne"/>
          <p:cNvPicPr>
            <a:picLocks noChangeAspect="1"/>
          </p:cNvPicPr>
          <p:nvPr/>
        </p:nvPicPr>
        <p:blipFill>
          <a:blip r:embed="rId1"/>
          <a:stretch>
            <a:fillRect/>
          </a:stretch>
        </p:blipFill>
        <p:spPr>
          <a:xfrm>
            <a:off x="0" y="726440"/>
            <a:ext cx="5840095" cy="41808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4472C4"/>
          </a:solidFill>
        </p:spPr>
        <p:txBody>
          <a:bodyPr wrap="square" rtlCol="0" anchor="ctr"/>
          <a:lstStyle/>
          <a:p>
            <a:pPr marL="0" indent="0">
              <a:buNone/>
            </a:pPr>
            <a:endParaRPr lang="en-US" dirty="0"/>
          </a:p>
        </p:txBody>
      </p:sp>
      <p:sp>
        <p:nvSpPr>
          <p:cNvPr id="3" name="Text 1"/>
          <p:cNvSpPr/>
          <p:nvPr/>
        </p:nvSpPr>
        <p:spPr>
          <a:xfrm>
            <a:off x="0" y="5067300"/>
            <a:ext cx="9144000" cy="76200"/>
          </a:xfrm>
          <a:prstGeom prst="rect">
            <a:avLst/>
          </a:prstGeom>
          <a:solidFill>
            <a:srgbClr val="44546A"/>
          </a:solidFill>
        </p:spPr>
        <p:txBody>
          <a:bodyPr wrap="square" rtlCol="0" anchor="ctr"/>
          <a:lstStyle/>
          <a:p>
            <a:pPr marL="0" indent="0">
              <a:buNone/>
            </a:pPr>
            <a:endParaRPr lang="en-US" dirty="0"/>
          </a:p>
        </p:txBody>
      </p:sp>
      <p:sp>
        <p:nvSpPr>
          <p:cNvPr id="4" name="Text 2"/>
          <p:cNvSpPr/>
          <p:nvPr/>
        </p:nvSpPr>
        <p:spPr>
          <a:xfrm>
            <a:off x="7112050" y="76200"/>
            <a:ext cx="2031950" cy="355550"/>
          </a:xfrm>
          <a:prstGeom prst="rect">
            <a:avLst/>
          </a:prstGeom>
          <a:solidFill>
            <a:srgbClr val="44546A"/>
          </a:solidFill>
        </p:spPr>
        <p:txBody>
          <a:bodyPr wrap="square" rtlCol="0" anchor="ctr"/>
          <a:lstStyle/>
          <a:p>
            <a:pPr marL="0" indent="0">
              <a:buNone/>
            </a:pPr>
            <a:endParaRPr lang="en-US" dirty="0"/>
          </a:p>
        </p:txBody>
      </p:sp>
      <p:sp>
        <p:nvSpPr>
          <p:cNvPr id="5" name="Text 3"/>
          <p:cNvSpPr/>
          <p:nvPr/>
        </p:nvSpPr>
        <p:spPr>
          <a:xfrm>
            <a:off x="7612559" y="187226"/>
            <a:ext cx="1051551" cy="133350"/>
          </a:xfrm>
          <a:prstGeom prst="rect">
            <a:avLst/>
          </a:prstGeom>
          <a:noFill/>
        </p:spPr>
        <p:txBody>
          <a:bodyPr wrap="square" lIns="0" tIns="0" rIns="0" bIns="0" rtlCol="0" anchor="t"/>
          <a:lstStyle/>
          <a:p>
            <a:pPr marL="0" indent="0" algn="l">
              <a:buNone/>
            </a:pPr>
            <a:r>
              <a:rPr lang="en-US" sz="900" b="1" dirty="0">
                <a:solidFill>
                  <a:srgbClr val="FFFFFF"/>
                </a:solidFill>
                <a:latin typeface="Arial" panose="020B0604020202090204" pitchFamily="34" charset="0"/>
                <a:ea typeface="Arial" panose="020B0604020202090204" pitchFamily="34" charset="-122"/>
                <a:cs typeface="Arial" panose="020B0604020202090204" pitchFamily="34" charset="-120"/>
              </a:rPr>
              <a:t>PART II · NOVELTY</a:t>
            </a:r>
            <a:endParaRPr lang="en-US" sz="900" dirty="0"/>
          </a:p>
        </p:txBody>
      </p:sp>
      <p:sp>
        <p:nvSpPr>
          <p:cNvPr id="6" name="Text 4"/>
          <p:cNvSpPr/>
          <p:nvPr/>
        </p:nvSpPr>
        <p:spPr>
          <a:xfrm>
            <a:off x="304800" y="76200"/>
            <a:ext cx="705445" cy="190500"/>
          </a:xfrm>
          <a:prstGeom prst="roundRect">
            <a:avLst>
              <a:gd name="adj" fmla="val 20000"/>
            </a:avLst>
          </a:prstGeom>
          <a:solidFill>
            <a:srgbClr val="ED7D31"/>
          </a:solidFill>
        </p:spPr>
        <p:txBody>
          <a:bodyPr wrap="square" rtlCol="0" anchor="ctr"/>
          <a:lstStyle/>
          <a:p>
            <a:pPr marL="0" indent="0">
              <a:buNone/>
            </a:pPr>
            <a:endParaRPr lang="en-US" dirty="0"/>
          </a:p>
        </p:txBody>
      </p:sp>
      <p:sp>
        <p:nvSpPr>
          <p:cNvPr id="7" name="Text 5"/>
          <p:cNvSpPr/>
          <p:nvPr/>
        </p:nvSpPr>
        <p:spPr>
          <a:xfrm>
            <a:off x="406301" y="114300"/>
            <a:ext cx="512493" cy="114300"/>
          </a:xfrm>
          <a:prstGeom prst="rect">
            <a:avLst/>
          </a:prstGeom>
          <a:noFill/>
        </p:spPr>
        <p:txBody>
          <a:bodyPr wrap="square" lIns="0" tIns="0" rIns="0" bIns="0" rtlCol="0" anchor="t"/>
          <a:lstStyle/>
          <a:p>
            <a:pPr marL="0" indent="0" algn="l">
              <a:buNone/>
            </a:pPr>
            <a:r>
              <a:rPr lang="en-US" sz="800" b="1" dirty="0">
                <a:solidFill>
                  <a:srgbClr val="FFFFFF"/>
                </a:solidFill>
                <a:latin typeface="Arial" panose="020B0604020202090204" pitchFamily="34" charset="0"/>
                <a:ea typeface="Arial" panose="020B0604020202090204" pitchFamily="34" charset="-122"/>
                <a:cs typeface="Arial" panose="020B0604020202090204" pitchFamily="34" charset="-120"/>
              </a:rPr>
              <a:t>Analysis 2</a:t>
            </a:r>
            <a:endParaRPr lang="en-US" sz="800" dirty="0"/>
          </a:p>
        </p:txBody>
      </p:sp>
      <p:sp>
        <p:nvSpPr>
          <p:cNvPr id="8" name="Text 6"/>
          <p:cNvSpPr/>
          <p:nvPr/>
        </p:nvSpPr>
        <p:spPr>
          <a:xfrm>
            <a:off x="304800" y="381000"/>
            <a:ext cx="7124649" cy="266700"/>
          </a:xfrm>
          <a:prstGeom prst="rect">
            <a:avLst/>
          </a:prstGeom>
          <a:noFill/>
        </p:spPr>
        <p:txBody>
          <a:bodyPr wrap="square" lIns="0" tIns="0" rIns="0" bIns="0" rtlCol="0" anchor="t"/>
          <a:lstStyle/>
          <a:p>
            <a:pPr marL="0" indent="0" algn="l">
              <a:buNone/>
            </a:pPr>
            <a:r>
              <a:rPr lang="en-US" sz="1800" b="1" dirty="0">
                <a:solidFill>
                  <a:srgbClr val="44546A"/>
                </a:solidFill>
                <a:latin typeface="Arial" panose="020B0604020202090204" pitchFamily="34" charset="0"/>
                <a:ea typeface="Arial" panose="020B0604020202090204" pitchFamily="34" charset="-122"/>
                <a:cs typeface="Arial" panose="020B0604020202090204" pitchFamily="34" charset="-120"/>
              </a:rPr>
              <a:t>Novelty Analysis: Distance from Existing Literature</a:t>
            </a:r>
            <a:endParaRPr lang="en-US" sz="1800" dirty="0"/>
          </a:p>
        </p:txBody>
      </p:sp>
      <p:sp>
        <p:nvSpPr>
          <p:cNvPr id="9" name="Text 7"/>
          <p:cNvSpPr/>
          <p:nvPr/>
        </p:nvSpPr>
        <p:spPr>
          <a:xfrm>
            <a:off x="304800" y="673001"/>
            <a:ext cx="7124649" cy="142875"/>
          </a:xfrm>
          <a:prstGeom prst="rect">
            <a:avLst/>
          </a:prstGeom>
          <a:noFill/>
        </p:spPr>
        <p:txBody>
          <a:bodyPr wrap="square" lIns="0" tIns="0" rIns="0" bIns="0" rtlCol="0" anchor="t"/>
          <a:lstStyle/>
          <a:p>
            <a:pPr marL="0" indent="0" algn="l">
              <a:spcBef>
                <a:spcPts val="200"/>
              </a:spcBef>
              <a:buNone/>
            </a:pPr>
            <a:r>
              <a:rPr lang="en-US" sz="1000" dirty="0">
                <a:solidFill>
                  <a:srgbClr val="4472C4"/>
                </a:solidFill>
                <a:latin typeface="Arial" panose="020B0604020202090204" pitchFamily="34" charset="0"/>
                <a:ea typeface="Arial" panose="020B0604020202090204" pitchFamily="34" charset="-122"/>
                <a:cs typeface="Arial" panose="020B0604020202090204" pitchFamily="34" charset="-120"/>
              </a:rPr>
              <a:t>Novelty = mean cosine distance to k=10 nearest neighbors in 1,030 PubMed articles; Section 1 embeddings only</a:t>
            </a:r>
            <a:endParaRPr lang="en-US" sz="1000" dirty="0"/>
          </a:p>
        </p:txBody>
      </p:sp>
      <p:sp>
        <p:nvSpPr>
          <p:cNvPr id="10" name="Text 8"/>
          <p:cNvSpPr/>
          <p:nvPr/>
        </p:nvSpPr>
        <p:spPr>
          <a:xfrm>
            <a:off x="304800" y="812750"/>
            <a:ext cx="8534400" cy="25301"/>
          </a:xfrm>
          <a:prstGeom prst="rect">
            <a:avLst/>
          </a:prstGeom>
          <a:solidFill>
            <a:srgbClr val="4472C4"/>
          </a:solidFill>
        </p:spPr>
        <p:txBody>
          <a:bodyPr wrap="square" rtlCol="0" anchor="ctr"/>
          <a:lstStyle/>
          <a:p>
            <a:pPr marL="0" indent="0">
              <a:buNone/>
            </a:pPr>
            <a:endParaRPr lang="en-US" dirty="0"/>
          </a:p>
        </p:txBody>
      </p:sp>
      <p:sp>
        <p:nvSpPr>
          <p:cNvPr id="14" name="Text 12"/>
          <p:cNvSpPr/>
          <p:nvPr/>
        </p:nvSpPr>
        <p:spPr>
          <a:xfrm>
            <a:off x="4292501" y="914400"/>
            <a:ext cx="4546699" cy="914251"/>
          </a:xfrm>
          <a:prstGeom prst="roundRect">
            <a:avLst>
              <a:gd name="adj" fmla="val 8335"/>
            </a:avLst>
          </a:prstGeom>
          <a:solidFill>
            <a:srgbClr val="FFF4F4"/>
          </a:solidFill>
          <a:ln w="19050">
            <a:solidFill>
              <a:srgbClr val="C00000"/>
            </a:solidFill>
          </a:ln>
        </p:spPr>
        <p:txBody>
          <a:bodyPr wrap="square" rtlCol="0" anchor="ctr"/>
          <a:lstStyle/>
          <a:p>
            <a:pPr marL="0" indent="0">
              <a:buNone/>
            </a:pPr>
            <a:endParaRPr lang="en-US" dirty="0"/>
          </a:p>
        </p:txBody>
      </p:sp>
      <p:sp>
        <p:nvSpPr>
          <p:cNvPr id="15" name="Text 13"/>
          <p:cNvSpPr/>
          <p:nvPr/>
        </p:nvSpPr>
        <p:spPr>
          <a:xfrm>
            <a:off x="4489252" y="1060400"/>
            <a:ext cx="4236262" cy="171450"/>
          </a:xfrm>
          <a:prstGeom prst="rect">
            <a:avLst/>
          </a:prstGeom>
          <a:noFill/>
        </p:spPr>
        <p:txBody>
          <a:bodyPr wrap="square" lIns="0" tIns="0" rIns="0" bIns="0" rtlCol="0" anchor="t"/>
          <a:lstStyle/>
          <a:p>
            <a:pPr marL="0" indent="0" algn="l">
              <a:spcAft>
                <a:spcPts val="400"/>
              </a:spcAft>
              <a:buNone/>
            </a:pPr>
            <a:r>
              <a:rPr lang="en-US" sz="1200" b="1" dirty="0">
                <a:solidFill>
                  <a:srgbClr val="C00000"/>
                </a:solidFill>
                <a:latin typeface="Arial" panose="020B0604020202090204" pitchFamily="34" charset="0"/>
                <a:ea typeface="Arial" panose="020B0604020202090204" pitchFamily="34" charset="-122"/>
                <a:cs typeface="Arial" panose="020B0604020202090204" pitchFamily="34" charset="-120"/>
              </a:rPr>
              <a:t>Raw Novelty Gap Persists but Attenuates; Local-Density Gap Disappears</a:t>
            </a:r>
            <a:endParaRPr lang="en-US" sz="1200" dirty="0"/>
          </a:p>
        </p:txBody>
      </p:sp>
      <p:sp>
        <p:nvSpPr>
          <p:cNvPr id="16" name="Text 14"/>
          <p:cNvSpPr/>
          <p:nvPr/>
        </p:nvSpPr>
        <p:spPr>
          <a:xfrm>
            <a:off x="4489252" y="1282601"/>
            <a:ext cx="4236262" cy="400050"/>
          </a:xfrm>
          <a:prstGeom prst="rect">
            <a:avLst/>
          </a:prstGeom>
          <a:noFill/>
        </p:spPr>
        <p:txBody>
          <a:bodyPr wrap="square" lIns="0" tIns="0" rIns="0" bIns="0" rtlCol="0" anchor="t"/>
          <a:lstStyle/>
          <a:p>
            <a:pPr marL="0" indent="0" algn="l">
              <a:buNone/>
            </a:pPr>
            <a:r>
              <a:rPr lang="en-US" sz="950" dirty="0">
                <a:solidFill>
                  <a:srgbClr val="333333"/>
                </a:solidFill>
                <a:latin typeface="Arial" panose="020B0604020202090204" pitchFamily="34" charset="0"/>
                <a:ea typeface="Arial" panose="020B0604020202090204" pitchFamily="34" charset="-122"/>
                <a:cs typeface="Arial" panose="020B0604020202090204" pitchFamily="34" charset="-120"/>
              </a:rPr>
              <a:t>All AI vs. Human: δ = −0.132 (negligible), permutation p = 0.171. </a:t>
            </a:r>
            <a:r>
              <a:rPr lang="en-US" sz="950" b="1" dirty="0">
                <a:solidFill>
                  <a:srgbClr val="333333"/>
                </a:solidFill>
                <a:latin typeface="Arial" panose="020B0604020202090204" pitchFamily="34" charset="0"/>
                <a:ea typeface="Arial" panose="020B0604020202090204" pitchFamily="34" charset="-122"/>
                <a:cs typeface="Arial" panose="020B0604020202090204" pitchFamily="34" charset="-120"/>
              </a:rPr>
              <a:t>Not significant.</a:t>
            </a:r>
            <a:r>
              <a:rPr lang="en-US" sz="950" dirty="0">
                <a:solidFill>
                  <a:srgbClr val="333333"/>
                </a:solidFill>
                <a:latin typeface="Arial" panose="020B0604020202090204" pitchFamily="34" charset="0"/>
                <a:ea typeface="Arial" panose="020B0604020202090204" pitchFamily="34" charset="-122"/>
                <a:cs typeface="Arial" panose="020B0604020202090204" pitchFamily="34" charset="-120"/>
              </a:rPr>
              <a:t> Baseline showed δ = −0.34, p = 0.014 (significant human advantage). The gap was largely stylistic.</a:t>
            </a:r>
            <a:endParaRPr lang="en-US" sz="950" dirty="0"/>
          </a:p>
        </p:txBody>
      </p:sp>
      <p:sp>
        <p:nvSpPr>
          <p:cNvPr id="17" name="Text 15"/>
          <p:cNvSpPr/>
          <p:nvPr/>
        </p:nvSpPr>
        <p:spPr>
          <a:xfrm>
            <a:off x="4292501" y="1955602"/>
            <a:ext cx="2222599" cy="660053"/>
          </a:xfrm>
          <a:prstGeom prst="roundRect">
            <a:avLst>
              <a:gd name="adj" fmla="val 9620"/>
            </a:avLst>
          </a:prstGeom>
          <a:solidFill>
            <a:srgbClr val="F4F4F4"/>
          </a:solidFill>
        </p:spPr>
        <p:txBody>
          <a:bodyPr wrap="square" rtlCol="0" anchor="ctr"/>
          <a:lstStyle/>
          <a:p>
            <a:pPr marL="0" indent="0">
              <a:buNone/>
            </a:pPr>
            <a:endParaRPr lang="en-US" dirty="0"/>
          </a:p>
        </p:txBody>
      </p:sp>
      <p:sp>
        <p:nvSpPr>
          <p:cNvPr id="18" name="Text 16"/>
          <p:cNvSpPr/>
          <p:nvPr/>
        </p:nvSpPr>
        <p:spPr>
          <a:xfrm>
            <a:off x="4399764" y="2057102"/>
            <a:ext cx="2008072" cy="203150"/>
          </a:xfrm>
          <a:prstGeom prst="rect">
            <a:avLst/>
          </a:prstGeom>
          <a:noFill/>
        </p:spPr>
        <p:txBody>
          <a:bodyPr wrap="square" lIns="0" tIns="0" rIns="0" bIns="0" rtlCol="0" anchor="t"/>
          <a:lstStyle/>
          <a:p>
            <a:pPr marL="0" indent="0" algn="ctr">
              <a:lnSpc>
                <a:spcPts val="1600"/>
              </a:lnSpc>
              <a:buNone/>
            </a:pPr>
            <a:r>
              <a:rPr lang="en-US" sz="1600" b="1" dirty="0">
                <a:solidFill>
                  <a:srgbClr val="4472C4"/>
                </a:solidFill>
                <a:latin typeface="Arial" panose="020B0604020202090204" pitchFamily="34" charset="0"/>
                <a:ea typeface="Arial" panose="020B0604020202090204" pitchFamily="34" charset="-122"/>
                <a:cs typeface="Arial" panose="020B0604020202090204" pitchFamily="34" charset="-120"/>
              </a:rPr>
              <a:t>+0.016</a:t>
            </a:r>
            <a:endParaRPr lang="en-US" sz="1600" dirty="0"/>
          </a:p>
        </p:txBody>
      </p:sp>
      <p:sp>
        <p:nvSpPr>
          <p:cNvPr id="19" name="Text 17"/>
          <p:cNvSpPr/>
          <p:nvPr/>
        </p:nvSpPr>
        <p:spPr>
          <a:xfrm>
            <a:off x="4399764" y="2285554"/>
            <a:ext cx="2008072" cy="228600"/>
          </a:xfrm>
          <a:prstGeom prst="rect">
            <a:avLst/>
          </a:prstGeom>
          <a:noFill/>
        </p:spPr>
        <p:txBody>
          <a:bodyPr wrap="square" lIns="0" tIns="0" rIns="0" bIns="0" rtlCol="0" anchor="t"/>
          <a:lstStyle/>
          <a:p>
            <a:pPr marL="0" indent="0" algn="ctr">
              <a:spcBef>
                <a:spcPts val="200"/>
              </a:spcBef>
              <a:buNone/>
            </a:pPr>
            <a:r>
              <a:rPr lang="en-US" sz="800" dirty="0">
                <a:solidFill>
                  <a:srgbClr val="666666"/>
                </a:solidFill>
                <a:latin typeface="Arial" panose="020B0604020202090204" pitchFamily="34" charset="0"/>
                <a:ea typeface="Arial" panose="020B0604020202090204" pitchFamily="34" charset="-122"/>
                <a:cs typeface="Arial" panose="020B0604020202090204" pitchFamily="34" charset="-120"/>
              </a:rPr>
              <a:t>Local-density δ (All AI vs Human)</a:t>
            </a:r>
            <a:endParaRPr lang="en-US" sz="800" dirty="0"/>
          </a:p>
          <a:p>
            <a:pPr marL="0" indent="0" algn="ctr">
              <a:spcBef>
                <a:spcPts val="200"/>
              </a:spcBef>
              <a:buNone/>
            </a:pPr>
            <a:r>
              <a:rPr lang="en-US" sz="800" dirty="0">
                <a:solidFill>
                  <a:srgbClr val="666666"/>
                </a:solidFill>
                <a:latin typeface="Arial" panose="020B0604020202090204" pitchFamily="34" charset="0"/>
                <a:ea typeface="Arial" panose="020B0604020202090204" pitchFamily="34" charset="-122"/>
                <a:cs typeface="Arial" panose="020B0604020202090204" pitchFamily="34" charset="-120"/>
              </a:rPr>
              <a:t>negligible (local-density), p=0.22</a:t>
            </a:r>
            <a:endParaRPr lang="en-US" sz="800" dirty="0"/>
          </a:p>
        </p:txBody>
      </p:sp>
      <p:sp>
        <p:nvSpPr>
          <p:cNvPr id="20" name="Text 18"/>
          <p:cNvSpPr/>
          <p:nvPr/>
        </p:nvSpPr>
        <p:spPr>
          <a:xfrm>
            <a:off x="6616601" y="1955602"/>
            <a:ext cx="2222599" cy="660053"/>
          </a:xfrm>
          <a:prstGeom prst="roundRect">
            <a:avLst>
              <a:gd name="adj" fmla="val 9620"/>
            </a:avLst>
          </a:prstGeom>
          <a:solidFill>
            <a:srgbClr val="F4F4F4"/>
          </a:solidFill>
        </p:spPr>
        <p:txBody>
          <a:bodyPr wrap="square" rtlCol="0" anchor="ctr"/>
          <a:lstStyle/>
          <a:p>
            <a:pPr marL="0" indent="0">
              <a:buNone/>
            </a:pPr>
            <a:endParaRPr lang="en-US" dirty="0"/>
          </a:p>
        </p:txBody>
      </p:sp>
      <p:sp>
        <p:nvSpPr>
          <p:cNvPr id="21" name="Text 19"/>
          <p:cNvSpPr/>
          <p:nvPr/>
        </p:nvSpPr>
        <p:spPr>
          <a:xfrm>
            <a:off x="6723864" y="2057102"/>
            <a:ext cx="2008072" cy="203150"/>
          </a:xfrm>
          <a:prstGeom prst="rect">
            <a:avLst/>
          </a:prstGeom>
          <a:noFill/>
        </p:spPr>
        <p:txBody>
          <a:bodyPr wrap="square" lIns="0" tIns="0" rIns="0" bIns="0" rtlCol="0" anchor="t"/>
          <a:lstStyle/>
          <a:p>
            <a:pPr marL="0" indent="0" algn="ctr">
              <a:lnSpc>
                <a:spcPts val="1600"/>
              </a:lnSpc>
              <a:buNone/>
            </a:pPr>
            <a:r>
              <a:rPr lang="en-US" sz="1600" b="1" dirty="0">
                <a:solidFill>
                  <a:srgbClr val="4472C4"/>
                </a:solidFill>
                <a:latin typeface="Arial" panose="020B0604020202090204" pitchFamily="34" charset="0"/>
                <a:ea typeface="Arial" panose="020B0604020202090204" pitchFamily="34" charset="-122"/>
                <a:cs typeface="Arial" panose="020B0604020202090204" pitchFamily="34" charset="-120"/>
              </a:rPr>
              <a:t>−0.030</a:t>
            </a:r>
            <a:endParaRPr lang="en-US" sz="1600" dirty="0"/>
          </a:p>
        </p:txBody>
      </p:sp>
      <p:sp>
        <p:nvSpPr>
          <p:cNvPr id="22" name="Text 20"/>
          <p:cNvSpPr/>
          <p:nvPr/>
        </p:nvSpPr>
        <p:spPr>
          <a:xfrm>
            <a:off x="6723864" y="2285554"/>
            <a:ext cx="2008072" cy="228600"/>
          </a:xfrm>
          <a:prstGeom prst="rect">
            <a:avLst/>
          </a:prstGeom>
          <a:noFill/>
        </p:spPr>
        <p:txBody>
          <a:bodyPr wrap="square" lIns="0" tIns="0" rIns="0" bIns="0" rtlCol="0" anchor="t"/>
          <a:lstStyle/>
          <a:p>
            <a:pPr marL="0" indent="0" algn="ctr">
              <a:spcBef>
                <a:spcPts val="200"/>
              </a:spcBef>
              <a:buNone/>
            </a:pPr>
            <a:r>
              <a:rPr lang="en-US" sz="800" dirty="0">
                <a:solidFill>
                  <a:srgbClr val="666666"/>
                </a:solidFill>
                <a:latin typeface="Arial" panose="020B0604020202090204" pitchFamily="34" charset="0"/>
                <a:ea typeface="Arial" panose="020B0604020202090204" pitchFamily="34" charset="-122"/>
                <a:cs typeface="Arial" panose="020B0604020202090204" pitchFamily="34" charset="-120"/>
              </a:rPr>
              <a:t>Raw mean diff (AI − Human)</a:t>
            </a:r>
            <a:endParaRPr lang="en-US" sz="800" dirty="0"/>
          </a:p>
          <a:p>
            <a:pPr marL="0" indent="0" algn="ctr">
              <a:spcBef>
                <a:spcPts val="200"/>
              </a:spcBef>
              <a:buNone/>
            </a:pPr>
            <a:r>
              <a:rPr lang="en-US" sz="800" dirty="0">
                <a:solidFill>
                  <a:srgbClr val="666666"/>
                </a:solidFill>
                <a:latin typeface="Arial" panose="020B0604020202090204" pitchFamily="34" charset="0"/>
                <a:ea typeface="Arial" panose="020B0604020202090204" pitchFamily="34" charset="-122"/>
                <a:cs typeface="Arial" panose="020B0604020202090204" pitchFamily="34" charset="-120"/>
              </a:rPr>
              <a:t>95% CI 95% CI [−0.051, −0.010]</a:t>
            </a:r>
            <a:endParaRPr lang="en-US" sz="800" dirty="0"/>
          </a:p>
        </p:txBody>
      </p:sp>
      <p:sp>
        <p:nvSpPr>
          <p:cNvPr id="23" name="Text 21"/>
          <p:cNvSpPr/>
          <p:nvPr/>
        </p:nvSpPr>
        <p:spPr>
          <a:xfrm>
            <a:off x="4292501" y="2742605"/>
            <a:ext cx="4546699" cy="641152"/>
          </a:xfrm>
          <a:prstGeom prst="roundRect">
            <a:avLst>
              <a:gd name="adj" fmla="val 9904"/>
            </a:avLst>
          </a:prstGeom>
          <a:solidFill>
            <a:srgbClr val="FFFBE6"/>
          </a:solidFill>
        </p:spPr>
        <p:txBody>
          <a:bodyPr wrap="square" rtlCol="0" anchor="ctr"/>
          <a:lstStyle/>
          <a:p>
            <a:pPr marL="0" indent="0">
              <a:buNone/>
            </a:pPr>
            <a:endParaRPr lang="en-US" dirty="0"/>
          </a:p>
        </p:txBody>
      </p:sp>
      <p:sp>
        <p:nvSpPr>
          <p:cNvPr id="24" name="Shape 22"/>
          <p:cNvSpPr/>
          <p:nvPr/>
        </p:nvSpPr>
        <p:spPr>
          <a:xfrm>
            <a:off x="4311551" y="2742605"/>
            <a:ext cx="0" cy="641152"/>
          </a:xfrm>
          <a:prstGeom prst="line">
            <a:avLst/>
          </a:prstGeom>
          <a:noFill/>
          <a:ln w="38100">
            <a:solidFill>
              <a:srgbClr val="FFC000"/>
            </a:solidFill>
            <a:prstDash val="solid"/>
          </a:ln>
        </p:spPr>
      </p:sp>
      <p:sp>
        <p:nvSpPr>
          <p:cNvPr id="25" name="Text 23"/>
          <p:cNvSpPr/>
          <p:nvPr/>
        </p:nvSpPr>
        <p:spPr>
          <a:xfrm>
            <a:off x="4457551" y="2844105"/>
            <a:ext cx="4339792" cy="133350"/>
          </a:xfrm>
          <a:prstGeom prst="rect">
            <a:avLst/>
          </a:prstGeom>
          <a:noFill/>
        </p:spPr>
        <p:txBody>
          <a:bodyPr wrap="square" lIns="0" tIns="0" rIns="0" bIns="0" rtlCol="0" anchor="t"/>
          <a:lstStyle/>
          <a:p>
            <a:pPr marL="0" indent="0" algn="l">
              <a:spcAft>
                <a:spcPts val="300"/>
              </a:spcAft>
              <a:buNone/>
            </a:pPr>
            <a:r>
              <a:rPr lang="en-US" sz="950" b="1" dirty="0">
                <a:solidFill>
                  <a:srgbClr val="B8860B"/>
                </a:solidFill>
                <a:latin typeface="Arial" panose="020B0604020202090204" pitchFamily="34" charset="0"/>
                <a:ea typeface="Arial" panose="020B0604020202090204" pitchFamily="34" charset="-122"/>
                <a:cs typeface="Arial" panose="020B0604020202090204" pitchFamily="34" charset="-120"/>
              </a:rPr>
              <a:t>Most novel proposal (rephrased)</a:t>
            </a:r>
            <a:endParaRPr lang="en-US" sz="950" dirty="0"/>
          </a:p>
        </p:txBody>
      </p:sp>
      <p:sp>
        <p:nvSpPr>
          <p:cNvPr id="26" name="Text 24"/>
          <p:cNvSpPr/>
          <p:nvPr/>
        </p:nvSpPr>
        <p:spPr>
          <a:xfrm>
            <a:off x="4457551" y="3015555"/>
            <a:ext cx="4339792" cy="26670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Human: "MaiTool — LLM-powered bioinformatics tools for microbiome analysis" — novelty score 0.240. Followed by "Searching the crosslinking mass spectrometry universe" (0.230).</a:t>
            </a:r>
            <a:endParaRPr lang="en-US" sz="900" dirty="0"/>
          </a:p>
        </p:txBody>
      </p:sp>
      <p:sp>
        <p:nvSpPr>
          <p:cNvPr id="27" name="Text 25"/>
          <p:cNvSpPr/>
          <p:nvPr/>
        </p:nvSpPr>
        <p:spPr>
          <a:xfrm>
            <a:off x="4292501" y="3472607"/>
            <a:ext cx="4546699" cy="774502"/>
          </a:xfrm>
          <a:prstGeom prst="roundRect">
            <a:avLst>
              <a:gd name="adj" fmla="val 8199"/>
            </a:avLst>
          </a:prstGeom>
          <a:solidFill>
            <a:srgbClr val="F4F4F4"/>
          </a:solidFill>
        </p:spPr>
        <p:txBody>
          <a:bodyPr wrap="square" rtlCol="0" anchor="ctr"/>
          <a:lstStyle/>
          <a:p>
            <a:pPr marL="0" indent="0">
              <a:buNone/>
            </a:pPr>
            <a:endParaRPr lang="en-US" dirty="0"/>
          </a:p>
        </p:txBody>
      </p:sp>
      <p:sp>
        <p:nvSpPr>
          <p:cNvPr id="28" name="Shape 26"/>
          <p:cNvSpPr/>
          <p:nvPr/>
        </p:nvSpPr>
        <p:spPr>
          <a:xfrm>
            <a:off x="4311551" y="3472607"/>
            <a:ext cx="0" cy="774502"/>
          </a:xfrm>
          <a:prstGeom prst="line">
            <a:avLst/>
          </a:prstGeom>
          <a:noFill/>
          <a:ln w="38100">
            <a:solidFill>
              <a:srgbClr val="A5A5A5"/>
            </a:solidFill>
            <a:prstDash val="solid"/>
          </a:ln>
        </p:spPr>
      </p:sp>
      <p:sp>
        <p:nvSpPr>
          <p:cNvPr id="29" name="Text 27"/>
          <p:cNvSpPr/>
          <p:nvPr/>
        </p:nvSpPr>
        <p:spPr>
          <a:xfrm>
            <a:off x="4457551" y="3574107"/>
            <a:ext cx="4339792" cy="133350"/>
          </a:xfrm>
          <a:prstGeom prst="rect">
            <a:avLst/>
          </a:prstGeom>
          <a:noFill/>
        </p:spPr>
        <p:txBody>
          <a:bodyPr wrap="square" lIns="0" tIns="0" rIns="0" bIns="0" rtlCol="0" anchor="t"/>
          <a:lstStyle/>
          <a:p>
            <a:pPr marL="0" indent="0" algn="l">
              <a:spcAft>
                <a:spcPts val="300"/>
              </a:spcAft>
              <a:buNone/>
            </a:pPr>
            <a:r>
              <a:rPr lang="en-US" sz="950" b="1" dirty="0">
                <a:solidFill>
                  <a:srgbClr val="44546A"/>
                </a:solidFill>
                <a:latin typeface="Arial" panose="020B0604020202090204" pitchFamily="34" charset="0"/>
                <a:ea typeface="Arial" panose="020B0604020202090204" pitchFamily="34" charset="-122"/>
                <a:cs typeface="Arial" panose="020B0604020202090204" pitchFamily="34" charset="-120"/>
              </a:rPr>
              <a:t>Literature-normalized z-scores</a:t>
            </a:r>
            <a:endParaRPr lang="en-US" sz="950" dirty="0"/>
          </a:p>
        </p:txBody>
      </p:sp>
      <p:sp>
        <p:nvSpPr>
          <p:cNvPr id="30" name="Text 28"/>
          <p:cNvSpPr/>
          <p:nvPr/>
        </p:nvSpPr>
        <p:spPr>
          <a:xfrm>
            <a:off x="4457551" y="3745557"/>
            <a:ext cx="4339792" cy="40005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All groups have local-density z &gt; 0 (proposals farther from literature than local neighbors). Human z = 1.82 is highest; Gemini = 1.93, GPT = 1.47, Claude = 1.32, meaning proposals are closer to existing work than articles are to each other. Human z-score marginally higher but not significant.</a:t>
            </a:r>
            <a:endParaRPr lang="en-US" sz="900" dirty="0"/>
          </a:p>
        </p:txBody>
      </p:sp>
      <p:sp>
        <p:nvSpPr>
          <p:cNvPr id="32" name="Text 15"/>
          <p:cNvSpPr/>
          <p:nvPr/>
        </p:nvSpPr>
        <p:spPr>
          <a:xfrm>
            <a:off x="4292600" y="4272280"/>
            <a:ext cx="4547235" cy="751840"/>
          </a:xfrm>
          <a:prstGeom prst="roundRect">
            <a:avLst>
              <a:gd name="adj" fmla="val 6995"/>
            </a:avLst>
          </a:prstGeom>
          <a:solidFill>
            <a:srgbClr val="FFFBE6"/>
          </a:solidFill>
        </p:spPr>
        <p:txBody>
          <a:bodyPr wrap="square" rtlCol="0" anchor="ctr"/>
          <a:lstStyle/>
          <a:p>
            <a:pPr marL="0" indent="0">
              <a:buNone/>
            </a:pPr>
            <a:endParaRPr lang="en-US" dirty="0"/>
          </a:p>
        </p:txBody>
      </p:sp>
      <p:sp>
        <p:nvSpPr>
          <p:cNvPr id="33" name="Shape 16"/>
          <p:cNvSpPr/>
          <p:nvPr/>
        </p:nvSpPr>
        <p:spPr>
          <a:xfrm>
            <a:off x="4311650" y="4272280"/>
            <a:ext cx="635" cy="733425"/>
          </a:xfrm>
          <a:prstGeom prst="line">
            <a:avLst/>
          </a:prstGeom>
          <a:noFill/>
          <a:ln w="38100">
            <a:solidFill>
              <a:srgbClr val="FFC000"/>
            </a:solidFill>
            <a:prstDash val="solid"/>
          </a:ln>
        </p:spPr>
      </p:sp>
      <p:sp>
        <p:nvSpPr>
          <p:cNvPr id="34" name="Text 17"/>
          <p:cNvSpPr/>
          <p:nvPr/>
        </p:nvSpPr>
        <p:spPr>
          <a:xfrm>
            <a:off x="4457700" y="4373880"/>
            <a:ext cx="4265295" cy="133350"/>
          </a:xfrm>
          <a:prstGeom prst="rect">
            <a:avLst/>
          </a:prstGeom>
          <a:noFill/>
        </p:spPr>
        <p:txBody>
          <a:bodyPr wrap="square" lIns="0" tIns="0" rIns="0" bIns="0" rtlCol="0" anchor="t"/>
          <a:lstStyle/>
          <a:p>
            <a:pPr marL="0" indent="0" algn="l">
              <a:spcAft>
                <a:spcPts val="300"/>
              </a:spcAft>
              <a:buNone/>
            </a:pPr>
            <a:r>
              <a:rPr lang="en-US" sz="950" b="1" dirty="0">
                <a:solidFill>
                  <a:srgbClr val="B8860B"/>
                </a:solidFill>
                <a:latin typeface="Arial" panose="020B0604020202090204" pitchFamily="34" charset="0"/>
                <a:ea typeface="Arial" panose="020B0604020202090204" pitchFamily="34" charset="-122"/>
                <a:cs typeface="Arial" panose="020B0604020202090204" pitchFamily="34" charset="-120"/>
              </a:rPr>
              <a:t>Overlap with novelty top-10%</a:t>
            </a:r>
            <a:endParaRPr lang="en-US" sz="950" dirty="0"/>
          </a:p>
        </p:txBody>
      </p:sp>
      <p:sp>
        <p:nvSpPr>
          <p:cNvPr id="35" name="Text 18"/>
          <p:cNvSpPr/>
          <p:nvPr/>
        </p:nvSpPr>
        <p:spPr>
          <a:xfrm>
            <a:off x="4457700" y="4545330"/>
            <a:ext cx="4265295" cy="53340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6 of 10 most literature-novel proposals are Human; 2 Gemini, 1 GPT-5.2. Top NN-outliers also skew human: 7 of 10 total are human. Most novel by raw score: Human "MaiTool" (score=0.240).</a:t>
            </a:r>
            <a:endParaRPr lang="en-US" sz="900" dirty="0"/>
          </a:p>
        </p:txBody>
      </p:sp>
      <p:pic>
        <p:nvPicPr>
          <p:cNvPr id="37" name="Picture 36" descr="novelty_analysis"/>
          <p:cNvPicPr>
            <a:picLocks noChangeAspect="1"/>
          </p:cNvPicPr>
          <p:nvPr/>
        </p:nvPicPr>
        <p:blipFill>
          <a:blip r:embed="rId1"/>
          <a:srcRect l="-955" t="6407" r="49914" b="46840"/>
          <a:stretch>
            <a:fillRect/>
          </a:stretch>
        </p:blipFill>
        <p:spPr>
          <a:xfrm>
            <a:off x="55245" y="952500"/>
            <a:ext cx="4191000" cy="282765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0" y="5067300"/>
            <a:ext cx="9144000" cy="76200"/>
          </a:xfrm>
          <a:prstGeom prst="rect">
            <a:avLst/>
          </a:prstGeom>
          <a:solidFill>
            <a:srgbClr val="44546A"/>
          </a:solidFill>
        </p:spPr>
        <p:txBody>
          <a:bodyPr wrap="square" rtlCol="0" anchor="ctr"/>
          <a:lstStyle/>
          <a:p>
            <a:pPr marL="0" indent="0">
              <a:buNone/>
            </a:pPr>
            <a:endParaRPr lang="en-US" dirty="0"/>
          </a:p>
        </p:txBody>
      </p:sp>
      <p:sp>
        <p:nvSpPr>
          <p:cNvPr id="13" name="Text 11"/>
          <p:cNvSpPr/>
          <p:nvPr/>
        </p:nvSpPr>
        <p:spPr>
          <a:xfrm>
            <a:off x="5206901" y="1676102"/>
            <a:ext cx="3632299" cy="774502"/>
          </a:xfrm>
          <a:prstGeom prst="roundRect">
            <a:avLst>
              <a:gd name="adj" fmla="val 8199"/>
            </a:avLst>
          </a:prstGeom>
          <a:solidFill>
            <a:srgbClr val="FEF4EC"/>
          </a:solidFill>
        </p:spPr>
        <p:txBody>
          <a:bodyPr wrap="square" rtlCol="0" anchor="ctr"/>
          <a:lstStyle/>
          <a:p>
            <a:pPr marL="0" indent="0">
              <a:buNone/>
            </a:pPr>
            <a:endParaRPr lang="en-US" dirty="0"/>
          </a:p>
        </p:txBody>
      </p:sp>
      <p:sp>
        <p:nvSpPr>
          <p:cNvPr id="27" name="Text 10"/>
          <p:cNvSpPr/>
          <p:nvPr/>
        </p:nvSpPr>
        <p:spPr>
          <a:xfrm>
            <a:off x="111760" y="2872740"/>
            <a:ext cx="2620645" cy="378460"/>
          </a:xfrm>
          <a:prstGeom prst="rect">
            <a:avLst/>
          </a:prstGeom>
          <a:noFill/>
        </p:spPr>
        <p:txBody>
          <a:bodyPr wrap="square" lIns="0" tIns="0" rIns="0" bIns="0" rtlCol="0" anchor="t"/>
          <a:lstStyle/>
          <a:p>
            <a:pPr marL="0" indent="0" algn="l">
              <a:spcAft>
                <a:spcPts val="400"/>
              </a:spcAft>
              <a:buNone/>
            </a:pPr>
            <a:r>
              <a:rPr lang="en-US" sz="950" b="1" dirty="0">
                <a:solidFill>
                  <a:srgbClr val="4472C4"/>
                </a:solidFill>
                <a:latin typeface="Arial" panose="020B0604020202090204" pitchFamily="34" charset="0"/>
                <a:ea typeface="Arial" panose="020B0604020202090204" pitchFamily="34" charset="-122"/>
                <a:cs typeface="Arial" panose="020B0604020202090204" pitchFamily="34" charset="-120"/>
              </a:rPr>
              <a:t>Literature Corpus (Expanded: 350 → 1,030 articles via 35 targeted queries)</a:t>
            </a:r>
            <a:endParaRPr lang="en-US" sz="950" dirty="0"/>
          </a:p>
        </p:txBody>
      </p:sp>
      <p:sp>
        <p:nvSpPr>
          <p:cNvPr id="28" name="Text 11"/>
          <p:cNvSpPr/>
          <p:nvPr/>
        </p:nvSpPr>
        <p:spPr>
          <a:xfrm>
            <a:off x="111760" y="3251200"/>
            <a:ext cx="2510790" cy="762000"/>
          </a:xfrm>
          <a:prstGeom prst="rect">
            <a:avLst/>
          </a:prstGeom>
          <a:noFill/>
        </p:spPr>
        <p:txBody>
          <a:bodyPr wrap="square" lIns="88900" tIns="0" rIns="0" bIns="0" rtlCol="0" anchor="t"/>
          <a:lstStyle/>
          <a:p>
            <a:pPr marL="88900" indent="-88900" algn="l">
              <a:spcAft>
                <a:spcPts val="200"/>
              </a:spcAft>
              <a:buSzPct val="100000"/>
              <a:buChar char="•"/>
            </a:pPr>
            <a:r>
              <a:rPr lang="en-US" sz="850" dirty="0">
                <a:solidFill>
                  <a:srgbClr val="444444"/>
                </a:solidFill>
                <a:latin typeface="Arial" panose="020B0604020202090204" pitchFamily="34" charset="0"/>
                <a:ea typeface="Arial" panose="020B0604020202090204" pitchFamily="34" charset="-122"/>
                <a:cs typeface="Arial" panose="020B0604020202090204" pitchFamily="34" charset="-120"/>
              </a:rPr>
              <a:t>1,030 PubMed articles, 35 targeted queries</a:t>
            </a:r>
            <a:endParaRPr lang="en-US" sz="850" dirty="0"/>
          </a:p>
          <a:p>
            <a:pPr marL="88900" indent="-88900" algn="l">
              <a:spcAft>
                <a:spcPts val="200"/>
              </a:spcAft>
              <a:buSzPct val="100000"/>
              <a:buChar char="•"/>
            </a:pPr>
            <a:r>
              <a:rPr lang="en-US" sz="850" dirty="0">
                <a:solidFill>
                  <a:srgbClr val="444444"/>
                </a:solidFill>
                <a:latin typeface="Arial" panose="020B0604020202090204" pitchFamily="34" charset="0"/>
                <a:ea typeface="Arial" panose="020B0604020202090204" pitchFamily="34" charset="-122"/>
                <a:cs typeface="Arial" panose="020B0604020202090204" pitchFamily="34" charset="-120"/>
              </a:rPr>
              <a:t>Topics: emergent phenomena, condensates, omics, AI/ML, systems biology</a:t>
            </a:r>
            <a:endParaRPr lang="en-US" sz="850" dirty="0"/>
          </a:p>
          <a:p>
            <a:pPr marL="88900" indent="-88900" algn="l">
              <a:spcAft>
                <a:spcPts val="200"/>
              </a:spcAft>
              <a:buSzPct val="100000"/>
              <a:buChar char="•"/>
            </a:pPr>
            <a:r>
              <a:rPr lang="en-US" sz="850" dirty="0">
                <a:solidFill>
                  <a:srgbClr val="444444"/>
                </a:solidFill>
                <a:latin typeface="Arial" panose="020B0604020202090204" pitchFamily="34" charset="0"/>
                <a:ea typeface="Arial" panose="020B0604020202090204" pitchFamily="34" charset="-122"/>
                <a:cs typeface="Arial" panose="020B0604020202090204" pitchFamily="34" charset="-120"/>
              </a:rPr>
              <a:t>Within-corpus mean NN dist: 0.110 ± 0.058</a:t>
            </a:r>
            <a:endParaRPr lang="en-US" sz="850" dirty="0"/>
          </a:p>
          <a:p>
            <a:pPr marL="88900" indent="-88900" algn="l">
              <a:spcAft>
                <a:spcPts val="200"/>
              </a:spcAft>
              <a:buSzPct val="100000"/>
              <a:buChar char="•"/>
            </a:pPr>
            <a:r>
              <a:rPr lang="en-US" sz="850" dirty="0">
                <a:solidFill>
                  <a:srgbClr val="444444"/>
                </a:solidFill>
                <a:latin typeface="Arial" panose="020B0604020202090204" pitchFamily="34" charset="0"/>
                <a:ea typeface="Arial" panose="020B0604020202090204" pitchFamily="34" charset="-122"/>
                <a:cs typeface="Arial" panose="020B0604020202090204" pitchFamily="34" charset="-120"/>
              </a:rPr>
              <a:t>Proposals embedded using Section 1 only (fair comparison with abstracts)</a:t>
            </a:r>
            <a:endParaRPr lang="en-US" sz="850" dirty="0"/>
          </a:p>
        </p:txBody>
      </p:sp>
      <p:pic>
        <p:nvPicPr>
          <p:cNvPr id="29" name="Picture 28" descr="literature_corpus_overview"/>
          <p:cNvPicPr>
            <a:picLocks noChangeAspect="1"/>
          </p:cNvPicPr>
          <p:nvPr/>
        </p:nvPicPr>
        <p:blipFill>
          <a:blip r:embed="rId1"/>
          <a:stretch>
            <a:fillRect/>
          </a:stretch>
        </p:blipFill>
        <p:spPr>
          <a:xfrm>
            <a:off x="2634615" y="0"/>
            <a:ext cx="6440805" cy="480441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6" name="Picture 25" descr="proposals_in_literature_space_by_year"/>
          <p:cNvPicPr>
            <a:picLocks noChangeAspect="1"/>
          </p:cNvPicPr>
          <p:nvPr/>
        </p:nvPicPr>
        <p:blipFill>
          <a:blip r:embed="rId1"/>
          <a:srcRect l="50241" t="12066"/>
          <a:stretch>
            <a:fillRect/>
          </a:stretch>
        </p:blipFill>
        <p:spPr>
          <a:xfrm>
            <a:off x="104775" y="915035"/>
            <a:ext cx="4681220" cy="3970655"/>
          </a:xfrm>
          <a:prstGeom prst="rect">
            <a:avLst/>
          </a:prstGeom>
        </p:spPr>
      </p:pic>
      <p:sp>
        <p:nvSpPr>
          <p:cNvPr id="2" name="Text 0"/>
          <p:cNvSpPr/>
          <p:nvPr/>
        </p:nvSpPr>
        <p:spPr>
          <a:xfrm>
            <a:off x="0" y="0"/>
            <a:ext cx="9144000" cy="76200"/>
          </a:xfrm>
          <a:prstGeom prst="rect">
            <a:avLst/>
          </a:prstGeom>
          <a:solidFill>
            <a:srgbClr val="4472C4"/>
          </a:solidFill>
        </p:spPr>
        <p:txBody>
          <a:bodyPr wrap="square" rtlCol="0" anchor="ctr"/>
          <a:lstStyle/>
          <a:p>
            <a:pPr marL="0" indent="0">
              <a:buNone/>
            </a:pPr>
            <a:endParaRPr lang="en-US" dirty="0"/>
          </a:p>
        </p:txBody>
      </p:sp>
      <p:sp>
        <p:nvSpPr>
          <p:cNvPr id="4" name="Text 2"/>
          <p:cNvSpPr/>
          <p:nvPr/>
        </p:nvSpPr>
        <p:spPr>
          <a:xfrm>
            <a:off x="7112050" y="76200"/>
            <a:ext cx="2031950" cy="355550"/>
          </a:xfrm>
          <a:prstGeom prst="rect">
            <a:avLst/>
          </a:prstGeom>
          <a:solidFill>
            <a:srgbClr val="44546A"/>
          </a:solidFill>
        </p:spPr>
        <p:txBody>
          <a:bodyPr wrap="square" rtlCol="0" anchor="ctr"/>
          <a:lstStyle/>
          <a:p>
            <a:pPr marL="0" indent="0">
              <a:buNone/>
            </a:pPr>
            <a:endParaRPr lang="en-US" dirty="0"/>
          </a:p>
        </p:txBody>
      </p:sp>
      <p:sp>
        <p:nvSpPr>
          <p:cNvPr id="5" name="Text 3"/>
          <p:cNvSpPr/>
          <p:nvPr/>
        </p:nvSpPr>
        <p:spPr>
          <a:xfrm>
            <a:off x="7612559" y="187226"/>
            <a:ext cx="1051551" cy="133350"/>
          </a:xfrm>
          <a:prstGeom prst="rect">
            <a:avLst/>
          </a:prstGeom>
          <a:noFill/>
        </p:spPr>
        <p:txBody>
          <a:bodyPr wrap="square" lIns="0" tIns="0" rIns="0" bIns="0" rtlCol="0" anchor="t"/>
          <a:lstStyle/>
          <a:p>
            <a:pPr marL="0" indent="0" algn="l">
              <a:buNone/>
            </a:pPr>
            <a:r>
              <a:rPr lang="en-US" sz="900" b="1" dirty="0">
                <a:solidFill>
                  <a:srgbClr val="FFFFFF"/>
                </a:solidFill>
                <a:latin typeface="Arial" panose="020B0604020202090204" pitchFamily="34" charset="0"/>
                <a:ea typeface="Arial" panose="020B0604020202090204" pitchFamily="34" charset="-122"/>
                <a:cs typeface="Arial" panose="020B0604020202090204" pitchFamily="34" charset="-120"/>
              </a:rPr>
              <a:t>PART II · NOVELTY</a:t>
            </a:r>
            <a:endParaRPr lang="en-US" sz="900" dirty="0"/>
          </a:p>
        </p:txBody>
      </p:sp>
      <p:sp>
        <p:nvSpPr>
          <p:cNvPr id="6" name="Text 4"/>
          <p:cNvSpPr/>
          <p:nvPr/>
        </p:nvSpPr>
        <p:spPr>
          <a:xfrm>
            <a:off x="304800" y="177701"/>
            <a:ext cx="7124649" cy="295275"/>
          </a:xfrm>
          <a:prstGeom prst="rect">
            <a:avLst/>
          </a:prstGeom>
          <a:noFill/>
        </p:spPr>
        <p:txBody>
          <a:bodyPr wrap="square" lIns="0" tIns="0" rIns="0" bIns="0" rtlCol="0" anchor="t"/>
          <a:lstStyle/>
          <a:p>
            <a:pPr marL="0" indent="0" algn="l">
              <a:buNone/>
            </a:pPr>
            <a:r>
              <a:rPr lang="en-US" sz="2000" b="1" dirty="0">
                <a:solidFill>
                  <a:srgbClr val="44546A"/>
                </a:solidFill>
                <a:latin typeface="Arial" panose="020B0604020202090204" pitchFamily="34" charset="0"/>
                <a:ea typeface="Arial" panose="020B0604020202090204" pitchFamily="34" charset="-122"/>
                <a:cs typeface="Arial" panose="020B0604020202090204" pitchFamily="34" charset="-120"/>
              </a:rPr>
              <a:t>Proposals in Literature Embedding Space</a:t>
            </a:r>
            <a:endParaRPr lang="en-US" sz="2000" dirty="0"/>
          </a:p>
        </p:txBody>
      </p:sp>
      <p:sp>
        <p:nvSpPr>
          <p:cNvPr id="7" name="Text 5"/>
          <p:cNvSpPr/>
          <p:nvPr/>
        </p:nvSpPr>
        <p:spPr>
          <a:xfrm>
            <a:off x="304800" y="498277"/>
            <a:ext cx="7124649" cy="142875"/>
          </a:xfrm>
          <a:prstGeom prst="rect">
            <a:avLst/>
          </a:prstGeom>
          <a:noFill/>
        </p:spPr>
        <p:txBody>
          <a:bodyPr wrap="square" lIns="0" tIns="0" rIns="0" bIns="0" rtlCol="0" anchor="t"/>
          <a:lstStyle/>
          <a:p>
            <a:pPr marL="0" indent="0" algn="l">
              <a:spcBef>
                <a:spcPts val="200"/>
              </a:spcBef>
              <a:buNone/>
            </a:pPr>
            <a:r>
              <a:rPr lang="en-US" sz="1000" dirty="0">
                <a:solidFill>
                  <a:srgbClr val="4472C4"/>
                </a:solidFill>
                <a:latin typeface="Arial" panose="020B0604020202090204" pitchFamily="34" charset="0"/>
                <a:ea typeface="Arial" panose="020B0604020202090204" pitchFamily="34" charset="-122"/>
                <a:cs typeface="Arial" panose="020B0604020202090204" pitchFamily="34" charset="-120"/>
              </a:rPr>
              <a:t>UMAP fit on 1,030 PubMed articles (gray); proposals projected into literature coordinate system</a:t>
            </a:r>
            <a:endParaRPr lang="en-US" sz="1000" dirty="0"/>
          </a:p>
        </p:txBody>
      </p:sp>
      <p:sp>
        <p:nvSpPr>
          <p:cNvPr id="8" name="Text 6"/>
          <p:cNvSpPr/>
          <p:nvPr/>
        </p:nvSpPr>
        <p:spPr>
          <a:xfrm>
            <a:off x="304800" y="711101"/>
            <a:ext cx="8534400" cy="25301"/>
          </a:xfrm>
          <a:prstGeom prst="rect">
            <a:avLst/>
          </a:prstGeom>
          <a:solidFill>
            <a:srgbClr val="4472C4"/>
          </a:solidFill>
        </p:spPr>
        <p:txBody>
          <a:bodyPr wrap="square" rtlCol="0" anchor="ctr"/>
          <a:lstStyle/>
          <a:p>
            <a:pPr marL="0" indent="0">
              <a:buNone/>
            </a:pPr>
            <a:endParaRPr lang="en-US" dirty="0"/>
          </a:p>
        </p:txBody>
      </p:sp>
      <p:sp>
        <p:nvSpPr>
          <p:cNvPr id="9" name="Text 7"/>
          <p:cNvSpPr/>
          <p:nvPr/>
        </p:nvSpPr>
        <p:spPr>
          <a:xfrm>
            <a:off x="4908451" y="1127075"/>
            <a:ext cx="3632299" cy="774502"/>
          </a:xfrm>
          <a:prstGeom prst="roundRect">
            <a:avLst>
              <a:gd name="adj" fmla="val 8199"/>
            </a:avLst>
          </a:prstGeom>
          <a:solidFill>
            <a:srgbClr val="EEF2FA"/>
          </a:solidFill>
        </p:spPr>
        <p:txBody>
          <a:bodyPr wrap="square" rtlCol="0" anchor="ctr"/>
          <a:lstStyle/>
          <a:p>
            <a:pPr marL="0" indent="0">
              <a:buNone/>
            </a:pPr>
            <a:endParaRPr lang="en-US" dirty="0"/>
          </a:p>
        </p:txBody>
      </p:sp>
      <p:sp>
        <p:nvSpPr>
          <p:cNvPr id="10" name="Shape 8"/>
          <p:cNvSpPr/>
          <p:nvPr/>
        </p:nvSpPr>
        <p:spPr>
          <a:xfrm>
            <a:off x="4908451" y="1127075"/>
            <a:ext cx="0" cy="774502"/>
          </a:xfrm>
          <a:prstGeom prst="line">
            <a:avLst/>
          </a:prstGeom>
          <a:noFill/>
          <a:ln w="38100">
            <a:solidFill>
              <a:srgbClr val="4472C4"/>
            </a:solidFill>
            <a:prstDash val="solid"/>
          </a:ln>
        </p:spPr>
      </p:sp>
      <p:sp>
        <p:nvSpPr>
          <p:cNvPr id="11" name="Text 9"/>
          <p:cNvSpPr/>
          <p:nvPr/>
        </p:nvSpPr>
        <p:spPr>
          <a:xfrm>
            <a:off x="5073501" y="1228576"/>
            <a:ext cx="3407104" cy="133350"/>
          </a:xfrm>
          <a:prstGeom prst="rect">
            <a:avLst/>
          </a:prstGeom>
          <a:noFill/>
        </p:spPr>
        <p:txBody>
          <a:bodyPr wrap="square" lIns="0" tIns="0" rIns="0" bIns="0" rtlCol="0" anchor="t"/>
          <a:lstStyle/>
          <a:p>
            <a:pPr marL="0" indent="0" algn="l">
              <a:spcAft>
                <a:spcPts val="300"/>
              </a:spcAft>
              <a:buNone/>
            </a:pPr>
            <a:r>
              <a:rPr lang="en-US" sz="950" b="1" dirty="0">
                <a:solidFill>
                  <a:srgbClr val="4472C4"/>
                </a:solidFill>
                <a:latin typeface="Arial" panose="020B0604020202090204" pitchFamily="34" charset="0"/>
                <a:ea typeface="Arial" panose="020B0604020202090204" pitchFamily="34" charset="-122"/>
                <a:cs typeface="Arial" panose="020B0604020202090204" pitchFamily="34" charset="-120"/>
              </a:rPr>
              <a:t>Mixed peripheral positioning</a:t>
            </a:r>
            <a:endParaRPr lang="en-US" sz="950" dirty="0"/>
          </a:p>
        </p:txBody>
      </p:sp>
      <p:sp>
        <p:nvSpPr>
          <p:cNvPr id="12" name="Text 10"/>
          <p:cNvSpPr/>
          <p:nvPr/>
        </p:nvSpPr>
        <p:spPr>
          <a:xfrm>
            <a:off x="5073501" y="1400026"/>
            <a:ext cx="3407104" cy="40005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Human proposals are no longer clearly more peripheral than AI proposals after rephrasing. All groups sit at the edges of dense literature regions, consistent with the non-significant novelty test.</a:t>
            </a:r>
            <a:endParaRPr lang="en-US" sz="900" dirty="0"/>
          </a:p>
        </p:txBody>
      </p:sp>
      <p:sp>
        <p:nvSpPr>
          <p:cNvPr id="14" name="Shape 12"/>
          <p:cNvSpPr/>
          <p:nvPr/>
        </p:nvSpPr>
        <p:spPr>
          <a:xfrm>
            <a:off x="4908451" y="2062182"/>
            <a:ext cx="0" cy="774502"/>
          </a:xfrm>
          <a:prstGeom prst="line">
            <a:avLst/>
          </a:prstGeom>
          <a:noFill/>
          <a:ln w="38100">
            <a:solidFill>
              <a:srgbClr val="ED7D31"/>
            </a:solidFill>
            <a:prstDash val="solid"/>
          </a:ln>
        </p:spPr>
      </p:sp>
      <p:sp>
        <p:nvSpPr>
          <p:cNvPr id="15" name="Text 13"/>
          <p:cNvSpPr/>
          <p:nvPr/>
        </p:nvSpPr>
        <p:spPr>
          <a:xfrm>
            <a:off x="5054451" y="2122408"/>
            <a:ext cx="3407104" cy="133350"/>
          </a:xfrm>
          <a:prstGeom prst="rect">
            <a:avLst/>
          </a:prstGeom>
          <a:noFill/>
        </p:spPr>
        <p:txBody>
          <a:bodyPr wrap="square" lIns="0" tIns="0" rIns="0" bIns="0" rtlCol="0" anchor="t"/>
          <a:lstStyle/>
          <a:p>
            <a:pPr marL="0" indent="0" algn="l">
              <a:spcAft>
                <a:spcPts val="300"/>
              </a:spcAft>
              <a:buNone/>
            </a:pPr>
            <a:r>
              <a:rPr lang="en-US" sz="950" b="1" dirty="0">
                <a:solidFill>
                  <a:srgbClr val="C55A11"/>
                </a:solidFill>
                <a:latin typeface="Arial" panose="020B0604020202090204" pitchFamily="34" charset="0"/>
                <a:ea typeface="Arial" panose="020B0604020202090204" pitchFamily="34" charset="-122"/>
                <a:cs typeface="Arial" panose="020B0604020202090204" pitchFamily="34" charset="-120"/>
              </a:rPr>
              <a:t>Claude-Opus-4.5 compact cluster</a:t>
            </a:r>
            <a:endParaRPr lang="en-US" sz="950" dirty="0"/>
          </a:p>
        </p:txBody>
      </p:sp>
      <p:sp>
        <p:nvSpPr>
          <p:cNvPr id="16" name="Text 14"/>
          <p:cNvSpPr/>
          <p:nvPr/>
        </p:nvSpPr>
        <p:spPr>
          <a:xfrm>
            <a:off x="5053816" y="2292588"/>
            <a:ext cx="3407104" cy="40005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Claude proposals remain tightly clustered in one region of literature space, consistent with mode collapse in diversity analyses. GPT-5.2 shows more spread across literature regions.</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4472C4"/>
          </a:solidFill>
        </p:spPr>
        <p:txBody>
          <a:bodyPr wrap="square" rtlCol="0" anchor="ctr"/>
          <a:lstStyle/>
          <a:p>
            <a:pPr marL="0" indent="0">
              <a:buNone/>
            </a:pPr>
            <a:endParaRPr lang="en-US" dirty="0"/>
          </a:p>
        </p:txBody>
      </p:sp>
      <p:sp>
        <p:nvSpPr>
          <p:cNvPr id="3" name="Text 1"/>
          <p:cNvSpPr/>
          <p:nvPr/>
        </p:nvSpPr>
        <p:spPr>
          <a:xfrm>
            <a:off x="0" y="5067300"/>
            <a:ext cx="9144000" cy="76200"/>
          </a:xfrm>
          <a:prstGeom prst="rect">
            <a:avLst/>
          </a:prstGeom>
          <a:solidFill>
            <a:srgbClr val="44546A"/>
          </a:solidFill>
        </p:spPr>
        <p:txBody>
          <a:bodyPr wrap="square" rtlCol="0" anchor="ctr"/>
          <a:lstStyle/>
          <a:p>
            <a:pPr marL="0" indent="0">
              <a:buNone/>
            </a:pPr>
            <a:endParaRPr lang="en-US" dirty="0"/>
          </a:p>
        </p:txBody>
      </p:sp>
      <p:sp>
        <p:nvSpPr>
          <p:cNvPr id="4" name="Text 2"/>
          <p:cNvSpPr/>
          <p:nvPr/>
        </p:nvSpPr>
        <p:spPr>
          <a:xfrm>
            <a:off x="7112050" y="76200"/>
            <a:ext cx="2031950" cy="355550"/>
          </a:xfrm>
          <a:prstGeom prst="rect">
            <a:avLst/>
          </a:prstGeom>
          <a:solidFill>
            <a:srgbClr val="44546A"/>
          </a:solidFill>
        </p:spPr>
        <p:txBody>
          <a:bodyPr wrap="square" rtlCol="0" anchor="ctr"/>
          <a:lstStyle/>
          <a:p>
            <a:pPr marL="0" indent="0">
              <a:buNone/>
            </a:pPr>
            <a:endParaRPr lang="en-US" dirty="0"/>
          </a:p>
        </p:txBody>
      </p:sp>
      <p:sp>
        <p:nvSpPr>
          <p:cNvPr id="5" name="Text 3"/>
          <p:cNvSpPr/>
          <p:nvPr/>
        </p:nvSpPr>
        <p:spPr>
          <a:xfrm>
            <a:off x="7571333" y="187226"/>
            <a:ext cx="1135651" cy="133350"/>
          </a:xfrm>
          <a:prstGeom prst="rect">
            <a:avLst/>
          </a:prstGeom>
          <a:noFill/>
        </p:spPr>
        <p:txBody>
          <a:bodyPr wrap="square" lIns="0" tIns="0" rIns="0" bIns="0" rtlCol="0" anchor="t"/>
          <a:lstStyle/>
          <a:p>
            <a:pPr marL="0" indent="0" algn="l">
              <a:buNone/>
            </a:pPr>
            <a:r>
              <a:rPr lang="en-US" sz="900" b="1" dirty="0">
                <a:solidFill>
                  <a:srgbClr val="FFFFFF"/>
                </a:solidFill>
                <a:latin typeface="Arial" panose="020B0604020202090204" pitchFamily="34" charset="0"/>
                <a:ea typeface="Arial" panose="020B0604020202090204" pitchFamily="34" charset="-122"/>
                <a:cs typeface="Arial" panose="020B0604020202090204" pitchFamily="34" charset="-120"/>
              </a:rPr>
              <a:t>PART III · THEMATIC</a:t>
            </a:r>
            <a:endParaRPr lang="en-US" sz="900" dirty="0"/>
          </a:p>
        </p:txBody>
      </p:sp>
      <p:sp>
        <p:nvSpPr>
          <p:cNvPr id="6" name="Text 4"/>
          <p:cNvSpPr/>
          <p:nvPr/>
        </p:nvSpPr>
        <p:spPr>
          <a:xfrm>
            <a:off x="304800" y="76200"/>
            <a:ext cx="1015901" cy="190500"/>
          </a:xfrm>
          <a:prstGeom prst="roundRect">
            <a:avLst>
              <a:gd name="adj" fmla="val 20000"/>
            </a:avLst>
          </a:prstGeom>
          <a:solidFill>
            <a:srgbClr val="70AD47"/>
          </a:solidFill>
        </p:spPr>
        <p:txBody>
          <a:bodyPr wrap="square" rtlCol="0" anchor="ctr"/>
          <a:lstStyle/>
          <a:p>
            <a:pPr marL="0" indent="0">
              <a:buNone/>
            </a:pPr>
            <a:endParaRPr lang="en-US" dirty="0"/>
          </a:p>
        </p:txBody>
      </p:sp>
      <p:sp>
        <p:nvSpPr>
          <p:cNvPr id="7" name="Text 5"/>
          <p:cNvSpPr/>
          <p:nvPr/>
        </p:nvSpPr>
        <p:spPr>
          <a:xfrm>
            <a:off x="406301" y="114300"/>
            <a:ext cx="829157" cy="114300"/>
          </a:xfrm>
          <a:prstGeom prst="rect">
            <a:avLst/>
          </a:prstGeom>
          <a:noFill/>
        </p:spPr>
        <p:txBody>
          <a:bodyPr wrap="square" lIns="0" tIns="0" rIns="0" bIns="0" rtlCol="0" anchor="t"/>
          <a:lstStyle/>
          <a:p>
            <a:pPr marL="0" indent="0" algn="l">
              <a:buNone/>
            </a:pPr>
            <a:r>
              <a:rPr lang="en-US" sz="800" b="1" dirty="0">
                <a:solidFill>
                  <a:srgbClr val="FFFFFF"/>
                </a:solidFill>
                <a:latin typeface="Arial" panose="020B0604020202090204" pitchFamily="34" charset="0"/>
                <a:ea typeface="Arial" panose="020B0604020202090204" pitchFamily="34" charset="-122"/>
                <a:cs typeface="Arial" panose="020B0604020202090204" pitchFamily="34" charset="-120"/>
              </a:rPr>
              <a:t>Analyses 3.1–3.4</a:t>
            </a:r>
            <a:endParaRPr lang="en-US" sz="800" dirty="0"/>
          </a:p>
        </p:txBody>
      </p:sp>
      <p:sp>
        <p:nvSpPr>
          <p:cNvPr id="8" name="Text 6"/>
          <p:cNvSpPr/>
          <p:nvPr/>
        </p:nvSpPr>
        <p:spPr>
          <a:xfrm>
            <a:off x="304800" y="381000"/>
            <a:ext cx="7124649" cy="266700"/>
          </a:xfrm>
          <a:prstGeom prst="rect">
            <a:avLst/>
          </a:prstGeom>
          <a:noFill/>
        </p:spPr>
        <p:txBody>
          <a:bodyPr wrap="square" lIns="0" tIns="0" rIns="0" bIns="0" rtlCol="0" anchor="t"/>
          <a:lstStyle/>
          <a:p>
            <a:pPr marL="0" indent="0" algn="l">
              <a:buNone/>
            </a:pPr>
            <a:r>
              <a:rPr lang="en-US" sz="1800" b="1" dirty="0">
                <a:solidFill>
                  <a:srgbClr val="44546A"/>
                </a:solidFill>
                <a:latin typeface="Arial" panose="020B0604020202090204" pitchFamily="34" charset="0"/>
                <a:ea typeface="Arial" panose="020B0604020202090204" pitchFamily="34" charset="-122"/>
                <a:cs typeface="Arial" panose="020B0604020202090204" pitchFamily="34" charset="-120"/>
              </a:rPr>
              <a:t>Thematic &amp; Cluster Analysis</a:t>
            </a:r>
            <a:endParaRPr lang="en-US" sz="1800" dirty="0"/>
          </a:p>
        </p:txBody>
      </p:sp>
      <p:sp>
        <p:nvSpPr>
          <p:cNvPr id="9" name="Text 7"/>
          <p:cNvSpPr/>
          <p:nvPr/>
        </p:nvSpPr>
        <p:spPr>
          <a:xfrm>
            <a:off x="304800" y="673001"/>
            <a:ext cx="7124649" cy="142875"/>
          </a:xfrm>
          <a:prstGeom prst="rect">
            <a:avLst/>
          </a:prstGeom>
          <a:noFill/>
        </p:spPr>
        <p:txBody>
          <a:bodyPr wrap="square" lIns="0" tIns="0" rIns="0" bIns="0" rtlCol="0" anchor="t"/>
          <a:lstStyle/>
          <a:p>
            <a:pPr marL="0" indent="0" algn="l">
              <a:spcBef>
                <a:spcPts val="200"/>
              </a:spcBef>
              <a:buNone/>
            </a:pPr>
            <a:r>
              <a:rPr lang="en-US" sz="1000" dirty="0">
                <a:solidFill>
                  <a:srgbClr val="4472C4"/>
                </a:solidFill>
                <a:latin typeface="Arial" panose="020B0604020202090204" pitchFamily="34" charset="0"/>
                <a:ea typeface="Arial" panose="020B0604020202090204" pitchFamily="34" charset="-122"/>
                <a:cs typeface="Arial" panose="020B0604020202090204" pitchFamily="34" charset="-120"/>
              </a:rPr>
              <a:t>LDA topic modeling (k=5) and GMM clustering (k=3, BIC) on rephrased proposals</a:t>
            </a:r>
            <a:endParaRPr lang="en-US" sz="1000" dirty="0"/>
          </a:p>
        </p:txBody>
      </p:sp>
      <p:sp>
        <p:nvSpPr>
          <p:cNvPr id="10" name="Text 8"/>
          <p:cNvSpPr/>
          <p:nvPr/>
        </p:nvSpPr>
        <p:spPr>
          <a:xfrm>
            <a:off x="304800" y="812750"/>
            <a:ext cx="8534400" cy="25301"/>
          </a:xfrm>
          <a:prstGeom prst="rect">
            <a:avLst/>
          </a:prstGeom>
          <a:solidFill>
            <a:srgbClr val="4472C4"/>
          </a:solidFill>
        </p:spPr>
        <p:txBody>
          <a:bodyPr wrap="square" rtlCol="0" anchor="ctr"/>
          <a:lstStyle/>
          <a:p>
            <a:pPr marL="0" indent="0">
              <a:buNone/>
            </a:pPr>
            <a:endParaRPr lang="en-US" dirty="0"/>
          </a:p>
        </p:txBody>
      </p:sp>
      <p:sp>
        <p:nvSpPr>
          <p:cNvPr id="11" name="Text 9"/>
          <p:cNvSpPr/>
          <p:nvPr/>
        </p:nvSpPr>
        <p:spPr>
          <a:xfrm>
            <a:off x="269240" y="3086100"/>
            <a:ext cx="3627069" cy="114300"/>
          </a:xfrm>
          <a:prstGeom prst="rect">
            <a:avLst/>
          </a:prstGeom>
          <a:noFill/>
        </p:spPr>
        <p:txBody>
          <a:bodyPr wrap="square" lIns="0" tIns="0" rIns="0" bIns="0" rtlCol="0" anchor="t"/>
          <a:lstStyle/>
          <a:p>
            <a:pPr marL="0" indent="0" algn="ctr">
              <a:spcBef>
                <a:spcPts val="300"/>
              </a:spcBef>
              <a:spcAft>
                <a:spcPts val="600"/>
              </a:spcAft>
              <a:buNone/>
            </a:pPr>
            <a:r>
              <a:rPr lang="en-US" sz="800" dirty="0">
                <a:solidFill>
                  <a:srgbClr val="666666"/>
                </a:solidFill>
                <a:latin typeface="Arial" panose="020B0604020202090204" pitchFamily="34" charset="0"/>
                <a:ea typeface="Arial" panose="020B0604020202090204" pitchFamily="34" charset="-122"/>
                <a:cs typeface="Arial" panose="020B0604020202090204" pitchFamily="34" charset="-120"/>
              </a:rPr>
              <a:t>Topic distribution (soft assignment, &gt;20% probability threshold)</a:t>
            </a:r>
            <a:endParaRPr lang="en-US" sz="800" dirty="0"/>
          </a:p>
        </p:txBody>
      </p:sp>
      <p:sp>
        <p:nvSpPr>
          <p:cNvPr id="12" name="Text 10"/>
          <p:cNvSpPr/>
          <p:nvPr/>
        </p:nvSpPr>
        <p:spPr>
          <a:xfrm>
            <a:off x="4038451" y="914400"/>
            <a:ext cx="4800749" cy="774502"/>
          </a:xfrm>
          <a:prstGeom prst="roundRect">
            <a:avLst>
              <a:gd name="adj" fmla="val 8199"/>
            </a:avLst>
          </a:prstGeom>
          <a:solidFill>
            <a:srgbClr val="EEF6E8"/>
          </a:solidFill>
        </p:spPr>
        <p:txBody>
          <a:bodyPr wrap="square" rtlCol="0" anchor="ctr"/>
          <a:lstStyle/>
          <a:p>
            <a:pPr marL="0" indent="0">
              <a:buNone/>
            </a:pPr>
            <a:endParaRPr lang="en-US" dirty="0"/>
          </a:p>
        </p:txBody>
      </p:sp>
      <p:sp>
        <p:nvSpPr>
          <p:cNvPr id="13" name="Shape 11"/>
          <p:cNvSpPr/>
          <p:nvPr/>
        </p:nvSpPr>
        <p:spPr>
          <a:xfrm>
            <a:off x="4057501" y="914400"/>
            <a:ext cx="0" cy="774502"/>
          </a:xfrm>
          <a:prstGeom prst="line">
            <a:avLst/>
          </a:prstGeom>
          <a:noFill/>
          <a:ln w="38100">
            <a:solidFill>
              <a:srgbClr val="70AD47"/>
            </a:solidFill>
            <a:prstDash val="solid"/>
          </a:ln>
        </p:spPr>
      </p:sp>
      <p:sp>
        <p:nvSpPr>
          <p:cNvPr id="14" name="Text 12"/>
          <p:cNvSpPr/>
          <p:nvPr/>
        </p:nvSpPr>
        <p:spPr>
          <a:xfrm>
            <a:off x="4203502" y="1015901"/>
            <a:ext cx="4598923" cy="133350"/>
          </a:xfrm>
          <a:prstGeom prst="rect">
            <a:avLst/>
          </a:prstGeom>
          <a:noFill/>
        </p:spPr>
        <p:txBody>
          <a:bodyPr wrap="square" lIns="0" tIns="0" rIns="0" bIns="0" rtlCol="0" anchor="t"/>
          <a:lstStyle/>
          <a:p>
            <a:pPr marL="0" indent="0" algn="l">
              <a:spcAft>
                <a:spcPts val="300"/>
              </a:spcAft>
              <a:buNone/>
            </a:pPr>
            <a:r>
              <a:rPr lang="en-US" sz="950" b="1" dirty="0">
                <a:solidFill>
                  <a:srgbClr val="385C1F"/>
                </a:solidFill>
                <a:latin typeface="Arial" panose="020B0604020202090204" pitchFamily="34" charset="0"/>
                <a:ea typeface="Arial" panose="020B0604020202090204" pitchFamily="34" charset="-122"/>
                <a:cs typeface="Arial" panose="020B0604020202090204" pitchFamily="34" charset="-120"/>
              </a:rPr>
              <a:t>Strong thematic separation persists</a:t>
            </a:r>
            <a:endParaRPr lang="en-US" sz="950" dirty="0"/>
          </a:p>
        </p:txBody>
      </p:sp>
      <p:sp>
        <p:nvSpPr>
          <p:cNvPr id="15" name="Text 13"/>
          <p:cNvSpPr/>
          <p:nvPr/>
        </p:nvSpPr>
        <p:spPr>
          <a:xfrm>
            <a:off x="4203502" y="1187351"/>
            <a:ext cx="4598923" cy="40005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Overall distribution difference: chi-square permutation p &lt; 0.0001. Topic_2 is Human-dominated (100% of humans participate; Fisher p&lt;0.001); Topic_3 is AI-dominated (4.3% human, Fisher q=0.008). Subsample validation (1,000 resamples): Topic_2 robust (100%), Topic_3 moderate (73%) are robust.</a:t>
            </a:r>
            <a:endParaRPr lang="en-US" sz="900" dirty="0"/>
          </a:p>
        </p:txBody>
      </p:sp>
      <p:sp>
        <p:nvSpPr>
          <p:cNvPr id="16" name="Text 14"/>
          <p:cNvSpPr/>
          <p:nvPr/>
        </p:nvSpPr>
        <p:spPr>
          <a:xfrm>
            <a:off x="4038451" y="1777752"/>
            <a:ext cx="1532483" cy="622102"/>
          </a:xfrm>
          <a:prstGeom prst="roundRect">
            <a:avLst>
              <a:gd name="adj" fmla="val 10207"/>
            </a:avLst>
          </a:prstGeom>
          <a:solidFill>
            <a:srgbClr val="EEF6E8"/>
          </a:solidFill>
          <a:ln w="9525">
            <a:solidFill>
              <a:srgbClr val="70AD47"/>
            </a:solidFill>
          </a:ln>
        </p:spPr>
        <p:txBody>
          <a:bodyPr wrap="square" rtlCol="0" anchor="ctr"/>
          <a:lstStyle/>
          <a:p>
            <a:pPr marL="0" indent="0">
              <a:buNone/>
            </a:pPr>
            <a:endParaRPr lang="en-US" dirty="0"/>
          </a:p>
        </p:txBody>
      </p:sp>
      <p:sp>
        <p:nvSpPr>
          <p:cNvPr id="17" name="Text 15"/>
          <p:cNvSpPr/>
          <p:nvPr/>
        </p:nvSpPr>
        <p:spPr>
          <a:xfrm>
            <a:off x="4174927" y="1888778"/>
            <a:ext cx="1284723" cy="133350"/>
          </a:xfrm>
          <a:prstGeom prst="rect">
            <a:avLst/>
          </a:prstGeom>
          <a:noFill/>
        </p:spPr>
        <p:txBody>
          <a:bodyPr wrap="square" lIns="0" tIns="0" rIns="0" bIns="0" rtlCol="0" anchor="t"/>
          <a:lstStyle/>
          <a:p>
            <a:pPr marL="0" indent="0" algn="l">
              <a:spcAft>
                <a:spcPts val="300"/>
              </a:spcAft>
              <a:buNone/>
            </a:pPr>
            <a:r>
              <a:rPr lang="en-US" sz="900" b="1" dirty="0">
                <a:solidFill>
                  <a:srgbClr val="385C1F"/>
                </a:solidFill>
                <a:latin typeface="Arial" panose="020B0604020202090204" pitchFamily="34" charset="0"/>
                <a:ea typeface="Arial" panose="020B0604020202090204" pitchFamily="34" charset="-122"/>
                <a:cs typeface="Arial" panose="020B0604020202090204" pitchFamily="34" charset="-120"/>
              </a:rPr>
              <a:t>Cluster 0 (n=24)</a:t>
            </a:r>
            <a:endParaRPr lang="en-US" sz="900" dirty="0"/>
          </a:p>
        </p:txBody>
      </p:sp>
      <p:sp>
        <p:nvSpPr>
          <p:cNvPr id="18" name="Text 16"/>
          <p:cNvSpPr/>
          <p:nvPr/>
        </p:nvSpPr>
        <p:spPr>
          <a:xfrm>
            <a:off x="4174927" y="2060228"/>
            <a:ext cx="1284723" cy="228600"/>
          </a:xfrm>
          <a:prstGeom prst="rect">
            <a:avLst/>
          </a:prstGeom>
          <a:noFill/>
        </p:spPr>
        <p:txBody>
          <a:bodyPr wrap="square" lIns="0" tIns="0" rIns="0" bIns="0" rtlCol="0" anchor="t"/>
          <a:lstStyle/>
          <a:p>
            <a:pPr marL="0" indent="0" algn="l">
              <a:buNone/>
            </a:pPr>
            <a:r>
              <a:rPr lang="en-US" sz="850" dirty="0">
                <a:solidFill>
                  <a:srgbClr val="444444"/>
                </a:solidFill>
                <a:latin typeface="Arial" panose="020B0604020202090204" pitchFamily="34" charset="0"/>
                <a:ea typeface="Arial" panose="020B0604020202090204" pitchFamily="34" charset="-122"/>
                <a:cs typeface="Arial" panose="020B0604020202090204" pitchFamily="34" charset="-120"/>
              </a:rPr>
              <a:t>Mixed (AI-leaning): 20.8% Human, 79.2% AI</a:t>
            </a:r>
            <a:endParaRPr lang="en-US" sz="850" dirty="0"/>
          </a:p>
        </p:txBody>
      </p:sp>
      <p:sp>
        <p:nvSpPr>
          <p:cNvPr id="19" name="Text 17"/>
          <p:cNvSpPr/>
          <p:nvPr/>
        </p:nvSpPr>
        <p:spPr>
          <a:xfrm>
            <a:off x="5672435" y="1777752"/>
            <a:ext cx="1532632" cy="622102"/>
          </a:xfrm>
          <a:prstGeom prst="roundRect">
            <a:avLst>
              <a:gd name="adj" fmla="val 10207"/>
            </a:avLst>
          </a:prstGeom>
          <a:solidFill>
            <a:srgbClr val="EEF2FA"/>
          </a:solidFill>
          <a:ln w="9525">
            <a:solidFill>
              <a:srgbClr val="4472C4"/>
            </a:solidFill>
          </a:ln>
        </p:spPr>
        <p:txBody>
          <a:bodyPr wrap="square" rtlCol="0" anchor="ctr"/>
          <a:lstStyle/>
          <a:p>
            <a:pPr marL="0" indent="0">
              <a:buNone/>
            </a:pPr>
            <a:endParaRPr lang="en-US" dirty="0"/>
          </a:p>
        </p:txBody>
      </p:sp>
      <p:sp>
        <p:nvSpPr>
          <p:cNvPr id="20" name="Text 18"/>
          <p:cNvSpPr/>
          <p:nvPr/>
        </p:nvSpPr>
        <p:spPr>
          <a:xfrm>
            <a:off x="5808911" y="1888778"/>
            <a:ext cx="1284875" cy="133350"/>
          </a:xfrm>
          <a:prstGeom prst="rect">
            <a:avLst/>
          </a:prstGeom>
          <a:noFill/>
        </p:spPr>
        <p:txBody>
          <a:bodyPr wrap="square" lIns="0" tIns="0" rIns="0" bIns="0" rtlCol="0" anchor="t"/>
          <a:lstStyle/>
          <a:p>
            <a:pPr marL="0" indent="0" algn="l">
              <a:spcAft>
                <a:spcPts val="300"/>
              </a:spcAft>
              <a:buNone/>
            </a:pPr>
            <a:r>
              <a:rPr lang="en-US" sz="900" b="1" dirty="0">
                <a:solidFill>
                  <a:srgbClr val="4472C4"/>
                </a:solidFill>
                <a:latin typeface="Arial" panose="020B0604020202090204" pitchFamily="34" charset="0"/>
                <a:ea typeface="Arial" panose="020B0604020202090204" pitchFamily="34" charset="-122"/>
                <a:cs typeface="Arial" panose="020B0604020202090204" pitchFamily="34" charset="-120"/>
              </a:rPr>
              <a:t>Cluster 1 (n=19)</a:t>
            </a:r>
            <a:endParaRPr lang="en-US" sz="900" dirty="0"/>
          </a:p>
        </p:txBody>
      </p:sp>
      <p:sp>
        <p:nvSpPr>
          <p:cNvPr id="21" name="Text 19"/>
          <p:cNvSpPr/>
          <p:nvPr/>
        </p:nvSpPr>
        <p:spPr>
          <a:xfrm>
            <a:off x="5808911" y="2060228"/>
            <a:ext cx="1284875" cy="228600"/>
          </a:xfrm>
          <a:prstGeom prst="rect">
            <a:avLst/>
          </a:prstGeom>
          <a:noFill/>
        </p:spPr>
        <p:txBody>
          <a:bodyPr wrap="square" lIns="0" tIns="0" rIns="0" bIns="0" rtlCol="0" anchor="t"/>
          <a:lstStyle/>
          <a:p>
            <a:pPr marL="0" indent="0" algn="l">
              <a:buNone/>
            </a:pPr>
            <a:r>
              <a:rPr lang="en-US" sz="850" dirty="0">
                <a:solidFill>
                  <a:srgbClr val="444444"/>
                </a:solidFill>
                <a:latin typeface="Arial" panose="020B0604020202090204" pitchFamily="34" charset="0"/>
                <a:ea typeface="Arial" panose="020B0604020202090204" pitchFamily="34" charset="-122"/>
                <a:cs typeface="Arial" panose="020B0604020202090204" pitchFamily="34" charset="-120"/>
              </a:rPr>
              <a:t>Mixed (Human-leaning): 57.9% Human, 42.1% AI</a:t>
            </a:r>
            <a:endParaRPr lang="en-US" sz="850" dirty="0"/>
          </a:p>
        </p:txBody>
      </p:sp>
      <p:sp>
        <p:nvSpPr>
          <p:cNvPr id="22" name="Text 20"/>
          <p:cNvSpPr/>
          <p:nvPr/>
        </p:nvSpPr>
        <p:spPr>
          <a:xfrm>
            <a:off x="7306568" y="1777752"/>
            <a:ext cx="1532632" cy="622102"/>
          </a:xfrm>
          <a:prstGeom prst="roundRect">
            <a:avLst>
              <a:gd name="adj" fmla="val 10207"/>
            </a:avLst>
          </a:prstGeom>
          <a:solidFill>
            <a:srgbClr val="EEF6E8"/>
          </a:solidFill>
          <a:ln w="9525">
            <a:solidFill>
              <a:srgbClr val="70AD47"/>
            </a:solidFill>
          </a:ln>
        </p:spPr>
        <p:txBody>
          <a:bodyPr wrap="square" rtlCol="0" anchor="ctr"/>
          <a:lstStyle/>
          <a:p>
            <a:pPr marL="0" indent="0">
              <a:buNone/>
            </a:pPr>
            <a:endParaRPr lang="en-US" dirty="0"/>
          </a:p>
        </p:txBody>
      </p:sp>
      <p:sp>
        <p:nvSpPr>
          <p:cNvPr id="23" name="Text 21"/>
          <p:cNvSpPr/>
          <p:nvPr/>
        </p:nvSpPr>
        <p:spPr>
          <a:xfrm>
            <a:off x="7443043" y="1888778"/>
            <a:ext cx="1284875" cy="133350"/>
          </a:xfrm>
          <a:prstGeom prst="rect">
            <a:avLst/>
          </a:prstGeom>
          <a:noFill/>
        </p:spPr>
        <p:txBody>
          <a:bodyPr wrap="square" lIns="0" tIns="0" rIns="0" bIns="0" rtlCol="0" anchor="t"/>
          <a:lstStyle/>
          <a:p>
            <a:pPr marL="0" indent="0" algn="l">
              <a:spcAft>
                <a:spcPts val="300"/>
              </a:spcAft>
              <a:buNone/>
            </a:pPr>
            <a:r>
              <a:rPr lang="en-US" sz="900" b="1" dirty="0">
                <a:solidFill>
                  <a:srgbClr val="385C1F"/>
                </a:solidFill>
                <a:latin typeface="Arial" panose="020B0604020202090204" pitchFamily="34" charset="0"/>
                <a:ea typeface="Arial" panose="020B0604020202090204" pitchFamily="34" charset="-122"/>
                <a:cs typeface="Arial" panose="020B0604020202090204" pitchFamily="34" charset="-120"/>
              </a:rPr>
              <a:t>Cluster 2 (n=49)</a:t>
            </a:r>
            <a:endParaRPr lang="en-US" sz="900" dirty="0"/>
          </a:p>
        </p:txBody>
      </p:sp>
      <p:sp>
        <p:nvSpPr>
          <p:cNvPr id="24" name="Text 22"/>
          <p:cNvSpPr/>
          <p:nvPr/>
        </p:nvSpPr>
        <p:spPr>
          <a:xfrm>
            <a:off x="7443043" y="2060228"/>
            <a:ext cx="1284875" cy="228600"/>
          </a:xfrm>
          <a:prstGeom prst="rect">
            <a:avLst/>
          </a:prstGeom>
          <a:noFill/>
        </p:spPr>
        <p:txBody>
          <a:bodyPr wrap="square" lIns="0" tIns="0" rIns="0" bIns="0" rtlCol="0" anchor="t"/>
          <a:lstStyle/>
          <a:p>
            <a:pPr marL="0" indent="0" algn="l">
              <a:buNone/>
            </a:pPr>
            <a:r>
              <a:rPr lang="en-US" sz="850" dirty="0">
                <a:solidFill>
                  <a:srgbClr val="444444"/>
                </a:solidFill>
                <a:latin typeface="Arial" panose="020B0604020202090204" pitchFamily="34" charset="0"/>
                <a:ea typeface="Arial" panose="020B0604020202090204" pitchFamily="34" charset="-122"/>
                <a:cs typeface="Arial" panose="020B0604020202090204" pitchFamily="34" charset="-120"/>
              </a:rPr>
              <a:t>AI-dominated: 14.3% Human, 85.7% AI</a:t>
            </a:r>
            <a:endParaRPr lang="en-US" sz="850" dirty="0"/>
          </a:p>
        </p:txBody>
      </p:sp>
      <p:sp>
        <p:nvSpPr>
          <p:cNvPr id="25" name="Text 23"/>
          <p:cNvSpPr/>
          <p:nvPr/>
        </p:nvSpPr>
        <p:spPr>
          <a:xfrm>
            <a:off x="4038451" y="2501354"/>
            <a:ext cx="4800749" cy="971550"/>
          </a:xfrm>
          <a:prstGeom prst="roundRect">
            <a:avLst>
              <a:gd name="adj" fmla="val 5229"/>
            </a:avLst>
          </a:prstGeom>
          <a:solidFill>
            <a:srgbClr val="F4F4F4"/>
          </a:solidFill>
        </p:spPr>
        <p:txBody>
          <a:bodyPr wrap="square" rtlCol="0" anchor="ctr"/>
          <a:lstStyle/>
          <a:p>
            <a:pPr marL="0" indent="0">
              <a:buNone/>
            </a:pPr>
            <a:endParaRPr lang="en-US" dirty="0"/>
          </a:p>
        </p:txBody>
      </p:sp>
      <p:sp>
        <p:nvSpPr>
          <p:cNvPr id="26" name="Text 24"/>
          <p:cNvSpPr/>
          <p:nvPr/>
        </p:nvSpPr>
        <p:spPr>
          <a:xfrm>
            <a:off x="4165402" y="2577554"/>
            <a:ext cx="4637785" cy="133350"/>
          </a:xfrm>
          <a:prstGeom prst="rect">
            <a:avLst/>
          </a:prstGeom>
          <a:noFill/>
        </p:spPr>
        <p:txBody>
          <a:bodyPr wrap="square" lIns="0" tIns="0" rIns="0" bIns="0" rtlCol="0" anchor="t"/>
          <a:lstStyle/>
          <a:p>
            <a:pPr marL="0" indent="0" algn="l">
              <a:spcAft>
                <a:spcPts val="300"/>
              </a:spcAft>
              <a:buNone/>
            </a:pPr>
            <a:r>
              <a:rPr lang="en-US" sz="900" b="1" dirty="0">
                <a:solidFill>
                  <a:srgbClr val="333333"/>
                </a:solidFill>
                <a:latin typeface="Arial" panose="020B0604020202090204" pitchFamily="34" charset="0"/>
                <a:ea typeface="Arial" panose="020B0604020202090204" pitchFamily="34" charset="-122"/>
                <a:cs typeface="Arial" panose="020B0604020202090204" pitchFamily="34" charset="-120"/>
              </a:rPr>
              <a:t>Segregation metrics (k=3 GMM, BIC selection)</a:t>
            </a:r>
            <a:endParaRPr lang="en-US" sz="900" dirty="0"/>
          </a:p>
        </p:txBody>
      </p:sp>
      <p:sp>
        <p:nvSpPr>
          <p:cNvPr id="27" name="Text 25"/>
          <p:cNvSpPr/>
          <p:nvPr/>
        </p:nvSpPr>
        <p:spPr>
          <a:xfrm>
            <a:off x="4165402" y="2749004"/>
            <a:ext cx="4637785" cy="133350"/>
          </a:xfrm>
          <a:prstGeom prst="rect">
            <a:avLst/>
          </a:prstGeom>
          <a:noFill/>
        </p:spPr>
        <p:txBody>
          <a:bodyPr wrap="square" lIns="0" tIns="0" rIns="0" bIns="0" rtlCol="0" anchor="t"/>
          <a:lstStyle/>
          <a:p>
            <a:pPr marL="0" indent="0" algn="l">
              <a:spcAft>
                <a:spcPts val="300"/>
              </a:spcAft>
              <a:buNone/>
            </a:pPr>
            <a:r>
              <a:rPr lang="en-US" sz="900" dirty="0">
                <a:solidFill>
                  <a:srgbClr val="333333"/>
                </a:solidFill>
                <a:latin typeface="Arial" panose="020B0604020202090204" pitchFamily="34" charset="0"/>
                <a:ea typeface="Arial" panose="020B0604020202090204" pitchFamily="34" charset="-122"/>
                <a:cs typeface="Arial" panose="020B0604020202090204" pitchFamily="34" charset="-120"/>
              </a:rPr>
              <a:t>NMI = 0.089, p = 0.003 — clusters predict source better than chance</a:t>
            </a:r>
            <a:endParaRPr lang="en-US" sz="900" dirty="0"/>
          </a:p>
        </p:txBody>
      </p:sp>
      <p:sp>
        <p:nvSpPr>
          <p:cNvPr id="28" name="Text 26"/>
          <p:cNvSpPr/>
          <p:nvPr/>
        </p:nvSpPr>
        <p:spPr>
          <a:xfrm>
            <a:off x="4165402" y="2920454"/>
            <a:ext cx="4637785" cy="133350"/>
          </a:xfrm>
          <a:prstGeom prst="rect">
            <a:avLst/>
          </a:prstGeom>
          <a:noFill/>
        </p:spPr>
        <p:txBody>
          <a:bodyPr wrap="square" lIns="0" tIns="0" rIns="0" bIns="0" rtlCol="0" anchor="t"/>
          <a:lstStyle/>
          <a:p>
            <a:pPr marL="0" indent="0" algn="l">
              <a:spcAft>
                <a:spcPts val="300"/>
              </a:spcAft>
              <a:buNone/>
            </a:pPr>
            <a:r>
              <a:rPr lang="en-US" sz="900" dirty="0">
                <a:solidFill>
                  <a:srgbClr val="333333"/>
                </a:solidFill>
                <a:latin typeface="Arial" panose="020B0604020202090204" pitchFamily="34" charset="0"/>
                <a:ea typeface="Arial" panose="020B0604020202090204" pitchFamily="34" charset="-122"/>
                <a:cs typeface="Arial" panose="020B0604020202090204" pitchFamily="34" charset="-120"/>
              </a:rPr>
              <a:t>ARI = 0.125, p = 0.001 — significant cluster-source agreement</a:t>
            </a:r>
            <a:endParaRPr lang="en-US" sz="900" dirty="0"/>
          </a:p>
        </p:txBody>
      </p:sp>
      <p:sp>
        <p:nvSpPr>
          <p:cNvPr id="29" name="Text 27"/>
          <p:cNvSpPr/>
          <p:nvPr/>
        </p:nvSpPr>
        <p:spPr>
          <a:xfrm>
            <a:off x="4165402" y="3091904"/>
            <a:ext cx="4637785" cy="266700"/>
          </a:xfrm>
          <a:prstGeom prst="rect">
            <a:avLst/>
          </a:prstGeom>
          <a:noFill/>
        </p:spPr>
        <p:txBody>
          <a:bodyPr wrap="square" lIns="0" tIns="0" rIns="0" bIns="0" rtlCol="0" anchor="t"/>
          <a:lstStyle/>
          <a:p>
            <a:pPr marL="0" indent="0" algn="l">
              <a:spcAft>
                <a:spcPts val="300"/>
              </a:spcAft>
              <a:buNone/>
            </a:pPr>
            <a:r>
              <a:rPr lang="en-US" sz="900" dirty="0">
                <a:solidFill>
                  <a:srgbClr val="333333"/>
                </a:solidFill>
                <a:latin typeface="Arial" panose="020B0604020202090204" pitchFamily="34" charset="0"/>
                <a:ea typeface="Arial" panose="020B0604020202090204" pitchFamily="34" charset="-122"/>
                <a:cs typeface="Arial" panose="020B0604020202090204" pitchFamily="34" charset="-120"/>
              </a:rPr>
              <a:t>Between/within distance ratio = 1.241, p = 0.002 — Human and AI more distant from each other than from own group</a:t>
            </a:r>
            <a:endParaRPr lang="en-US" sz="900" dirty="0"/>
          </a:p>
        </p:txBody>
      </p:sp>
      <p:sp>
        <p:nvSpPr>
          <p:cNvPr id="30" name="Text 28"/>
          <p:cNvSpPr/>
          <p:nvPr/>
        </p:nvSpPr>
        <p:spPr>
          <a:xfrm>
            <a:off x="4038451" y="3561755"/>
            <a:ext cx="4800749" cy="774502"/>
          </a:xfrm>
          <a:prstGeom prst="roundRect">
            <a:avLst>
              <a:gd name="adj" fmla="val 8199"/>
            </a:avLst>
          </a:prstGeom>
          <a:solidFill>
            <a:srgbClr val="FEF4EC"/>
          </a:solidFill>
        </p:spPr>
        <p:txBody>
          <a:bodyPr wrap="square" rtlCol="0" anchor="ctr"/>
          <a:lstStyle/>
          <a:p>
            <a:pPr marL="0" indent="0">
              <a:buNone/>
            </a:pPr>
            <a:endParaRPr lang="en-US" dirty="0"/>
          </a:p>
        </p:txBody>
      </p:sp>
      <p:sp>
        <p:nvSpPr>
          <p:cNvPr id="31" name="Shape 29"/>
          <p:cNvSpPr/>
          <p:nvPr/>
        </p:nvSpPr>
        <p:spPr>
          <a:xfrm>
            <a:off x="4057501" y="3561755"/>
            <a:ext cx="0" cy="774502"/>
          </a:xfrm>
          <a:prstGeom prst="line">
            <a:avLst/>
          </a:prstGeom>
          <a:noFill/>
          <a:ln w="38100">
            <a:solidFill>
              <a:srgbClr val="ED7D31"/>
            </a:solidFill>
            <a:prstDash val="solid"/>
          </a:ln>
        </p:spPr>
      </p:sp>
      <p:sp>
        <p:nvSpPr>
          <p:cNvPr id="32" name="Text 30"/>
          <p:cNvSpPr/>
          <p:nvPr/>
        </p:nvSpPr>
        <p:spPr>
          <a:xfrm>
            <a:off x="4203502" y="3663255"/>
            <a:ext cx="4598923" cy="133350"/>
          </a:xfrm>
          <a:prstGeom prst="rect">
            <a:avLst/>
          </a:prstGeom>
          <a:noFill/>
        </p:spPr>
        <p:txBody>
          <a:bodyPr wrap="square" lIns="0" tIns="0" rIns="0" bIns="0" rtlCol="0" anchor="t"/>
          <a:lstStyle/>
          <a:p>
            <a:pPr marL="0" indent="0" algn="l">
              <a:spcAft>
                <a:spcPts val="300"/>
              </a:spcAft>
              <a:buNone/>
            </a:pPr>
            <a:r>
              <a:rPr lang="en-US" sz="950" b="1" dirty="0">
                <a:solidFill>
                  <a:srgbClr val="C55A11"/>
                </a:solidFill>
                <a:latin typeface="Arial" panose="020B0604020202090204" pitchFamily="34" charset="0"/>
                <a:ea typeface="Arial" panose="020B0604020202090204" pitchFamily="34" charset="-122"/>
                <a:cs typeface="Arial" panose="020B0604020202090204" pitchFamily="34" charset="-120"/>
              </a:rPr>
              <a:t>Weaker but still significant segregation vs. baseline</a:t>
            </a:r>
            <a:endParaRPr lang="en-US" sz="950" dirty="0"/>
          </a:p>
        </p:txBody>
      </p:sp>
      <p:sp>
        <p:nvSpPr>
          <p:cNvPr id="33" name="Text 31"/>
          <p:cNvSpPr/>
          <p:nvPr/>
        </p:nvSpPr>
        <p:spPr>
          <a:xfrm>
            <a:off x="4203502" y="3834705"/>
            <a:ext cx="4598923" cy="40005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Baseline NMI = 0.197; rephrased NMI = 0.089. Style was amplifying thematic separation — cluster segregation weakens after rephrasing. ARI improves from −0.035 to +0.125 and the between/within ratio reaches 1.241 (p=0.002), confirming semantic separation persists but is less extreme than baseline.</a:t>
            </a:r>
            <a:endParaRPr lang="en-US" sz="900" dirty="0"/>
          </a:p>
        </p:txBody>
      </p:sp>
      <p:pic>
        <p:nvPicPr>
          <p:cNvPr id="34" name="Image 0" descr="/Users/eveyhuang/Documents/NICO/human-AI-proposal-comparison/results/figures/rephrased/topic_distribution_comparison.png"/>
          <p:cNvPicPr>
            <a:picLocks noChangeAspect="1"/>
          </p:cNvPicPr>
          <p:nvPr/>
        </p:nvPicPr>
        <p:blipFill>
          <a:blip r:embed="rId1"/>
          <a:stretch>
            <a:fillRect/>
          </a:stretch>
        </p:blipFill>
        <p:spPr>
          <a:xfrm>
            <a:off x="304800" y="914400"/>
            <a:ext cx="3555950" cy="21336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4472C4"/>
          </a:solidFill>
        </p:spPr>
        <p:txBody>
          <a:bodyPr wrap="square" rtlCol="0" anchor="ctr"/>
          <a:lstStyle/>
          <a:p>
            <a:pPr marL="0" indent="0">
              <a:buNone/>
            </a:pPr>
            <a:endParaRPr lang="en-US" dirty="0"/>
          </a:p>
        </p:txBody>
      </p:sp>
      <p:sp>
        <p:nvSpPr>
          <p:cNvPr id="3" name="Text 1"/>
          <p:cNvSpPr/>
          <p:nvPr/>
        </p:nvSpPr>
        <p:spPr>
          <a:xfrm>
            <a:off x="0" y="5067300"/>
            <a:ext cx="9144000" cy="76200"/>
          </a:xfrm>
          <a:prstGeom prst="rect">
            <a:avLst/>
          </a:prstGeom>
          <a:solidFill>
            <a:srgbClr val="44546A"/>
          </a:solidFill>
        </p:spPr>
        <p:txBody>
          <a:bodyPr wrap="square" rtlCol="0" anchor="ctr"/>
          <a:lstStyle/>
          <a:p>
            <a:pPr marL="0" indent="0">
              <a:buNone/>
            </a:pPr>
            <a:endParaRPr lang="en-US" dirty="0"/>
          </a:p>
        </p:txBody>
      </p:sp>
      <p:sp>
        <p:nvSpPr>
          <p:cNvPr id="4" name="Text 2"/>
          <p:cNvSpPr/>
          <p:nvPr/>
        </p:nvSpPr>
        <p:spPr>
          <a:xfrm>
            <a:off x="7112050" y="76200"/>
            <a:ext cx="2031950" cy="355550"/>
          </a:xfrm>
          <a:prstGeom prst="rect">
            <a:avLst/>
          </a:prstGeom>
          <a:solidFill>
            <a:srgbClr val="44546A"/>
          </a:solidFill>
        </p:spPr>
        <p:txBody>
          <a:bodyPr wrap="square" rtlCol="0" anchor="ctr"/>
          <a:lstStyle/>
          <a:p>
            <a:pPr marL="0" indent="0">
              <a:buNone/>
            </a:pPr>
            <a:endParaRPr lang="en-US" dirty="0"/>
          </a:p>
        </p:txBody>
      </p:sp>
      <p:sp>
        <p:nvSpPr>
          <p:cNvPr id="5" name="Text 3"/>
          <p:cNvSpPr/>
          <p:nvPr/>
        </p:nvSpPr>
        <p:spPr>
          <a:xfrm>
            <a:off x="7678192" y="187226"/>
            <a:ext cx="917659" cy="133350"/>
          </a:xfrm>
          <a:prstGeom prst="rect">
            <a:avLst/>
          </a:prstGeom>
          <a:noFill/>
        </p:spPr>
        <p:txBody>
          <a:bodyPr wrap="square" lIns="0" tIns="0" rIns="0" bIns="0" rtlCol="0" anchor="t"/>
          <a:lstStyle/>
          <a:p>
            <a:pPr marL="0" indent="0" algn="l">
              <a:buNone/>
            </a:pPr>
            <a:r>
              <a:rPr lang="en-US" sz="900" b="1" dirty="0">
                <a:solidFill>
                  <a:srgbClr val="FFFFFF"/>
                </a:solidFill>
                <a:latin typeface="Arial" panose="020B0604020202090204" pitchFamily="34" charset="0"/>
                <a:ea typeface="Arial" panose="020B0604020202090204" pitchFamily="34" charset="-122"/>
                <a:cs typeface="Arial" panose="020B0604020202090204" pitchFamily="34" charset="-120"/>
              </a:rPr>
              <a:t>PART III · STYLE</a:t>
            </a:r>
            <a:endParaRPr lang="en-US" sz="900" dirty="0"/>
          </a:p>
        </p:txBody>
      </p:sp>
      <p:sp>
        <p:nvSpPr>
          <p:cNvPr id="6" name="Text 4"/>
          <p:cNvSpPr/>
          <p:nvPr/>
        </p:nvSpPr>
        <p:spPr>
          <a:xfrm>
            <a:off x="304800" y="98425"/>
            <a:ext cx="6562090" cy="590550"/>
          </a:xfrm>
          <a:prstGeom prst="rect">
            <a:avLst/>
          </a:prstGeom>
          <a:noFill/>
        </p:spPr>
        <p:txBody>
          <a:bodyPr wrap="square" lIns="0" tIns="0" rIns="0" bIns="0" rtlCol="0" anchor="t"/>
          <a:lstStyle/>
          <a:p>
            <a:pPr marL="0" indent="0" algn="l">
              <a:buNone/>
            </a:pPr>
            <a:r>
              <a:rPr lang="en-US" sz="2000" b="1" dirty="0">
                <a:solidFill>
                  <a:srgbClr val="44546A"/>
                </a:solidFill>
                <a:latin typeface="Arial" panose="020B0604020202090204" pitchFamily="34" charset="0"/>
                <a:ea typeface="Arial" panose="020B0604020202090204" pitchFamily="34" charset="-122"/>
                <a:cs typeface="Arial" panose="020B0604020202090204" pitchFamily="34" charset="-120"/>
              </a:rPr>
              <a:t>Style Baseline: How Much Style Remains After Rephrasing?</a:t>
            </a:r>
            <a:endParaRPr lang="en-US" sz="2000" dirty="0"/>
          </a:p>
        </p:txBody>
      </p:sp>
      <p:sp>
        <p:nvSpPr>
          <p:cNvPr id="8" name="Text 6"/>
          <p:cNvSpPr/>
          <p:nvPr/>
        </p:nvSpPr>
        <p:spPr>
          <a:xfrm>
            <a:off x="304800" y="711101"/>
            <a:ext cx="8534400" cy="25301"/>
          </a:xfrm>
          <a:prstGeom prst="rect">
            <a:avLst/>
          </a:prstGeom>
          <a:solidFill>
            <a:srgbClr val="4472C4"/>
          </a:solidFill>
        </p:spPr>
        <p:txBody>
          <a:bodyPr wrap="square" rtlCol="0" anchor="ctr"/>
          <a:lstStyle/>
          <a:p>
            <a:pPr marL="0" indent="0">
              <a:buNone/>
            </a:pPr>
            <a:endParaRPr lang="en-US" dirty="0"/>
          </a:p>
        </p:txBody>
      </p:sp>
      <p:sp>
        <p:nvSpPr>
          <p:cNvPr id="9" name="Text 7"/>
          <p:cNvSpPr/>
          <p:nvPr/>
        </p:nvSpPr>
        <p:spPr>
          <a:xfrm>
            <a:off x="313055" y="3712012"/>
            <a:ext cx="1917650" cy="853083"/>
          </a:xfrm>
          <a:prstGeom prst="roundRect">
            <a:avLst>
              <a:gd name="adj" fmla="val 8932"/>
            </a:avLst>
          </a:prstGeom>
          <a:solidFill>
            <a:srgbClr val="FFF4F4"/>
          </a:solidFill>
          <a:ln w="19050">
            <a:solidFill>
              <a:srgbClr val="C00000"/>
            </a:solidFill>
          </a:ln>
        </p:spPr>
        <p:txBody>
          <a:bodyPr wrap="square" rtlCol="0" anchor="ctr"/>
          <a:lstStyle/>
          <a:p>
            <a:pPr marL="0" indent="0">
              <a:buNone/>
            </a:pPr>
            <a:endParaRPr lang="en-US" dirty="0"/>
          </a:p>
        </p:txBody>
      </p:sp>
      <p:sp>
        <p:nvSpPr>
          <p:cNvPr id="10" name="Text 8"/>
          <p:cNvSpPr/>
          <p:nvPr/>
        </p:nvSpPr>
        <p:spPr>
          <a:xfrm>
            <a:off x="468757" y="3858012"/>
            <a:ext cx="1606245" cy="307181"/>
          </a:xfrm>
          <a:prstGeom prst="rect">
            <a:avLst/>
          </a:prstGeom>
          <a:noFill/>
        </p:spPr>
        <p:txBody>
          <a:bodyPr wrap="square" lIns="0" tIns="0" rIns="0" bIns="0" rtlCol="0" anchor="t"/>
          <a:lstStyle/>
          <a:p>
            <a:pPr marL="0" indent="0" algn="ctr">
              <a:lnSpc>
                <a:spcPts val="2420"/>
              </a:lnSpc>
              <a:buNone/>
            </a:pPr>
            <a:r>
              <a:rPr lang="en-US" sz="2200" b="1" dirty="0">
                <a:solidFill>
                  <a:srgbClr val="C00000"/>
                </a:solidFill>
                <a:latin typeface="Arial" panose="020B0604020202090204" pitchFamily="34" charset="0"/>
                <a:ea typeface="Arial" panose="020B0604020202090204" pitchFamily="34" charset="-122"/>
                <a:cs typeface="Arial" panose="020B0604020202090204" pitchFamily="34" charset="-120"/>
              </a:rPr>
              <a:t>1.000</a:t>
            </a:r>
            <a:endParaRPr lang="en-US" sz="2200" dirty="0"/>
          </a:p>
        </p:txBody>
      </p:sp>
      <p:sp>
        <p:nvSpPr>
          <p:cNvPr id="11" name="Text 9"/>
          <p:cNvSpPr/>
          <p:nvPr/>
        </p:nvSpPr>
        <p:spPr>
          <a:xfrm>
            <a:off x="468757" y="4190494"/>
            <a:ext cx="1606245" cy="228600"/>
          </a:xfrm>
          <a:prstGeom prst="rect">
            <a:avLst/>
          </a:prstGeom>
          <a:noFill/>
        </p:spPr>
        <p:txBody>
          <a:bodyPr wrap="square" lIns="0" tIns="0" rIns="0" bIns="0" rtlCol="0" anchor="t"/>
          <a:lstStyle/>
          <a:p>
            <a:pPr marL="0" indent="0" algn="ctr">
              <a:spcBef>
                <a:spcPts val="200"/>
              </a:spcBef>
              <a:buNone/>
            </a:pPr>
            <a:r>
              <a:rPr lang="en-US" sz="800" dirty="0">
                <a:solidFill>
                  <a:srgbClr val="555555"/>
                </a:solidFill>
                <a:latin typeface="Arial" panose="020B0604020202090204" pitchFamily="34" charset="0"/>
                <a:ea typeface="Arial" panose="020B0604020202090204" pitchFamily="34" charset="-122"/>
                <a:cs typeface="Arial" panose="020B0604020202090204" pitchFamily="34" charset="-120"/>
              </a:rPr>
              <a:t>Baseline AUROC</a:t>
            </a:r>
            <a:endParaRPr lang="en-US" sz="800" dirty="0"/>
          </a:p>
          <a:p>
            <a:pPr marL="0" indent="0" algn="ctr">
              <a:spcBef>
                <a:spcPts val="200"/>
              </a:spcBef>
              <a:buNone/>
            </a:pPr>
            <a:r>
              <a:rPr lang="en-US" sz="800" dirty="0">
                <a:solidFill>
                  <a:srgbClr val="555555"/>
                </a:solidFill>
                <a:latin typeface="Arial" panose="020B0604020202090204" pitchFamily="34" charset="0"/>
                <a:ea typeface="Arial" panose="020B0604020202090204" pitchFamily="34" charset="-122"/>
                <a:cs typeface="Arial" panose="020B0604020202090204" pitchFamily="34" charset="-120"/>
              </a:rPr>
              <a:t>(original proposals)</a:t>
            </a:r>
            <a:endParaRPr lang="en-US" sz="800" dirty="0"/>
          </a:p>
        </p:txBody>
      </p:sp>
      <p:sp>
        <p:nvSpPr>
          <p:cNvPr id="12" name="Text 10"/>
          <p:cNvSpPr/>
          <p:nvPr/>
        </p:nvSpPr>
        <p:spPr>
          <a:xfrm>
            <a:off x="2357656" y="4005203"/>
            <a:ext cx="233172" cy="266700"/>
          </a:xfrm>
          <a:prstGeom prst="rect">
            <a:avLst/>
          </a:prstGeom>
          <a:noFill/>
        </p:spPr>
        <p:txBody>
          <a:bodyPr wrap="square" lIns="0" tIns="0" rIns="0" bIns="0" rtlCol="0" anchor="t"/>
          <a:lstStyle/>
          <a:p>
            <a:pPr marL="0" indent="0" algn="l">
              <a:buNone/>
            </a:pPr>
            <a:r>
              <a:rPr lang="en-US" sz="1800" dirty="0">
                <a:solidFill>
                  <a:srgbClr val="70AD47"/>
                </a:solidFill>
                <a:latin typeface="Arial" panose="020B0604020202090204" pitchFamily="34" charset="0"/>
                <a:ea typeface="Arial" panose="020B0604020202090204" pitchFamily="34" charset="-122"/>
                <a:cs typeface="Arial" panose="020B0604020202090204" pitchFamily="34" charset="-120"/>
              </a:rPr>
              <a:t>→</a:t>
            </a:r>
            <a:endParaRPr lang="en-US" sz="1800" dirty="0"/>
          </a:p>
        </p:txBody>
      </p:sp>
      <p:sp>
        <p:nvSpPr>
          <p:cNvPr id="13" name="Text 11"/>
          <p:cNvSpPr/>
          <p:nvPr/>
        </p:nvSpPr>
        <p:spPr>
          <a:xfrm>
            <a:off x="2713206" y="3712012"/>
            <a:ext cx="1917799" cy="853083"/>
          </a:xfrm>
          <a:prstGeom prst="roundRect">
            <a:avLst>
              <a:gd name="adj" fmla="val 8932"/>
            </a:avLst>
          </a:prstGeom>
          <a:solidFill>
            <a:srgbClr val="EEF6E8"/>
          </a:solidFill>
          <a:ln w="19050">
            <a:solidFill>
              <a:srgbClr val="70AD47"/>
            </a:solidFill>
          </a:ln>
        </p:spPr>
        <p:txBody>
          <a:bodyPr wrap="square" rtlCol="0" anchor="ctr"/>
          <a:lstStyle/>
          <a:p>
            <a:pPr marL="0" indent="0">
              <a:buNone/>
            </a:pPr>
            <a:endParaRPr lang="en-US" dirty="0"/>
          </a:p>
        </p:txBody>
      </p:sp>
      <p:sp>
        <p:nvSpPr>
          <p:cNvPr id="14" name="Text 12"/>
          <p:cNvSpPr/>
          <p:nvPr/>
        </p:nvSpPr>
        <p:spPr>
          <a:xfrm>
            <a:off x="2868907" y="3858012"/>
            <a:ext cx="1606397" cy="307181"/>
          </a:xfrm>
          <a:prstGeom prst="rect">
            <a:avLst/>
          </a:prstGeom>
          <a:noFill/>
        </p:spPr>
        <p:txBody>
          <a:bodyPr wrap="square" lIns="0" tIns="0" rIns="0" bIns="0" rtlCol="0" anchor="t"/>
          <a:lstStyle/>
          <a:p>
            <a:pPr marL="0" indent="0" algn="ctr">
              <a:lnSpc>
                <a:spcPts val="2420"/>
              </a:lnSpc>
              <a:buNone/>
            </a:pPr>
            <a:r>
              <a:rPr lang="en-US" sz="2200" b="1" dirty="0">
                <a:solidFill>
                  <a:srgbClr val="385C1F"/>
                </a:solidFill>
                <a:latin typeface="Arial" panose="020B0604020202090204" pitchFamily="34" charset="0"/>
                <a:ea typeface="Arial" panose="020B0604020202090204" pitchFamily="34" charset="-122"/>
                <a:cs typeface="Arial" panose="020B0604020202090204" pitchFamily="34" charset="-120"/>
              </a:rPr>
              <a:t>0.684</a:t>
            </a:r>
            <a:endParaRPr lang="en-US" sz="2200" dirty="0"/>
          </a:p>
        </p:txBody>
      </p:sp>
      <p:sp>
        <p:nvSpPr>
          <p:cNvPr id="15" name="Text 13"/>
          <p:cNvSpPr/>
          <p:nvPr/>
        </p:nvSpPr>
        <p:spPr>
          <a:xfrm>
            <a:off x="2868907" y="4190494"/>
            <a:ext cx="1606397" cy="228600"/>
          </a:xfrm>
          <a:prstGeom prst="rect">
            <a:avLst/>
          </a:prstGeom>
          <a:noFill/>
        </p:spPr>
        <p:txBody>
          <a:bodyPr wrap="square" lIns="0" tIns="0" rIns="0" bIns="0" rtlCol="0" anchor="t"/>
          <a:lstStyle/>
          <a:p>
            <a:pPr marL="0" indent="0" algn="ctr">
              <a:spcBef>
                <a:spcPts val="200"/>
              </a:spcBef>
              <a:buNone/>
            </a:pPr>
            <a:r>
              <a:rPr lang="en-US" sz="800" dirty="0">
                <a:solidFill>
                  <a:srgbClr val="555555"/>
                </a:solidFill>
                <a:latin typeface="Arial" panose="020B0604020202090204" pitchFamily="34" charset="0"/>
                <a:ea typeface="Arial" panose="020B0604020202090204" pitchFamily="34" charset="-122"/>
                <a:cs typeface="Arial" panose="020B0604020202090204" pitchFamily="34" charset="-120"/>
              </a:rPr>
              <a:t>Rephrased AUROC</a:t>
            </a:r>
            <a:endParaRPr lang="en-US" sz="800" dirty="0"/>
          </a:p>
          <a:p>
            <a:pPr marL="0" indent="0" algn="ctr">
              <a:spcBef>
                <a:spcPts val="200"/>
              </a:spcBef>
              <a:buNone/>
            </a:pPr>
            <a:r>
              <a:rPr lang="en-US" sz="800" dirty="0">
                <a:solidFill>
                  <a:srgbClr val="555555"/>
                </a:solidFill>
                <a:latin typeface="Arial" panose="020B0604020202090204" pitchFamily="34" charset="0"/>
                <a:ea typeface="Arial" panose="020B0604020202090204" pitchFamily="34" charset="-122"/>
                <a:cs typeface="Arial" panose="020B0604020202090204" pitchFamily="34" charset="-120"/>
              </a:rPr>
              <a:t>(style-controlled)</a:t>
            </a:r>
            <a:endParaRPr lang="en-US" sz="800" dirty="0"/>
          </a:p>
        </p:txBody>
      </p:sp>
      <p:sp>
        <p:nvSpPr>
          <p:cNvPr id="16" name="Text 14"/>
          <p:cNvSpPr/>
          <p:nvPr/>
        </p:nvSpPr>
        <p:spPr>
          <a:xfrm>
            <a:off x="4800451" y="812750"/>
            <a:ext cx="4038749" cy="774502"/>
          </a:xfrm>
          <a:prstGeom prst="roundRect">
            <a:avLst>
              <a:gd name="adj" fmla="val 8199"/>
            </a:avLst>
          </a:prstGeom>
          <a:solidFill>
            <a:srgbClr val="EEF6E8"/>
          </a:solidFill>
        </p:spPr>
        <p:txBody>
          <a:bodyPr wrap="square" rtlCol="0" anchor="ctr"/>
          <a:lstStyle/>
          <a:p>
            <a:pPr marL="0" indent="0">
              <a:buNone/>
            </a:pPr>
            <a:endParaRPr lang="en-US" dirty="0"/>
          </a:p>
        </p:txBody>
      </p:sp>
      <p:sp>
        <p:nvSpPr>
          <p:cNvPr id="17" name="Shape 15"/>
          <p:cNvSpPr/>
          <p:nvPr/>
        </p:nvSpPr>
        <p:spPr>
          <a:xfrm>
            <a:off x="4819501" y="812750"/>
            <a:ext cx="0" cy="774502"/>
          </a:xfrm>
          <a:prstGeom prst="line">
            <a:avLst/>
          </a:prstGeom>
          <a:noFill/>
          <a:ln w="38100">
            <a:solidFill>
              <a:srgbClr val="70AD47"/>
            </a:solidFill>
            <a:prstDash val="solid"/>
          </a:ln>
        </p:spPr>
      </p:sp>
      <p:sp>
        <p:nvSpPr>
          <p:cNvPr id="18" name="Text 16"/>
          <p:cNvSpPr/>
          <p:nvPr/>
        </p:nvSpPr>
        <p:spPr>
          <a:xfrm>
            <a:off x="4965502" y="914251"/>
            <a:ext cx="3821683" cy="133350"/>
          </a:xfrm>
          <a:prstGeom prst="rect">
            <a:avLst/>
          </a:prstGeom>
          <a:noFill/>
        </p:spPr>
        <p:txBody>
          <a:bodyPr wrap="square" lIns="0" tIns="0" rIns="0" bIns="0" rtlCol="0" anchor="t"/>
          <a:lstStyle/>
          <a:p>
            <a:pPr marL="0" indent="0" algn="l">
              <a:spcAft>
                <a:spcPts val="300"/>
              </a:spcAft>
              <a:buNone/>
            </a:pPr>
            <a:r>
              <a:rPr lang="en-US" sz="950" b="1" dirty="0">
                <a:solidFill>
                  <a:srgbClr val="385C1F"/>
                </a:solidFill>
                <a:latin typeface="Arial" panose="020B0604020202090204" pitchFamily="34" charset="0"/>
                <a:ea typeface="Arial" panose="020B0604020202090204" pitchFamily="34" charset="-122"/>
                <a:cs typeface="Arial" panose="020B0604020202090204" pitchFamily="34" charset="-120"/>
              </a:rPr>
              <a:t>Rephrasing substantially reduces stylistic separability</a:t>
            </a:r>
            <a:endParaRPr lang="en-US" sz="950" dirty="0"/>
          </a:p>
        </p:txBody>
      </p:sp>
      <p:sp>
        <p:nvSpPr>
          <p:cNvPr id="19" name="Text 17"/>
          <p:cNvSpPr/>
          <p:nvPr/>
        </p:nvSpPr>
        <p:spPr>
          <a:xfrm>
            <a:off x="4965502" y="1085701"/>
            <a:ext cx="3821683" cy="40005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AUROC drops from 1.000 (perfect) to 0.684 (±0.102). Permutation p = 0.023 — still significantly above chance but far less extreme than baseline. The template enforces near-uniform structure.</a:t>
            </a:r>
            <a:endParaRPr lang="en-US" sz="900" dirty="0"/>
          </a:p>
        </p:txBody>
      </p:sp>
      <p:sp>
        <p:nvSpPr>
          <p:cNvPr id="20" name="Text 18"/>
          <p:cNvSpPr/>
          <p:nvPr/>
        </p:nvSpPr>
        <p:spPr>
          <a:xfrm>
            <a:off x="4800451" y="1676102"/>
            <a:ext cx="4038749" cy="774502"/>
          </a:xfrm>
          <a:prstGeom prst="roundRect">
            <a:avLst>
              <a:gd name="adj" fmla="val 8199"/>
            </a:avLst>
          </a:prstGeom>
          <a:solidFill>
            <a:srgbClr val="EEF2FA"/>
          </a:solidFill>
        </p:spPr>
        <p:txBody>
          <a:bodyPr wrap="square" rtlCol="0" anchor="ctr"/>
          <a:lstStyle/>
          <a:p>
            <a:pPr marL="0" indent="0">
              <a:buNone/>
            </a:pPr>
            <a:endParaRPr lang="en-US" dirty="0"/>
          </a:p>
        </p:txBody>
      </p:sp>
      <p:sp>
        <p:nvSpPr>
          <p:cNvPr id="21" name="Shape 19"/>
          <p:cNvSpPr/>
          <p:nvPr/>
        </p:nvSpPr>
        <p:spPr>
          <a:xfrm>
            <a:off x="4819501" y="1676102"/>
            <a:ext cx="0" cy="774502"/>
          </a:xfrm>
          <a:prstGeom prst="line">
            <a:avLst/>
          </a:prstGeom>
          <a:noFill/>
          <a:ln w="38100">
            <a:solidFill>
              <a:srgbClr val="4472C4"/>
            </a:solidFill>
            <a:prstDash val="solid"/>
          </a:ln>
        </p:spPr>
      </p:sp>
      <p:sp>
        <p:nvSpPr>
          <p:cNvPr id="22" name="Text 20"/>
          <p:cNvSpPr/>
          <p:nvPr/>
        </p:nvSpPr>
        <p:spPr>
          <a:xfrm>
            <a:off x="4965502" y="1777603"/>
            <a:ext cx="3821683" cy="133350"/>
          </a:xfrm>
          <a:prstGeom prst="rect">
            <a:avLst/>
          </a:prstGeom>
          <a:noFill/>
        </p:spPr>
        <p:txBody>
          <a:bodyPr wrap="square" lIns="0" tIns="0" rIns="0" bIns="0" rtlCol="0" anchor="t"/>
          <a:lstStyle/>
          <a:p>
            <a:pPr marL="0" indent="0" algn="l">
              <a:spcAft>
                <a:spcPts val="300"/>
              </a:spcAft>
              <a:buNone/>
            </a:pPr>
            <a:r>
              <a:rPr lang="en-US" sz="950" b="1" dirty="0">
                <a:solidFill>
                  <a:srgbClr val="4472C4"/>
                </a:solidFill>
                <a:latin typeface="Arial" panose="020B0604020202090204" pitchFamily="34" charset="0"/>
                <a:ea typeface="Arial" panose="020B0604020202090204" pitchFamily="34" charset="-122"/>
                <a:cs typeface="Arial" panose="020B0604020202090204" pitchFamily="34" charset="-120"/>
              </a:rPr>
              <a:t>Residual style is not random</a:t>
            </a:r>
            <a:endParaRPr lang="en-US" sz="950" dirty="0"/>
          </a:p>
        </p:txBody>
      </p:sp>
      <p:sp>
        <p:nvSpPr>
          <p:cNvPr id="23" name="Text 21"/>
          <p:cNvSpPr/>
          <p:nvPr/>
        </p:nvSpPr>
        <p:spPr>
          <a:xfrm>
            <a:off x="4965502" y="1949053"/>
            <a:ext cx="3821683" cy="40005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Permutation null AUROC = 0.506 ± 0.096. The observed 0.684 is well above chance — some stylistic trace remains despite standardization, likely from section-level content density variation.</a:t>
            </a:r>
            <a:endParaRPr lang="en-US" sz="900" dirty="0"/>
          </a:p>
        </p:txBody>
      </p:sp>
      <p:sp>
        <p:nvSpPr>
          <p:cNvPr id="24" name="Text 22"/>
          <p:cNvSpPr/>
          <p:nvPr/>
        </p:nvSpPr>
        <p:spPr>
          <a:xfrm>
            <a:off x="4800451" y="2539454"/>
            <a:ext cx="4038749" cy="774502"/>
          </a:xfrm>
          <a:prstGeom prst="roundRect">
            <a:avLst>
              <a:gd name="adj" fmla="val 8199"/>
            </a:avLst>
          </a:prstGeom>
          <a:solidFill>
            <a:srgbClr val="FEF4EC"/>
          </a:solidFill>
        </p:spPr>
        <p:txBody>
          <a:bodyPr wrap="square" rtlCol="0" anchor="ctr"/>
          <a:lstStyle/>
          <a:p>
            <a:pPr marL="0" indent="0">
              <a:buNone/>
            </a:pPr>
            <a:endParaRPr lang="en-US" dirty="0"/>
          </a:p>
        </p:txBody>
      </p:sp>
      <p:sp>
        <p:nvSpPr>
          <p:cNvPr id="25" name="Shape 23"/>
          <p:cNvSpPr/>
          <p:nvPr/>
        </p:nvSpPr>
        <p:spPr>
          <a:xfrm>
            <a:off x="4819501" y="2539454"/>
            <a:ext cx="0" cy="774502"/>
          </a:xfrm>
          <a:prstGeom prst="line">
            <a:avLst/>
          </a:prstGeom>
          <a:noFill/>
          <a:ln w="38100">
            <a:solidFill>
              <a:srgbClr val="ED7D31"/>
            </a:solidFill>
            <a:prstDash val="solid"/>
          </a:ln>
        </p:spPr>
      </p:sp>
      <p:sp>
        <p:nvSpPr>
          <p:cNvPr id="26" name="Text 24"/>
          <p:cNvSpPr/>
          <p:nvPr/>
        </p:nvSpPr>
        <p:spPr>
          <a:xfrm>
            <a:off x="4965502" y="2640955"/>
            <a:ext cx="3821683" cy="133350"/>
          </a:xfrm>
          <a:prstGeom prst="rect">
            <a:avLst/>
          </a:prstGeom>
          <a:noFill/>
        </p:spPr>
        <p:txBody>
          <a:bodyPr wrap="square" lIns="0" tIns="0" rIns="0" bIns="0" rtlCol="0" anchor="t"/>
          <a:lstStyle/>
          <a:p>
            <a:pPr marL="0" indent="0" algn="l">
              <a:spcAft>
                <a:spcPts val="300"/>
              </a:spcAft>
              <a:buNone/>
            </a:pPr>
            <a:r>
              <a:rPr lang="en-US" sz="950" b="1" dirty="0">
                <a:solidFill>
                  <a:srgbClr val="C55A11"/>
                </a:solidFill>
                <a:latin typeface="Arial" panose="020B0604020202090204" pitchFamily="34" charset="0"/>
                <a:ea typeface="Arial" panose="020B0604020202090204" pitchFamily="34" charset="-122"/>
                <a:cs typeface="Arial" panose="020B0604020202090204" pitchFamily="34" charset="-120"/>
              </a:rPr>
              <a:t>Top predictive features (after rephrasing)</a:t>
            </a:r>
            <a:endParaRPr lang="en-US" sz="950" dirty="0"/>
          </a:p>
        </p:txBody>
      </p:sp>
      <p:sp>
        <p:nvSpPr>
          <p:cNvPr id="27" name="Text 25"/>
          <p:cNvSpPr/>
          <p:nvPr/>
        </p:nvSpPr>
        <p:spPr>
          <a:xfrm>
            <a:off x="4965502" y="2812405"/>
            <a:ext cx="3821683" cy="40005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Type-token ratio (coef = +0.795) is the strongest AI predictor. Number of sentences (coef = −0.536) and hedging rate (−0.369) predict Human. Comma rate (+0.415) and stopword rate (+0.375) also push toward AI. Content-driven variation, not formatting.</a:t>
            </a:r>
            <a:endParaRPr lang="en-US" sz="900" dirty="0"/>
          </a:p>
        </p:txBody>
      </p:sp>
      <p:sp>
        <p:nvSpPr>
          <p:cNvPr id="28" name="Text 26"/>
          <p:cNvSpPr/>
          <p:nvPr/>
        </p:nvSpPr>
        <p:spPr>
          <a:xfrm>
            <a:off x="4800451" y="3402806"/>
            <a:ext cx="4038749" cy="1402705"/>
          </a:xfrm>
          <a:prstGeom prst="roundRect">
            <a:avLst>
              <a:gd name="adj" fmla="val 3622"/>
            </a:avLst>
          </a:prstGeom>
          <a:solidFill>
            <a:srgbClr val="F4F4F4"/>
          </a:solidFill>
        </p:spPr>
        <p:txBody>
          <a:bodyPr wrap="square" rtlCol="0" anchor="ctr"/>
          <a:lstStyle/>
          <a:p>
            <a:pPr marL="0" indent="0">
              <a:buNone/>
            </a:pPr>
            <a:endParaRPr lang="en-US" dirty="0"/>
          </a:p>
        </p:txBody>
      </p:sp>
      <p:sp>
        <p:nvSpPr>
          <p:cNvPr id="29" name="Text 27"/>
          <p:cNvSpPr/>
          <p:nvPr/>
        </p:nvSpPr>
        <p:spPr>
          <a:xfrm>
            <a:off x="4927402" y="3479006"/>
            <a:ext cx="3860545" cy="133350"/>
          </a:xfrm>
          <a:prstGeom prst="rect">
            <a:avLst/>
          </a:prstGeom>
          <a:noFill/>
        </p:spPr>
        <p:txBody>
          <a:bodyPr wrap="square" lIns="0" tIns="0" rIns="0" bIns="0" rtlCol="0" anchor="t"/>
          <a:lstStyle/>
          <a:p>
            <a:pPr marL="0" indent="0" algn="l">
              <a:spcAft>
                <a:spcPts val="400"/>
              </a:spcAft>
              <a:buNone/>
            </a:pPr>
            <a:r>
              <a:rPr lang="en-US" sz="900" b="1" dirty="0">
                <a:solidFill>
                  <a:srgbClr val="44546A"/>
                </a:solidFill>
                <a:latin typeface="Arial" panose="020B0604020202090204" pitchFamily="34" charset="0"/>
                <a:ea typeface="Arial" panose="020B0604020202090204" pitchFamily="34" charset="-122"/>
                <a:cs typeface="Arial" panose="020B0604020202090204" pitchFamily="34" charset="-120"/>
              </a:rPr>
              <a:t>Style Feature Means After Rephrasing</a:t>
            </a:r>
            <a:endParaRPr lang="en-US" sz="900" dirty="0"/>
          </a:p>
        </p:txBody>
      </p:sp>
      <p:sp>
        <p:nvSpPr>
          <p:cNvPr id="30" name="Text 28"/>
          <p:cNvSpPr/>
          <p:nvPr/>
        </p:nvSpPr>
        <p:spPr>
          <a:xfrm>
            <a:off x="4927402" y="3771007"/>
            <a:ext cx="1026200" cy="114300"/>
          </a:xfrm>
          <a:prstGeom prst="rect">
            <a:avLst/>
          </a:prstGeom>
          <a:noFill/>
        </p:spPr>
        <p:txBody>
          <a:bodyPr wrap="square" lIns="0" tIns="0" rIns="0" bIns="0" rtlCol="0" anchor="t"/>
          <a:lstStyle/>
          <a:p>
            <a:pPr marL="0" indent="0" algn="l">
              <a:spcBef>
                <a:spcPts val="850"/>
              </a:spcBef>
              <a:spcAft>
                <a:spcPts val="850"/>
              </a:spcAft>
              <a:buNone/>
            </a:pPr>
            <a:r>
              <a:rPr lang="en-US" sz="850" dirty="0">
                <a:solidFill>
                  <a:srgbClr val="444444"/>
                </a:solidFill>
                <a:latin typeface="Arial" panose="020B0604020202090204" pitchFamily="34" charset="0"/>
                <a:ea typeface="Arial" panose="020B0604020202090204" pitchFamily="34" charset="-122"/>
                <a:cs typeface="Arial" panose="020B0604020202090204" pitchFamily="34" charset="-120"/>
              </a:rPr>
              <a:t>Avg sentence length:</a:t>
            </a:r>
            <a:endParaRPr lang="en-US" sz="850" dirty="0"/>
          </a:p>
        </p:txBody>
      </p:sp>
      <p:sp>
        <p:nvSpPr>
          <p:cNvPr id="31" name="Text 29"/>
          <p:cNvSpPr/>
          <p:nvPr/>
        </p:nvSpPr>
        <p:spPr>
          <a:xfrm>
            <a:off x="7386340" y="3771007"/>
            <a:ext cx="1352428" cy="114300"/>
          </a:xfrm>
          <a:prstGeom prst="rect">
            <a:avLst/>
          </a:prstGeom>
          <a:noFill/>
        </p:spPr>
        <p:txBody>
          <a:bodyPr wrap="square" lIns="0" tIns="0" rIns="0" bIns="0" rtlCol="0" anchor="t"/>
          <a:lstStyle/>
          <a:p>
            <a:pPr marL="0" indent="0" algn="l">
              <a:spcBef>
                <a:spcPts val="850"/>
              </a:spcBef>
              <a:spcAft>
                <a:spcPts val="850"/>
              </a:spcAft>
              <a:buNone/>
            </a:pPr>
            <a:r>
              <a:rPr lang="en-US" sz="850" dirty="0">
                <a:solidFill>
                  <a:srgbClr val="444444"/>
                </a:solidFill>
                <a:latin typeface="Arial" panose="020B0604020202090204" pitchFamily="34" charset="0"/>
                <a:ea typeface="Arial" panose="020B0604020202090204" pitchFamily="34" charset="-122"/>
                <a:cs typeface="Arial" panose="020B0604020202090204" pitchFamily="34" charset="-120"/>
              </a:rPr>
              <a:t>AI = 18.3w, Human = 18.4w</a:t>
            </a:r>
            <a:endParaRPr lang="en-US" sz="850" dirty="0"/>
          </a:p>
        </p:txBody>
      </p:sp>
      <p:sp>
        <p:nvSpPr>
          <p:cNvPr id="32" name="Text 30"/>
          <p:cNvSpPr/>
          <p:nvPr/>
        </p:nvSpPr>
        <p:spPr>
          <a:xfrm>
            <a:off x="4927402" y="4126409"/>
            <a:ext cx="1021949" cy="114300"/>
          </a:xfrm>
          <a:prstGeom prst="rect">
            <a:avLst/>
          </a:prstGeom>
          <a:noFill/>
        </p:spPr>
        <p:txBody>
          <a:bodyPr wrap="square" lIns="0" tIns="0" rIns="0" bIns="0" rtlCol="0" anchor="t"/>
          <a:lstStyle/>
          <a:p>
            <a:pPr marL="0" indent="0" algn="l">
              <a:spcBef>
                <a:spcPts val="850"/>
              </a:spcBef>
              <a:spcAft>
                <a:spcPts val="850"/>
              </a:spcAft>
              <a:buNone/>
            </a:pPr>
            <a:r>
              <a:rPr lang="en-US" sz="850" dirty="0">
                <a:solidFill>
                  <a:srgbClr val="444444"/>
                </a:solidFill>
                <a:latin typeface="Arial" panose="020B0604020202090204" pitchFamily="34" charset="0"/>
                <a:ea typeface="Arial" panose="020B0604020202090204" pitchFamily="34" charset="-122"/>
                <a:cs typeface="Arial" panose="020B0604020202090204" pitchFamily="34" charset="-120"/>
              </a:rPr>
              <a:t>Flesch reading ease:</a:t>
            </a:r>
            <a:endParaRPr lang="en-US" sz="850" dirty="0"/>
          </a:p>
        </p:txBody>
      </p:sp>
      <p:sp>
        <p:nvSpPr>
          <p:cNvPr id="33" name="Text 31"/>
          <p:cNvSpPr/>
          <p:nvPr/>
        </p:nvSpPr>
        <p:spPr>
          <a:xfrm>
            <a:off x="7536359" y="4126409"/>
            <a:ext cx="1199409" cy="114300"/>
          </a:xfrm>
          <a:prstGeom prst="rect">
            <a:avLst/>
          </a:prstGeom>
          <a:noFill/>
        </p:spPr>
        <p:txBody>
          <a:bodyPr wrap="square" lIns="0" tIns="0" rIns="0" bIns="0" rtlCol="0" anchor="t"/>
          <a:lstStyle/>
          <a:p>
            <a:pPr marL="0" indent="0" algn="l">
              <a:spcBef>
                <a:spcPts val="850"/>
              </a:spcBef>
              <a:spcAft>
                <a:spcPts val="850"/>
              </a:spcAft>
              <a:buNone/>
            </a:pPr>
            <a:r>
              <a:rPr lang="en-US" sz="850" dirty="0">
                <a:solidFill>
                  <a:srgbClr val="444444"/>
                </a:solidFill>
                <a:latin typeface="Arial" panose="020B0604020202090204" pitchFamily="34" charset="0"/>
                <a:ea typeface="Arial" panose="020B0604020202090204" pitchFamily="34" charset="-122"/>
                <a:cs typeface="Arial" panose="020B0604020202090204" pitchFamily="34" charset="-120"/>
              </a:rPr>
              <a:t>AI ≈ Human (template enforces similar readability)</a:t>
            </a:r>
            <a:endParaRPr lang="en-US" sz="850" dirty="0"/>
          </a:p>
        </p:txBody>
      </p:sp>
      <p:sp>
        <p:nvSpPr>
          <p:cNvPr id="34" name="Text 32"/>
          <p:cNvSpPr/>
          <p:nvPr/>
        </p:nvSpPr>
        <p:spPr>
          <a:xfrm>
            <a:off x="4927402" y="4481810"/>
            <a:ext cx="715911" cy="114300"/>
          </a:xfrm>
          <a:prstGeom prst="rect">
            <a:avLst/>
          </a:prstGeom>
          <a:noFill/>
        </p:spPr>
        <p:txBody>
          <a:bodyPr wrap="square" lIns="0" tIns="0" rIns="0" bIns="0" rtlCol="0" anchor="t"/>
          <a:lstStyle/>
          <a:p>
            <a:pPr marL="0" indent="0" algn="l">
              <a:spcBef>
                <a:spcPts val="850"/>
              </a:spcBef>
              <a:spcAft>
                <a:spcPts val="850"/>
              </a:spcAft>
              <a:buNone/>
            </a:pPr>
            <a:r>
              <a:rPr lang="en-US" sz="850" dirty="0">
                <a:solidFill>
                  <a:srgbClr val="444444"/>
                </a:solidFill>
                <a:latin typeface="Arial" panose="020B0604020202090204" pitchFamily="34" charset="0"/>
                <a:ea typeface="Arial" panose="020B0604020202090204" pitchFamily="34" charset="-122"/>
                <a:cs typeface="Arial" panose="020B0604020202090204" pitchFamily="34" charset="-120"/>
              </a:rPr>
              <a:t>Stopword rate:</a:t>
            </a:r>
            <a:endParaRPr lang="en-US" sz="850" dirty="0"/>
          </a:p>
        </p:txBody>
      </p:sp>
      <p:sp>
        <p:nvSpPr>
          <p:cNvPr id="35" name="Text 33"/>
          <p:cNvSpPr/>
          <p:nvPr/>
        </p:nvSpPr>
        <p:spPr>
          <a:xfrm>
            <a:off x="7416254" y="4481810"/>
            <a:ext cx="1321915" cy="114300"/>
          </a:xfrm>
          <a:prstGeom prst="rect">
            <a:avLst/>
          </a:prstGeom>
          <a:noFill/>
        </p:spPr>
        <p:txBody>
          <a:bodyPr wrap="square" lIns="0" tIns="0" rIns="0" bIns="0" rtlCol="0" anchor="t"/>
          <a:lstStyle/>
          <a:p>
            <a:pPr marL="0" indent="0" algn="l">
              <a:spcBef>
                <a:spcPts val="850"/>
              </a:spcBef>
              <a:spcAft>
                <a:spcPts val="850"/>
              </a:spcAft>
              <a:buNone/>
            </a:pPr>
            <a:r>
              <a:rPr lang="en-US" sz="850" dirty="0">
                <a:solidFill>
                  <a:srgbClr val="444444"/>
                </a:solidFill>
                <a:latin typeface="Arial" panose="020B0604020202090204" pitchFamily="34" charset="0"/>
                <a:ea typeface="Arial" panose="020B0604020202090204" pitchFamily="34" charset="-122"/>
                <a:cs typeface="Arial" panose="020B0604020202090204" pitchFamily="34" charset="-120"/>
              </a:rPr>
              <a:t>AI = 0.296, Human = 0.293</a:t>
            </a:r>
            <a:endParaRPr lang="en-US" sz="850" dirty="0"/>
          </a:p>
        </p:txBody>
      </p:sp>
      <p:pic>
        <p:nvPicPr>
          <p:cNvPr id="36" name="Image 0" descr="/Users/eveyhuang/Documents/NICO/human-AI-proposal-comparison/results/figures/rephrased/style_only_baseline_viz.png"/>
          <p:cNvPicPr>
            <a:picLocks noChangeAspect="1"/>
          </p:cNvPicPr>
          <p:nvPr/>
        </p:nvPicPr>
        <p:blipFill>
          <a:blip r:embed="rId1"/>
          <a:stretch>
            <a:fillRect/>
          </a:stretch>
        </p:blipFill>
        <p:spPr>
          <a:xfrm>
            <a:off x="313055" y="1045160"/>
            <a:ext cx="4317950" cy="2539901"/>
          </a:xfrm>
          <a:prstGeom prst="rect">
            <a:avLst/>
          </a:prstGeom>
        </p:spPr>
      </p:pic>
      <p:sp>
        <p:nvSpPr>
          <p:cNvPr id="7" name="Text 5"/>
          <p:cNvSpPr/>
          <p:nvPr/>
        </p:nvSpPr>
        <p:spPr>
          <a:xfrm>
            <a:off x="304800" y="793552"/>
            <a:ext cx="7124649" cy="142875"/>
          </a:xfrm>
          <a:prstGeom prst="rect">
            <a:avLst/>
          </a:prstGeom>
          <a:noFill/>
        </p:spPr>
        <p:txBody>
          <a:bodyPr wrap="square" lIns="0" tIns="0" rIns="0" bIns="0" rtlCol="0" anchor="t"/>
          <a:lstStyle/>
          <a:p>
            <a:pPr marL="0" indent="0" algn="l">
              <a:spcBef>
                <a:spcPts val="200"/>
              </a:spcBef>
              <a:buNone/>
            </a:pPr>
            <a:r>
              <a:rPr lang="en-US" sz="1000" dirty="0">
                <a:solidFill>
                  <a:srgbClr val="4472C4"/>
                </a:solidFill>
                <a:latin typeface="Arial" panose="020B0604020202090204" pitchFamily="34" charset="0"/>
                <a:ea typeface="Arial" panose="020B0604020202090204" pitchFamily="34" charset="-122"/>
                <a:cs typeface="Arial" panose="020B0604020202090204" pitchFamily="34" charset="-120"/>
              </a:rPr>
              <a:t>Logistic regression on 18 stylistic features; 5-fold CV with permutation test (1,000 shuffles)</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4472C4"/>
          </a:solidFill>
        </p:spPr>
        <p:txBody>
          <a:bodyPr wrap="square" rtlCol="0" anchor="ctr"/>
          <a:lstStyle/>
          <a:p>
            <a:pPr marL="0" indent="0">
              <a:buNone/>
            </a:pPr>
            <a:endParaRPr lang="en-US" dirty="0"/>
          </a:p>
        </p:txBody>
      </p:sp>
      <p:sp>
        <p:nvSpPr>
          <p:cNvPr id="3" name="Text 1"/>
          <p:cNvSpPr/>
          <p:nvPr/>
        </p:nvSpPr>
        <p:spPr>
          <a:xfrm>
            <a:off x="0" y="5067300"/>
            <a:ext cx="9144000" cy="76200"/>
          </a:xfrm>
          <a:prstGeom prst="rect">
            <a:avLst/>
          </a:prstGeom>
          <a:solidFill>
            <a:srgbClr val="44546A"/>
          </a:solidFill>
        </p:spPr>
        <p:txBody>
          <a:bodyPr wrap="square" rtlCol="0" anchor="ctr"/>
          <a:lstStyle/>
          <a:p>
            <a:pPr marL="0" indent="0">
              <a:buNone/>
            </a:pPr>
            <a:endParaRPr lang="en-US" dirty="0"/>
          </a:p>
        </p:txBody>
      </p:sp>
      <p:sp>
        <p:nvSpPr>
          <p:cNvPr id="4" name="Text 2"/>
          <p:cNvSpPr/>
          <p:nvPr/>
        </p:nvSpPr>
        <p:spPr>
          <a:xfrm>
            <a:off x="7112050" y="76200"/>
            <a:ext cx="2031950" cy="355550"/>
          </a:xfrm>
          <a:prstGeom prst="rect">
            <a:avLst/>
          </a:prstGeom>
          <a:solidFill>
            <a:srgbClr val="44546A"/>
          </a:solidFill>
        </p:spPr>
        <p:txBody>
          <a:bodyPr wrap="square" rtlCol="0" anchor="ctr"/>
          <a:lstStyle/>
          <a:p>
            <a:pPr marL="0" indent="0">
              <a:buNone/>
            </a:pPr>
            <a:endParaRPr lang="en-US" dirty="0"/>
          </a:p>
        </p:txBody>
      </p:sp>
      <p:sp>
        <p:nvSpPr>
          <p:cNvPr id="5" name="Text 3"/>
          <p:cNvSpPr/>
          <p:nvPr/>
        </p:nvSpPr>
        <p:spPr>
          <a:xfrm>
            <a:off x="7379791" y="187226"/>
            <a:ext cx="1526396" cy="133350"/>
          </a:xfrm>
          <a:prstGeom prst="rect">
            <a:avLst/>
          </a:prstGeom>
          <a:noFill/>
        </p:spPr>
        <p:txBody>
          <a:bodyPr wrap="square" lIns="0" tIns="0" rIns="0" bIns="0" rtlCol="0" anchor="t"/>
          <a:lstStyle/>
          <a:p>
            <a:pPr marL="0" indent="0" algn="l">
              <a:buNone/>
            </a:pPr>
            <a:r>
              <a:rPr lang="en-US" sz="900" b="1" dirty="0">
                <a:solidFill>
                  <a:srgbClr val="FFFFFF"/>
                </a:solidFill>
                <a:latin typeface="Arial" panose="020B0604020202090204" pitchFamily="34" charset="0"/>
                <a:ea typeface="Arial" panose="020B0604020202090204" pitchFamily="34" charset="-122"/>
                <a:cs typeface="Arial" panose="020B0604020202090204" pitchFamily="34" charset="-120"/>
              </a:rPr>
              <a:t>PART III · STYLE CONTROL</a:t>
            </a:r>
            <a:endParaRPr lang="en-US" sz="900" dirty="0"/>
          </a:p>
        </p:txBody>
      </p:sp>
      <p:sp>
        <p:nvSpPr>
          <p:cNvPr id="6" name="Text 4"/>
          <p:cNvSpPr/>
          <p:nvPr/>
        </p:nvSpPr>
        <p:spPr>
          <a:xfrm>
            <a:off x="304800" y="177701"/>
            <a:ext cx="7124649" cy="533400"/>
          </a:xfrm>
          <a:prstGeom prst="rect">
            <a:avLst/>
          </a:prstGeom>
          <a:noFill/>
        </p:spPr>
        <p:txBody>
          <a:bodyPr wrap="square" lIns="0" tIns="0" rIns="0" bIns="0" rtlCol="0" anchor="t"/>
          <a:lstStyle/>
          <a:p>
            <a:pPr marL="0" indent="0" algn="l">
              <a:buNone/>
            </a:pPr>
            <a:r>
              <a:rPr lang="en-US" sz="1800" b="1" dirty="0">
                <a:solidFill>
                  <a:srgbClr val="44546A"/>
                </a:solidFill>
                <a:latin typeface="Arial" panose="020B0604020202090204" pitchFamily="34" charset="0"/>
                <a:ea typeface="Arial" panose="020B0604020202090204" pitchFamily="34" charset="-122"/>
                <a:cs typeface="Arial" panose="020B0604020202090204" pitchFamily="34" charset="-120"/>
              </a:rPr>
              <a:t>Style-Adjusted Centroid Dispersion &amp; Nearest-Neighbor Analysis</a:t>
            </a:r>
            <a:endParaRPr lang="en-US" sz="1800" dirty="0"/>
          </a:p>
        </p:txBody>
      </p:sp>
      <p:sp>
        <p:nvSpPr>
          <p:cNvPr id="7" name="Text 5"/>
          <p:cNvSpPr/>
          <p:nvPr/>
        </p:nvSpPr>
        <p:spPr>
          <a:xfrm>
            <a:off x="304800" y="736402"/>
            <a:ext cx="7124649" cy="142875"/>
          </a:xfrm>
          <a:prstGeom prst="rect">
            <a:avLst/>
          </a:prstGeom>
          <a:noFill/>
        </p:spPr>
        <p:txBody>
          <a:bodyPr wrap="square" lIns="0" tIns="0" rIns="0" bIns="0" rtlCol="0" anchor="t"/>
          <a:lstStyle/>
          <a:p>
            <a:pPr marL="0" indent="0" algn="l">
              <a:spcBef>
                <a:spcPts val="200"/>
              </a:spcBef>
              <a:buNone/>
            </a:pPr>
            <a:r>
              <a:rPr lang="en-US" sz="1000" dirty="0">
                <a:solidFill>
                  <a:srgbClr val="4472C4"/>
                </a:solidFill>
                <a:latin typeface="Arial" panose="020B0604020202090204" pitchFamily="34" charset="0"/>
                <a:ea typeface="Arial" panose="020B0604020202090204" pitchFamily="34" charset="-122"/>
                <a:cs typeface="Arial" panose="020B0604020202090204" pitchFamily="34" charset="-120"/>
              </a:rPr>
              <a:t>Residualization: fit embedding distance ~ style features; test on residual. Removes linear style contribution.</a:t>
            </a:r>
            <a:endParaRPr lang="en-US" sz="1000" dirty="0"/>
          </a:p>
        </p:txBody>
      </p:sp>
      <p:sp>
        <p:nvSpPr>
          <p:cNvPr id="8" name="Text 6"/>
          <p:cNvSpPr/>
          <p:nvPr/>
        </p:nvSpPr>
        <p:spPr>
          <a:xfrm>
            <a:off x="304800" y="711101"/>
            <a:ext cx="8534400" cy="25301"/>
          </a:xfrm>
          <a:prstGeom prst="rect">
            <a:avLst/>
          </a:prstGeom>
          <a:solidFill>
            <a:srgbClr val="4472C4"/>
          </a:solidFill>
        </p:spPr>
        <p:txBody>
          <a:bodyPr wrap="square" rtlCol="0" anchor="ctr"/>
          <a:lstStyle/>
          <a:p>
            <a:pPr marL="0" indent="0">
              <a:buNone/>
            </a:pPr>
            <a:endParaRPr lang="en-US" dirty="0"/>
          </a:p>
        </p:txBody>
      </p:sp>
      <p:sp>
        <p:nvSpPr>
          <p:cNvPr id="9" name="Text 7"/>
          <p:cNvSpPr/>
          <p:nvPr/>
        </p:nvSpPr>
        <p:spPr>
          <a:xfrm>
            <a:off x="304800" y="3149352"/>
            <a:ext cx="4191000" cy="774502"/>
          </a:xfrm>
          <a:prstGeom prst="roundRect">
            <a:avLst>
              <a:gd name="adj" fmla="val 8199"/>
            </a:avLst>
          </a:prstGeom>
          <a:solidFill>
            <a:srgbClr val="F4F4F4"/>
          </a:solidFill>
        </p:spPr>
        <p:txBody>
          <a:bodyPr wrap="square" rtlCol="0" anchor="ctr"/>
          <a:lstStyle/>
          <a:p>
            <a:pPr marL="0" indent="0">
              <a:buNone/>
            </a:pPr>
            <a:endParaRPr lang="en-US" dirty="0"/>
          </a:p>
        </p:txBody>
      </p:sp>
      <p:sp>
        <p:nvSpPr>
          <p:cNvPr id="10" name="Shape 8"/>
          <p:cNvSpPr/>
          <p:nvPr/>
        </p:nvSpPr>
        <p:spPr>
          <a:xfrm>
            <a:off x="321945" y="3352552"/>
            <a:ext cx="0" cy="774502"/>
          </a:xfrm>
          <a:prstGeom prst="line">
            <a:avLst/>
          </a:prstGeom>
          <a:noFill/>
          <a:ln w="38100">
            <a:solidFill>
              <a:srgbClr val="A5A5A5"/>
            </a:solidFill>
            <a:prstDash val="solid"/>
          </a:ln>
        </p:spPr>
      </p:sp>
      <p:sp>
        <p:nvSpPr>
          <p:cNvPr id="11" name="Text 9"/>
          <p:cNvSpPr/>
          <p:nvPr/>
        </p:nvSpPr>
        <p:spPr>
          <a:xfrm>
            <a:off x="467945" y="3454053"/>
            <a:ext cx="3976979" cy="133350"/>
          </a:xfrm>
          <a:prstGeom prst="rect">
            <a:avLst/>
          </a:prstGeom>
          <a:noFill/>
        </p:spPr>
        <p:txBody>
          <a:bodyPr wrap="square" lIns="0" tIns="0" rIns="0" bIns="0" rtlCol="0" anchor="t"/>
          <a:lstStyle/>
          <a:p>
            <a:pPr marL="0" indent="0" algn="l">
              <a:spcAft>
                <a:spcPts val="300"/>
              </a:spcAft>
              <a:buNone/>
            </a:pPr>
            <a:r>
              <a:rPr lang="en-US" sz="950" b="1" dirty="0">
                <a:solidFill>
                  <a:srgbClr val="44546A"/>
                </a:solidFill>
                <a:latin typeface="Arial" panose="020B0604020202090204" pitchFamily="34" charset="0"/>
                <a:ea typeface="Arial" panose="020B0604020202090204" pitchFamily="34" charset="-122"/>
                <a:cs typeface="Arial" panose="020B0604020202090204" pitchFamily="34" charset="-120"/>
              </a:rPr>
              <a:t>Residualization diagnostic</a:t>
            </a:r>
            <a:endParaRPr lang="en-US" sz="950" dirty="0"/>
          </a:p>
        </p:txBody>
      </p:sp>
      <p:sp>
        <p:nvSpPr>
          <p:cNvPr id="12" name="Text 10"/>
          <p:cNvSpPr/>
          <p:nvPr/>
        </p:nvSpPr>
        <p:spPr>
          <a:xfrm>
            <a:off x="467945" y="3625503"/>
            <a:ext cx="3976979" cy="40005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Mean |corr(style covariate, PC score)| drops from 0.105 (raw) to 0.064 (residualized), confirming effective style removal. Human/AI neighborhood asymmetry persists: AI same-group NN = 78.3% in residual space.</a:t>
            </a:r>
            <a:endParaRPr lang="en-US" sz="900" dirty="0"/>
          </a:p>
        </p:txBody>
      </p:sp>
      <p:sp>
        <p:nvSpPr>
          <p:cNvPr id="13" name="Text 11"/>
          <p:cNvSpPr/>
          <p:nvPr/>
        </p:nvSpPr>
        <p:spPr>
          <a:xfrm>
            <a:off x="4673501" y="1127075"/>
            <a:ext cx="4165699" cy="907852"/>
          </a:xfrm>
          <a:prstGeom prst="roundRect">
            <a:avLst>
              <a:gd name="adj" fmla="val 6995"/>
            </a:avLst>
          </a:prstGeom>
          <a:solidFill>
            <a:srgbClr val="EEF2FA"/>
          </a:solidFill>
        </p:spPr>
        <p:txBody>
          <a:bodyPr wrap="square" rtlCol="0" anchor="ctr"/>
          <a:lstStyle/>
          <a:p>
            <a:pPr marL="0" indent="0">
              <a:buNone/>
            </a:pPr>
            <a:endParaRPr lang="en-US" dirty="0"/>
          </a:p>
        </p:txBody>
      </p:sp>
      <p:sp>
        <p:nvSpPr>
          <p:cNvPr id="14" name="Shape 12"/>
          <p:cNvSpPr/>
          <p:nvPr/>
        </p:nvSpPr>
        <p:spPr>
          <a:xfrm>
            <a:off x="4692551" y="1126440"/>
            <a:ext cx="0" cy="907852"/>
          </a:xfrm>
          <a:prstGeom prst="line">
            <a:avLst/>
          </a:prstGeom>
          <a:noFill/>
          <a:ln w="38100">
            <a:solidFill>
              <a:srgbClr val="4472C4"/>
            </a:solidFill>
            <a:prstDash val="solid"/>
          </a:ln>
        </p:spPr>
      </p:sp>
      <p:sp>
        <p:nvSpPr>
          <p:cNvPr id="15" name="Text 13"/>
          <p:cNvSpPr/>
          <p:nvPr/>
        </p:nvSpPr>
        <p:spPr>
          <a:xfrm>
            <a:off x="4838551" y="1228576"/>
            <a:ext cx="3951172" cy="133350"/>
          </a:xfrm>
          <a:prstGeom prst="rect">
            <a:avLst/>
          </a:prstGeom>
          <a:noFill/>
        </p:spPr>
        <p:txBody>
          <a:bodyPr wrap="square" lIns="0" tIns="0" rIns="0" bIns="0" rtlCol="0" anchor="t"/>
          <a:lstStyle/>
          <a:p>
            <a:pPr marL="0" indent="0" algn="l">
              <a:spcAft>
                <a:spcPts val="300"/>
              </a:spcAft>
              <a:buNone/>
            </a:pPr>
            <a:r>
              <a:rPr lang="en-US" sz="950" b="1" dirty="0">
                <a:solidFill>
                  <a:srgbClr val="4472C4"/>
                </a:solidFill>
                <a:latin typeface="Arial" panose="020B0604020202090204" pitchFamily="34" charset="0"/>
                <a:ea typeface="Arial" panose="020B0604020202090204" pitchFamily="34" charset="-122"/>
                <a:cs typeface="Arial" panose="020B0604020202090204" pitchFamily="34" charset="-120"/>
              </a:rPr>
              <a:t>Style-adjusted centroid dispersion: Human still more spread</a:t>
            </a:r>
            <a:endParaRPr lang="en-US" sz="950" dirty="0"/>
          </a:p>
        </p:txBody>
      </p:sp>
      <p:sp>
        <p:nvSpPr>
          <p:cNvPr id="16" name="Text 14"/>
          <p:cNvSpPr/>
          <p:nvPr/>
        </p:nvSpPr>
        <p:spPr>
          <a:xfrm>
            <a:off x="4838551" y="1400026"/>
            <a:ext cx="3951172" cy="53340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After residualization: AI indicator coef = −0.151, permutation p = 0.0002. Human proposals remain significantly more dispersed from centroid even after removing style-predictable variance. MW δ = −0.76413 (small-medium effect).</a:t>
            </a:r>
            <a:endParaRPr lang="en-US" sz="900" dirty="0"/>
          </a:p>
        </p:txBody>
      </p:sp>
      <p:sp>
        <p:nvSpPr>
          <p:cNvPr id="17" name="Text 15"/>
          <p:cNvSpPr/>
          <p:nvPr/>
        </p:nvSpPr>
        <p:spPr>
          <a:xfrm>
            <a:off x="4692551" y="2104678"/>
            <a:ext cx="4165699" cy="907852"/>
          </a:xfrm>
          <a:prstGeom prst="roundRect">
            <a:avLst>
              <a:gd name="adj" fmla="val 6995"/>
            </a:avLst>
          </a:prstGeom>
          <a:solidFill>
            <a:srgbClr val="FEF4EC"/>
          </a:solidFill>
        </p:spPr>
        <p:txBody>
          <a:bodyPr wrap="square" rtlCol="0" anchor="ctr"/>
          <a:lstStyle/>
          <a:p>
            <a:pPr marL="0" indent="0">
              <a:buNone/>
            </a:pPr>
            <a:endParaRPr lang="en-US" dirty="0"/>
          </a:p>
        </p:txBody>
      </p:sp>
      <p:sp>
        <p:nvSpPr>
          <p:cNvPr id="18" name="Shape 16"/>
          <p:cNvSpPr/>
          <p:nvPr/>
        </p:nvSpPr>
        <p:spPr>
          <a:xfrm>
            <a:off x="4692551" y="2136428"/>
            <a:ext cx="0" cy="907852"/>
          </a:xfrm>
          <a:prstGeom prst="line">
            <a:avLst/>
          </a:prstGeom>
          <a:noFill/>
          <a:ln w="38100">
            <a:solidFill>
              <a:srgbClr val="ED7D31"/>
            </a:solidFill>
            <a:prstDash val="solid"/>
          </a:ln>
        </p:spPr>
      </p:sp>
      <p:sp>
        <p:nvSpPr>
          <p:cNvPr id="19" name="Text 17"/>
          <p:cNvSpPr/>
          <p:nvPr/>
        </p:nvSpPr>
        <p:spPr>
          <a:xfrm>
            <a:off x="4838551" y="2237929"/>
            <a:ext cx="3951172" cy="133350"/>
          </a:xfrm>
          <a:prstGeom prst="rect">
            <a:avLst/>
          </a:prstGeom>
          <a:noFill/>
        </p:spPr>
        <p:txBody>
          <a:bodyPr wrap="square" lIns="0" tIns="0" rIns="0" bIns="0" rtlCol="0" anchor="t"/>
          <a:lstStyle/>
          <a:p>
            <a:pPr marL="0" indent="0" algn="l">
              <a:spcAft>
                <a:spcPts val="300"/>
              </a:spcAft>
              <a:buNone/>
            </a:pPr>
            <a:r>
              <a:rPr lang="en-US" sz="950" b="1" dirty="0">
                <a:solidFill>
                  <a:srgbClr val="C55A11"/>
                </a:solidFill>
                <a:latin typeface="Arial" panose="020B0604020202090204" pitchFamily="34" charset="0"/>
                <a:ea typeface="Arial" panose="020B0604020202090204" pitchFamily="34" charset="-122"/>
                <a:cs typeface="Arial" panose="020B0604020202090204" pitchFamily="34" charset="-120"/>
              </a:rPr>
              <a:t>Style-adjusted NN outlier rates</a:t>
            </a:r>
            <a:endParaRPr lang="en-US" sz="950" dirty="0"/>
          </a:p>
        </p:txBody>
      </p:sp>
      <p:sp>
        <p:nvSpPr>
          <p:cNvPr id="20" name="Text 18"/>
          <p:cNvSpPr/>
          <p:nvPr/>
        </p:nvSpPr>
        <p:spPr>
          <a:xfrm>
            <a:off x="4838551" y="2409379"/>
            <a:ext cx="3951172" cy="53340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Outlier threshold (90th pct): 0.521. Human = 2 outliers (8.7%), Claude = 2 (8.7%), GPT-5.2 = 2 (8.7%), Gemini = 4 (17.4%). Pattern shifts: Gemini gains outliers in residual space (1→4) while Human loses them (7→2) — Gemini is conceptually isolated; Human's peripheral isolation was partly stylistic.</a:t>
            </a:r>
            <a:endParaRPr lang="en-US" sz="900" dirty="0"/>
          </a:p>
        </p:txBody>
      </p:sp>
      <p:sp>
        <p:nvSpPr>
          <p:cNvPr id="21" name="Text 19"/>
          <p:cNvSpPr/>
          <p:nvPr/>
        </p:nvSpPr>
        <p:spPr>
          <a:xfrm>
            <a:off x="4673501" y="3145780"/>
            <a:ext cx="4249013" cy="133350"/>
          </a:xfrm>
          <a:prstGeom prst="rect">
            <a:avLst/>
          </a:prstGeom>
          <a:noFill/>
        </p:spPr>
        <p:txBody>
          <a:bodyPr wrap="square" lIns="0" tIns="0" rIns="0" bIns="0" rtlCol="0" anchor="t"/>
          <a:lstStyle/>
          <a:p>
            <a:pPr marL="0" indent="0" algn="l">
              <a:spcAft>
                <a:spcPts val="600"/>
              </a:spcAft>
              <a:buNone/>
            </a:pPr>
            <a:r>
              <a:rPr lang="en-US" sz="900" b="1" dirty="0">
                <a:solidFill>
                  <a:srgbClr val="44546A"/>
                </a:solidFill>
                <a:latin typeface="Arial" panose="020B0604020202090204" pitchFamily="34" charset="0"/>
                <a:ea typeface="Arial" panose="020B0604020202090204" pitchFamily="34" charset="-122"/>
                <a:cs typeface="Arial" panose="020B0604020202090204" pitchFamily="34" charset="-120"/>
              </a:rPr>
              <a:t>Style-Adjusted NN Outlier Rates</a:t>
            </a:r>
            <a:endParaRPr lang="en-US" sz="900" dirty="0"/>
          </a:p>
        </p:txBody>
      </p:sp>
      <p:sp>
        <p:nvSpPr>
          <p:cNvPr id="22" name="Text 20"/>
          <p:cNvSpPr/>
          <p:nvPr/>
        </p:nvSpPr>
        <p:spPr>
          <a:xfrm>
            <a:off x="4673501" y="3355330"/>
            <a:ext cx="984200" cy="463451"/>
          </a:xfrm>
          <a:prstGeom prst="roundRect">
            <a:avLst>
              <a:gd name="adj" fmla="val 10961"/>
            </a:avLst>
          </a:prstGeom>
          <a:solidFill>
            <a:srgbClr val="FFF4F4"/>
          </a:solidFill>
          <a:ln w="9525">
            <a:solidFill>
              <a:srgbClr val="C00000"/>
            </a:solidFill>
          </a:ln>
        </p:spPr>
        <p:txBody>
          <a:bodyPr wrap="square" rtlCol="0" anchor="ctr"/>
          <a:lstStyle/>
          <a:p>
            <a:pPr marL="0" indent="0">
              <a:buNone/>
            </a:pPr>
            <a:endParaRPr lang="en-US" dirty="0"/>
          </a:p>
        </p:txBody>
      </p:sp>
      <p:sp>
        <p:nvSpPr>
          <p:cNvPr id="23" name="Text 21"/>
          <p:cNvSpPr/>
          <p:nvPr/>
        </p:nvSpPr>
        <p:spPr>
          <a:xfrm>
            <a:off x="4776905" y="3441055"/>
            <a:ext cx="777392" cy="152400"/>
          </a:xfrm>
          <a:prstGeom prst="rect">
            <a:avLst/>
          </a:prstGeom>
          <a:noFill/>
        </p:spPr>
        <p:txBody>
          <a:bodyPr wrap="square" lIns="0" tIns="0" rIns="0" bIns="0" rtlCol="0" anchor="t"/>
          <a:lstStyle/>
          <a:p>
            <a:pPr marL="0" indent="0" algn="ctr">
              <a:lnSpc>
                <a:spcPts val="1200"/>
              </a:lnSpc>
              <a:buNone/>
            </a:pPr>
            <a:r>
              <a:rPr lang="en-US" sz="1200" b="1" dirty="0">
                <a:solidFill>
                  <a:srgbClr val="C00000"/>
                </a:solidFill>
                <a:latin typeface="Arial" panose="020B0604020202090204" pitchFamily="34" charset="0"/>
                <a:ea typeface="Arial" panose="020B0604020202090204" pitchFamily="34" charset="-122"/>
                <a:cs typeface="Arial" panose="020B0604020202090204" pitchFamily="34" charset="-120"/>
              </a:rPr>
              <a:t>8.7%</a:t>
            </a:r>
            <a:endParaRPr lang="en-US" sz="1200" dirty="0"/>
          </a:p>
        </p:txBody>
      </p:sp>
      <p:sp>
        <p:nvSpPr>
          <p:cNvPr id="24" name="Text 22"/>
          <p:cNvSpPr/>
          <p:nvPr/>
        </p:nvSpPr>
        <p:spPr>
          <a:xfrm>
            <a:off x="4776905" y="3618756"/>
            <a:ext cx="777392" cy="114300"/>
          </a:xfrm>
          <a:prstGeom prst="rect">
            <a:avLst/>
          </a:prstGeom>
          <a:noFill/>
        </p:spPr>
        <p:txBody>
          <a:bodyPr wrap="square" lIns="0" tIns="0" rIns="0" bIns="0" rtlCol="0" anchor="t"/>
          <a:lstStyle/>
          <a:p>
            <a:pPr marL="0" indent="0" algn="ctr">
              <a:spcBef>
                <a:spcPts val="200"/>
              </a:spcBef>
              <a:buNone/>
            </a:pPr>
            <a:r>
              <a:rPr lang="en-US" sz="800" dirty="0">
                <a:solidFill>
                  <a:srgbClr val="666666"/>
                </a:solidFill>
                <a:latin typeface="Arial" panose="020B0604020202090204" pitchFamily="34" charset="0"/>
                <a:ea typeface="Arial" panose="020B0604020202090204" pitchFamily="34" charset="-122"/>
                <a:cs typeface="Arial" panose="020B0604020202090204" pitchFamily="34" charset="-120"/>
              </a:rPr>
              <a:t>Human</a:t>
            </a:r>
            <a:endParaRPr lang="en-US" sz="800" dirty="0"/>
          </a:p>
        </p:txBody>
      </p:sp>
      <p:sp>
        <p:nvSpPr>
          <p:cNvPr id="25" name="Text 23"/>
          <p:cNvSpPr/>
          <p:nvPr/>
        </p:nvSpPr>
        <p:spPr>
          <a:xfrm>
            <a:off x="5733901" y="3355330"/>
            <a:ext cx="984349" cy="463451"/>
          </a:xfrm>
          <a:prstGeom prst="roundRect">
            <a:avLst>
              <a:gd name="adj" fmla="val 10961"/>
            </a:avLst>
          </a:prstGeom>
          <a:solidFill>
            <a:srgbClr val="EEF2FA"/>
          </a:solidFill>
          <a:ln w="9525">
            <a:solidFill>
              <a:srgbClr val="4472C4"/>
            </a:solidFill>
          </a:ln>
        </p:spPr>
        <p:txBody>
          <a:bodyPr wrap="square" rtlCol="0" anchor="ctr"/>
          <a:lstStyle/>
          <a:p>
            <a:pPr marL="0" indent="0">
              <a:buNone/>
            </a:pPr>
            <a:endParaRPr lang="en-US" dirty="0"/>
          </a:p>
        </p:txBody>
      </p:sp>
      <p:sp>
        <p:nvSpPr>
          <p:cNvPr id="26" name="Text 24"/>
          <p:cNvSpPr/>
          <p:nvPr/>
        </p:nvSpPr>
        <p:spPr>
          <a:xfrm>
            <a:off x="5886199" y="3424545"/>
            <a:ext cx="777544" cy="152400"/>
          </a:xfrm>
          <a:prstGeom prst="rect">
            <a:avLst/>
          </a:prstGeom>
          <a:noFill/>
        </p:spPr>
        <p:txBody>
          <a:bodyPr wrap="square" lIns="0" tIns="0" rIns="0" bIns="0" rtlCol="0" anchor="t"/>
          <a:lstStyle/>
          <a:p>
            <a:pPr marL="0" indent="0" algn="ctr">
              <a:lnSpc>
                <a:spcPts val="1200"/>
              </a:lnSpc>
              <a:buNone/>
            </a:pPr>
            <a:r>
              <a:rPr lang="en-US" sz="1200" b="1" dirty="0">
                <a:solidFill>
                  <a:srgbClr val="4472C4"/>
                </a:solidFill>
                <a:latin typeface="Arial" panose="020B0604020202090204" pitchFamily="34" charset="0"/>
                <a:ea typeface="Arial" panose="020B0604020202090204" pitchFamily="34" charset="-122"/>
                <a:cs typeface="Arial" panose="020B0604020202090204" pitchFamily="34" charset="-120"/>
              </a:rPr>
              <a:t>8.7%</a:t>
            </a:r>
            <a:endParaRPr lang="en-US" sz="1200" dirty="0"/>
          </a:p>
        </p:txBody>
      </p:sp>
      <p:sp>
        <p:nvSpPr>
          <p:cNvPr id="27" name="Text 25"/>
          <p:cNvSpPr/>
          <p:nvPr/>
        </p:nvSpPr>
        <p:spPr>
          <a:xfrm>
            <a:off x="5837304" y="3618756"/>
            <a:ext cx="777544" cy="114300"/>
          </a:xfrm>
          <a:prstGeom prst="rect">
            <a:avLst/>
          </a:prstGeom>
          <a:noFill/>
        </p:spPr>
        <p:txBody>
          <a:bodyPr wrap="square" lIns="0" tIns="0" rIns="0" bIns="0" rtlCol="0" anchor="t"/>
          <a:lstStyle/>
          <a:p>
            <a:pPr marL="0" indent="0" algn="ctr">
              <a:spcBef>
                <a:spcPts val="200"/>
              </a:spcBef>
              <a:buNone/>
            </a:pPr>
            <a:r>
              <a:rPr lang="en-US" sz="800" dirty="0">
                <a:solidFill>
                  <a:srgbClr val="666666"/>
                </a:solidFill>
                <a:latin typeface="Arial" panose="020B0604020202090204" pitchFamily="34" charset="0"/>
                <a:ea typeface="Arial" panose="020B0604020202090204" pitchFamily="34" charset="-122"/>
                <a:cs typeface="Arial" panose="020B0604020202090204" pitchFamily="34" charset="-120"/>
              </a:rPr>
              <a:t>Claude</a:t>
            </a:r>
            <a:endParaRPr lang="en-US" sz="800" dirty="0"/>
          </a:p>
        </p:txBody>
      </p:sp>
      <p:sp>
        <p:nvSpPr>
          <p:cNvPr id="28" name="Text 26"/>
          <p:cNvSpPr/>
          <p:nvPr/>
        </p:nvSpPr>
        <p:spPr>
          <a:xfrm>
            <a:off x="6794450" y="3355330"/>
            <a:ext cx="984200" cy="463451"/>
          </a:xfrm>
          <a:prstGeom prst="roundRect">
            <a:avLst>
              <a:gd name="adj" fmla="val 10961"/>
            </a:avLst>
          </a:prstGeom>
          <a:solidFill>
            <a:srgbClr val="F5EEF8"/>
          </a:solidFill>
          <a:ln w="9525">
            <a:solidFill>
              <a:srgbClr val="8E44AD"/>
            </a:solidFill>
          </a:ln>
        </p:spPr>
        <p:txBody>
          <a:bodyPr wrap="square" rtlCol="0" anchor="ctr"/>
          <a:lstStyle/>
          <a:p>
            <a:pPr marL="0" indent="0">
              <a:buNone/>
            </a:pPr>
            <a:endParaRPr lang="en-US" dirty="0"/>
          </a:p>
        </p:txBody>
      </p:sp>
      <p:sp>
        <p:nvSpPr>
          <p:cNvPr id="29" name="Text 27"/>
          <p:cNvSpPr/>
          <p:nvPr/>
        </p:nvSpPr>
        <p:spPr>
          <a:xfrm>
            <a:off x="6897855" y="3441055"/>
            <a:ext cx="777392" cy="152400"/>
          </a:xfrm>
          <a:prstGeom prst="rect">
            <a:avLst/>
          </a:prstGeom>
          <a:noFill/>
        </p:spPr>
        <p:txBody>
          <a:bodyPr wrap="square" lIns="0" tIns="0" rIns="0" bIns="0" rtlCol="0" anchor="t"/>
          <a:lstStyle/>
          <a:p>
            <a:pPr marL="0" indent="0" algn="ctr">
              <a:lnSpc>
                <a:spcPts val="1200"/>
              </a:lnSpc>
              <a:buNone/>
            </a:pPr>
            <a:r>
              <a:rPr lang="en-US" sz="1200" b="1" dirty="0">
                <a:solidFill>
                  <a:srgbClr val="8E44AD"/>
                </a:solidFill>
                <a:latin typeface="Arial" panose="020B0604020202090204" pitchFamily="34" charset="0"/>
                <a:ea typeface="Arial" panose="020B0604020202090204" pitchFamily="34" charset="-122"/>
                <a:cs typeface="Arial" panose="020B0604020202090204" pitchFamily="34" charset="-120"/>
              </a:rPr>
              <a:t>17.4%</a:t>
            </a:r>
            <a:endParaRPr lang="en-US" sz="1200" dirty="0"/>
          </a:p>
        </p:txBody>
      </p:sp>
      <p:sp>
        <p:nvSpPr>
          <p:cNvPr id="30" name="Text 28"/>
          <p:cNvSpPr/>
          <p:nvPr/>
        </p:nvSpPr>
        <p:spPr>
          <a:xfrm>
            <a:off x="6891505" y="3635901"/>
            <a:ext cx="777392" cy="114300"/>
          </a:xfrm>
          <a:prstGeom prst="rect">
            <a:avLst/>
          </a:prstGeom>
          <a:noFill/>
        </p:spPr>
        <p:txBody>
          <a:bodyPr wrap="square" lIns="0" tIns="0" rIns="0" bIns="0" rtlCol="0" anchor="t"/>
          <a:lstStyle/>
          <a:p>
            <a:pPr marL="0" indent="0" algn="ctr">
              <a:spcBef>
                <a:spcPts val="200"/>
              </a:spcBef>
              <a:buNone/>
            </a:pPr>
            <a:r>
              <a:rPr lang="en-US" sz="800" dirty="0">
                <a:solidFill>
                  <a:srgbClr val="666666"/>
                </a:solidFill>
                <a:latin typeface="Arial" panose="020B0604020202090204" pitchFamily="34" charset="0"/>
                <a:ea typeface="Arial" panose="020B0604020202090204" pitchFamily="34" charset="-122"/>
                <a:cs typeface="Arial" panose="020B0604020202090204" pitchFamily="34" charset="-120"/>
              </a:rPr>
              <a:t>Gemini</a:t>
            </a:r>
            <a:endParaRPr lang="en-US" sz="800" dirty="0"/>
          </a:p>
        </p:txBody>
      </p:sp>
      <p:sp>
        <p:nvSpPr>
          <p:cNvPr id="31" name="Text 29"/>
          <p:cNvSpPr/>
          <p:nvPr/>
        </p:nvSpPr>
        <p:spPr>
          <a:xfrm>
            <a:off x="7854851" y="3355330"/>
            <a:ext cx="984349" cy="463451"/>
          </a:xfrm>
          <a:prstGeom prst="roundRect">
            <a:avLst>
              <a:gd name="adj" fmla="val 10961"/>
            </a:avLst>
          </a:prstGeom>
          <a:solidFill>
            <a:srgbClr val="FEF4EC"/>
          </a:solidFill>
          <a:ln w="9525">
            <a:solidFill>
              <a:srgbClr val="ED7D31"/>
            </a:solidFill>
          </a:ln>
        </p:spPr>
        <p:txBody>
          <a:bodyPr wrap="square" rtlCol="0" anchor="ctr"/>
          <a:lstStyle/>
          <a:p>
            <a:pPr marL="0" indent="0">
              <a:buNone/>
            </a:pPr>
            <a:endParaRPr lang="en-US" dirty="0"/>
          </a:p>
        </p:txBody>
      </p:sp>
      <p:sp>
        <p:nvSpPr>
          <p:cNvPr id="32" name="Text 30"/>
          <p:cNvSpPr/>
          <p:nvPr/>
        </p:nvSpPr>
        <p:spPr>
          <a:xfrm>
            <a:off x="7958254" y="3441055"/>
            <a:ext cx="777544" cy="152400"/>
          </a:xfrm>
          <a:prstGeom prst="rect">
            <a:avLst/>
          </a:prstGeom>
          <a:noFill/>
        </p:spPr>
        <p:txBody>
          <a:bodyPr wrap="square" lIns="0" tIns="0" rIns="0" bIns="0" rtlCol="0" anchor="t"/>
          <a:lstStyle/>
          <a:p>
            <a:pPr marL="0" indent="0" algn="ctr">
              <a:lnSpc>
                <a:spcPts val="1200"/>
              </a:lnSpc>
              <a:buNone/>
            </a:pPr>
            <a:r>
              <a:rPr lang="en-US" sz="1200" b="1" dirty="0">
                <a:solidFill>
                  <a:srgbClr val="E67E22"/>
                </a:solidFill>
                <a:latin typeface="Arial" panose="020B0604020202090204" pitchFamily="34" charset="0"/>
                <a:ea typeface="Arial" panose="020B0604020202090204" pitchFamily="34" charset="-122"/>
                <a:cs typeface="Arial" panose="020B0604020202090204" pitchFamily="34" charset="-120"/>
              </a:rPr>
              <a:t>8.7%</a:t>
            </a:r>
            <a:endParaRPr lang="en-US" sz="1200" dirty="0"/>
          </a:p>
        </p:txBody>
      </p:sp>
      <p:sp>
        <p:nvSpPr>
          <p:cNvPr id="33" name="Text 31"/>
          <p:cNvSpPr/>
          <p:nvPr/>
        </p:nvSpPr>
        <p:spPr>
          <a:xfrm>
            <a:off x="7958254" y="3618756"/>
            <a:ext cx="777544" cy="114300"/>
          </a:xfrm>
          <a:prstGeom prst="rect">
            <a:avLst/>
          </a:prstGeom>
          <a:noFill/>
        </p:spPr>
        <p:txBody>
          <a:bodyPr wrap="square" lIns="0" tIns="0" rIns="0" bIns="0" rtlCol="0" anchor="t"/>
          <a:lstStyle/>
          <a:p>
            <a:pPr marL="0" indent="0" algn="ctr">
              <a:spcBef>
                <a:spcPts val="200"/>
              </a:spcBef>
              <a:buNone/>
            </a:pPr>
            <a:r>
              <a:rPr lang="en-US" sz="800" dirty="0">
                <a:solidFill>
                  <a:srgbClr val="666666"/>
                </a:solidFill>
                <a:latin typeface="Arial" panose="020B0604020202090204" pitchFamily="34" charset="0"/>
                <a:ea typeface="Arial" panose="020B0604020202090204" pitchFamily="34" charset="-122"/>
                <a:cs typeface="Arial" panose="020B0604020202090204" pitchFamily="34" charset="-120"/>
              </a:rPr>
              <a:t>GPT-5.2</a:t>
            </a:r>
            <a:endParaRPr lang="en-US" sz="800" dirty="0"/>
          </a:p>
        </p:txBody>
      </p:sp>
      <p:sp>
        <p:nvSpPr>
          <p:cNvPr id="34" name="Text 32"/>
          <p:cNvSpPr/>
          <p:nvPr/>
        </p:nvSpPr>
        <p:spPr>
          <a:xfrm>
            <a:off x="4673501" y="3942507"/>
            <a:ext cx="4165699" cy="774502"/>
          </a:xfrm>
          <a:prstGeom prst="roundRect">
            <a:avLst>
              <a:gd name="adj" fmla="val 8199"/>
            </a:avLst>
          </a:prstGeom>
          <a:solidFill>
            <a:srgbClr val="EEF6E8"/>
          </a:solidFill>
        </p:spPr>
        <p:txBody>
          <a:bodyPr wrap="square" rtlCol="0" anchor="ctr"/>
          <a:lstStyle/>
          <a:p>
            <a:pPr marL="0" indent="0">
              <a:buNone/>
            </a:pPr>
            <a:endParaRPr lang="en-US" dirty="0"/>
          </a:p>
        </p:txBody>
      </p:sp>
      <p:sp>
        <p:nvSpPr>
          <p:cNvPr id="35" name="Shape 33"/>
          <p:cNvSpPr/>
          <p:nvPr/>
        </p:nvSpPr>
        <p:spPr>
          <a:xfrm>
            <a:off x="4692551" y="3920282"/>
            <a:ext cx="0" cy="774502"/>
          </a:xfrm>
          <a:prstGeom prst="line">
            <a:avLst/>
          </a:prstGeom>
          <a:noFill/>
          <a:ln w="38100">
            <a:solidFill>
              <a:srgbClr val="70AD47"/>
            </a:solidFill>
            <a:prstDash val="solid"/>
          </a:ln>
        </p:spPr>
      </p:sp>
      <p:sp>
        <p:nvSpPr>
          <p:cNvPr id="36" name="Text 34"/>
          <p:cNvSpPr/>
          <p:nvPr/>
        </p:nvSpPr>
        <p:spPr>
          <a:xfrm>
            <a:off x="4838551" y="4021782"/>
            <a:ext cx="3951172" cy="133350"/>
          </a:xfrm>
          <a:prstGeom prst="rect">
            <a:avLst/>
          </a:prstGeom>
          <a:noFill/>
        </p:spPr>
        <p:txBody>
          <a:bodyPr wrap="square" lIns="0" tIns="0" rIns="0" bIns="0" rtlCol="0" anchor="t"/>
          <a:lstStyle/>
          <a:p>
            <a:pPr marL="0" indent="0" algn="l">
              <a:spcAft>
                <a:spcPts val="300"/>
              </a:spcAft>
              <a:buNone/>
            </a:pPr>
            <a:r>
              <a:rPr lang="en-US" sz="950" b="1" dirty="0">
                <a:solidFill>
                  <a:srgbClr val="385C1F"/>
                </a:solidFill>
                <a:latin typeface="Arial" panose="020B0604020202090204" pitchFamily="34" charset="0"/>
                <a:ea typeface="Arial" panose="020B0604020202090204" pitchFamily="34" charset="-122"/>
                <a:cs typeface="Arial" panose="020B0604020202090204" pitchFamily="34" charset="-120"/>
              </a:rPr>
              <a:t>Semantic separation confirmed</a:t>
            </a:r>
            <a:endParaRPr lang="en-US" sz="950" dirty="0"/>
          </a:p>
        </p:txBody>
      </p:sp>
      <p:sp>
        <p:nvSpPr>
          <p:cNvPr id="37" name="Text 35"/>
          <p:cNvSpPr/>
          <p:nvPr/>
        </p:nvSpPr>
        <p:spPr>
          <a:xfrm>
            <a:off x="4838551" y="4193232"/>
            <a:ext cx="3951172" cy="40005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Even after double style-control (rephrasing + residualization), Human/AI semantic segregation persists. 78.3% of AI proposals have their nearest neighbor from within the AI group — a conceptual, not stylistic, signal.</a:t>
            </a:r>
            <a:endParaRPr lang="en-US" sz="900" dirty="0"/>
          </a:p>
        </p:txBody>
      </p:sp>
      <p:pic>
        <p:nvPicPr>
          <p:cNvPr id="38" name="Image 0" descr="/Users/eveyhuang/Documents/NICO/human-AI-proposal-comparison/results/figures/rephrased/centroid_dispersion_style_adjusted.png"/>
          <p:cNvPicPr>
            <a:picLocks noChangeAspect="1"/>
          </p:cNvPicPr>
          <p:nvPr/>
        </p:nvPicPr>
        <p:blipFill>
          <a:blip r:embed="rId1"/>
          <a:stretch>
            <a:fillRect/>
          </a:stretch>
        </p:blipFill>
        <p:spPr>
          <a:xfrm>
            <a:off x="302895" y="1015950"/>
            <a:ext cx="4191000" cy="215890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4472C4"/>
          </a:solidFill>
        </p:spPr>
        <p:txBody>
          <a:bodyPr wrap="square" rtlCol="0" anchor="ctr"/>
          <a:lstStyle/>
          <a:p>
            <a:pPr marL="0" indent="0">
              <a:buNone/>
            </a:pPr>
            <a:endParaRPr lang="en-US" dirty="0"/>
          </a:p>
        </p:txBody>
      </p:sp>
      <p:sp>
        <p:nvSpPr>
          <p:cNvPr id="3" name="Text 1"/>
          <p:cNvSpPr/>
          <p:nvPr/>
        </p:nvSpPr>
        <p:spPr>
          <a:xfrm>
            <a:off x="0" y="5067300"/>
            <a:ext cx="9144000" cy="76200"/>
          </a:xfrm>
          <a:prstGeom prst="rect">
            <a:avLst/>
          </a:prstGeom>
          <a:solidFill>
            <a:srgbClr val="44546A"/>
          </a:solidFill>
        </p:spPr>
        <p:txBody>
          <a:bodyPr wrap="square" rtlCol="0" anchor="ctr"/>
          <a:lstStyle/>
          <a:p>
            <a:pPr marL="0" indent="0">
              <a:buNone/>
            </a:pPr>
            <a:endParaRPr lang="en-US" dirty="0"/>
          </a:p>
        </p:txBody>
      </p:sp>
      <p:sp>
        <p:nvSpPr>
          <p:cNvPr id="4" name="Text 2"/>
          <p:cNvSpPr/>
          <p:nvPr/>
        </p:nvSpPr>
        <p:spPr>
          <a:xfrm>
            <a:off x="7112050" y="76200"/>
            <a:ext cx="2031950" cy="355550"/>
          </a:xfrm>
          <a:prstGeom prst="rect">
            <a:avLst/>
          </a:prstGeom>
          <a:solidFill>
            <a:srgbClr val="44546A"/>
          </a:solidFill>
        </p:spPr>
        <p:txBody>
          <a:bodyPr wrap="square" rtlCol="0" anchor="ctr"/>
          <a:lstStyle/>
          <a:p>
            <a:pPr marL="0" indent="0">
              <a:buNone/>
            </a:pPr>
            <a:endParaRPr lang="en-US" dirty="0"/>
          </a:p>
        </p:txBody>
      </p:sp>
      <p:sp>
        <p:nvSpPr>
          <p:cNvPr id="5" name="Text 3"/>
          <p:cNvSpPr/>
          <p:nvPr/>
        </p:nvSpPr>
        <p:spPr>
          <a:xfrm>
            <a:off x="7389168" y="187226"/>
            <a:ext cx="1507269" cy="133350"/>
          </a:xfrm>
          <a:prstGeom prst="rect">
            <a:avLst/>
          </a:prstGeom>
          <a:noFill/>
        </p:spPr>
        <p:txBody>
          <a:bodyPr wrap="square" lIns="0" tIns="0" rIns="0" bIns="0" rtlCol="0" anchor="t"/>
          <a:lstStyle/>
          <a:p>
            <a:pPr marL="0" indent="0" algn="l">
              <a:buNone/>
            </a:pPr>
            <a:r>
              <a:rPr lang="en-US" sz="900" b="1" dirty="0">
                <a:solidFill>
                  <a:srgbClr val="FFFFFF"/>
                </a:solidFill>
                <a:latin typeface="Arial" panose="020B0604020202090204" pitchFamily="34" charset="0"/>
                <a:ea typeface="Arial" panose="020B0604020202090204" pitchFamily="34" charset="-122"/>
                <a:cs typeface="Arial" panose="020B0604020202090204" pitchFamily="34" charset="-120"/>
              </a:rPr>
              <a:t>PART V · REVIEW SCORES</a:t>
            </a:r>
            <a:endParaRPr lang="en-US" sz="900" dirty="0"/>
          </a:p>
        </p:txBody>
      </p:sp>
      <p:sp>
        <p:nvSpPr>
          <p:cNvPr id="6" name="Text 4"/>
          <p:cNvSpPr/>
          <p:nvPr/>
        </p:nvSpPr>
        <p:spPr>
          <a:xfrm>
            <a:off x="304800" y="76200"/>
            <a:ext cx="987772" cy="190500"/>
          </a:xfrm>
          <a:prstGeom prst="roundRect">
            <a:avLst>
              <a:gd name="adj" fmla="val 20000"/>
            </a:avLst>
          </a:prstGeom>
          <a:solidFill>
            <a:srgbClr val="A5A5A5"/>
          </a:solidFill>
        </p:spPr>
        <p:txBody>
          <a:bodyPr wrap="square" rtlCol="0" anchor="ctr"/>
          <a:lstStyle/>
          <a:p>
            <a:pPr marL="0" indent="0">
              <a:buNone/>
            </a:pPr>
            <a:endParaRPr lang="en-US" dirty="0"/>
          </a:p>
        </p:txBody>
      </p:sp>
      <p:sp>
        <p:nvSpPr>
          <p:cNvPr id="7" name="Text 5"/>
          <p:cNvSpPr/>
          <p:nvPr/>
        </p:nvSpPr>
        <p:spPr>
          <a:xfrm>
            <a:off x="406301" y="114300"/>
            <a:ext cx="800466" cy="114300"/>
          </a:xfrm>
          <a:prstGeom prst="rect">
            <a:avLst/>
          </a:prstGeom>
          <a:noFill/>
        </p:spPr>
        <p:txBody>
          <a:bodyPr wrap="square" lIns="0" tIns="0" rIns="0" bIns="0" rtlCol="0" anchor="t"/>
          <a:lstStyle/>
          <a:p>
            <a:pPr marL="0" indent="0" algn="l">
              <a:buNone/>
            </a:pPr>
            <a:r>
              <a:rPr lang="en-US" sz="800" b="1" dirty="0">
                <a:solidFill>
                  <a:srgbClr val="FFFFFF"/>
                </a:solidFill>
                <a:latin typeface="Arial" panose="020B0604020202090204" pitchFamily="34" charset="0"/>
                <a:ea typeface="Arial" panose="020B0604020202090204" pitchFamily="34" charset="-122"/>
                <a:cs typeface="Arial" panose="020B0604020202090204" pitchFamily="34" charset="-120"/>
              </a:rPr>
              <a:t>Analysis 3.1–3.5</a:t>
            </a:r>
            <a:endParaRPr lang="en-US" sz="800" dirty="0"/>
          </a:p>
        </p:txBody>
      </p:sp>
      <p:sp>
        <p:nvSpPr>
          <p:cNvPr id="8" name="Text 6"/>
          <p:cNvSpPr/>
          <p:nvPr/>
        </p:nvSpPr>
        <p:spPr>
          <a:xfrm>
            <a:off x="304800" y="381000"/>
            <a:ext cx="7124649" cy="266700"/>
          </a:xfrm>
          <a:prstGeom prst="rect">
            <a:avLst/>
          </a:prstGeom>
          <a:noFill/>
        </p:spPr>
        <p:txBody>
          <a:bodyPr wrap="square" lIns="0" tIns="0" rIns="0" bIns="0" rtlCol="0" anchor="t"/>
          <a:lstStyle/>
          <a:p>
            <a:pPr marL="0" indent="0" algn="l">
              <a:buNone/>
            </a:pPr>
            <a:r>
              <a:rPr lang="en-US" sz="1800" b="1" dirty="0">
                <a:solidFill>
                  <a:srgbClr val="44546A"/>
                </a:solidFill>
                <a:latin typeface="Arial" panose="020B0604020202090204" pitchFamily="34" charset="0"/>
                <a:ea typeface="Arial" panose="020B0604020202090204" pitchFamily="34" charset="-122"/>
                <a:cs typeface="Arial" panose="020B0604020202090204" pitchFamily="34" charset="-120"/>
              </a:rPr>
              <a:t>Metric–Score Correlation &amp; Predictive Validation</a:t>
            </a:r>
            <a:endParaRPr lang="en-US" sz="1800" dirty="0"/>
          </a:p>
        </p:txBody>
      </p:sp>
      <p:sp>
        <p:nvSpPr>
          <p:cNvPr id="9" name="Text 7"/>
          <p:cNvSpPr/>
          <p:nvPr/>
        </p:nvSpPr>
        <p:spPr>
          <a:xfrm>
            <a:off x="304800" y="673001"/>
            <a:ext cx="7124649" cy="142875"/>
          </a:xfrm>
          <a:prstGeom prst="rect">
            <a:avLst/>
          </a:prstGeom>
          <a:noFill/>
        </p:spPr>
        <p:txBody>
          <a:bodyPr wrap="square" lIns="0" tIns="0" rIns="0" bIns="0" rtlCol="0" anchor="t"/>
          <a:lstStyle/>
          <a:p>
            <a:pPr marL="0" indent="0" algn="l">
              <a:spcBef>
                <a:spcPts val="200"/>
              </a:spcBef>
              <a:buNone/>
            </a:pPr>
            <a:r>
              <a:rPr lang="en-US" sz="1000" dirty="0">
                <a:solidFill>
                  <a:srgbClr val="4472C4"/>
                </a:solidFill>
                <a:latin typeface="Arial" panose="020B0604020202090204" pitchFamily="34" charset="0"/>
                <a:ea typeface="Arial" panose="020B0604020202090204" pitchFamily="34" charset="-122"/>
                <a:cs typeface="Arial" panose="020B0604020202090204" pitchFamily="34" charset="-120"/>
              </a:rPr>
              <a:t>Do diversity/novelty metrics predict AI-assigned review scores? Ridge regression R² by criterion.</a:t>
            </a:r>
            <a:endParaRPr lang="en-US" sz="1000" dirty="0"/>
          </a:p>
        </p:txBody>
      </p:sp>
      <p:sp>
        <p:nvSpPr>
          <p:cNvPr id="10" name="Text 8"/>
          <p:cNvSpPr/>
          <p:nvPr/>
        </p:nvSpPr>
        <p:spPr>
          <a:xfrm>
            <a:off x="304800" y="812750"/>
            <a:ext cx="8534400" cy="25301"/>
          </a:xfrm>
          <a:prstGeom prst="rect">
            <a:avLst/>
          </a:prstGeom>
          <a:solidFill>
            <a:srgbClr val="4472C4"/>
          </a:solidFill>
        </p:spPr>
        <p:txBody>
          <a:bodyPr wrap="square" rtlCol="0" anchor="ctr"/>
          <a:lstStyle/>
          <a:p>
            <a:pPr marL="0" indent="0">
              <a:buNone/>
            </a:pPr>
            <a:endParaRPr lang="en-US" dirty="0"/>
          </a:p>
        </p:txBody>
      </p:sp>
      <p:sp>
        <p:nvSpPr>
          <p:cNvPr id="12" name="Shape 10"/>
          <p:cNvSpPr/>
          <p:nvPr/>
        </p:nvSpPr>
        <p:spPr>
          <a:xfrm>
            <a:off x="172085" y="4031615"/>
            <a:ext cx="635" cy="908050"/>
          </a:xfrm>
          <a:prstGeom prst="line">
            <a:avLst/>
          </a:prstGeom>
          <a:noFill/>
          <a:ln w="38100">
            <a:solidFill>
              <a:srgbClr val="C00000"/>
            </a:solidFill>
            <a:prstDash val="solid"/>
          </a:ln>
        </p:spPr>
      </p:sp>
      <p:sp>
        <p:nvSpPr>
          <p:cNvPr id="13" name="Text 11"/>
          <p:cNvSpPr/>
          <p:nvPr/>
        </p:nvSpPr>
        <p:spPr>
          <a:xfrm>
            <a:off x="334010" y="4044950"/>
            <a:ext cx="4198620" cy="133350"/>
          </a:xfrm>
          <a:prstGeom prst="rect">
            <a:avLst/>
          </a:prstGeom>
          <a:noFill/>
        </p:spPr>
        <p:txBody>
          <a:bodyPr wrap="square" lIns="0" tIns="0" rIns="0" bIns="0" rtlCol="0" anchor="t"/>
          <a:lstStyle/>
          <a:p>
            <a:pPr marL="0" indent="0" algn="l">
              <a:spcAft>
                <a:spcPts val="300"/>
              </a:spcAft>
              <a:buNone/>
            </a:pPr>
            <a:r>
              <a:rPr lang="en-US" sz="950" b="1" dirty="0">
                <a:solidFill>
                  <a:srgbClr val="C00000"/>
                </a:solidFill>
                <a:latin typeface="Arial" panose="020B0604020202090204" pitchFamily="34" charset="0"/>
                <a:ea typeface="Arial" panose="020B0604020202090204" pitchFamily="34" charset="-122"/>
                <a:cs typeface="Arial" panose="020B0604020202090204" pitchFamily="34" charset="-120"/>
              </a:rPr>
              <a:t>Semantic isolation predicts </a:t>
            </a:r>
            <a:r>
              <a:rPr lang="en-US" sz="950" b="1" dirty="0">
                <a:solidFill>
                  <a:srgbClr val="C00000"/>
                </a:solidFill>
                <a:latin typeface="Arial Bold" panose="020B0604020202090204" charset="0"/>
                <a:ea typeface="Arial" panose="020B0604020202090204" pitchFamily="34" charset="-122"/>
                <a:cs typeface="Arial Bold" panose="020B0604020202090204" charset="0"/>
              </a:rPr>
              <a:t>lower </a:t>
            </a:r>
            <a:r>
              <a:rPr lang="en-US" sz="950" b="1" dirty="0">
                <a:solidFill>
                  <a:srgbClr val="C00000"/>
                </a:solidFill>
                <a:latin typeface="Arial" panose="020B0604020202090204" pitchFamily="34" charset="0"/>
                <a:ea typeface="Arial" panose="020B0604020202090204" pitchFamily="34" charset="-122"/>
                <a:cs typeface="Arial" panose="020B0604020202090204" pitchFamily="34" charset="-120"/>
              </a:rPr>
              <a:t>scores</a:t>
            </a:r>
            <a:endParaRPr lang="en-US" sz="950" dirty="0"/>
          </a:p>
        </p:txBody>
      </p:sp>
      <p:sp>
        <p:nvSpPr>
          <p:cNvPr id="14" name="Text 12"/>
          <p:cNvSpPr/>
          <p:nvPr/>
        </p:nvSpPr>
        <p:spPr>
          <a:xfrm>
            <a:off x="304800" y="4349750"/>
            <a:ext cx="3626485" cy="53340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NN distance (within-corpus) shows strong negative correlations with review criteria — most notably Relevance (centroid_dist r = −0.548) and Novelty &amp; Significance (nn_dist r = −0.498). Main-idea NN distance shows strongest correlations: Relevance r = −0.554, Novelty r = −0.485. Open Science shows weak correlation (r = −0.079).498). Semantically isolated proposals score lower.</a:t>
            </a:r>
            <a:endParaRPr lang="en-US" sz="900" dirty="0"/>
          </a:p>
        </p:txBody>
      </p:sp>
      <p:sp>
        <p:nvSpPr>
          <p:cNvPr id="16" name="Shape 14"/>
          <p:cNvSpPr/>
          <p:nvPr/>
        </p:nvSpPr>
        <p:spPr>
          <a:xfrm>
            <a:off x="4693920" y="4073525"/>
            <a:ext cx="635" cy="774700"/>
          </a:xfrm>
          <a:prstGeom prst="line">
            <a:avLst/>
          </a:prstGeom>
          <a:noFill/>
          <a:ln w="38100">
            <a:solidFill>
              <a:srgbClr val="4472C4"/>
            </a:solidFill>
            <a:prstDash val="solid"/>
          </a:ln>
        </p:spPr>
      </p:sp>
      <p:sp>
        <p:nvSpPr>
          <p:cNvPr id="17" name="Text 15"/>
          <p:cNvSpPr/>
          <p:nvPr/>
        </p:nvSpPr>
        <p:spPr>
          <a:xfrm>
            <a:off x="4835525" y="4072890"/>
            <a:ext cx="3378835" cy="114300"/>
          </a:xfrm>
          <a:prstGeom prst="rect">
            <a:avLst/>
          </a:prstGeom>
          <a:noFill/>
        </p:spPr>
        <p:txBody>
          <a:bodyPr wrap="square" lIns="0" tIns="0" rIns="0" bIns="0" rtlCol="0" anchor="t"/>
          <a:lstStyle/>
          <a:p>
            <a:pPr marL="0" indent="0" algn="l">
              <a:spcAft>
                <a:spcPts val="300"/>
              </a:spcAft>
              <a:buNone/>
            </a:pPr>
            <a:r>
              <a:rPr lang="en-US" sz="950" b="1" dirty="0">
                <a:solidFill>
                  <a:srgbClr val="4472C4"/>
                </a:solidFill>
                <a:latin typeface="Arial" panose="020B0604020202090204" pitchFamily="34" charset="0"/>
                <a:ea typeface="Arial" panose="020B0604020202090204" pitchFamily="34" charset="-122"/>
                <a:cs typeface="Arial" panose="020B0604020202090204" pitchFamily="34" charset="-120"/>
              </a:rPr>
              <a:t>Embedding features predict Novelty &amp; Significance scores</a:t>
            </a:r>
            <a:endParaRPr lang="en-US" sz="950" dirty="0"/>
          </a:p>
        </p:txBody>
      </p:sp>
      <p:sp>
        <p:nvSpPr>
          <p:cNvPr id="18" name="Text 16"/>
          <p:cNvSpPr/>
          <p:nvPr/>
        </p:nvSpPr>
        <p:spPr>
          <a:xfrm>
            <a:off x="4852035" y="4330700"/>
            <a:ext cx="3238500" cy="40005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Ridge regression: embedding-only R² = 0.18 for Novelty &amp; Significance (p = 0.002), outperforming style-only R² = 0.096. This validates embedding metrics as proxies for the Novelty criterion specifically.</a:t>
            </a:r>
            <a:endParaRPr lang="en-US" sz="900" dirty="0"/>
          </a:p>
        </p:txBody>
      </p:sp>
      <p:pic>
        <p:nvPicPr>
          <p:cNvPr id="30" name="Picture 29" descr="metric_score_r2_by_criterion"/>
          <p:cNvPicPr>
            <a:picLocks noChangeAspect="1"/>
          </p:cNvPicPr>
          <p:nvPr/>
        </p:nvPicPr>
        <p:blipFill>
          <a:blip r:embed="rId1"/>
          <a:srcRect b="4425"/>
          <a:stretch>
            <a:fillRect/>
          </a:stretch>
        </p:blipFill>
        <p:spPr>
          <a:xfrm>
            <a:off x="225425" y="854710"/>
            <a:ext cx="6475730" cy="307467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Shape 18"/>
          <p:cNvSpPr/>
          <p:nvPr/>
        </p:nvSpPr>
        <p:spPr>
          <a:xfrm>
            <a:off x="6849745" y="1903730"/>
            <a:ext cx="635" cy="1520190"/>
          </a:xfrm>
          <a:prstGeom prst="line">
            <a:avLst/>
          </a:prstGeom>
          <a:noFill/>
          <a:ln w="38100">
            <a:solidFill>
              <a:srgbClr val="FFC000"/>
            </a:solidFill>
            <a:prstDash val="solid"/>
          </a:ln>
        </p:spPr>
      </p:sp>
      <p:sp>
        <p:nvSpPr>
          <p:cNvPr id="21" name="Text 19"/>
          <p:cNvSpPr/>
          <p:nvPr/>
        </p:nvSpPr>
        <p:spPr>
          <a:xfrm>
            <a:off x="6959600" y="1903730"/>
            <a:ext cx="1978660" cy="133350"/>
          </a:xfrm>
          <a:prstGeom prst="rect">
            <a:avLst/>
          </a:prstGeom>
          <a:noFill/>
        </p:spPr>
        <p:txBody>
          <a:bodyPr wrap="square" lIns="0" tIns="0" rIns="0" bIns="0" rtlCol="0" anchor="t"/>
          <a:lstStyle/>
          <a:p>
            <a:pPr marL="0" indent="0" algn="l">
              <a:spcAft>
                <a:spcPts val="300"/>
              </a:spcAft>
              <a:buNone/>
            </a:pPr>
            <a:r>
              <a:rPr lang="en-US" sz="950" b="1" dirty="0">
                <a:solidFill>
                  <a:srgbClr val="B8860B"/>
                </a:solidFill>
                <a:latin typeface="Arial" panose="020B0604020202090204" pitchFamily="34" charset="0"/>
                <a:ea typeface="Arial" panose="020B0604020202090204" pitchFamily="34" charset="-122"/>
                <a:cs typeface="Arial" panose="020B0604020202090204" pitchFamily="34" charset="-120"/>
              </a:rPr>
              <a:t>NN outliers vs. literature-novel proposals do not align with high scores (by AI evaluator)</a:t>
            </a:r>
            <a:endParaRPr lang="en-US" sz="950" dirty="0"/>
          </a:p>
        </p:txBody>
      </p:sp>
      <p:sp>
        <p:nvSpPr>
          <p:cNvPr id="22" name="Text 20"/>
          <p:cNvSpPr/>
          <p:nvPr/>
        </p:nvSpPr>
        <p:spPr>
          <a:xfrm>
            <a:off x="6959600" y="2508885"/>
            <a:ext cx="1978660" cy="40005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Outlier proposals (top-10% NN distance) score lower on all criteria (Cliff's δ &lt; 0, all p ≈ 1.0 for one-sided "outlier scores higher" test). Literature-novel proposals similarly show no score advantage. AI evaluators reward relevance, not peripherality.</a:t>
            </a:r>
            <a:endParaRPr lang="en-US" sz="900" dirty="0"/>
          </a:p>
        </p:txBody>
      </p:sp>
      <p:pic>
        <p:nvPicPr>
          <p:cNvPr id="2" name="Picture 1" descr="outlier_score_comparison"/>
          <p:cNvPicPr>
            <a:picLocks noChangeAspect="1"/>
          </p:cNvPicPr>
          <p:nvPr/>
        </p:nvPicPr>
        <p:blipFill>
          <a:blip r:embed="rId1"/>
          <a:stretch>
            <a:fillRect/>
          </a:stretch>
        </p:blipFill>
        <p:spPr>
          <a:xfrm>
            <a:off x="148590" y="133985"/>
            <a:ext cx="6524625" cy="2295525"/>
          </a:xfrm>
          <a:prstGeom prst="rect">
            <a:avLst/>
          </a:prstGeom>
        </p:spPr>
      </p:pic>
      <p:pic>
        <p:nvPicPr>
          <p:cNvPr id="3" name="Picture 2" descr="lit_novel_score_comparison_33b"/>
          <p:cNvPicPr>
            <a:picLocks noChangeAspect="1"/>
          </p:cNvPicPr>
          <p:nvPr/>
        </p:nvPicPr>
        <p:blipFill>
          <a:blip r:embed="rId2"/>
          <a:stretch>
            <a:fillRect/>
          </a:stretch>
        </p:blipFill>
        <p:spPr>
          <a:xfrm>
            <a:off x="161290" y="2508885"/>
            <a:ext cx="6553200" cy="229616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4472C4"/>
          </a:solidFill>
        </p:spPr>
        <p:txBody>
          <a:bodyPr wrap="square" rtlCol="0" anchor="ctr"/>
          <a:lstStyle/>
          <a:p>
            <a:pPr marL="0" indent="0">
              <a:buNone/>
            </a:pPr>
            <a:endParaRPr lang="en-US" dirty="0"/>
          </a:p>
        </p:txBody>
      </p:sp>
      <p:sp>
        <p:nvSpPr>
          <p:cNvPr id="3" name="Text 1"/>
          <p:cNvSpPr/>
          <p:nvPr/>
        </p:nvSpPr>
        <p:spPr>
          <a:xfrm>
            <a:off x="0" y="5067300"/>
            <a:ext cx="9144000" cy="76200"/>
          </a:xfrm>
          <a:prstGeom prst="rect">
            <a:avLst/>
          </a:prstGeom>
          <a:solidFill>
            <a:srgbClr val="44546A"/>
          </a:solidFill>
        </p:spPr>
        <p:txBody>
          <a:bodyPr wrap="square" rtlCol="0" anchor="ctr"/>
          <a:lstStyle/>
          <a:p>
            <a:pPr marL="0" indent="0">
              <a:buNone/>
            </a:pPr>
            <a:endParaRPr lang="en-US" dirty="0"/>
          </a:p>
        </p:txBody>
      </p:sp>
      <p:sp>
        <p:nvSpPr>
          <p:cNvPr id="4" name="Text 2"/>
          <p:cNvSpPr/>
          <p:nvPr/>
        </p:nvSpPr>
        <p:spPr>
          <a:xfrm>
            <a:off x="7112050" y="76200"/>
            <a:ext cx="2031950" cy="355550"/>
          </a:xfrm>
          <a:prstGeom prst="rect">
            <a:avLst/>
          </a:prstGeom>
          <a:solidFill>
            <a:srgbClr val="44546A"/>
          </a:solidFill>
        </p:spPr>
        <p:txBody>
          <a:bodyPr wrap="square" rtlCol="0" anchor="ctr"/>
          <a:lstStyle/>
          <a:p>
            <a:pPr marL="0" indent="0">
              <a:buNone/>
            </a:pPr>
            <a:endParaRPr lang="en-US" dirty="0"/>
          </a:p>
        </p:txBody>
      </p:sp>
      <p:sp>
        <p:nvSpPr>
          <p:cNvPr id="5" name="Text 3"/>
          <p:cNvSpPr/>
          <p:nvPr/>
        </p:nvSpPr>
        <p:spPr>
          <a:xfrm>
            <a:off x="7517309" y="187226"/>
            <a:ext cx="1245861" cy="133350"/>
          </a:xfrm>
          <a:prstGeom prst="rect">
            <a:avLst/>
          </a:prstGeom>
          <a:noFill/>
        </p:spPr>
        <p:txBody>
          <a:bodyPr wrap="square" lIns="0" tIns="0" rIns="0" bIns="0" rtlCol="0" anchor="t"/>
          <a:lstStyle/>
          <a:p>
            <a:pPr marL="0" indent="0" algn="l">
              <a:buNone/>
            </a:pPr>
            <a:r>
              <a:rPr lang="en-US" sz="900" b="1" dirty="0">
                <a:solidFill>
                  <a:srgbClr val="FFFFFF"/>
                </a:solidFill>
                <a:latin typeface="Arial" panose="020B0604020202090204" pitchFamily="34" charset="0"/>
                <a:ea typeface="Arial" panose="020B0604020202090204" pitchFamily="34" charset="-122"/>
                <a:cs typeface="Arial" panose="020B0604020202090204" pitchFamily="34" charset="-120"/>
              </a:rPr>
              <a:t>PART IV · QUALITY R2</a:t>
            </a:r>
            <a:endParaRPr lang="en-US" sz="900" dirty="0"/>
          </a:p>
        </p:txBody>
      </p:sp>
      <p:sp>
        <p:nvSpPr>
          <p:cNvPr id="6" name="Text 4"/>
          <p:cNvSpPr/>
          <p:nvPr/>
        </p:nvSpPr>
        <p:spPr>
          <a:xfrm>
            <a:off x="304800" y="76200"/>
            <a:ext cx="1009948" cy="190500"/>
          </a:xfrm>
          <a:prstGeom prst="roundRect">
            <a:avLst>
              <a:gd name="adj" fmla="val 20000"/>
            </a:avLst>
          </a:prstGeom>
          <a:solidFill>
            <a:srgbClr val="44546A"/>
          </a:solidFill>
        </p:spPr>
        <p:txBody>
          <a:bodyPr wrap="square" rtlCol="0" anchor="ctr"/>
          <a:lstStyle/>
          <a:p>
            <a:pPr marL="0" indent="0">
              <a:buNone/>
            </a:pPr>
            <a:endParaRPr lang="en-US" dirty="0"/>
          </a:p>
        </p:txBody>
      </p:sp>
      <p:sp>
        <p:nvSpPr>
          <p:cNvPr id="7" name="Text 5"/>
          <p:cNvSpPr/>
          <p:nvPr/>
        </p:nvSpPr>
        <p:spPr>
          <a:xfrm>
            <a:off x="406301" y="114300"/>
            <a:ext cx="823085" cy="114300"/>
          </a:xfrm>
          <a:prstGeom prst="rect">
            <a:avLst/>
          </a:prstGeom>
          <a:noFill/>
        </p:spPr>
        <p:txBody>
          <a:bodyPr wrap="square" lIns="0" tIns="0" rIns="0" bIns="0" rtlCol="0" anchor="t"/>
          <a:lstStyle/>
          <a:p>
            <a:pPr marL="0" indent="0" algn="l">
              <a:buNone/>
            </a:pPr>
            <a:r>
              <a:rPr lang="en-US" sz="800" b="1" dirty="0">
                <a:solidFill>
                  <a:srgbClr val="FFFFFF"/>
                </a:solidFill>
                <a:latin typeface="Arial" panose="020B0604020202090204" pitchFamily="34" charset="0"/>
                <a:ea typeface="Arial" panose="020B0604020202090204" pitchFamily="34" charset="-122"/>
                <a:cs typeface="Arial" panose="020B0604020202090204" pitchFamily="34" charset="-120"/>
              </a:rPr>
              <a:t>Proposal Quality</a:t>
            </a:r>
            <a:endParaRPr lang="en-US" sz="800" dirty="0"/>
          </a:p>
        </p:txBody>
      </p:sp>
      <p:sp>
        <p:nvSpPr>
          <p:cNvPr id="8" name="Text 6"/>
          <p:cNvSpPr/>
          <p:nvPr/>
        </p:nvSpPr>
        <p:spPr>
          <a:xfrm>
            <a:off x="304800" y="381000"/>
            <a:ext cx="7124649" cy="266700"/>
          </a:xfrm>
          <a:prstGeom prst="rect">
            <a:avLst/>
          </a:prstGeom>
          <a:noFill/>
        </p:spPr>
        <p:txBody>
          <a:bodyPr wrap="square" lIns="0" tIns="0" rIns="0" bIns="0" rtlCol="0" anchor="t"/>
          <a:lstStyle/>
          <a:p>
            <a:pPr marL="0" indent="0" algn="l">
              <a:buNone/>
            </a:pPr>
            <a:r>
              <a:rPr lang="en-US" sz="1800" b="1" dirty="0">
                <a:solidFill>
                  <a:srgbClr val="44546A"/>
                </a:solidFill>
                <a:latin typeface="Arial" panose="020B0604020202090204" pitchFamily="34" charset="0"/>
                <a:ea typeface="Arial" panose="020B0604020202090204" pitchFamily="34" charset="-122"/>
                <a:cs typeface="Arial" panose="020B0604020202090204" pitchFamily="34" charset="-120"/>
              </a:rPr>
              <a:t>R2: Proposal Quality Under AI Evaluation (Rephrased)</a:t>
            </a:r>
            <a:endParaRPr lang="en-US" sz="1800" dirty="0"/>
          </a:p>
        </p:txBody>
      </p:sp>
      <p:sp>
        <p:nvSpPr>
          <p:cNvPr id="9" name="Text 7"/>
          <p:cNvSpPr/>
          <p:nvPr/>
        </p:nvSpPr>
        <p:spPr>
          <a:xfrm>
            <a:off x="304800" y="673001"/>
            <a:ext cx="7124649" cy="142875"/>
          </a:xfrm>
          <a:prstGeom prst="rect">
            <a:avLst/>
          </a:prstGeom>
          <a:noFill/>
        </p:spPr>
        <p:txBody>
          <a:bodyPr wrap="square" lIns="0" tIns="0" rIns="0" bIns="0" rtlCol="0" anchor="t"/>
          <a:lstStyle/>
          <a:p>
            <a:pPr marL="0" indent="0" algn="l">
              <a:spcBef>
                <a:spcPts val="200"/>
              </a:spcBef>
              <a:buNone/>
            </a:pPr>
            <a:r>
              <a:rPr lang="en-US" sz="1000" dirty="0">
                <a:solidFill>
                  <a:srgbClr val="4472C4"/>
                </a:solidFill>
                <a:latin typeface="Arial" panose="020B0604020202090204" pitchFamily="34" charset="0"/>
                <a:ea typeface="Arial" panose="020B0604020202090204" pitchFamily="34" charset="-122"/>
                <a:cs typeface="Arial" panose="020B0604020202090204" pitchFamily="34" charset="-120"/>
              </a:rPr>
              <a:t>All AI evaluators pooled; 23 proposals per group; Mann-Whitney + Cliff's δ + bootstrap CI; BH-FDR correction</a:t>
            </a:r>
            <a:endParaRPr lang="en-US" sz="1000" dirty="0"/>
          </a:p>
        </p:txBody>
      </p:sp>
      <p:sp>
        <p:nvSpPr>
          <p:cNvPr id="10" name="Text 8"/>
          <p:cNvSpPr/>
          <p:nvPr/>
        </p:nvSpPr>
        <p:spPr>
          <a:xfrm>
            <a:off x="304800" y="812750"/>
            <a:ext cx="8534400" cy="25301"/>
          </a:xfrm>
          <a:prstGeom prst="rect">
            <a:avLst/>
          </a:prstGeom>
          <a:solidFill>
            <a:srgbClr val="4472C4"/>
          </a:solidFill>
        </p:spPr>
        <p:txBody>
          <a:bodyPr wrap="square" rtlCol="0" anchor="ctr"/>
          <a:lstStyle/>
          <a:p>
            <a:pPr marL="0" indent="0">
              <a:buNone/>
            </a:pPr>
            <a:endParaRPr lang="en-US" dirty="0"/>
          </a:p>
        </p:txBody>
      </p:sp>
      <p:sp>
        <p:nvSpPr>
          <p:cNvPr id="11" name="Text 9"/>
          <p:cNvSpPr/>
          <p:nvPr/>
        </p:nvSpPr>
        <p:spPr>
          <a:xfrm>
            <a:off x="4292501" y="914400"/>
            <a:ext cx="4546699" cy="774502"/>
          </a:xfrm>
          <a:prstGeom prst="roundRect">
            <a:avLst>
              <a:gd name="adj" fmla="val 8199"/>
            </a:avLst>
          </a:prstGeom>
          <a:solidFill>
            <a:srgbClr val="EEF2FA"/>
          </a:solidFill>
        </p:spPr>
        <p:txBody>
          <a:bodyPr wrap="square" rtlCol="0" anchor="ctr"/>
          <a:lstStyle/>
          <a:p>
            <a:pPr marL="0" indent="0">
              <a:buNone/>
            </a:pPr>
            <a:endParaRPr lang="en-US" dirty="0"/>
          </a:p>
        </p:txBody>
      </p:sp>
      <p:sp>
        <p:nvSpPr>
          <p:cNvPr id="12" name="Shape 10"/>
          <p:cNvSpPr/>
          <p:nvPr/>
        </p:nvSpPr>
        <p:spPr>
          <a:xfrm>
            <a:off x="4311551" y="914400"/>
            <a:ext cx="0" cy="774502"/>
          </a:xfrm>
          <a:prstGeom prst="line">
            <a:avLst/>
          </a:prstGeom>
          <a:noFill/>
          <a:ln w="38100">
            <a:solidFill>
              <a:srgbClr val="4472C4"/>
            </a:solidFill>
            <a:prstDash val="solid"/>
          </a:ln>
        </p:spPr>
      </p:sp>
      <p:sp>
        <p:nvSpPr>
          <p:cNvPr id="13" name="Text 11"/>
          <p:cNvSpPr/>
          <p:nvPr/>
        </p:nvSpPr>
        <p:spPr>
          <a:xfrm>
            <a:off x="4457551" y="1015901"/>
            <a:ext cx="4339792" cy="133350"/>
          </a:xfrm>
          <a:prstGeom prst="rect">
            <a:avLst/>
          </a:prstGeom>
          <a:noFill/>
        </p:spPr>
        <p:txBody>
          <a:bodyPr wrap="square" lIns="0" tIns="0" rIns="0" bIns="0" rtlCol="0" anchor="t"/>
          <a:lstStyle/>
          <a:p>
            <a:pPr marL="0" indent="0" algn="l">
              <a:spcAft>
                <a:spcPts val="300"/>
              </a:spcAft>
              <a:buNone/>
            </a:pPr>
            <a:r>
              <a:rPr lang="en-US" sz="950" b="1" dirty="0">
                <a:solidFill>
                  <a:srgbClr val="4472C4"/>
                </a:solidFill>
                <a:latin typeface="Arial" panose="020B0604020202090204" pitchFamily="34" charset="0"/>
                <a:ea typeface="Arial" panose="020B0604020202090204" pitchFamily="34" charset="-122"/>
                <a:cs typeface="Arial" panose="020B0604020202090204" pitchFamily="34" charset="-120"/>
              </a:rPr>
              <a:t>GPT-5.2 and Claude score substantially higher than humans</a:t>
            </a:r>
            <a:endParaRPr lang="en-US" sz="950" dirty="0"/>
          </a:p>
        </p:txBody>
      </p:sp>
      <p:sp>
        <p:nvSpPr>
          <p:cNvPr id="14" name="Text 12"/>
          <p:cNvSpPr/>
          <p:nvPr/>
        </p:nvSpPr>
        <p:spPr>
          <a:xfrm>
            <a:off x="4457551" y="1187351"/>
            <a:ext cx="4339792" cy="40005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GPT-5.2 mean = 4.32 vs. Human 3.59 (δ = −0.72, q &lt; 0.001). Claude = 4.01 (δ = −0.65, q &lt; 0.001). Gemini = 3.83 (not significant vs. human, cross-eval q = 0.68). Bootstrap CI (human − GPT, cross-eval): −0.888 [−1.069, −0.706].</a:t>
            </a:r>
            <a:endParaRPr lang="en-US" sz="900" dirty="0"/>
          </a:p>
        </p:txBody>
      </p:sp>
      <p:sp>
        <p:nvSpPr>
          <p:cNvPr id="15" name="Text 13"/>
          <p:cNvSpPr/>
          <p:nvPr/>
        </p:nvSpPr>
        <p:spPr>
          <a:xfrm>
            <a:off x="4292501" y="1777752"/>
            <a:ext cx="4546699" cy="774502"/>
          </a:xfrm>
          <a:prstGeom prst="roundRect">
            <a:avLst>
              <a:gd name="adj" fmla="val 8199"/>
            </a:avLst>
          </a:prstGeom>
          <a:solidFill>
            <a:srgbClr val="FEF4EC"/>
          </a:solidFill>
        </p:spPr>
        <p:txBody>
          <a:bodyPr wrap="square" rtlCol="0" anchor="ctr"/>
          <a:lstStyle/>
          <a:p>
            <a:pPr marL="0" indent="0">
              <a:buNone/>
            </a:pPr>
            <a:endParaRPr lang="en-US" dirty="0"/>
          </a:p>
        </p:txBody>
      </p:sp>
      <p:sp>
        <p:nvSpPr>
          <p:cNvPr id="16" name="Shape 14"/>
          <p:cNvSpPr/>
          <p:nvPr/>
        </p:nvSpPr>
        <p:spPr>
          <a:xfrm>
            <a:off x="4311551" y="1777752"/>
            <a:ext cx="0" cy="774502"/>
          </a:xfrm>
          <a:prstGeom prst="line">
            <a:avLst/>
          </a:prstGeom>
          <a:noFill/>
          <a:ln w="38100">
            <a:solidFill>
              <a:srgbClr val="ED7D31"/>
            </a:solidFill>
            <a:prstDash val="solid"/>
          </a:ln>
        </p:spPr>
      </p:sp>
      <p:sp>
        <p:nvSpPr>
          <p:cNvPr id="17" name="Text 15"/>
          <p:cNvSpPr/>
          <p:nvPr/>
        </p:nvSpPr>
        <p:spPr>
          <a:xfrm>
            <a:off x="4457551" y="1879253"/>
            <a:ext cx="4339792" cy="133350"/>
          </a:xfrm>
          <a:prstGeom prst="rect">
            <a:avLst/>
          </a:prstGeom>
          <a:noFill/>
        </p:spPr>
        <p:txBody>
          <a:bodyPr wrap="square" lIns="0" tIns="0" rIns="0" bIns="0" rtlCol="0" anchor="t"/>
          <a:lstStyle/>
          <a:p>
            <a:pPr marL="0" indent="0" algn="l">
              <a:spcAft>
                <a:spcPts val="300"/>
              </a:spcAft>
              <a:buNone/>
            </a:pPr>
            <a:r>
              <a:rPr lang="en-US" sz="950" b="1" dirty="0">
                <a:solidFill>
                  <a:srgbClr val="C55A11"/>
                </a:solidFill>
                <a:latin typeface="Arial" panose="020B0604020202090204" pitchFamily="34" charset="0"/>
                <a:ea typeface="Arial" panose="020B0604020202090204" pitchFamily="34" charset="-122"/>
                <a:cs typeface="Arial" panose="020B0604020202090204" pitchFamily="34" charset="-120"/>
              </a:rPr>
              <a:t>Evaluator leniency differs substantially</a:t>
            </a:r>
            <a:endParaRPr lang="en-US" sz="950" dirty="0"/>
          </a:p>
        </p:txBody>
      </p:sp>
      <p:sp>
        <p:nvSpPr>
          <p:cNvPr id="18" name="Text 16"/>
          <p:cNvSpPr/>
          <p:nvPr/>
        </p:nvSpPr>
        <p:spPr>
          <a:xfrm>
            <a:off x="4457551" y="2050703"/>
            <a:ext cx="4339792" cy="40005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Kruskal-Wallis H = 98.02, p &lt; 5.2×10⁻²². Gemini evaluator: mean = 4.30 (most lenient); GPT evaluator: mean = 3.72; Claude = 3.78. The 0.58-point spread (Gemini−GPT) is larger than the human-GPT author group difference.</a:t>
            </a:r>
            <a:endParaRPr lang="en-US" sz="900" dirty="0"/>
          </a:p>
        </p:txBody>
      </p:sp>
      <p:sp>
        <p:nvSpPr>
          <p:cNvPr id="20" name="Text 18"/>
          <p:cNvSpPr/>
          <p:nvPr/>
        </p:nvSpPr>
        <p:spPr>
          <a:xfrm>
            <a:off x="4292501" y="2850654"/>
            <a:ext cx="2222599" cy="939701"/>
          </a:xfrm>
          <a:prstGeom prst="roundRect">
            <a:avLst>
              <a:gd name="adj" fmla="val 6757"/>
            </a:avLst>
          </a:prstGeom>
          <a:solidFill>
            <a:srgbClr val="EEF2FA"/>
          </a:solidFill>
        </p:spPr>
        <p:txBody>
          <a:bodyPr wrap="square" rtlCol="0" anchor="ctr"/>
          <a:lstStyle/>
          <a:p>
            <a:pPr marL="0" indent="0">
              <a:buNone/>
            </a:pPr>
            <a:endParaRPr lang="en-US" dirty="0"/>
          </a:p>
        </p:txBody>
      </p:sp>
      <p:sp>
        <p:nvSpPr>
          <p:cNvPr id="21" name="Text 19"/>
          <p:cNvSpPr/>
          <p:nvPr/>
        </p:nvSpPr>
        <p:spPr>
          <a:xfrm>
            <a:off x="727611" y="4333329"/>
            <a:ext cx="2033879" cy="266700"/>
          </a:xfrm>
          <a:prstGeom prst="rect">
            <a:avLst/>
          </a:prstGeom>
          <a:noFill/>
        </p:spPr>
        <p:txBody>
          <a:bodyPr wrap="square" lIns="0" tIns="0" rIns="0" bIns="0" rtlCol="0" anchor="t"/>
          <a:lstStyle/>
          <a:p>
            <a:pPr marL="0" indent="0" algn="l">
              <a:spcAft>
                <a:spcPts val="300"/>
              </a:spcAft>
              <a:buNone/>
            </a:pPr>
            <a:r>
              <a:rPr lang="en-US" sz="900" b="1" dirty="0">
                <a:solidFill>
                  <a:srgbClr val="4472C4"/>
                </a:solidFill>
                <a:latin typeface="Arial" panose="020B0604020202090204" pitchFamily="34" charset="0"/>
                <a:ea typeface="Arial" panose="020B0604020202090204" pitchFamily="34" charset="-122"/>
                <a:cs typeface="Arial" panose="020B0604020202090204" pitchFamily="34" charset="-120"/>
              </a:rPr>
              <a:t>Cross-Evaluator Only (Self-removed)</a:t>
            </a:r>
            <a:endParaRPr lang="en-US" sz="900" dirty="0"/>
          </a:p>
        </p:txBody>
      </p:sp>
      <p:sp>
        <p:nvSpPr>
          <p:cNvPr id="22" name="Text 20"/>
          <p:cNvSpPr/>
          <p:nvPr/>
        </p:nvSpPr>
        <p:spPr>
          <a:xfrm>
            <a:off x="727710" y="4508500"/>
            <a:ext cx="3318510" cy="457200"/>
          </a:xfrm>
          <a:prstGeom prst="rect">
            <a:avLst/>
          </a:prstGeom>
          <a:noFill/>
        </p:spPr>
        <p:txBody>
          <a:bodyPr wrap="square" lIns="0" tIns="0" rIns="0" bIns="0" rtlCol="0" anchor="t"/>
          <a:lstStyle/>
          <a:p>
            <a:pPr marL="0" indent="0" algn="l">
              <a:buNone/>
            </a:pPr>
            <a:r>
              <a:rPr lang="en-US" sz="850" dirty="0">
                <a:solidFill>
                  <a:srgbClr val="444444"/>
                </a:solidFill>
                <a:latin typeface="Arial" panose="020B0604020202090204" pitchFamily="34" charset="0"/>
                <a:ea typeface="Arial" panose="020B0604020202090204" pitchFamily="34" charset="-122"/>
                <a:cs typeface="Arial" panose="020B0604020202090204" pitchFamily="34" charset="-120"/>
              </a:rPr>
              <a:t>GPT advantage remains (q &lt; 0.001, δ = −0.992). Gemini is NOT significant (q = 0.682). Claude advantage confirmed (q &lt; 0.001, δ = −0.652). Human Y1 (3.44) ≈ Y2 (3.74).</a:t>
            </a:r>
            <a:endParaRPr lang="en-US" sz="850" dirty="0"/>
          </a:p>
        </p:txBody>
      </p:sp>
      <p:pic>
        <p:nvPicPr>
          <p:cNvPr id="26" name="Image 0" descr="/Users/eveyhuang/Documents/NICO/human-AI-proposal-comparison/results/figures/quality/quality_overall_boxplot_proposal_level.png"/>
          <p:cNvPicPr>
            <a:picLocks noChangeAspect="1"/>
          </p:cNvPicPr>
          <p:nvPr/>
        </p:nvPicPr>
        <p:blipFill>
          <a:blip r:embed="rId1"/>
          <a:stretch>
            <a:fillRect/>
          </a:stretch>
        </p:blipFill>
        <p:spPr>
          <a:xfrm>
            <a:off x="4457700" y="2640965"/>
            <a:ext cx="4304665" cy="2367280"/>
          </a:xfrm>
          <a:prstGeom prst="rect">
            <a:avLst/>
          </a:prstGeom>
        </p:spPr>
      </p:pic>
      <p:pic>
        <p:nvPicPr>
          <p:cNvPr id="29" name="Picture 28" descr="quality_radar_criteria_proposal_level"/>
          <p:cNvPicPr>
            <a:picLocks noChangeAspect="1"/>
          </p:cNvPicPr>
          <p:nvPr/>
        </p:nvPicPr>
        <p:blipFill>
          <a:blip r:embed="rId2"/>
          <a:srcRect t="20874"/>
          <a:stretch>
            <a:fillRect/>
          </a:stretch>
        </p:blipFill>
        <p:spPr>
          <a:xfrm>
            <a:off x="71755" y="879475"/>
            <a:ext cx="4187190" cy="321437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4472C4"/>
          </a:solidFill>
        </p:spPr>
        <p:txBody>
          <a:bodyPr wrap="square" rtlCol="0" anchor="ctr"/>
          <a:lstStyle/>
          <a:p>
            <a:pPr marL="0" indent="0">
              <a:buNone/>
            </a:pPr>
            <a:endParaRPr lang="en-US" dirty="0"/>
          </a:p>
        </p:txBody>
      </p:sp>
      <p:sp>
        <p:nvSpPr>
          <p:cNvPr id="3" name="Text 1"/>
          <p:cNvSpPr/>
          <p:nvPr/>
        </p:nvSpPr>
        <p:spPr>
          <a:xfrm>
            <a:off x="0" y="5067300"/>
            <a:ext cx="9144000" cy="76200"/>
          </a:xfrm>
          <a:prstGeom prst="rect">
            <a:avLst/>
          </a:prstGeom>
          <a:solidFill>
            <a:srgbClr val="44546A"/>
          </a:solidFill>
        </p:spPr>
        <p:txBody>
          <a:bodyPr wrap="square" rtlCol="0" anchor="ctr"/>
          <a:lstStyle/>
          <a:p>
            <a:pPr marL="0" indent="0">
              <a:buNone/>
            </a:pPr>
            <a:endParaRPr lang="en-US" dirty="0"/>
          </a:p>
        </p:txBody>
      </p:sp>
      <p:sp>
        <p:nvSpPr>
          <p:cNvPr id="4" name="Text 2"/>
          <p:cNvSpPr/>
          <p:nvPr/>
        </p:nvSpPr>
        <p:spPr>
          <a:xfrm>
            <a:off x="7112050" y="76200"/>
            <a:ext cx="2031950" cy="355550"/>
          </a:xfrm>
          <a:prstGeom prst="rect">
            <a:avLst/>
          </a:prstGeom>
          <a:solidFill>
            <a:srgbClr val="44546A"/>
          </a:solidFill>
        </p:spPr>
        <p:txBody>
          <a:bodyPr wrap="square" rtlCol="0" anchor="ctr"/>
          <a:lstStyle/>
          <a:p>
            <a:pPr marL="0" indent="0">
              <a:buNone/>
            </a:pPr>
            <a:endParaRPr lang="en-US" dirty="0"/>
          </a:p>
        </p:txBody>
      </p:sp>
      <p:sp>
        <p:nvSpPr>
          <p:cNvPr id="5" name="Text 3"/>
          <p:cNvSpPr/>
          <p:nvPr/>
        </p:nvSpPr>
        <p:spPr>
          <a:xfrm>
            <a:off x="7517309" y="187226"/>
            <a:ext cx="1245861" cy="133350"/>
          </a:xfrm>
          <a:prstGeom prst="rect">
            <a:avLst/>
          </a:prstGeom>
          <a:noFill/>
        </p:spPr>
        <p:txBody>
          <a:bodyPr wrap="square" lIns="0" tIns="0" rIns="0" bIns="0" rtlCol="0" anchor="t"/>
          <a:lstStyle/>
          <a:p>
            <a:pPr marL="0" indent="0" algn="l">
              <a:buNone/>
            </a:pPr>
            <a:r>
              <a:rPr lang="en-US" sz="900" b="1" dirty="0">
                <a:solidFill>
                  <a:srgbClr val="FFFFFF"/>
                </a:solidFill>
                <a:latin typeface="Arial" panose="020B0604020202090204" pitchFamily="34" charset="0"/>
                <a:ea typeface="Arial" panose="020B0604020202090204" pitchFamily="34" charset="-122"/>
                <a:cs typeface="Arial" panose="020B0604020202090204" pitchFamily="34" charset="-120"/>
              </a:rPr>
              <a:t>PART IV · QUALITY R3</a:t>
            </a:r>
            <a:endParaRPr lang="en-US" sz="900" dirty="0"/>
          </a:p>
        </p:txBody>
      </p:sp>
      <p:sp>
        <p:nvSpPr>
          <p:cNvPr id="6" name="Text 4"/>
          <p:cNvSpPr/>
          <p:nvPr/>
        </p:nvSpPr>
        <p:spPr>
          <a:xfrm>
            <a:off x="304800" y="76200"/>
            <a:ext cx="908447" cy="190500"/>
          </a:xfrm>
          <a:prstGeom prst="roundRect">
            <a:avLst>
              <a:gd name="adj" fmla="val 20000"/>
            </a:avLst>
          </a:prstGeom>
          <a:solidFill>
            <a:srgbClr val="44546A"/>
          </a:solidFill>
        </p:spPr>
        <p:txBody>
          <a:bodyPr wrap="square" rtlCol="0" anchor="ctr"/>
          <a:lstStyle/>
          <a:p>
            <a:pPr marL="0" indent="0">
              <a:buNone/>
            </a:pPr>
            <a:endParaRPr lang="en-US" dirty="0"/>
          </a:p>
        </p:txBody>
      </p:sp>
      <p:sp>
        <p:nvSpPr>
          <p:cNvPr id="7" name="Text 5"/>
          <p:cNvSpPr/>
          <p:nvPr/>
        </p:nvSpPr>
        <p:spPr>
          <a:xfrm>
            <a:off x="406301" y="114300"/>
            <a:ext cx="719554" cy="114300"/>
          </a:xfrm>
          <a:prstGeom prst="rect">
            <a:avLst/>
          </a:prstGeom>
          <a:noFill/>
        </p:spPr>
        <p:txBody>
          <a:bodyPr wrap="square" lIns="0" tIns="0" rIns="0" bIns="0" rtlCol="0" anchor="t"/>
          <a:lstStyle/>
          <a:p>
            <a:pPr marL="0" indent="0" algn="l">
              <a:buNone/>
            </a:pPr>
            <a:r>
              <a:rPr lang="en-US" sz="800" b="1" dirty="0">
                <a:solidFill>
                  <a:srgbClr val="FFFFFF"/>
                </a:solidFill>
                <a:latin typeface="Arial" panose="020B0604020202090204" pitchFamily="34" charset="0"/>
                <a:ea typeface="Arial" panose="020B0604020202090204" pitchFamily="34" charset="-122"/>
                <a:cs typeface="Arial" panose="020B0604020202090204" pitchFamily="34" charset="-120"/>
              </a:rPr>
              <a:t>Evaluator Bias</a:t>
            </a:r>
            <a:endParaRPr lang="en-US" sz="800" dirty="0"/>
          </a:p>
        </p:txBody>
      </p:sp>
      <p:sp>
        <p:nvSpPr>
          <p:cNvPr id="8" name="Text 6"/>
          <p:cNvSpPr/>
          <p:nvPr/>
        </p:nvSpPr>
        <p:spPr>
          <a:xfrm>
            <a:off x="304800" y="381000"/>
            <a:ext cx="7124649" cy="266700"/>
          </a:xfrm>
          <a:prstGeom prst="rect">
            <a:avLst/>
          </a:prstGeom>
          <a:noFill/>
        </p:spPr>
        <p:txBody>
          <a:bodyPr wrap="square" lIns="0" tIns="0" rIns="0" bIns="0" rtlCol="0" anchor="t"/>
          <a:lstStyle/>
          <a:p>
            <a:pPr marL="0" indent="0" algn="l">
              <a:buNone/>
            </a:pPr>
            <a:r>
              <a:rPr lang="en-US" sz="1800" b="1" dirty="0">
                <a:solidFill>
                  <a:srgbClr val="44546A"/>
                </a:solidFill>
                <a:latin typeface="Arial" panose="020B0604020202090204" pitchFamily="34" charset="0"/>
                <a:ea typeface="Arial" panose="020B0604020202090204" pitchFamily="34" charset="-122"/>
                <a:cs typeface="Arial" panose="020B0604020202090204" pitchFamily="34" charset="-120"/>
              </a:rPr>
              <a:t>R3: Self-Preference Bias in AI Evaluators</a:t>
            </a:r>
            <a:endParaRPr lang="en-US" sz="1800" dirty="0"/>
          </a:p>
        </p:txBody>
      </p:sp>
      <p:sp>
        <p:nvSpPr>
          <p:cNvPr id="9" name="Text 7"/>
          <p:cNvSpPr/>
          <p:nvPr/>
        </p:nvSpPr>
        <p:spPr>
          <a:xfrm>
            <a:off x="304800" y="673001"/>
            <a:ext cx="7124649" cy="142875"/>
          </a:xfrm>
          <a:prstGeom prst="rect">
            <a:avLst/>
          </a:prstGeom>
          <a:noFill/>
        </p:spPr>
        <p:txBody>
          <a:bodyPr wrap="square" lIns="0" tIns="0" rIns="0" bIns="0" rtlCol="0" anchor="t"/>
          <a:lstStyle/>
          <a:p>
            <a:pPr marL="0" indent="0" algn="l">
              <a:spcBef>
                <a:spcPts val="200"/>
              </a:spcBef>
              <a:buNone/>
            </a:pPr>
            <a:r>
              <a:rPr lang="en-US" sz="1000" dirty="0">
                <a:solidFill>
                  <a:srgbClr val="4472C4"/>
                </a:solidFill>
                <a:latin typeface="Arial" panose="020B0604020202090204" pitchFamily="34" charset="0"/>
                <a:ea typeface="Arial" panose="020B0604020202090204" pitchFamily="34" charset="-122"/>
                <a:cs typeface="Arial" panose="020B0604020202090204" pitchFamily="34" charset="-120"/>
              </a:rPr>
              <a:t>Comparing self vs. other scores; fixed-effects regression isolates bias net of proposal quality</a:t>
            </a:r>
            <a:endParaRPr lang="en-US" sz="1000" dirty="0"/>
          </a:p>
        </p:txBody>
      </p:sp>
      <p:sp>
        <p:nvSpPr>
          <p:cNvPr id="10" name="Text 8"/>
          <p:cNvSpPr/>
          <p:nvPr/>
        </p:nvSpPr>
        <p:spPr>
          <a:xfrm>
            <a:off x="304800" y="812750"/>
            <a:ext cx="8534400" cy="25301"/>
          </a:xfrm>
          <a:prstGeom prst="rect">
            <a:avLst/>
          </a:prstGeom>
          <a:solidFill>
            <a:srgbClr val="4472C4"/>
          </a:solidFill>
        </p:spPr>
        <p:txBody>
          <a:bodyPr wrap="square" rtlCol="0" anchor="ctr"/>
          <a:lstStyle/>
          <a:p>
            <a:pPr marL="0" indent="0">
              <a:buNone/>
            </a:pPr>
            <a:endParaRPr lang="en-US" dirty="0"/>
          </a:p>
        </p:txBody>
      </p:sp>
      <p:sp>
        <p:nvSpPr>
          <p:cNvPr id="11" name="Text 9"/>
          <p:cNvSpPr/>
          <p:nvPr/>
        </p:nvSpPr>
        <p:spPr>
          <a:xfrm>
            <a:off x="304800" y="3365302"/>
            <a:ext cx="1117550" cy="1111151"/>
          </a:xfrm>
          <a:prstGeom prst="roundRect">
            <a:avLst>
              <a:gd name="adj" fmla="val 6858"/>
            </a:avLst>
          </a:prstGeom>
          <a:solidFill>
            <a:srgbClr val="FFF4F4"/>
          </a:solidFill>
          <a:ln w="19050">
            <a:solidFill>
              <a:srgbClr val="C00000"/>
            </a:solidFill>
          </a:ln>
        </p:spPr>
        <p:txBody>
          <a:bodyPr wrap="square" rtlCol="0" anchor="ctr"/>
          <a:lstStyle/>
          <a:p>
            <a:pPr marL="0" indent="0">
              <a:buNone/>
            </a:pPr>
            <a:endParaRPr lang="en-US" dirty="0"/>
          </a:p>
        </p:txBody>
      </p:sp>
      <p:sp>
        <p:nvSpPr>
          <p:cNvPr id="12" name="Text 10"/>
          <p:cNvSpPr/>
          <p:nvPr/>
        </p:nvSpPr>
        <p:spPr>
          <a:xfrm>
            <a:off x="450800" y="3498652"/>
            <a:ext cx="842061" cy="133350"/>
          </a:xfrm>
          <a:prstGeom prst="rect">
            <a:avLst/>
          </a:prstGeom>
          <a:noFill/>
        </p:spPr>
        <p:txBody>
          <a:bodyPr wrap="square" lIns="0" tIns="0" rIns="0" bIns="0" rtlCol="0" anchor="t"/>
          <a:lstStyle/>
          <a:p>
            <a:pPr marL="0" indent="0" algn="l">
              <a:spcAft>
                <a:spcPts val="400"/>
              </a:spcAft>
              <a:buNone/>
            </a:pPr>
            <a:r>
              <a:rPr lang="en-US" sz="900" b="1" dirty="0">
                <a:solidFill>
                  <a:srgbClr val="C00000"/>
                </a:solidFill>
                <a:latin typeface="Arial" panose="020B0604020202090204" pitchFamily="34" charset="0"/>
                <a:ea typeface="Arial" panose="020B0604020202090204" pitchFamily="34" charset="-122"/>
                <a:cs typeface="Arial" panose="020B0604020202090204" pitchFamily="34" charset="-120"/>
              </a:rPr>
              <a:t>GPT-5.2</a:t>
            </a:r>
            <a:endParaRPr lang="en-US" sz="900" dirty="0"/>
          </a:p>
        </p:txBody>
      </p:sp>
      <p:sp>
        <p:nvSpPr>
          <p:cNvPr id="13" name="Text 11"/>
          <p:cNvSpPr/>
          <p:nvPr/>
        </p:nvSpPr>
        <p:spPr>
          <a:xfrm>
            <a:off x="450800" y="3682752"/>
            <a:ext cx="842061" cy="177850"/>
          </a:xfrm>
          <a:prstGeom prst="rect">
            <a:avLst/>
          </a:prstGeom>
          <a:noFill/>
        </p:spPr>
        <p:txBody>
          <a:bodyPr wrap="square" lIns="0" tIns="0" rIns="0" bIns="0" rtlCol="0" anchor="t"/>
          <a:lstStyle/>
          <a:p>
            <a:pPr marL="0" indent="0" algn="l">
              <a:lnSpc>
                <a:spcPts val="1400"/>
              </a:lnSpc>
              <a:spcAft>
                <a:spcPts val="200"/>
              </a:spcAft>
              <a:buNone/>
            </a:pPr>
            <a:r>
              <a:rPr lang="en-US" sz="1400" b="1" dirty="0">
                <a:solidFill>
                  <a:srgbClr val="C00000"/>
                </a:solidFill>
                <a:latin typeface="Arial" panose="020B0604020202090204" pitchFamily="34" charset="0"/>
                <a:ea typeface="Arial" panose="020B0604020202090204" pitchFamily="34" charset="-122"/>
                <a:cs typeface="Arial" panose="020B0604020202090204" pitchFamily="34" charset="-120"/>
              </a:rPr>
              <a:t>+0.93</a:t>
            </a:r>
            <a:endParaRPr lang="en-US" sz="1400" dirty="0"/>
          </a:p>
        </p:txBody>
      </p:sp>
      <p:sp>
        <p:nvSpPr>
          <p:cNvPr id="14" name="Text 12"/>
          <p:cNvSpPr/>
          <p:nvPr/>
        </p:nvSpPr>
        <p:spPr>
          <a:xfrm>
            <a:off x="450800" y="3885902"/>
            <a:ext cx="842061" cy="457200"/>
          </a:xfrm>
          <a:prstGeom prst="rect">
            <a:avLst/>
          </a:prstGeom>
          <a:noFill/>
        </p:spPr>
        <p:txBody>
          <a:bodyPr wrap="square" lIns="0" tIns="0" rIns="0" bIns="0" rtlCol="0" anchor="t"/>
          <a:lstStyle/>
          <a:p>
            <a:pPr marL="0" indent="0" algn="l">
              <a:buNone/>
            </a:pPr>
            <a:r>
              <a:rPr lang="en-US" sz="800" dirty="0">
                <a:solidFill>
                  <a:srgbClr val="555555"/>
                </a:solidFill>
                <a:latin typeface="Arial" panose="020B0604020202090204" pitchFamily="34" charset="0"/>
                <a:ea typeface="Arial" panose="020B0604020202090204" pitchFamily="34" charset="-122"/>
                <a:cs typeface="Arial" panose="020B0604020202090204" pitchFamily="34" charset="-120"/>
              </a:rPr>
              <a:t>Strong self-inflation (δ=+0.933, q=3.3×10⁻¹²). Self: 4.00, Other: 3.81.</a:t>
            </a:r>
            <a:endParaRPr lang="en-US" sz="800" dirty="0"/>
          </a:p>
        </p:txBody>
      </p:sp>
      <p:sp>
        <p:nvSpPr>
          <p:cNvPr id="15" name="Text 13"/>
          <p:cNvSpPr/>
          <p:nvPr/>
        </p:nvSpPr>
        <p:spPr>
          <a:xfrm>
            <a:off x="1523851" y="3365302"/>
            <a:ext cx="1117699" cy="1111151"/>
          </a:xfrm>
          <a:prstGeom prst="roundRect">
            <a:avLst>
              <a:gd name="adj" fmla="val 6858"/>
            </a:avLst>
          </a:prstGeom>
          <a:solidFill>
            <a:srgbClr val="FFFBE6"/>
          </a:solidFill>
          <a:ln w="19050">
            <a:solidFill>
              <a:srgbClr val="FFC000"/>
            </a:solidFill>
          </a:ln>
        </p:spPr>
        <p:txBody>
          <a:bodyPr wrap="square" rtlCol="0" anchor="ctr"/>
          <a:lstStyle/>
          <a:p>
            <a:pPr marL="0" indent="0">
              <a:buNone/>
            </a:pPr>
            <a:endParaRPr lang="en-US" dirty="0"/>
          </a:p>
        </p:txBody>
      </p:sp>
      <p:sp>
        <p:nvSpPr>
          <p:cNvPr id="16" name="Text 14"/>
          <p:cNvSpPr/>
          <p:nvPr/>
        </p:nvSpPr>
        <p:spPr>
          <a:xfrm>
            <a:off x="1669852" y="3498652"/>
            <a:ext cx="842212" cy="133350"/>
          </a:xfrm>
          <a:prstGeom prst="rect">
            <a:avLst/>
          </a:prstGeom>
          <a:noFill/>
        </p:spPr>
        <p:txBody>
          <a:bodyPr wrap="square" lIns="0" tIns="0" rIns="0" bIns="0" rtlCol="0" anchor="t"/>
          <a:lstStyle/>
          <a:p>
            <a:pPr marL="0" indent="0" algn="l">
              <a:spcAft>
                <a:spcPts val="400"/>
              </a:spcAft>
              <a:buNone/>
            </a:pPr>
            <a:r>
              <a:rPr lang="en-US" sz="900" b="1" dirty="0">
                <a:solidFill>
                  <a:srgbClr val="B8860B"/>
                </a:solidFill>
                <a:latin typeface="Arial" panose="020B0604020202090204" pitchFamily="34" charset="0"/>
                <a:ea typeface="Arial" panose="020B0604020202090204" pitchFamily="34" charset="-122"/>
                <a:cs typeface="Arial" panose="020B0604020202090204" pitchFamily="34" charset="-120"/>
              </a:rPr>
              <a:t>Gemini</a:t>
            </a:r>
            <a:endParaRPr lang="en-US" sz="900" dirty="0"/>
          </a:p>
        </p:txBody>
      </p:sp>
      <p:sp>
        <p:nvSpPr>
          <p:cNvPr id="17" name="Text 15"/>
          <p:cNvSpPr/>
          <p:nvPr/>
        </p:nvSpPr>
        <p:spPr>
          <a:xfrm>
            <a:off x="1669852" y="3682752"/>
            <a:ext cx="842212" cy="177850"/>
          </a:xfrm>
          <a:prstGeom prst="rect">
            <a:avLst/>
          </a:prstGeom>
          <a:noFill/>
        </p:spPr>
        <p:txBody>
          <a:bodyPr wrap="square" lIns="0" tIns="0" rIns="0" bIns="0" rtlCol="0" anchor="t"/>
          <a:lstStyle/>
          <a:p>
            <a:pPr marL="0" indent="0" algn="l">
              <a:lnSpc>
                <a:spcPts val="1400"/>
              </a:lnSpc>
              <a:spcAft>
                <a:spcPts val="200"/>
              </a:spcAft>
              <a:buNone/>
            </a:pPr>
            <a:r>
              <a:rPr lang="en-US" sz="1400" b="1" dirty="0">
                <a:solidFill>
                  <a:srgbClr val="B8860B"/>
                </a:solidFill>
                <a:latin typeface="Arial" panose="020B0604020202090204" pitchFamily="34" charset="0"/>
                <a:ea typeface="Arial" panose="020B0604020202090204" pitchFamily="34" charset="-122"/>
                <a:cs typeface="Arial" panose="020B0604020202090204" pitchFamily="34" charset="-120"/>
              </a:rPr>
              <a:t>−0.73</a:t>
            </a:r>
            <a:endParaRPr lang="en-US" sz="1400" dirty="0"/>
          </a:p>
        </p:txBody>
      </p:sp>
      <p:sp>
        <p:nvSpPr>
          <p:cNvPr id="18" name="Text 16"/>
          <p:cNvSpPr/>
          <p:nvPr/>
        </p:nvSpPr>
        <p:spPr>
          <a:xfrm>
            <a:off x="1669852" y="3885902"/>
            <a:ext cx="842212" cy="342900"/>
          </a:xfrm>
          <a:prstGeom prst="rect">
            <a:avLst/>
          </a:prstGeom>
          <a:noFill/>
        </p:spPr>
        <p:txBody>
          <a:bodyPr wrap="square" lIns="0" tIns="0" rIns="0" bIns="0" rtlCol="0" anchor="t"/>
          <a:lstStyle/>
          <a:p>
            <a:pPr marL="0" indent="0" algn="l">
              <a:buNone/>
            </a:pPr>
            <a:r>
              <a:rPr lang="en-US" sz="800" dirty="0">
                <a:solidFill>
                  <a:srgbClr val="555555"/>
                </a:solidFill>
                <a:latin typeface="Arial" panose="020B0604020202090204" pitchFamily="34" charset="0"/>
                <a:ea typeface="Arial" panose="020B0604020202090204" pitchFamily="34" charset="-122"/>
                <a:cs typeface="Arial" panose="020B0604020202090204" pitchFamily="34" charset="-120"/>
              </a:rPr>
              <a:t>Strong self-DEPRECATION (δ=−0.732, q=7.7×10⁻⁷). Gemini rates its own proposals significantly lower than others' proposals.</a:t>
            </a:r>
            <a:endParaRPr lang="en-US" sz="800" dirty="0"/>
          </a:p>
        </p:txBody>
      </p:sp>
      <p:sp>
        <p:nvSpPr>
          <p:cNvPr id="19" name="Text 17"/>
          <p:cNvSpPr/>
          <p:nvPr/>
        </p:nvSpPr>
        <p:spPr>
          <a:xfrm>
            <a:off x="2743051" y="3365302"/>
            <a:ext cx="1117699" cy="1111151"/>
          </a:xfrm>
          <a:prstGeom prst="roundRect">
            <a:avLst>
              <a:gd name="adj" fmla="val 6858"/>
            </a:avLst>
          </a:prstGeom>
          <a:solidFill>
            <a:srgbClr val="EEF2FA"/>
          </a:solidFill>
          <a:ln w="19050">
            <a:solidFill>
              <a:srgbClr val="4472C4"/>
            </a:solidFill>
          </a:ln>
        </p:spPr>
        <p:txBody>
          <a:bodyPr wrap="square" rtlCol="0" anchor="ctr"/>
          <a:lstStyle/>
          <a:p>
            <a:pPr marL="0" indent="0">
              <a:buNone/>
            </a:pPr>
            <a:endParaRPr lang="en-US" dirty="0"/>
          </a:p>
        </p:txBody>
      </p:sp>
      <p:sp>
        <p:nvSpPr>
          <p:cNvPr id="20" name="Text 18"/>
          <p:cNvSpPr/>
          <p:nvPr/>
        </p:nvSpPr>
        <p:spPr>
          <a:xfrm>
            <a:off x="2889052" y="3498652"/>
            <a:ext cx="842212" cy="133350"/>
          </a:xfrm>
          <a:prstGeom prst="rect">
            <a:avLst/>
          </a:prstGeom>
          <a:noFill/>
        </p:spPr>
        <p:txBody>
          <a:bodyPr wrap="square" lIns="0" tIns="0" rIns="0" bIns="0" rtlCol="0" anchor="t"/>
          <a:lstStyle/>
          <a:p>
            <a:pPr marL="0" indent="0" algn="l">
              <a:spcAft>
                <a:spcPts val="400"/>
              </a:spcAft>
              <a:buNone/>
            </a:pPr>
            <a:r>
              <a:rPr lang="en-US" sz="900" b="1" dirty="0">
                <a:solidFill>
                  <a:srgbClr val="4472C4"/>
                </a:solidFill>
                <a:latin typeface="Arial" panose="020B0604020202090204" pitchFamily="34" charset="0"/>
                <a:ea typeface="Arial" panose="020B0604020202090204" pitchFamily="34" charset="-122"/>
                <a:cs typeface="Arial" panose="020B0604020202090204" pitchFamily="34" charset="-120"/>
              </a:rPr>
              <a:t>Claude</a:t>
            </a:r>
            <a:endParaRPr lang="en-US" sz="900" dirty="0"/>
          </a:p>
        </p:txBody>
      </p:sp>
      <p:sp>
        <p:nvSpPr>
          <p:cNvPr id="21" name="Text 19"/>
          <p:cNvSpPr/>
          <p:nvPr/>
        </p:nvSpPr>
        <p:spPr>
          <a:xfrm>
            <a:off x="2889052" y="3682752"/>
            <a:ext cx="842212" cy="177850"/>
          </a:xfrm>
          <a:prstGeom prst="rect">
            <a:avLst/>
          </a:prstGeom>
          <a:noFill/>
        </p:spPr>
        <p:txBody>
          <a:bodyPr wrap="square" lIns="0" tIns="0" rIns="0" bIns="0" rtlCol="0" anchor="t"/>
          <a:lstStyle/>
          <a:p>
            <a:pPr marL="0" indent="0" algn="l">
              <a:lnSpc>
                <a:spcPts val="1400"/>
              </a:lnSpc>
              <a:spcAft>
                <a:spcPts val="200"/>
              </a:spcAft>
              <a:buNone/>
            </a:pPr>
            <a:r>
              <a:rPr lang="en-US" sz="1400" b="1" dirty="0">
                <a:solidFill>
                  <a:srgbClr val="4472C4"/>
                </a:solidFill>
                <a:latin typeface="Arial" panose="020B0604020202090204" pitchFamily="34" charset="0"/>
                <a:ea typeface="Arial" panose="020B0604020202090204" pitchFamily="34" charset="-122"/>
                <a:cs typeface="Arial" panose="020B0604020202090204" pitchFamily="34" charset="-120"/>
              </a:rPr>
              <a:t>~0</a:t>
            </a:r>
            <a:endParaRPr lang="en-US" sz="1400" dirty="0"/>
          </a:p>
        </p:txBody>
      </p:sp>
      <p:sp>
        <p:nvSpPr>
          <p:cNvPr id="22" name="Text 20"/>
          <p:cNvSpPr/>
          <p:nvPr/>
        </p:nvSpPr>
        <p:spPr>
          <a:xfrm>
            <a:off x="2889052" y="3885902"/>
            <a:ext cx="842212" cy="457200"/>
          </a:xfrm>
          <a:prstGeom prst="rect">
            <a:avLst/>
          </a:prstGeom>
          <a:noFill/>
        </p:spPr>
        <p:txBody>
          <a:bodyPr wrap="square" lIns="0" tIns="0" rIns="0" bIns="0" rtlCol="0" anchor="t"/>
          <a:lstStyle/>
          <a:p>
            <a:pPr marL="0" indent="0" algn="l">
              <a:buNone/>
            </a:pPr>
            <a:r>
              <a:rPr lang="en-US" sz="800" dirty="0">
                <a:solidFill>
                  <a:srgbClr val="555555"/>
                </a:solidFill>
                <a:latin typeface="Arial" panose="020B0604020202090204" pitchFamily="34" charset="0"/>
                <a:ea typeface="Arial" panose="020B0604020202090204" pitchFamily="34" charset="-122"/>
                <a:cs typeface="Arial" panose="020B0604020202090204" pitchFamily="34" charset="-120"/>
              </a:rPr>
              <a:t>Negligible self-preference (δ=−0.053, q=0.717, not significant).</a:t>
            </a:r>
            <a:endParaRPr lang="en-US" sz="800" dirty="0"/>
          </a:p>
        </p:txBody>
      </p:sp>
      <p:sp>
        <p:nvSpPr>
          <p:cNvPr id="23" name="Text 21"/>
          <p:cNvSpPr/>
          <p:nvPr/>
        </p:nvSpPr>
        <p:spPr>
          <a:xfrm>
            <a:off x="4038451" y="914400"/>
            <a:ext cx="4800749" cy="907852"/>
          </a:xfrm>
          <a:prstGeom prst="roundRect">
            <a:avLst>
              <a:gd name="adj" fmla="val 6995"/>
            </a:avLst>
          </a:prstGeom>
          <a:solidFill>
            <a:srgbClr val="FFF4F4"/>
          </a:solidFill>
        </p:spPr>
        <p:txBody>
          <a:bodyPr wrap="square" rtlCol="0" anchor="ctr"/>
          <a:lstStyle/>
          <a:p>
            <a:pPr marL="0" indent="0">
              <a:buNone/>
            </a:pPr>
            <a:endParaRPr lang="en-US" dirty="0"/>
          </a:p>
        </p:txBody>
      </p:sp>
      <p:sp>
        <p:nvSpPr>
          <p:cNvPr id="24" name="Shape 22"/>
          <p:cNvSpPr/>
          <p:nvPr/>
        </p:nvSpPr>
        <p:spPr>
          <a:xfrm>
            <a:off x="4057501" y="914400"/>
            <a:ext cx="0" cy="907852"/>
          </a:xfrm>
          <a:prstGeom prst="line">
            <a:avLst/>
          </a:prstGeom>
          <a:noFill/>
          <a:ln w="38100">
            <a:solidFill>
              <a:srgbClr val="C00000"/>
            </a:solidFill>
            <a:prstDash val="solid"/>
          </a:ln>
        </p:spPr>
        <p:txBody>
          <a:bodyPr/>
          <a:p/>
        </p:txBody>
      </p:sp>
      <p:sp>
        <p:nvSpPr>
          <p:cNvPr id="25" name="Text 23"/>
          <p:cNvSpPr/>
          <p:nvPr/>
        </p:nvSpPr>
        <p:spPr>
          <a:xfrm>
            <a:off x="4203502" y="1015901"/>
            <a:ext cx="4598923" cy="133350"/>
          </a:xfrm>
          <a:prstGeom prst="rect">
            <a:avLst/>
          </a:prstGeom>
          <a:noFill/>
        </p:spPr>
        <p:txBody>
          <a:bodyPr wrap="square" lIns="0" tIns="0" rIns="0" bIns="0" rtlCol="0" anchor="t"/>
          <a:lstStyle/>
          <a:p>
            <a:pPr marL="0" indent="0" algn="l">
              <a:spcAft>
                <a:spcPts val="300"/>
              </a:spcAft>
              <a:buNone/>
            </a:pPr>
            <a:r>
              <a:rPr lang="en-US" sz="950" b="1" dirty="0">
                <a:solidFill>
                  <a:srgbClr val="C00000"/>
                </a:solidFill>
                <a:latin typeface="Arial" panose="020B0604020202090204" pitchFamily="34" charset="0"/>
                <a:ea typeface="Arial" panose="020B0604020202090204" pitchFamily="34" charset="-122"/>
                <a:cs typeface="Arial" panose="020B0604020202090204" pitchFamily="34" charset="-120"/>
              </a:rPr>
              <a:t>GPT self-inflates, especially on Relevance and Novelty</a:t>
            </a:r>
            <a:endParaRPr lang="en-US" sz="950" dirty="0"/>
          </a:p>
        </p:txBody>
      </p:sp>
      <p:sp>
        <p:nvSpPr>
          <p:cNvPr id="26" name="Text 24"/>
          <p:cNvSpPr/>
          <p:nvPr/>
        </p:nvSpPr>
        <p:spPr>
          <a:xfrm>
            <a:off x="4203502" y="1187351"/>
            <a:ext cx="4598923" cy="53340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Criterion-level tests: GPT shows significant self-preference on Relevance to Emergent Phenomena (q &lt; 0.001) and Novelty &amp; Significance (q = 0.014). Fixed-effects regression confirms net GPT self-preference = +0.33 points. Gemini shows criterion-level self-deprecation on Relevance and Novelty (δ &lt; −0.5, p &lt; 0.001).</a:t>
            </a:r>
            <a:endParaRPr lang="en-US" sz="900" dirty="0"/>
          </a:p>
        </p:txBody>
      </p:sp>
      <p:sp>
        <p:nvSpPr>
          <p:cNvPr id="27" name="Text 25"/>
          <p:cNvSpPr/>
          <p:nvPr/>
        </p:nvSpPr>
        <p:spPr>
          <a:xfrm>
            <a:off x="4038451" y="1911102"/>
            <a:ext cx="4800749" cy="907852"/>
          </a:xfrm>
          <a:prstGeom prst="roundRect">
            <a:avLst>
              <a:gd name="adj" fmla="val 6995"/>
            </a:avLst>
          </a:prstGeom>
          <a:solidFill>
            <a:srgbClr val="EEF2FA"/>
          </a:solidFill>
        </p:spPr>
        <p:txBody>
          <a:bodyPr wrap="square" rtlCol="0" anchor="ctr"/>
          <a:lstStyle/>
          <a:p>
            <a:pPr marL="0" indent="0">
              <a:buNone/>
            </a:pPr>
            <a:endParaRPr lang="en-US" dirty="0"/>
          </a:p>
        </p:txBody>
      </p:sp>
      <p:sp>
        <p:nvSpPr>
          <p:cNvPr id="28" name="Shape 26"/>
          <p:cNvSpPr/>
          <p:nvPr/>
        </p:nvSpPr>
        <p:spPr>
          <a:xfrm>
            <a:off x="4057501" y="1911102"/>
            <a:ext cx="0" cy="907852"/>
          </a:xfrm>
          <a:prstGeom prst="line">
            <a:avLst/>
          </a:prstGeom>
          <a:noFill/>
          <a:ln w="38100">
            <a:solidFill>
              <a:srgbClr val="4472C4"/>
            </a:solidFill>
            <a:prstDash val="solid"/>
          </a:ln>
        </p:spPr>
        <p:txBody>
          <a:bodyPr/>
          <a:p/>
        </p:txBody>
      </p:sp>
      <p:sp>
        <p:nvSpPr>
          <p:cNvPr id="29" name="Text 27"/>
          <p:cNvSpPr/>
          <p:nvPr/>
        </p:nvSpPr>
        <p:spPr>
          <a:xfrm>
            <a:off x="4203502" y="2012603"/>
            <a:ext cx="4598923" cy="133350"/>
          </a:xfrm>
          <a:prstGeom prst="rect">
            <a:avLst/>
          </a:prstGeom>
          <a:noFill/>
        </p:spPr>
        <p:txBody>
          <a:bodyPr wrap="square" lIns="0" tIns="0" rIns="0" bIns="0" rtlCol="0" anchor="t"/>
          <a:lstStyle/>
          <a:p>
            <a:pPr marL="0" indent="0" algn="l">
              <a:spcAft>
                <a:spcPts val="300"/>
              </a:spcAft>
              <a:buNone/>
            </a:pPr>
            <a:r>
              <a:rPr lang="en-US" sz="950" b="1" dirty="0">
                <a:solidFill>
                  <a:srgbClr val="4472C4"/>
                </a:solidFill>
                <a:latin typeface="Arial" panose="020B0604020202090204" pitchFamily="34" charset="0"/>
                <a:ea typeface="Arial" panose="020B0604020202090204" pitchFamily="34" charset="-122"/>
                <a:cs typeface="Arial" panose="020B0604020202090204" pitchFamily="34" charset="-120"/>
              </a:rPr>
              <a:t>Self-preference is not explained by proposal quality</a:t>
            </a:r>
            <a:endParaRPr lang="en-US" sz="950" dirty="0"/>
          </a:p>
        </p:txBody>
      </p:sp>
      <p:sp>
        <p:nvSpPr>
          <p:cNvPr id="30" name="Text 28"/>
          <p:cNvSpPr/>
          <p:nvPr/>
        </p:nvSpPr>
        <p:spPr>
          <a:xfrm>
            <a:off x="4203502" y="2184053"/>
            <a:ext cx="4598923" cy="53340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Fixed-effects model with proposal fixed effects absorbs all between-proposal quality variation. GPT bias persists: it is a real evaluator bias, not a proxy for GPT proposals being objectively better. Evaluator severity: Gemini +0.40 above Claude baseline; GPT −0.20 below.</a:t>
            </a:r>
            <a:endParaRPr lang="en-US" sz="900" dirty="0"/>
          </a:p>
        </p:txBody>
      </p:sp>
      <p:sp>
        <p:nvSpPr>
          <p:cNvPr id="31" name="Text 29"/>
          <p:cNvSpPr/>
          <p:nvPr/>
        </p:nvSpPr>
        <p:spPr>
          <a:xfrm>
            <a:off x="4038451" y="2907804"/>
            <a:ext cx="4800749" cy="920502"/>
          </a:xfrm>
          <a:prstGeom prst="roundRect">
            <a:avLst>
              <a:gd name="adj" fmla="val 6898"/>
            </a:avLst>
          </a:prstGeom>
          <a:solidFill>
            <a:srgbClr val="EEF6E8"/>
          </a:solidFill>
        </p:spPr>
        <p:txBody>
          <a:bodyPr wrap="square" rtlCol="0" anchor="ctr"/>
          <a:lstStyle/>
          <a:p>
            <a:pPr marL="0" indent="0">
              <a:buNone/>
            </a:pPr>
            <a:endParaRPr lang="en-US" dirty="0"/>
          </a:p>
        </p:txBody>
      </p:sp>
      <p:sp>
        <p:nvSpPr>
          <p:cNvPr id="32" name="Text 30"/>
          <p:cNvSpPr/>
          <p:nvPr/>
        </p:nvSpPr>
        <p:spPr>
          <a:xfrm>
            <a:off x="4165402" y="3009305"/>
            <a:ext cx="4637785" cy="133350"/>
          </a:xfrm>
          <a:prstGeom prst="rect">
            <a:avLst/>
          </a:prstGeom>
          <a:noFill/>
        </p:spPr>
        <p:txBody>
          <a:bodyPr wrap="square" lIns="0" tIns="0" rIns="0" bIns="0" rtlCol="0" anchor="t"/>
          <a:lstStyle/>
          <a:p>
            <a:pPr marL="0" indent="0" algn="l">
              <a:spcAft>
                <a:spcPts val="400"/>
              </a:spcAft>
              <a:buNone/>
            </a:pPr>
            <a:r>
              <a:rPr lang="en-US" sz="950" b="1" dirty="0">
                <a:solidFill>
                  <a:srgbClr val="385C1F"/>
                </a:solidFill>
                <a:latin typeface="Arial" panose="020B0604020202090204" pitchFamily="34" charset="0"/>
                <a:ea typeface="Arial" panose="020B0604020202090204" pitchFamily="34" charset="-122"/>
                <a:cs typeface="Arial" panose="020B0604020202090204" pitchFamily="34" charset="-120"/>
              </a:rPr>
              <a:t>R1: AI Review Proxy Validity</a:t>
            </a:r>
            <a:endParaRPr lang="en-US" sz="950" dirty="0"/>
          </a:p>
        </p:txBody>
      </p:sp>
      <p:sp>
        <p:nvSpPr>
          <p:cNvPr id="33" name="Text 31"/>
          <p:cNvSpPr/>
          <p:nvPr/>
        </p:nvSpPr>
        <p:spPr>
          <a:xfrm>
            <a:off x="4165402" y="3193405"/>
            <a:ext cx="4637785" cy="533400"/>
          </a:xfrm>
          <a:prstGeom prst="rect">
            <a:avLst/>
          </a:prstGeom>
          <a:noFill/>
        </p:spPr>
        <p:txBody>
          <a:bodyPr wrap="square" lIns="0" tIns="0" rIns="0" bIns="0" rtlCol="0" anchor="t"/>
          <a:lstStyle/>
          <a:p>
            <a:pPr marL="0" indent="0" algn="l">
              <a:buNone/>
            </a:pPr>
            <a:r>
              <a:rPr lang="en-US" sz="900" dirty="0">
                <a:solidFill>
                  <a:srgbClr val="444444"/>
                </a:solidFill>
                <a:latin typeface="Arial" panose="020B0604020202090204" pitchFamily="34" charset="0"/>
                <a:ea typeface="Arial" panose="020B0604020202090204" pitchFamily="34" charset="-122"/>
                <a:cs typeface="Arial" panose="020B0604020202090204" pitchFamily="34" charset="-120"/>
              </a:rPr>
              <a:t>12 proposals matched. Human-AI cosine similarity: not significantly lower than human-human (p=0.26). AI-AI similarity significantly higher than human-human (δ=+0.514, p=0.035) — AI reviewers converge more tightly with each other than human experts do. Basic proxy validity holds; AI panels lack human critique diversity.</a:t>
            </a:r>
            <a:endParaRPr lang="en-US" sz="900" dirty="0"/>
          </a:p>
        </p:txBody>
      </p:sp>
      <p:pic>
        <p:nvPicPr>
          <p:cNvPr id="34" name="Image 0" descr="/Users/eveyhuang/Documents/NICO/human-AI-proposal-comparison/results/figures/quality/self_pref_strip_overall.png"/>
          <p:cNvPicPr>
            <a:picLocks noChangeAspect="1"/>
          </p:cNvPicPr>
          <p:nvPr/>
        </p:nvPicPr>
        <p:blipFill>
          <a:blip r:embed="rId1"/>
          <a:stretch>
            <a:fillRect/>
          </a:stretch>
        </p:blipFill>
        <p:spPr>
          <a:xfrm>
            <a:off x="304800" y="914400"/>
            <a:ext cx="3555950" cy="2349401"/>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6200"/>
          </a:xfrm>
          <a:prstGeom prst="rect">
            <a:avLst/>
          </a:prstGeom>
          <a:solidFill>
            <a:srgbClr val="4472C4"/>
          </a:solidFill>
        </p:spPr>
        <p:txBody>
          <a:bodyPr wrap="square" rtlCol="0" anchor="ctr"/>
          <a:lstStyle/>
          <a:p>
            <a:pPr marL="0" indent="0">
              <a:buNone/>
            </a:pPr>
            <a:endParaRPr lang="en-US" dirty="0"/>
          </a:p>
        </p:txBody>
      </p:sp>
      <p:sp>
        <p:nvSpPr>
          <p:cNvPr id="3" name="Text 1"/>
          <p:cNvSpPr/>
          <p:nvPr/>
        </p:nvSpPr>
        <p:spPr>
          <a:xfrm>
            <a:off x="0" y="5067300"/>
            <a:ext cx="9144000" cy="76200"/>
          </a:xfrm>
          <a:prstGeom prst="rect">
            <a:avLst/>
          </a:prstGeom>
          <a:solidFill>
            <a:srgbClr val="44546A"/>
          </a:solidFill>
        </p:spPr>
        <p:txBody>
          <a:bodyPr wrap="square" rtlCol="0" anchor="ctr"/>
          <a:lstStyle/>
          <a:p>
            <a:pPr marL="0" indent="0">
              <a:buNone/>
            </a:pPr>
            <a:endParaRPr lang="en-US" dirty="0"/>
          </a:p>
        </p:txBody>
      </p:sp>
      <p:sp>
        <p:nvSpPr>
          <p:cNvPr id="4" name="Text 2"/>
          <p:cNvSpPr/>
          <p:nvPr/>
        </p:nvSpPr>
        <p:spPr>
          <a:xfrm>
            <a:off x="7620000" y="76200"/>
            <a:ext cx="1524000" cy="355550"/>
          </a:xfrm>
          <a:prstGeom prst="rect">
            <a:avLst/>
          </a:prstGeom>
          <a:solidFill>
            <a:srgbClr val="4472C4"/>
          </a:solidFill>
        </p:spPr>
        <p:txBody>
          <a:bodyPr wrap="square" rtlCol="0" anchor="ctr"/>
          <a:lstStyle/>
          <a:p>
            <a:pPr marL="0" indent="0">
              <a:buNone/>
            </a:pPr>
            <a:endParaRPr lang="en-US" dirty="0"/>
          </a:p>
        </p:txBody>
      </p:sp>
      <p:sp>
        <p:nvSpPr>
          <p:cNvPr id="5" name="Text 3"/>
          <p:cNvSpPr/>
          <p:nvPr/>
        </p:nvSpPr>
        <p:spPr>
          <a:xfrm>
            <a:off x="7959626" y="187226"/>
            <a:ext cx="861492" cy="133350"/>
          </a:xfrm>
          <a:prstGeom prst="rect">
            <a:avLst/>
          </a:prstGeom>
          <a:noFill/>
        </p:spPr>
        <p:txBody>
          <a:bodyPr wrap="square" lIns="0" tIns="0" rIns="0" bIns="0" rtlCol="0" anchor="t"/>
          <a:lstStyle/>
          <a:p>
            <a:pPr marL="0" indent="0" algn="l">
              <a:buNone/>
            </a:pPr>
            <a:r>
              <a:rPr lang="en-US" sz="900" b="1" dirty="0">
                <a:solidFill>
                  <a:srgbClr val="FFFFFF"/>
                </a:solidFill>
                <a:latin typeface="Arial" panose="020B0604020202090204" pitchFamily="34" charset="0"/>
                <a:ea typeface="Arial" panose="020B0604020202090204" pitchFamily="34" charset="-122"/>
                <a:cs typeface="Arial" panose="020B0604020202090204" pitchFamily="34" charset="-120"/>
              </a:rPr>
              <a:t>CONCLUSIONS</a:t>
            </a:r>
            <a:endParaRPr lang="en-US" sz="900" dirty="0"/>
          </a:p>
        </p:txBody>
      </p:sp>
      <p:sp>
        <p:nvSpPr>
          <p:cNvPr id="6" name="Text 4"/>
          <p:cNvSpPr/>
          <p:nvPr/>
        </p:nvSpPr>
        <p:spPr>
          <a:xfrm>
            <a:off x="304800" y="177701"/>
            <a:ext cx="7124649" cy="295275"/>
          </a:xfrm>
          <a:prstGeom prst="rect">
            <a:avLst/>
          </a:prstGeom>
          <a:noFill/>
        </p:spPr>
        <p:txBody>
          <a:bodyPr wrap="square" lIns="0" tIns="0" rIns="0" bIns="0" rtlCol="0" anchor="t"/>
          <a:lstStyle/>
          <a:p>
            <a:pPr marL="0" indent="0" algn="l">
              <a:buNone/>
            </a:pPr>
            <a:r>
              <a:rPr lang="en-US" sz="2000" b="1" dirty="0">
                <a:solidFill>
                  <a:srgbClr val="44546A"/>
                </a:solidFill>
                <a:latin typeface="Arial" panose="020B0604020202090204" pitchFamily="34" charset="0"/>
                <a:ea typeface="Arial" panose="020B0604020202090204" pitchFamily="34" charset="-122"/>
                <a:cs typeface="Arial" panose="020B0604020202090204" pitchFamily="34" charset="-120"/>
              </a:rPr>
              <a:t>Summary &amp; Conclusions</a:t>
            </a:r>
            <a:endParaRPr lang="en-US" sz="2000" dirty="0"/>
          </a:p>
        </p:txBody>
      </p:sp>
      <p:sp>
        <p:nvSpPr>
          <p:cNvPr id="7" name="Text 5"/>
          <p:cNvSpPr/>
          <p:nvPr/>
        </p:nvSpPr>
        <p:spPr>
          <a:xfrm>
            <a:off x="304800" y="498277"/>
            <a:ext cx="7124649" cy="152400"/>
          </a:xfrm>
          <a:prstGeom prst="rect">
            <a:avLst/>
          </a:prstGeom>
          <a:noFill/>
        </p:spPr>
        <p:txBody>
          <a:bodyPr wrap="square" lIns="0" tIns="0" rIns="0" bIns="0" rtlCol="0" anchor="t"/>
          <a:lstStyle/>
          <a:p>
            <a:pPr marL="0" indent="0" algn="l">
              <a:spcBef>
                <a:spcPts val="200"/>
              </a:spcBef>
              <a:buNone/>
            </a:pPr>
            <a:r>
              <a:rPr lang="en-US" sz="1100" dirty="0">
                <a:solidFill>
                  <a:srgbClr val="4472C4"/>
                </a:solidFill>
                <a:latin typeface="Arial" panose="020B0604020202090204" pitchFamily="34" charset="0"/>
                <a:ea typeface="Arial" panose="020B0604020202090204" pitchFamily="34" charset="-122"/>
                <a:cs typeface="Arial" panose="020B0604020202090204" pitchFamily="34" charset="-120"/>
              </a:rPr>
              <a:t>What the style-controlled analysis adds and what remains for future work</a:t>
            </a:r>
            <a:endParaRPr lang="en-US" sz="1100" dirty="0"/>
          </a:p>
        </p:txBody>
      </p:sp>
      <p:sp>
        <p:nvSpPr>
          <p:cNvPr id="8" name="Text 6"/>
          <p:cNvSpPr/>
          <p:nvPr/>
        </p:nvSpPr>
        <p:spPr>
          <a:xfrm>
            <a:off x="304800" y="711101"/>
            <a:ext cx="8534400" cy="25301"/>
          </a:xfrm>
          <a:prstGeom prst="rect">
            <a:avLst/>
          </a:prstGeom>
          <a:solidFill>
            <a:srgbClr val="4472C4"/>
          </a:solidFill>
        </p:spPr>
        <p:txBody>
          <a:bodyPr wrap="square" rtlCol="0" anchor="ctr"/>
          <a:lstStyle/>
          <a:p>
            <a:pPr marL="0" indent="0">
              <a:buNone/>
            </a:pPr>
            <a:endParaRPr lang="en-US" dirty="0"/>
          </a:p>
        </p:txBody>
      </p:sp>
      <p:sp>
        <p:nvSpPr>
          <p:cNvPr id="9" name="Text 7"/>
          <p:cNvSpPr/>
          <p:nvPr/>
        </p:nvSpPr>
        <p:spPr>
          <a:xfrm>
            <a:off x="304800" y="812750"/>
            <a:ext cx="2019300" cy="1377851"/>
          </a:xfrm>
          <a:prstGeom prst="roundRect">
            <a:avLst>
              <a:gd name="adj" fmla="val 5530"/>
            </a:avLst>
          </a:prstGeom>
          <a:solidFill>
            <a:srgbClr val="EEF2FA"/>
          </a:solidFill>
        </p:spPr>
        <p:txBody>
          <a:bodyPr wrap="square" rtlCol="0" anchor="ctr"/>
          <a:lstStyle/>
          <a:p>
            <a:pPr marL="0" indent="0">
              <a:buNone/>
            </a:pPr>
            <a:endParaRPr lang="en-US" dirty="0"/>
          </a:p>
        </p:txBody>
      </p:sp>
      <p:sp>
        <p:nvSpPr>
          <p:cNvPr id="10" name="Shape 8"/>
          <p:cNvSpPr/>
          <p:nvPr/>
        </p:nvSpPr>
        <p:spPr>
          <a:xfrm>
            <a:off x="304800" y="831800"/>
            <a:ext cx="2019300" cy="0"/>
          </a:xfrm>
          <a:prstGeom prst="line">
            <a:avLst/>
          </a:prstGeom>
          <a:noFill/>
          <a:ln w="38100">
            <a:solidFill>
              <a:srgbClr val="4472C4"/>
            </a:solidFill>
            <a:prstDash val="solid"/>
          </a:ln>
        </p:spPr>
      </p:sp>
      <p:sp>
        <p:nvSpPr>
          <p:cNvPr id="11" name="Text 9"/>
          <p:cNvSpPr/>
          <p:nvPr/>
        </p:nvSpPr>
        <p:spPr>
          <a:xfrm>
            <a:off x="457200" y="977801"/>
            <a:ext cx="1748790" cy="114300"/>
          </a:xfrm>
          <a:prstGeom prst="rect">
            <a:avLst/>
          </a:prstGeom>
          <a:noFill/>
        </p:spPr>
        <p:txBody>
          <a:bodyPr wrap="square" lIns="0" tIns="0" rIns="0" bIns="0" rtlCol="0" anchor="t"/>
          <a:lstStyle/>
          <a:p>
            <a:pPr marL="0" indent="0" algn="l">
              <a:spcAft>
                <a:spcPts val="300"/>
              </a:spcAft>
              <a:buNone/>
            </a:pPr>
            <a:r>
              <a:rPr lang="en-US" sz="800" b="1" dirty="0">
                <a:solidFill>
                  <a:srgbClr val="4472C4"/>
                </a:solidFill>
                <a:latin typeface="Arial" panose="020B0604020202090204" pitchFamily="34" charset="0"/>
                <a:ea typeface="Arial" panose="020B0604020202090204" pitchFamily="34" charset="-122"/>
                <a:cs typeface="Arial" panose="020B0604020202090204" pitchFamily="34" charset="-120"/>
              </a:rPr>
              <a:t>DIVERSITY</a:t>
            </a:r>
            <a:endParaRPr lang="en-US" sz="800" dirty="0"/>
          </a:p>
        </p:txBody>
      </p:sp>
      <p:sp>
        <p:nvSpPr>
          <p:cNvPr id="12" name="Text 10"/>
          <p:cNvSpPr/>
          <p:nvPr/>
        </p:nvSpPr>
        <p:spPr>
          <a:xfrm>
            <a:off x="457200" y="1130201"/>
            <a:ext cx="1748790" cy="933450"/>
          </a:xfrm>
          <a:prstGeom prst="rect">
            <a:avLst/>
          </a:prstGeom>
          <a:noFill/>
        </p:spPr>
        <p:txBody>
          <a:bodyPr wrap="square" lIns="0" tIns="0" rIns="0" bIns="0" rtlCol="0" anchor="t"/>
          <a:lstStyle/>
          <a:p>
            <a:pPr marL="0" indent="0" algn="l">
              <a:buNone/>
            </a:pPr>
            <a:r>
              <a:rPr lang="en-US" sz="950" dirty="0">
                <a:solidFill>
                  <a:srgbClr val="333333"/>
                </a:solidFill>
                <a:latin typeface="Arial" panose="020B0604020202090204" pitchFamily="34" charset="0"/>
                <a:ea typeface="Arial" panose="020B0604020202090204" pitchFamily="34" charset="-122"/>
                <a:cs typeface="Arial" panose="020B0604020202090204" pitchFamily="34" charset="-120"/>
              </a:rPr>
              <a:t>Human proposals are more semantically diverse than pooled AI after style removal (δ=−0.768). Baseline Claude diversity advantage was stylistic — Claude-Opus-4.5 shows semantic mode collapse after rephrasing. GPT-5.2 and Gemini are intermediate.</a:t>
            </a:r>
            <a:endParaRPr lang="en-US" sz="950" dirty="0"/>
          </a:p>
        </p:txBody>
      </p:sp>
      <p:sp>
        <p:nvSpPr>
          <p:cNvPr id="13" name="Text 11"/>
          <p:cNvSpPr/>
          <p:nvPr/>
        </p:nvSpPr>
        <p:spPr>
          <a:xfrm>
            <a:off x="2476500" y="812750"/>
            <a:ext cx="2019300" cy="1377851"/>
          </a:xfrm>
          <a:prstGeom prst="roundRect">
            <a:avLst>
              <a:gd name="adj" fmla="val 5530"/>
            </a:avLst>
          </a:prstGeom>
          <a:solidFill>
            <a:srgbClr val="FEF4EC"/>
          </a:solidFill>
        </p:spPr>
        <p:txBody>
          <a:bodyPr wrap="square" rtlCol="0" anchor="ctr"/>
          <a:lstStyle/>
          <a:p>
            <a:pPr marL="0" indent="0">
              <a:buNone/>
            </a:pPr>
            <a:endParaRPr lang="en-US" dirty="0"/>
          </a:p>
        </p:txBody>
      </p:sp>
      <p:sp>
        <p:nvSpPr>
          <p:cNvPr id="14" name="Shape 12"/>
          <p:cNvSpPr/>
          <p:nvPr/>
        </p:nvSpPr>
        <p:spPr>
          <a:xfrm>
            <a:off x="2476500" y="831800"/>
            <a:ext cx="2019300" cy="0"/>
          </a:xfrm>
          <a:prstGeom prst="line">
            <a:avLst/>
          </a:prstGeom>
          <a:noFill/>
          <a:ln w="38100">
            <a:solidFill>
              <a:srgbClr val="ED7D31"/>
            </a:solidFill>
            <a:prstDash val="solid"/>
          </a:ln>
        </p:spPr>
      </p:sp>
      <p:sp>
        <p:nvSpPr>
          <p:cNvPr id="15" name="Text 13"/>
          <p:cNvSpPr/>
          <p:nvPr/>
        </p:nvSpPr>
        <p:spPr>
          <a:xfrm>
            <a:off x="2628900" y="977801"/>
            <a:ext cx="1748790" cy="114300"/>
          </a:xfrm>
          <a:prstGeom prst="rect">
            <a:avLst/>
          </a:prstGeom>
          <a:noFill/>
        </p:spPr>
        <p:txBody>
          <a:bodyPr wrap="square" lIns="0" tIns="0" rIns="0" bIns="0" rtlCol="0" anchor="t"/>
          <a:lstStyle/>
          <a:p>
            <a:pPr marL="0" indent="0" algn="l">
              <a:spcAft>
                <a:spcPts val="300"/>
              </a:spcAft>
              <a:buNone/>
            </a:pPr>
            <a:r>
              <a:rPr lang="en-US" sz="800" b="1" dirty="0">
                <a:solidFill>
                  <a:srgbClr val="C55A11"/>
                </a:solidFill>
                <a:latin typeface="Arial" panose="020B0604020202090204" pitchFamily="34" charset="0"/>
                <a:ea typeface="Arial" panose="020B0604020202090204" pitchFamily="34" charset="-122"/>
                <a:cs typeface="Arial" panose="020B0604020202090204" pitchFamily="34" charset="-120"/>
              </a:rPr>
              <a:t>NOVELTY</a:t>
            </a:r>
            <a:endParaRPr lang="en-US" sz="800" dirty="0"/>
          </a:p>
        </p:txBody>
      </p:sp>
      <p:sp>
        <p:nvSpPr>
          <p:cNvPr id="16" name="Text 14"/>
          <p:cNvSpPr/>
          <p:nvPr/>
        </p:nvSpPr>
        <p:spPr>
          <a:xfrm>
            <a:off x="2628900" y="1130201"/>
            <a:ext cx="1748790" cy="800100"/>
          </a:xfrm>
          <a:prstGeom prst="rect">
            <a:avLst/>
          </a:prstGeom>
          <a:noFill/>
        </p:spPr>
        <p:txBody>
          <a:bodyPr wrap="square" lIns="0" tIns="0" rIns="0" bIns="0" rtlCol="0" anchor="t"/>
          <a:lstStyle/>
          <a:p>
            <a:pPr marL="0" indent="0" algn="l">
              <a:buNone/>
            </a:pPr>
            <a:r>
              <a:rPr lang="en-US" sz="950" dirty="0">
                <a:solidFill>
                  <a:srgbClr val="333333"/>
                </a:solidFill>
                <a:latin typeface="Arial" panose="020B0604020202090204" pitchFamily="34" charset="0"/>
                <a:ea typeface="Arial" panose="020B0604020202090204" pitchFamily="34" charset="-122"/>
                <a:cs typeface="Arial" panose="020B0604020202090204" pitchFamily="34" charset="-120"/>
              </a:rPr>
              <a:t>Raw novelty gap persists after rephrasing (δ=−0.294, p&lt;0.001) but is attenuated from baseline. Local-density normalized gap disappears (δ=+0.016, p=0.22). Style was partly responsible; humans also target sparser literature regions.</a:t>
            </a:r>
            <a:endParaRPr lang="en-US" sz="950" dirty="0"/>
          </a:p>
        </p:txBody>
      </p:sp>
      <p:sp>
        <p:nvSpPr>
          <p:cNvPr id="17" name="Text 15"/>
          <p:cNvSpPr/>
          <p:nvPr/>
        </p:nvSpPr>
        <p:spPr>
          <a:xfrm>
            <a:off x="4648200" y="812750"/>
            <a:ext cx="2019300" cy="1377851"/>
          </a:xfrm>
          <a:prstGeom prst="roundRect">
            <a:avLst>
              <a:gd name="adj" fmla="val 5530"/>
            </a:avLst>
          </a:prstGeom>
          <a:solidFill>
            <a:srgbClr val="EEF6E8"/>
          </a:solidFill>
        </p:spPr>
        <p:txBody>
          <a:bodyPr wrap="square" rtlCol="0" anchor="ctr"/>
          <a:lstStyle/>
          <a:p>
            <a:pPr marL="0" indent="0">
              <a:buNone/>
            </a:pPr>
            <a:endParaRPr lang="en-US" dirty="0"/>
          </a:p>
        </p:txBody>
      </p:sp>
      <p:sp>
        <p:nvSpPr>
          <p:cNvPr id="18" name="Shape 16"/>
          <p:cNvSpPr/>
          <p:nvPr/>
        </p:nvSpPr>
        <p:spPr>
          <a:xfrm>
            <a:off x="4648200" y="831800"/>
            <a:ext cx="2019300" cy="0"/>
          </a:xfrm>
          <a:prstGeom prst="line">
            <a:avLst/>
          </a:prstGeom>
          <a:noFill/>
          <a:ln w="38100">
            <a:solidFill>
              <a:srgbClr val="70AD47"/>
            </a:solidFill>
            <a:prstDash val="solid"/>
          </a:ln>
        </p:spPr>
      </p:sp>
      <p:sp>
        <p:nvSpPr>
          <p:cNvPr id="19" name="Text 17"/>
          <p:cNvSpPr/>
          <p:nvPr/>
        </p:nvSpPr>
        <p:spPr>
          <a:xfrm>
            <a:off x="4800600" y="977801"/>
            <a:ext cx="1748790" cy="114300"/>
          </a:xfrm>
          <a:prstGeom prst="rect">
            <a:avLst/>
          </a:prstGeom>
          <a:noFill/>
        </p:spPr>
        <p:txBody>
          <a:bodyPr wrap="square" lIns="0" tIns="0" rIns="0" bIns="0" rtlCol="0" anchor="t"/>
          <a:lstStyle/>
          <a:p>
            <a:pPr marL="0" indent="0" algn="l">
              <a:spcAft>
                <a:spcPts val="300"/>
              </a:spcAft>
              <a:buNone/>
            </a:pPr>
            <a:r>
              <a:rPr lang="en-US" sz="800" b="1" dirty="0">
                <a:solidFill>
                  <a:srgbClr val="385C1F"/>
                </a:solidFill>
                <a:latin typeface="Arial" panose="020B0604020202090204" pitchFamily="34" charset="0"/>
                <a:ea typeface="Arial" panose="020B0604020202090204" pitchFamily="34" charset="-122"/>
                <a:cs typeface="Arial" panose="020B0604020202090204" pitchFamily="34" charset="-120"/>
              </a:rPr>
              <a:t>THEMATIC SEPARATION</a:t>
            </a:r>
            <a:endParaRPr lang="en-US" sz="800" dirty="0"/>
          </a:p>
        </p:txBody>
      </p:sp>
      <p:sp>
        <p:nvSpPr>
          <p:cNvPr id="20" name="Text 18"/>
          <p:cNvSpPr/>
          <p:nvPr/>
        </p:nvSpPr>
        <p:spPr>
          <a:xfrm>
            <a:off x="4800600" y="1130201"/>
            <a:ext cx="1748790" cy="933450"/>
          </a:xfrm>
          <a:prstGeom prst="rect">
            <a:avLst/>
          </a:prstGeom>
          <a:noFill/>
        </p:spPr>
        <p:txBody>
          <a:bodyPr wrap="square" lIns="0" tIns="0" rIns="0" bIns="0" rtlCol="0" anchor="t"/>
          <a:lstStyle/>
          <a:p>
            <a:pPr marL="0" indent="0" algn="l">
              <a:buNone/>
            </a:pPr>
            <a:r>
              <a:rPr lang="en-US" sz="950" dirty="0">
                <a:solidFill>
                  <a:srgbClr val="333333"/>
                </a:solidFill>
                <a:latin typeface="Arial" panose="020B0604020202090204" pitchFamily="34" charset="0"/>
                <a:ea typeface="Arial" panose="020B0604020202090204" pitchFamily="34" charset="-122"/>
                <a:cs typeface="Arial" panose="020B0604020202090204" pitchFamily="34" charset="-120"/>
              </a:rPr>
              <a:t>Semantic segregation weakens after rephrasing (NMI: 0.197→0.089) but remains significant (p=0.003). Style was amplifying apparent thematic separation. No human-dominated cluster; two mixed clusters and one AI-dominated cluster.</a:t>
            </a:r>
            <a:endParaRPr lang="en-US" sz="950" dirty="0"/>
          </a:p>
        </p:txBody>
      </p:sp>
      <p:sp>
        <p:nvSpPr>
          <p:cNvPr id="21" name="Text 19"/>
          <p:cNvSpPr/>
          <p:nvPr/>
        </p:nvSpPr>
        <p:spPr>
          <a:xfrm>
            <a:off x="6819900" y="812750"/>
            <a:ext cx="2019300" cy="1377851"/>
          </a:xfrm>
          <a:prstGeom prst="roundRect">
            <a:avLst>
              <a:gd name="adj" fmla="val 5530"/>
            </a:avLst>
          </a:prstGeom>
          <a:solidFill>
            <a:srgbClr val="F4F4F4"/>
          </a:solidFill>
        </p:spPr>
        <p:txBody>
          <a:bodyPr wrap="square" rtlCol="0" anchor="ctr"/>
          <a:lstStyle/>
          <a:p>
            <a:pPr marL="0" indent="0">
              <a:buNone/>
            </a:pPr>
            <a:endParaRPr lang="en-US" dirty="0"/>
          </a:p>
        </p:txBody>
      </p:sp>
      <p:sp>
        <p:nvSpPr>
          <p:cNvPr id="22" name="Shape 20"/>
          <p:cNvSpPr/>
          <p:nvPr/>
        </p:nvSpPr>
        <p:spPr>
          <a:xfrm>
            <a:off x="6819900" y="831800"/>
            <a:ext cx="2019300" cy="0"/>
          </a:xfrm>
          <a:prstGeom prst="line">
            <a:avLst/>
          </a:prstGeom>
          <a:noFill/>
          <a:ln w="38100">
            <a:solidFill>
              <a:srgbClr val="A5A5A5"/>
            </a:solidFill>
            <a:prstDash val="solid"/>
          </a:ln>
        </p:spPr>
      </p:sp>
      <p:sp>
        <p:nvSpPr>
          <p:cNvPr id="23" name="Text 21"/>
          <p:cNvSpPr/>
          <p:nvPr/>
        </p:nvSpPr>
        <p:spPr>
          <a:xfrm>
            <a:off x="6972300" y="977801"/>
            <a:ext cx="1748790" cy="114300"/>
          </a:xfrm>
          <a:prstGeom prst="rect">
            <a:avLst/>
          </a:prstGeom>
          <a:noFill/>
        </p:spPr>
        <p:txBody>
          <a:bodyPr wrap="square" lIns="0" tIns="0" rIns="0" bIns="0" rtlCol="0" anchor="t"/>
          <a:lstStyle/>
          <a:p>
            <a:pPr marL="0" indent="0" algn="l">
              <a:spcAft>
                <a:spcPts val="300"/>
              </a:spcAft>
              <a:buNone/>
            </a:pPr>
            <a:r>
              <a:rPr lang="en-US" sz="800" b="1" dirty="0">
                <a:solidFill>
                  <a:srgbClr val="44546A"/>
                </a:solidFill>
                <a:latin typeface="Arial" panose="020B0604020202090204" pitchFamily="34" charset="0"/>
                <a:ea typeface="Arial" panose="020B0604020202090204" pitchFamily="34" charset="-122"/>
                <a:cs typeface="Arial" panose="020B0604020202090204" pitchFamily="34" charset="-120"/>
              </a:rPr>
              <a:t>QUALITY</a:t>
            </a:r>
            <a:endParaRPr lang="en-US" sz="800" dirty="0"/>
          </a:p>
        </p:txBody>
      </p:sp>
      <p:sp>
        <p:nvSpPr>
          <p:cNvPr id="24" name="Text 22"/>
          <p:cNvSpPr/>
          <p:nvPr/>
        </p:nvSpPr>
        <p:spPr>
          <a:xfrm>
            <a:off x="6972300" y="1130201"/>
            <a:ext cx="1748790" cy="933450"/>
          </a:xfrm>
          <a:prstGeom prst="rect">
            <a:avLst/>
          </a:prstGeom>
          <a:noFill/>
        </p:spPr>
        <p:txBody>
          <a:bodyPr wrap="square" lIns="0" tIns="0" rIns="0" bIns="0" rtlCol="0" anchor="t"/>
          <a:lstStyle/>
          <a:p>
            <a:pPr marL="0" indent="0" algn="l">
              <a:buNone/>
            </a:pPr>
            <a:r>
              <a:rPr lang="en-US" sz="950" dirty="0">
                <a:solidFill>
                  <a:srgbClr val="333333"/>
                </a:solidFill>
                <a:latin typeface="Arial" panose="020B0604020202090204" pitchFamily="34" charset="0"/>
                <a:ea typeface="Arial" panose="020B0604020202090204" pitchFamily="34" charset="-122"/>
                <a:cs typeface="Arial" panose="020B0604020202090204" pitchFamily="34" charset="-120"/>
              </a:rPr>
              <a:t>GPT-5.2 and Claude score higher than humans under cross-evaluator control; Gemini is not significant. GPT strongly self-inflates (δ=+0.933); Gemini strongly self-deprecates (δ=−0.732). AI reviews are valid but evaluator biases must be controlled.</a:t>
            </a:r>
            <a:endParaRPr lang="en-US" sz="950" dirty="0"/>
          </a:p>
        </p:txBody>
      </p:sp>
      <p:sp>
        <p:nvSpPr>
          <p:cNvPr id="25" name="Text 23"/>
          <p:cNvSpPr/>
          <p:nvPr/>
        </p:nvSpPr>
        <p:spPr>
          <a:xfrm>
            <a:off x="304800" y="2317552"/>
            <a:ext cx="2019300" cy="736402"/>
          </a:xfrm>
          <a:prstGeom prst="roundRect">
            <a:avLst>
              <a:gd name="adj" fmla="val 8623"/>
            </a:avLst>
          </a:prstGeom>
          <a:solidFill>
            <a:srgbClr val="FFFFFF"/>
          </a:solidFill>
          <a:ln w="9525">
            <a:solidFill>
              <a:srgbClr val="CCCCCC"/>
            </a:solidFill>
          </a:ln>
        </p:spPr>
        <p:txBody>
          <a:bodyPr wrap="square" rtlCol="0" anchor="ctr"/>
          <a:lstStyle/>
          <a:p>
            <a:pPr marL="0" indent="0">
              <a:buNone/>
            </a:pPr>
            <a:endParaRPr lang="en-US" dirty="0"/>
          </a:p>
        </p:txBody>
      </p:sp>
      <p:sp>
        <p:nvSpPr>
          <p:cNvPr id="26" name="Text 24"/>
          <p:cNvSpPr/>
          <p:nvPr/>
        </p:nvSpPr>
        <p:spPr>
          <a:xfrm>
            <a:off x="441275" y="2428577"/>
            <a:ext cx="1781276" cy="133350"/>
          </a:xfrm>
          <a:prstGeom prst="rect">
            <a:avLst/>
          </a:prstGeom>
          <a:noFill/>
        </p:spPr>
        <p:txBody>
          <a:bodyPr wrap="square" lIns="0" tIns="0" rIns="0" bIns="0" rtlCol="0" anchor="t"/>
          <a:lstStyle/>
          <a:p>
            <a:pPr marL="0" indent="0" algn="l">
              <a:spcAft>
                <a:spcPts val="300"/>
              </a:spcAft>
              <a:buNone/>
            </a:pPr>
            <a:r>
              <a:rPr lang="en-US" sz="900" b="1" dirty="0">
                <a:solidFill>
                  <a:srgbClr val="44546A"/>
                </a:solidFill>
                <a:latin typeface="Arial" panose="020B0604020202090204" pitchFamily="34" charset="0"/>
                <a:ea typeface="Arial" panose="020B0604020202090204" pitchFamily="34" charset="-122"/>
                <a:cs typeface="Arial" panose="020B0604020202090204" pitchFamily="34" charset="-120"/>
              </a:rPr>
              <a:t>Next Step 1</a:t>
            </a:r>
            <a:endParaRPr lang="en-US" sz="900" dirty="0"/>
          </a:p>
        </p:txBody>
      </p:sp>
      <p:sp>
        <p:nvSpPr>
          <p:cNvPr id="27" name="Text 25"/>
          <p:cNvSpPr/>
          <p:nvPr/>
        </p:nvSpPr>
        <p:spPr>
          <a:xfrm>
            <a:off x="441275" y="2600027"/>
            <a:ext cx="1781276" cy="342900"/>
          </a:xfrm>
          <a:prstGeom prst="rect">
            <a:avLst/>
          </a:prstGeom>
          <a:noFill/>
        </p:spPr>
        <p:txBody>
          <a:bodyPr wrap="square" lIns="0" tIns="0" rIns="0" bIns="0" rtlCol="0" anchor="t"/>
          <a:lstStyle/>
          <a:p>
            <a:pPr marL="0" indent="0" algn="l">
              <a:buNone/>
            </a:pPr>
            <a:r>
              <a:rPr lang="en-US" sz="850" dirty="0">
                <a:solidFill>
                  <a:srgbClr val="444444"/>
                </a:solidFill>
                <a:latin typeface="Arial" panose="020B0604020202090204" pitchFamily="34" charset="0"/>
                <a:ea typeface="Arial" panose="020B0604020202090204" pitchFamily="34" charset="-122"/>
                <a:cs typeface="Arial" panose="020B0604020202090204" pitchFamily="34" charset="-120"/>
              </a:rPr>
              <a:t>Blinded human scoring of AI proposals to test the inverse direction (human rates AI)</a:t>
            </a:r>
            <a:endParaRPr lang="en-US" sz="850" dirty="0"/>
          </a:p>
        </p:txBody>
      </p:sp>
      <p:sp>
        <p:nvSpPr>
          <p:cNvPr id="28" name="Text 26"/>
          <p:cNvSpPr/>
          <p:nvPr/>
        </p:nvSpPr>
        <p:spPr>
          <a:xfrm>
            <a:off x="2476500" y="2317552"/>
            <a:ext cx="2019300" cy="736402"/>
          </a:xfrm>
          <a:prstGeom prst="roundRect">
            <a:avLst>
              <a:gd name="adj" fmla="val 8623"/>
            </a:avLst>
          </a:prstGeom>
          <a:solidFill>
            <a:srgbClr val="FFFFFF"/>
          </a:solidFill>
          <a:ln w="9525">
            <a:solidFill>
              <a:srgbClr val="CCCCCC"/>
            </a:solidFill>
          </a:ln>
        </p:spPr>
        <p:txBody>
          <a:bodyPr wrap="square" rtlCol="0" anchor="ctr"/>
          <a:lstStyle/>
          <a:p>
            <a:pPr marL="0" indent="0">
              <a:buNone/>
            </a:pPr>
            <a:endParaRPr lang="en-US" dirty="0"/>
          </a:p>
        </p:txBody>
      </p:sp>
      <p:sp>
        <p:nvSpPr>
          <p:cNvPr id="29" name="Text 27"/>
          <p:cNvSpPr/>
          <p:nvPr/>
        </p:nvSpPr>
        <p:spPr>
          <a:xfrm>
            <a:off x="2612975" y="2428577"/>
            <a:ext cx="1781276" cy="133350"/>
          </a:xfrm>
          <a:prstGeom prst="rect">
            <a:avLst/>
          </a:prstGeom>
          <a:noFill/>
        </p:spPr>
        <p:txBody>
          <a:bodyPr wrap="square" lIns="0" tIns="0" rIns="0" bIns="0" rtlCol="0" anchor="t"/>
          <a:lstStyle/>
          <a:p>
            <a:pPr marL="0" indent="0" algn="l">
              <a:spcAft>
                <a:spcPts val="300"/>
              </a:spcAft>
              <a:buNone/>
            </a:pPr>
            <a:r>
              <a:rPr lang="en-US" sz="900" b="1" dirty="0">
                <a:solidFill>
                  <a:srgbClr val="44546A"/>
                </a:solidFill>
                <a:latin typeface="Arial" panose="020B0604020202090204" pitchFamily="34" charset="0"/>
                <a:ea typeface="Arial" panose="020B0604020202090204" pitchFamily="34" charset="-122"/>
                <a:cs typeface="Arial" panose="020B0604020202090204" pitchFamily="34" charset="-120"/>
              </a:rPr>
              <a:t>Next Step 2</a:t>
            </a:r>
            <a:endParaRPr lang="en-US" sz="900" dirty="0"/>
          </a:p>
        </p:txBody>
      </p:sp>
      <p:sp>
        <p:nvSpPr>
          <p:cNvPr id="30" name="Text 28"/>
          <p:cNvSpPr/>
          <p:nvPr/>
        </p:nvSpPr>
        <p:spPr>
          <a:xfrm>
            <a:off x="2612975" y="2600027"/>
            <a:ext cx="1781276" cy="342900"/>
          </a:xfrm>
          <a:prstGeom prst="rect">
            <a:avLst/>
          </a:prstGeom>
          <a:noFill/>
        </p:spPr>
        <p:txBody>
          <a:bodyPr wrap="square" lIns="0" tIns="0" rIns="0" bIns="0" rtlCol="0" anchor="t"/>
          <a:lstStyle/>
          <a:p>
            <a:pPr marL="0" indent="0" algn="l">
              <a:buNone/>
            </a:pPr>
            <a:r>
              <a:rPr lang="en-US" sz="850" dirty="0">
                <a:solidFill>
                  <a:srgbClr val="444444"/>
                </a:solidFill>
                <a:latin typeface="Arial" panose="020B0604020202090204" pitchFamily="34" charset="0"/>
                <a:ea typeface="Arial" panose="020B0604020202090204" pitchFamily="34" charset="-122"/>
                <a:cs typeface="Arial" panose="020B0604020202090204" pitchFamily="34" charset="-120"/>
              </a:rPr>
              <a:t>Fix proxy-validity harmonization (ICC/rank agreement currently NaN for most criteria)</a:t>
            </a:r>
            <a:endParaRPr lang="en-US" sz="850" dirty="0"/>
          </a:p>
        </p:txBody>
      </p:sp>
      <p:sp>
        <p:nvSpPr>
          <p:cNvPr id="31" name="Text 29"/>
          <p:cNvSpPr/>
          <p:nvPr/>
        </p:nvSpPr>
        <p:spPr>
          <a:xfrm>
            <a:off x="4648200" y="2317552"/>
            <a:ext cx="2019300" cy="736402"/>
          </a:xfrm>
          <a:prstGeom prst="roundRect">
            <a:avLst>
              <a:gd name="adj" fmla="val 8623"/>
            </a:avLst>
          </a:prstGeom>
          <a:solidFill>
            <a:srgbClr val="FFFFFF"/>
          </a:solidFill>
          <a:ln w="9525">
            <a:solidFill>
              <a:srgbClr val="CCCCCC"/>
            </a:solidFill>
          </a:ln>
        </p:spPr>
        <p:txBody>
          <a:bodyPr wrap="square" rtlCol="0" anchor="ctr"/>
          <a:lstStyle/>
          <a:p>
            <a:pPr marL="0" indent="0">
              <a:buNone/>
            </a:pPr>
            <a:endParaRPr lang="en-US" dirty="0"/>
          </a:p>
        </p:txBody>
      </p:sp>
      <p:sp>
        <p:nvSpPr>
          <p:cNvPr id="32" name="Text 30"/>
          <p:cNvSpPr/>
          <p:nvPr/>
        </p:nvSpPr>
        <p:spPr>
          <a:xfrm>
            <a:off x="4784675" y="2428577"/>
            <a:ext cx="1781276" cy="133350"/>
          </a:xfrm>
          <a:prstGeom prst="rect">
            <a:avLst/>
          </a:prstGeom>
          <a:noFill/>
        </p:spPr>
        <p:txBody>
          <a:bodyPr wrap="square" lIns="0" tIns="0" rIns="0" bIns="0" rtlCol="0" anchor="t"/>
          <a:lstStyle/>
          <a:p>
            <a:pPr marL="0" indent="0" algn="l">
              <a:spcAft>
                <a:spcPts val="300"/>
              </a:spcAft>
              <a:buNone/>
            </a:pPr>
            <a:r>
              <a:rPr lang="en-US" sz="900" b="1" dirty="0">
                <a:solidFill>
                  <a:srgbClr val="44546A"/>
                </a:solidFill>
                <a:latin typeface="Arial" panose="020B0604020202090204" pitchFamily="34" charset="0"/>
                <a:ea typeface="Arial" panose="020B0604020202090204" pitchFamily="34" charset="-122"/>
                <a:cs typeface="Arial" panose="020B0604020202090204" pitchFamily="34" charset="-120"/>
              </a:rPr>
              <a:t>Next Step 3</a:t>
            </a:r>
            <a:endParaRPr lang="en-US" sz="900" dirty="0"/>
          </a:p>
        </p:txBody>
      </p:sp>
      <p:sp>
        <p:nvSpPr>
          <p:cNvPr id="33" name="Text 31"/>
          <p:cNvSpPr/>
          <p:nvPr/>
        </p:nvSpPr>
        <p:spPr>
          <a:xfrm>
            <a:off x="4784675" y="2600027"/>
            <a:ext cx="1781276" cy="342900"/>
          </a:xfrm>
          <a:prstGeom prst="rect">
            <a:avLst/>
          </a:prstGeom>
          <a:noFill/>
        </p:spPr>
        <p:txBody>
          <a:bodyPr wrap="square" lIns="0" tIns="0" rIns="0" bIns="0" rtlCol="0" anchor="t"/>
          <a:lstStyle/>
          <a:p>
            <a:pPr marL="0" indent="0" algn="l">
              <a:buNone/>
            </a:pPr>
            <a:r>
              <a:rPr lang="en-US" sz="850" dirty="0">
                <a:solidFill>
                  <a:srgbClr val="444444"/>
                </a:solidFill>
                <a:latin typeface="Arial" panose="020B0604020202090204" pitchFamily="34" charset="0"/>
                <a:ea typeface="Arial" panose="020B0604020202090204" pitchFamily="34" charset="-122"/>
                <a:cs typeface="Arial" panose="020B0604020202090204" pitchFamily="34" charset="-120"/>
              </a:rPr>
              <a:t>Investigate GPT near-zero variance in quality scores — prompts may saturate the rubric</a:t>
            </a:r>
            <a:endParaRPr lang="en-US" sz="850" dirty="0"/>
          </a:p>
        </p:txBody>
      </p:sp>
      <p:sp>
        <p:nvSpPr>
          <p:cNvPr id="34" name="Text 32"/>
          <p:cNvSpPr/>
          <p:nvPr/>
        </p:nvSpPr>
        <p:spPr>
          <a:xfrm>
            <a:off x="6819900" y="2317552"/>
            <a:ext cx="2019300" cy="736402"/>
          </a:xfrm>
          <a:prstGeom prst="roundRect">
            <a:avLst>
              <a:gd name="adj" fmla="val 8623"/>
            </a:avLst>
          </a:prstGeom>
          <a:solidFill>
            <a:srgbClr val="FFFFFF"/>
          </a:solidFill>
          <a:ln w="9525">
            <a:solidFill>
              <a:srgbClr val="CCCCCC"/>
            </a:solidFill>
          </a:ln>
        </p:spPr>
        <p:txBody>
          <a:bodyPr wrap="square" rtlCol="0" anchor="ctr"/>
          <a:lstStyle/>
          <a:p>
            <a:pPr marL="0" indent="0">
              <a:buNone/>
            </a:pPr>
            <a:endParaRPr lang="en-US" dirty="0"/>
          </a:p>
        </p:txBody>
      </p:sp>
      <p:sp>
        <p:nvSpPr>
          <p:cNvPr id="35" name="Text 33"/>
          <p:cNvSpPr/>
          <p:nvPr/>
        </p:nvSpPr>
        <p:spPr>
          <a:xfrm>
            <a:off x="6956375" y="2428577"/>
            <a:ext cx="1781276" cy="133350"/>
          </a:xfrm>
          <a:prstGeom prst="rect">
            <a:avLst/>
          </a:prstGeom>
          <a:noFill/>
        </p:spPr>
        <p:txBody>
          <a:bodyPr wrap="square" lIns="0" tIns="0" rIns="0" bIns="0" rtlCol="0" anchor="t"/>
          <a:lstStyle/>
          <a:p>
            <a:pPr marL="0" indent="0" algn="l">
              <a:spcAft>
                <a:spcPts val="300"/>
              </a:spcAft>
              <a:buNone/>
            </a:pPr>
            <a:r>
              <a:rPr lang="en-US" sz="900" b="1" dirty="0">
                <a:solidFill>
                  <a:srgbClr val="44546A"/>
                </a:solidFill>
                <a:latin typeface="Arial" panose="020B0604020202090204" pitchFamily="34" charset="0"/>
                <a:ea typeface="Arial" panose="020B0604020202090204" pitchFamily="34" charset="-122"/>
                <a:cs typeface="Arial" panose="020B0604020202090204" pitchFamily="34" charset="-120"/>
              </a:rPr>
              <a:t>Next Step 4</a:t>
            </a:r>
            <a:endParaRPr lang="en-US" sz="900" dirty="0"/>
          </a:p>
        </p:txBody>
      </p:sp>
      <p:sp>
        <p:nvSpPr>
          <p:cNvPr id="36" name="Text 34"/>
          <p:cNvSpPr/>
          <p:nvPr/>
        </p:nvSpPr>
        <p:spPr>
          <a:xfrm>
            <a:off x="6956375" y="2600027"/>
            <a:ext cx="1781276" cy="342900"/>
          </a:xfrm>
          <a:prstGeom prst="rect">
            <a:avLst/>
          </a:prstGeom>
          <a:noFill/>
        </p:spPr>
        <p:txBody>
          <a:bodyPr wrap="square" lIns="0" tIns="0" rIns="0" bIns="0" rtlCol="0" anchor="t"/>
          <a:lstStyle/>
          <a:p>
            <a:pPr marL="0" indent="0" algn="l">
              <a:buNone/>
            </a:pPr>
            <a:r>
              <a:rPr lang="en-US" sz="850" dirty="0">
                <a:solidFill>
                  <a:srgbClr val="444444"/>
                </a:solidFill>
                <a:latin typeface="Arial" panose="020B0604020202090204" pitchFamily="34" charset="0"/>
                <a:ea typeface="Arial" panose="020B0604020202090204" pitchFamily="34" charset="-122"/>
                <a:cs typeface="Arial" panose="020B0604020202090204" pitchFamily="34" charset="-120"/>
              </a:rPr>
              <a:t>Test whether AI review panel homogeneity leads to worse ranking discrimination than human panels</a:t>
            </a:r>
            <a:endParaRPr lang="en-US" sz="850" dirty="0"/>
          </a:p>
        </p:txBody>
      </p:sp>
      <p:sp>
        <p:nvSpPr>
          <p:cNvPr id="37" name="Text 35"/>
          <p:cNvSpPr/>
          <p:nvPr/>
        </p:nvSpPr>
        <p:spPr>
          <a:xfrm>
            <a:off x="304800" y="3180715"/>
            <a:ext cx="8534400" cy="933450"/>
          </a:xfrm>
          <a:prstGeom prst="roundRect">
            <a:avLst>
              <a:gd name="adj" fmla="val 8990"/>
            </a:avLst>
          </a:prstGeom>
          <a:solidFill>
            <a:srgbClr val="44546A"/>
          </a:solidFill>
        </p:spPr>
        <p:txBody>
          <a:bodyPr wrap="square" rtlCol="0" anchor="ctr"/>
          <a:lstStyle/>
          <a:p>
            <a:pPr marL="0" indent="0">
              <a:buNone/>
            </a:pPr>
            <a:endParaRPr lang="en-US" dirty="0"/>
          </a:p>
        </p:txBody>
      </p:sp>
      <p:sp>
        <p:nvSpPr>
          <p:cNvPr id="38" name="Text 36"/>
          <p:cNvSpPr/>
          <p:nvPr/>
        </p:nvSpPr>
        <p:spPr>
          <a:xfrm>
            <a:off x="507950" y="3307854"/>
            <a:ext cx="8290661" cy="142875"/>
          </a:xfrm>
          <a:prstGeom prst="rect">
            <a:avLst/>
          </a:prstGeom>
          <a:noFill/>
        </p:spPr>
        <p:txBody>
          <a:bodyPr wrap="square" lIns="0" tIns="0" rIns="0" bIns="0" rtlCol="0" anchor="t"/>
          <a:lstStyle/>
          <a:p>
            <a:pPr marL="0" indent="0" algn="l">
              <a:spcAft>
                <a:spcPts val="400"/>
              </a:spcAft>
              <a:buNone/>
            </a:pPr>
            <a:r>
              <a:rPr lang="en-US" sz="1000" b="1" dirty="0">
                <a:solidFill>
                  <a:srgbClr val="FFFFFF"/>
                </a:solidFill>
                <a:latin typeface="Arial" panose="020B0604020202090204" pitchFamily="34" charset="0"/>
                <a:ea typeface="Arial" panose="020B0604020202090204" pitchFamily="34" charset="-122"/>
                <a:cs typeface="Arial" panose="020B0604020202090204" pitchFamily="34" charset="-120"/>
              </a:rPr>
              <a:t>Big Picture</a:t>
            </a:r>
            <a:endParaRPr lang="en-US" sz="1000" dirty="0"/>
          </a:p>
        </p:txBody>
      </p:sp>
      <p:sp>
        <p:nvSpPr>
          <p:cNvPr id="39" name="Text 37"/>
          <p:cNvSpPr/>
          <p:nvPr/>
        </p:nvSpPr>
        <p:spPr>
          <a:xfrm>
            <a:off x="507950" y="3501479"/>
            <a:ext cx="8290661" cy="400050"/>
          </a:xfrm>
          <a:prstGeom prst="rect">
            <a:avLst/>
          </a:prstGeom>
          <a:noFill/>
        </p:spPr>
        <p:txBody>
          <a:bodyPr wrap="square" lIns="0" tIns="0" rIns="0" bIns="0" rtlCol="0" anchor="t"/>
          <a:lstStyle/>
          <a:p>
            <a:pPr marL="0" indent="0" algn="l">
              <a:buNone/>
            </a:pPr>
            <a:r>
              <a:rPr lang="en-US" sz="950" dirty="0">
                <a:solidFill>
                  <a:srgbClr val="E7E6E6"/>
                </a:solidFill>
                <a:latin typeface="Arial" panose="020B0604020202090204" pitchFamily="34" charset="0"/>
                <a:ea typeface="Arial" panose="020B0604020202090204" pitchFamily="34" charset="-122"/>
                <a:cs typeface="Arial" panose="020B0604020202090204" pitchFamily="34" charset="-120"/>
              </a:rPr>
              <a:t>Rephrasing reveals that the Human/AI difference is primarily semantic (what ideas are proposed) rather than stylistic (how they are written). Human proposals explore more varied conceptual territory; Claude-Opus-4.5 shows near-zero semantic diversity (mode collapse) after style removal. GPT and Claude both achieve higher AI-assigned scores under cross-evaluator control. Large, divergent evaluator biases (GPT inflates, Gemini deflates) must be accounted for in any AI-review pipeline.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20088</Words>
  <Application>WPS Presentation</Application>
  <PresentationFormat>On-screen Show (16:9)</PresentationFormat>
  <Paragraphs>618</Paragraphs>
  <Slides>23</Slides>
  <Notes>17</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23</vt:i4>
      </vt:variant>
    </vt:vector>
  </HeadingPairs>
  <TitlesOfParts>
    <vt:vector size="36" baseType="lpstr">
      <vt:lpstr>Arial</vt:lpstr>
      <vt:lpstr>SimSun</vt:lpstr>
      <vt:lpstr>Wingdings</vt:lpstr>
      <vt:lpstr>Arial</vt:lpstr>
      <vt:lpstr>Arial</vt:lpstr>
      <vt:lpstr>Calibri</vt:lpstr>
      <vt:lpstr>Helvetica Neue</vt:lpstr>
      <vt:lpstr>Microsoft YaHei</vt:lpstr>
      <vt:lpstr>汉仪旗黑</vt:lpstr>
      <vt:lpstr>Arial Unicode MS</vt:lpstr>
      <vt:lpstr>Arial Bold</vt:lpstr>
      <vt:lpstr>汉仪书宋二KW</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Style-Controlled Comparison of AI vs. Human Research Proposals</dc:title>
  <dc:creator>NICO Lab</dc:creator>
  <dc:subject>PptxGenJS Presentation</dc:subject>
  <cp:lastModifiedBy>evey</cp:lastModifiedBy>
  <cp:revision>3</cp:revision>
  <dcterms:created xsi:type="dcterms:W3CDTF">2026-04-14T15:00:39Z</dcterms:created>
  <dcterms:modified xsi:type="dcterms:W3CDTF">2026-04-14T15:00:39Z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A3EC75D92B41B2C5C4C1B969095636FB_42</vt:lpwstr>
  </property>
  <property fmtid="{D5CDD505-2E9C-101B-9397-08002B2CF9AE}" pid="3" name="KSOProductBuildVer">
    <vt:lpwstr>1033-12.1.23141.23141</vt:lpwstr>
  </property>
</Properties>
</file>