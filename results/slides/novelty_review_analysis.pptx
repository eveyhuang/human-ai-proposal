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080599" y="0"/>
            <a:ext cx="63401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281113"/>
            <a:ext cx="2455218" cy="244376"/>
          </a:xfrm>
          <a:prstGeom prst="roundRect">
            <a:avLst>
              <a:gd name="adj" fmla="val 15591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331863"/>
            <a:ext cx="2193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QUALITY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2000" y="1754088"/>
            <a:ext cx="7772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Reviews of AI vs. Human</a:t>
            </a:r>
            <a:endParaRPr lang="en-US" sz="3000" dirty="0"/>
          </a:p>
          <a:p>
            <a:pPr algn="l" indent="0" marL="0">
              <a:lnSpc>
                <a:spcPts val="375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Proposals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2000" y="2858988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4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AI evaluators reliably assess novelty — and do they play favorites?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1050" y="3424089"/>
            <a:ext cx="0" cy="43815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7050" y="3424089"/>
            <a:ext cx="1336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7050" y="3557439"/>
            <a:ext cx="1336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Total (23 Human + 69 AI)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37830" y="3424089"/>
            <a:ext cx="0" cy="43815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3830" y="3424089"/>
            <a:ext cx="2018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3830" y="3557439"/>
            <a:ext cx="20182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 · Gemini 3 Pro · GPT-5.2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2550" y="3424089"/>
            <a:ext cx="0" cy="43815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8550" y="3424089"/>
            <a:ext cx="1431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8550" y="3557439"/>
            <a:ext cx="14315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Style-Controlled (Rephrased)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12050" y="3424089"/>
            <a:ext cx="0" cy="43815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8050" y="3424089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58050" y="3557439"/>
            <a:ext cx="11464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AI Novelty Reviews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9976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7770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61801"/>
            <a:ext cx="8601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AI Reviewers to Assess Novelty?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695176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peer review is expensive, slow, and subject to its own biases — AI reviewers offer scalability, but introduce new risks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5550" y="1203127"/>
            <a:ext cx="4089499" cy="1792337"/>
          </a:xfrm>
          <a:prstGeom prst="roundRect">
            <a:avLst>
              <a:gd name="adj" fmla="val 42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1380827"/>
            <a:ext cx="3683198" cy="38100"/>
          </a:xfrm>
          <a:prstGeom prst="roundRect">
            <a:avLst>
              <a:gd name="adj" fmla="val 33333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6092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152" y="1596628"/>
            <a:ext cx="1274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8701" y="1850529"/>
            <a:ext cx="3756862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models write research proposals, do they produce </a:t>
            </a:r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novel ideas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 do they recycle familiar combinations? And when AI models </a:t>
            </a:r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those proposals, are their assessments trustworthy?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5550" y="3147864"/>
            <a:ext cx="4089499" cy="1792486"/>
          </a:xfrm>
          <a:prstGeom prst="roundRect">
            <a:avLst>
              <a:gd name="adj" fmla="val 42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8701" y="3325564"/>
            <a:ext cx="3683198" cy="38100"/>
          </a:xfrm>
          <a:prstGeom prst="roundRect">
            <a:avLst>
              <a:gd name="adj" fmla="val 33333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8701" y="355401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152" y="3541365"/>
            <a:ext cx="1765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Novelty Specifically?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8701" y="3795266"/>
            <a:ext cx="3756862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is the most contested dimension in proposal review — it is subjective, multi-faceted, and hard to operationalize consistently. If AI evaluators can assess it reliably (and without bias), they become useful proxies for human expert panels.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98950" y="1203127"/>
            <a:ext cx="4089499" cy="220161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02101" y="1380827"/>
            <a:ext cx="3683198" cy="38100"/>
          </a:xfrm>
          <a:prstGeom prst="roundRect">
            <a:avLst>
              <a:gd name="adj" fmla="val 33333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2101" y="16092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30552" y="1596628"/>
            <a:ext cx="16885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Does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2101" y="1850529"/>
            <a:ext cx="3683198" cy="133841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models act as 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scoring proposals on 6 novelty criteria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compared across 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groups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(human, Claude, Gemini, GPT-5.2)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whether evaluators are 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biased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especially whether they favor their own proposals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correct for self-preference using a 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cross-evaluator</a:t>
            </a:r>
            <a:pPr algn="l" indent="0" marL="0">
              <a:lnSpc>
                <a:spcPts val="1378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98950" y="3557141"/>
            <a:ext cx="4089499" cy="1383209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2101" y="3734842"/>
            <a:ext cx="3683198" cy="381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02101" y="396329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30552" y="3950643"/>
            <a:ext cx="180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Style-Controlled Condition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2101" y="4204543"/>
            <a:ext cx="3756862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92 proposals were </a:t>
            </a:r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(rephrased into a uniform 5-section template) before review. This ensures any score differences reflect </a:t>
            </a:r>
            <a:pPr algn="l" indent="0" marL="0">
              <a:lnSpc>
                <a:spcPts val="1378"/>
              </a:lnSpc>
              <a:buNone/>
            </a:pPr>
            <a:r>
              <a:rPr lang="en-US" sz="9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ideas are proposed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pPr algn="l" indent="0" marL="0">
              <a:lnSpc>
                <a:spcPts val="1378"/>
              </a:lnSpc>
              <a:buNone/>
            </a:pPr>
            <a:r>
              <a:rPr lang="en-US" sz="9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they are written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9976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7770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NOVELTY EVALUATION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61801"/>
            <a:ext cx="8601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Dimensions of Novelty — Grounded in Research Literature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695176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proposal is scored 1–5 on six independently validated dimensions of originality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5550" y="1177677"/>
            <a:ext cx="1299567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55550" y="1196727"/>
            <a:ext cx="1299567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1342727"/>
            <a:ext cx="101466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1583978"/>
            <a:ext cx="101466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Question, Topic, or Problem Framing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092970"/>
            <a:ext cx="1014663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proposal introduce a new question, topic, or way of framing the problem — an understudied area?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946648"/>
            <a:ext cx="101466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Guetzkow et al., 2004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2068" y="1177677"/>
            <a:ext cx="1299716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782068" y="1196727"/>
            <a:ext cx="1299716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4468" y="1342727"/>
            <a:ext cx="101481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34468" y="1583978"/>
            <a:ext cx="1014814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Theory, Concept, Method, Dataset, or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34468" y="2241500"/>
            <a:ext cx="101481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proposal use or develop a new theory, concept, method, dataset, or research design?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4468" y="2952899"/>
            <a:ext cx="10148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Guetzkow et al., 2004; ERC, 2021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8734" y="1177677"/>
            <a:ext cx="1299716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08734" y="1196727"/>
            <a:ext cx="1299716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1134" y="1342727"/>
            <a:ext cx="101481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61134" y="1583978"/>
            <a:ext cx="101481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Combination of Existing Ideas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1134" y="2092970"/>
            <a:ext cx="101481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proposal combine existing ideas, methods, or perspectives in an atypical way?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1134" y="2804368"/>
            <a:ext cx="10148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Uzzi et al., 2013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5401" y="1177677"/>
            <a:ext cx="1299716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35401" y="1196727"/>
            <a:ext cx="1299716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7801" y="1342727"/>
            <a:ext cx="101481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7801" y="1583978"/>
            <a:ext cx="101481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State of the 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87801" y="1944439"/>
            <a:ext cx="101481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proposal ambitious — going beyond incremental extension of prior work?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7801" y="2655838"/>
            <a:ext cx="10148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ERC, 2021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2067" y="1177677"/>
            <a:ext cx="1299716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62067" y="1196727"/>
            <a:ext cx="1299716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4467" y="1342727"/>
            <a:ext cx="101481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14467" y="1583978"/>
            <a:ext cx="101481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 High-Risk / High-Gain Potential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4467" y="2092970"/>
            <a:ext cx="101481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proposal contain a credible high-risk, high-gain element with substantial payoff if successful?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4467" y="2946648"/>
            <a:ext cx="10148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ERC, 2021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88734" y="1177677"/>
            <a:ext cx="1299716" cy="3267670"/>
          </a:xfrm>
          <a:prstGeom prst="roundRect">
            <a:avLst>
              <a:gd name="adj" fmla="val 4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488734" y="1196727"/>
            <a:ext cx="1299716" cy="0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1134" y="1342727"/>
            <a:ext cx="101481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41134" y="1583978"/>
            <a:ext cx="101481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Knowledge Generation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41134" y="2092970"/>
            <a:ext cx="101481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the proposal generate knowledge that would be difficult to obtain from prior work alone?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41134" y="2804368"/>
            <a:ext cx="10148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Shibayama &amp; Wang, 2020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5550" y="4546848"/>
            <a:ext cx="8432899" cy="469702"/>
          </a:xfrm>
          <a:prstGeom prst="roundRect">
            <a:avLst>
              <a:gd name="adj" fmla="val 10815"/>
            </a:avLst>
          </a:prstGeom>
          <a:solidFill>
            <a:srgbClr val="EB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7950" y="4686449"/>
            <a:ext cx="695176" cy="190500"/>
          </a:xfrm>
          <a:prstGeom prst="roundRect">
            <a:avLst>
              <a:gd name="adj" fmla="val 20000"/>
            </a:avLst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451" y="4724549"/>
            <a:ext cx="502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Scale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330077" y="4648349"/>
            <a:ext cx="7452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</a:t>
            </a:r>
            <a:pPr algn="l" indent="0" marL="0">
              <a:buNone/>
            </a:pPr>
            <a:r>
              <a:rPr lang="en-US" sz="9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= Very weak evidence · 3 = Moderate / mixed evidence · 5 = Very strong evidence. Reviewers must cite specific evidence from the proposal text — vague claims of novelty do not earn high scores.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9976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7770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AI REVIEWER PROMPT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61801"/>
            <a:ext cx="8601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Novelty Evaluation Prompt Was Designed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695176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 that shape what the AI evaluator considers — and how strictly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5550" y="1177677"/>
            <a:ext cx="5156299" cy="853232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291977"/>
            <a:ext cx="279350" cy="279350"/>
          </a:xfrm>
          <a:prstGeom prst="roundRect">
            <a:avLst>
              <a:gd name="adj" fmla="val 18185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9543" y="1356122"/>
            <a:ext cx="13601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251" y="1291977"/>
            <a:ext cx="4534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Context Provided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251" y="1463427"/>
            <a:ext cx="4534102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reviewer receives the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closest literature neighbors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(by semantic similarity to the proposal). They must use these as evidence of what is already known — preventing naive over-crediting of ideas already in the literature.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5550" y="2145209"/>
            <a:ext cx="5156299" cy="853232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2259509"/>
            <a:ext cx="279350" cy="279350"/>
          </a:xfrm>
          <a:prstGeom prst="roundRect">
            <a:avLst>
              <a:gd name="adj" fmla="val 1818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9543" y="2323654"/>
            <a:ext cx="13601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251" y="2259509"/>
            <a:ext cx="4534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Access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251" y="2430959"/>
            <a:ext cx="4534102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can use web search to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factual claims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methods, datasets, or prior work — but only when the proposal text alone is insufficient. This grounds the review in verifiable evidence.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5550" y="3112740"/>
            <a:ext cx="5156299" cy="853232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3227040"/>
            <a:ext cx="279350" cy="279350"/>
          </a:xfrm>
          <a:prstGeom prst="roundRect">
            <a:avLst>
              <a:gd name="adj" fmla="val 1818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9543" y="3291185"/>
            <a:ext cx="13601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251" y="3227040"/>
            <a:ext cx="4534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Evidence-Grounded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251" y="3398490"/>
            <a:ext cx="4534102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must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specific phrases or paraphrase concrete evidence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proposal. Vague claims ("this is novel") are explicitly instructed not to earn high scores. The prompt requires analytical strictness.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5550" y="4080272"/>
            <a:ext cx="5156299" cy="853232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950" y="4194572"/>
            <a:ext cx="279350" cy="279350"/>
          </a:xfrm>
          <a:prstGeom prst="roundRect">
            <a:avLst>
              <a:gd name="adj" fmla="val 18185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9543" y="4258717"/>
            <a:ext cx="13601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251" y="4194572"/>
            <a:ext cx="4534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Case-Strength, Not Ground-Truth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251" y="4366022"/>
            <a:ext cx="4534102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are instructed to judge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strongly the proposal makes a case for novelty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whether the work is definitely novel in reality. This mirrors how human review panels actually operate.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40450" y="1177677"/>
            <a:ext cx="3048000" cy="3788122"/>
          </a:xfrm>
          <a:prstGeom prst="roundRect">
            <a:avLst>
              <a:gd name="adj" fmla="val 2500"/>
            </a:avLst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18150" y="1330077"/>
            <a:ext cx="2746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OUTPUT FORMAT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18150" y="1564928"/>
            <a:ext cx="2746450" cy="64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500"/>
              </a:spcAft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an expert research evaluator. Evaluate the NOVELTY of the following research proposal using six dimensions grounded in prior research on originality and proposal review..."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18150" y="2275433"/>
            <a:ext cx="274645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500"/>
              </a:spcAft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criterion, reviewers output: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18150" y="2500610"/>
            <a:ext cx="2692598" cy="68341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(1–5)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proposal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Uncertainties or limitations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18150" y="3222129"/>
            <a:ext cx="274645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500"/>
              </a:spcAft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overall output: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18150" y="3447306"/>
            <a:ext cx="2692598" cy="68341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novelty score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summary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&amp; weakest dimensions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uncertainties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9976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7770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61801"/>
            <a:ext cx="8601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Design: Proposals, Evaluators, and Reviews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695176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92 rephrased proposals receives 3 AI novelty reviews — one per evaluator 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5550" y="1177677"/>
            <a:ext cx="4498479" cy="1985963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3251" y="1644402"/>
            <a:ext cx="4143077" cy="0"/>
          </a:xfrm>
          <a:prstGeom prst="line">
            <a:avLst/>
          </a:prstGeom>
          <a:noFill/>
          <a:ln w="19050">
            <a:solidFill>
              <a:srgbClr val="EAF0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251" y="1330077"/>
            <a:ext cx="4225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Author Groups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3251" y="173622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602" y="1745754"/>
            <a:ext cx="12397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(Year 1 cohort)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89661" y="1729978"/>
            <a:ext cx="486668" cy="164902"/>
          </a:xfrm>
          <a:prstGeom prst="roundRect">
            <a:avLst>
              <a:gd name="adj" fmla="val 2310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78511" y="1755279"/>
            <a:ext cx="3151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3251" y="200263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602" y="2012156"/>
            <a:ext cx="12397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(Year 2 cohort)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95614" y="1996380"/>
            <a:ext cx="480715" cy="164902"/>
          </a:xfrm>
          <a:prstGeom prst="roundRect">
            <a:avLst>
              <a:gd name="adj" fmla="val 2310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84464" y="2021681"/>
            <a:ext cx="309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251" y="226903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602" y="2278559"/>
            <a:ext cx="923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89661" y="2262783"/>
            <a:ext cx="486668" cy="164902"/>
          </a:xfrm>
          <a:prstGeom prst="roundRect">
            <a:avLst>
              <a:gd name="adj" fmla="val 2310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78511" y="2288084"/>
            <a:ext cx="3151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3251" y="253543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2602" y="2544961"/>
            <a:ext cx="118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 Preview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89661" y="2529185"/>
            <a:ext cx="486668" cy="164902"/>
          </a:xfrm>
          <a:prstGeom prst="roundRect">
            <a:avLst>
              <a:gd name="adj" fmla="val 2310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278511" y="2554486"/>
            <a:ext cx="3151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3251" y="280183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2602" y="2811363"/>
            <a:ext cx="4581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89661" y="2795588"/>
            <a:ext cx="486668" cy="164902"/>
          </a:xfrm>
          <a:prstGeom prst="roundRect">
            <a:avLst>
              <a:gd name="adj" fmla="val 2310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78511" y="2820888"/>
            <a:ext cx="3151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5550" y="3290590"/>
            <a:ext cx="4498479" cy="1203127"/>
          </a:xfrm>
          <a:prstGeom prst="roundRect">
            <a:avLst>
              <a:gd name="adj" fmla="val 6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3251" y="3757315"/>
            <a:ext cx="4143077" cy="0"/>
          </a:xfrm>
          <a:prstGeom prst="line">
            <a:avLst/>
          </a:prstGeom>
          <a:noFill/>
          <a:ln w="19050">
            <a:solidFill>
              <a:srgbClr val="EAF0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251" y="3442990"/>
            <a:ext cx="4225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Models (Reviewers)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3251" y="3792141"/>
            <a:ext cx="1313259" cy="549176"/>
          </a:xfrm>
          <a:prstGeom prst="roundRect">
            <a:avLst>
              <a:gd name="adj" fmla="val 11563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9608" y="3919091"/>
            <a:ext cx="1080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608" y="4071491"/>
            <a:ext cx="10805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reviews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48011" y="3792141"/>
            <a:ext cx="1313408" cy="549176"/>
          </a:xfrm>
          <a:prstGeom prst="roundRect">
            <a:avLst>
              <a:gd name="adj" fmla="val 1156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064367" y="3919091"/>
            <a:ext cx="1080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64367" y="4071491"/>
            <a:ext cx="1080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reviews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62920" y="3792141"/>
            <a:ext cx="1313408" cy="549176"/>
          </a:xfrm>
          <a:prstGeom prst="roundRect">
            <a:avLst>
              <a:gd name="adj" fmla="val 11563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79276" y="3919091"/>
            <a:ext cx="1080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9276" y="4071491"/>
            <a:ext cx="1080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reviews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07930" y="1177677"/>
            <a:ext cx="3680520" cy="1866305"/>
          </a:xfrm>
          <a:prstGeom prst="roundRect">
            <a:avLst>
              <a:gd name="adj" fmla="val 4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285631" y="1644402"/>
            <a:ext cx="3325118" cy="0"/>
          </a:xfrm>
          <a:prstGeom prst="line">
            <a:avLst/>
          </a:prstGeom>
          <a:noFill/>
          <a:ln w="19050">
            <a:solidFill>
              <a:srgbClr val="EAF0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631" y="1330077"/>
            <a:ext cx="3391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at a Glance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85631" y="1918841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5631" y="1729978"/>
            <a:ext cx="784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proposals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83501" y="1729978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85631" y="2163217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85631" y="1974354"/>
            <a:ext cx="810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reviews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9951" y="1974354"/>
            <a:ext cx="194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85631" y="2407593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631" y="2218730"/>
            <a:ext cx="11210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per proposal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86501" y="2218730"/>
            <a:ext cx="1146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(one per evaluator)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85631" y="2651968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85631" y="2463105"/>
            <a:ext cx="9331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per review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35329" y="2463105"/>
            <a:ext cx="994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criteria + overall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85631" y="2707481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931051" y="2707481"/>
            <a:ext cx="693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(integer)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07930" y="3170932"/>
            <a:ext cx="3680520" cy="1377553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285631" y="3637657"/>
            <a:ext cx="3325118" cy="0"/>
          </a:xfrm>
          <a:prstGeom prst="line">
            <a:avLst/>
          </a:prstGeom>
          <a:noFill/>
          <a:ln w="19050">
            <a:solidFill>
              <a:srgbClr val="EAF0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85631" y="3323332"/>
            <a:ext cx="3391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Analysis Questions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285631" y="3912096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85631" y="3723233"/>
            <a:ext cx="1011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Proposal quality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54801" y="3723233"/>
            <a:ext cx="11790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scores highest?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85631" y="4156472"/>
            <a:ext cx="3325118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631" y="3967609"/>
            <a:ext cx="920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Evaluator bias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63655" y="3967609"/>
            <a:ext cx="1782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reviewers favor themselves?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285631" y="4211985"/>
            <a:ext cx="1166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Sens.</a:t>
            </a:r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Cross-evaluator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213104" y="4211985"/>
            <a:ext cx="14255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after self-removal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9976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7770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PROPOSAL NOVELTY SCORES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61801"/>
            <a:ext cx="8601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Scores Highest? Proposal-Level Mean Novelty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50" y="695176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Proposal-level means averaged across all three evaluators; scores range 1–5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5550" y="1126927"/>
            <a:ext cx="4496098" cy="2970609"/>
          </a:xfrm>
          <a:prstGeom prst="roundRect">
            <a:avLst>
              <a:gd name="adj" fmla="val 2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251" y="1279327"/>
            <a:ext cx="42235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Overall Novelty Score by Author Group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933" y="1558677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50653" y="1498402"/>
            <a:ext cx="3023295" cy="253901"/>
          </a:xfrm>
          <a:prstGeom prst="roundRect">
            <a:avLst>
              <a:gd name="adj" fmla="val 1500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50653" y="1498402"/>
            <a:ext cx="1739801" cy="253901"/>
          </a:xfrm>
          <a:prstGeom prst="roundRect">
            <a:avLst>
              <a:gd name="adj" fmla="val 15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04108" y="156820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933" y="187597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50653" y="1815703"/>
            <a:ext cx="3023295" cy="253901"/>
          </a:xfrm>
          <a:prstGeom prst="roundRect">
            <a:avLst>
              <a:gd name="adj" fmla="val 1500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50653" y="1815703"/>
            <a:ext cx="1524000" cy="253901"/>
          </a:xfrm>
          <a:prstGeom prst="roundRect">
            <a:avLst>
              <a:gd name="adj" fmla="val 15006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88307" y="1885504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933" y="219328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50653" y="2133005"/>
            <a:ext cx="3023295" cy="253901"/>
          </a:xfrm>
          <a:prstGeom prst="roundRect">
            <a:avLst>
              <a:gd name="adj" fmla="val 1500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50653" y="2133005"/>
            <a:ext cx="1676400" cy="253901"/>
          </a:xfrm>
          <a:prstGeom prst="roundRect">
            <a:avLst>
              <a:gd name="adj" fmla="val 15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40707" y="2202805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933" y="2510582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50653" y="2450306"/>
            <a:ext cx="3023295" cy="253901"/>
          </a:xfrm>
          <a:prstGeom prst="roundRect">
            <a:avLst>
              <a:gd name="adj" fmla="val 1500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50653" y="2450306"/>
            <a:ext cx="1879550" cy="253901"/>
          </a:xfrm>
          <a:prstGeom prst="roundRect">
            <a:avLst>
              <a:gd name="adj" fmla="val 15006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43858" y="2520107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45567" y="2767608"/>
            <a:ext cx="5338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70497" y="2767608"/>
            <a:ext cx="5338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895426" y="2767608"/>
            <a:ext cx="5338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20355" y="2767608"/>
            <a:ext cx="5338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45284" y="2767608"/>
            <a:ext cx="5338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5550" y="4199037"/>
            <a:ext cx="4496098" cy="842963"/>
          </a:xfrm>
          <a:prstGeom prst="rect">
            <a:avLst/>
          </a:prstGeom>
          <a:solidFill>
            <a:srgbClr val="EB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74600" y="4199037"/>
            <a:ext cx="0" cy="842963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050" y="4300538"/>
            <a:ext cx="423626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raw scores: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GPT-5.2 proposals receive the highest novelty ratings (3.99), roughly 0.23 points above human proposals (3.76). Claude proposals score lowest (3.40) — about 0.36 points below human proposals. But these raw comparisons are confounded by </a:t>
            </a:r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doing the rating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05549" y="1126927"/>
            <a:ext cx="3682901" cy="2475012"/>
          </a:xfrm>
          <a:prstGeom prst="roundRect">
            <a:avLst>
              <a:gd name="adj" fmla="val 30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83250" y="1266527"/>
            <a:ext cx="339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Proposal-Level Summary Statistics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83250" y="1832967"/>
            <a:ext cx="33274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3250" y="16188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60950" y="1612404"/>
            <a:ext cx="5689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(all)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25536" y="1555254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3.76, SD = 0.27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44854" y="1669554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 proposals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83250" y="2159794"/>
            <a:ext cx="33274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3250" y="194563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60950" y="1939230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Y1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625536" y="1882080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3.64, SD = 0.26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644854" y="1996380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83250" y="2486620"/>
            <a:ext cx="33274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3250" y="227245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60950" y="2266057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Y2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25536" y="2208907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3.90, SD = 0.21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44854" y="2323207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83250" y="2813447"/>
            <a:ext cx="33274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83250" y="259928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60950" y="2592884"/>
            <a:ext cx="8261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25536" y="2535734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3.40, SD = 0.35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44854" y="2650034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83250" y="3140273"/>
            <a:ext cx="33274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3250" y="292611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460950" y="2919710"/>
            <a:ext cx="6424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625536" y="2862560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3.66, SD = 0.30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44854" y="2976860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283250" y="325293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60950" y="3246537"/>
            <a:ext cx="4100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625536" y="3189387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3.99, SD = 0.24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644854" y="3303687"/>
            <a:ext cx="98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105549" y="3716238"/>
            <a:ext cx="3682901" cy="1278880"/>
          </a:xfrm>
          <a:prstGeom prst="roundRect">
            <a:avLst>
              <a:gd name="adj" fmla="val 5958"/>
            </a:avLst>
          </a:prstGeom>
          <a:solidFill>
            <a:srgbClr val="FDF2E9"/>
          </a:solidFill>
          <a:ln/>
          <a:effectLst>
            <a:outerShdw sx="100000" sy="100000" kx="0" ky="0" algn="bl" rotWithShape="0" blurRad="3810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283250" y="3855839"/>
            <a:ext cx="339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83250" y="4100215"/>
            <a:ext cx="3394049" cy="75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proposals score highest across all evaluators combined. But evaluators differ dramatically in their absolute leniency — Gemini gives scores ~1 point higher than Claude on average. These raw differences could be driven by evaluator bias, not true proposal quality differences.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201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EVALUATOR DIFFERENCES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23850"/>
            <a:ext cx="86015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 Disagree Substantially — A Confound for Score Comparisons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625376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interpreting who scores highest, we must ask: do evaluators score equally? No.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22152"/>
            <a:ext cx="4991249" cy="1339602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601" y="1149102"/>
            <a:ext cx="4754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Score by Evaluator Model (All 92 Proposals)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0283" y="1371302"/>
            <a:ext cx="1036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(evaluator)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38002" y="1377702"/>
            <a:ext cx="3543746" cy="215801"/>
          </a:xfrm>
          <a:prstGeom prst="roundRect">
            <a:avLst>
              <a:gd name="adj" fmla="val 1765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38002" y="1377702"/>
            <a:ext cx="2108150" cy="215801"/>
          </a:xfrm>
          <a:prstGeom prst="roundRect">
            <a:avLst>
              <a:gd name="adj" fmla="val 17655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47455" y="1418927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0283" y="1688753"/>
            <a:ext cx="1036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(evaluator)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38002" y="1695152"/>
            <a:ext cx="3543746" cy="215801"/>
          </a:xfrm>
          <a:prstGeom prst="roundRect">
            <a:avLst>
              <a:gd name="adj" fmla="val 1765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38002" y="1695152"/>
            <a:ext cx="1752600" cy="215801"/>
          </a:xfrm>
          <a:prstGeom prst="roundRect">
            <a:avLst>
              <a:gd name="adj" fmla="val 17655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91904" y="1736378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0283" y="2006203"/>
            <a:ext cx="1036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(evaluator)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38002" y="2012603"/>
            <a:ext cx="3543746" cy="215801"/>
          </a:xfrm>
          <a:prstGeom prst="roundRect">
            <a:avLst>
              <a:gd name="adj" fmla="val 1765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38002" y="2012603"/>
            <a:ext cx="1409700" cy="215801"/>
          </a:xfrm>
          <a:prstGeom prst="roundRect">
            <a:avLst>
              <a:gd name="adj" fmla="val 17655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49004" y="2053828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5550" y="2463254"/>
            <a:ext cx="4991249" cy="870942"/>
          </a:xfrm>
          <a:prstGeom prst="roundRect">
            <a:avLst>
              <a:gd name="adj" fmla="val 7291"/>
            </a:avLst>
          </a:prstGeom>
          <a:solidFill>
            <a:srgbClr val="EB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4600" y="2463254"/>
            <a:ext cx="0" cy="870942"/>
          </a:xfrm>
          <a:prstGeom prst="line">
            <a:avLst/>
          </a:prstGeom>
          <a:noFill/>
          <a:ln w="38100">
            <a:solidFill>
              <a:srgbClr val="2E7B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050" y="2577554"/>
            <a:ext cx="474131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Kruskal-Wallis Test:</a:t>
            </a:r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 = 122.46, p &lt; 2.6 × 10⁻³³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6050" y="2766715"/>
            <a:ext cx="4741316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evaluators assign systematically different scores. The spread between the most lenient (Gemini, 4.18) and most strict (Claude, 3.18) is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points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larger than the entire human-GPT author group difference.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49950" y="1022152"/>
            <a:ext cx="3238500" cy="1083618"/>
          </a:xfrm>
          <a:prstGeom prst="roundRect">
            <a:avLst>
              <a:gd name="adj" fmla="val 586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69000" y="1022152"/>
            <a:ext cx="0" cy="1083618"/>
          </a:xfrm>
          <a:prstGeom prst="line">
            <a:avLst/>
          </a:prstGeom>
          <a:noFill/>
          <a:ln w="38100">
            <a:solidFill>
              <a:srgbClr val="F1C4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0450" y="1136452"/>
            <a:ext cx="2953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Why This Matters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40450" y="1387227"/>
            <a:ext cx="2953512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evaluator reviews more proposals from a given author group, scores for that group will be artificially inflated. Any comparison between author groups using pooled scores must account for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leniency differences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49950" y="2207270"/>
            <a:ext cx="3238500" cy="1104156"/>
          </a:xfrm>
          <a:prstGeom prst="roundRect">
            <a:avLst>
              <a:gd name="adj" fmla="val 57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15000" y="2334220"/>
            <a:ext cx="2966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Distribution Details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2764185"/>
            <a:ext cx="29083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600771"/>
            <a:ext cx="8566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34386" y="2600771"/>
            <a:ext cx="14167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M=4.18, Mdn=4.25, SD=0.62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2976711"/>
            <a:ext cx="290839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813298"/>
            <a:ext cx="8935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34386" y="2813298"/>
            <a:ext cx="14167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M=3.70, Mdn=3.70, SD=0.30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15000" y="3025825"/>
            <a:ext cx="850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evaluator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34386" y="3025825"/>
            <a:ext cx="14167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M=3.18, Mdn=3.00, SD=0.40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49950" y="3412927"/>
            <a:ext cx="3238500" cy="1231404"/>
          </a:xfrm>
          <a:prstGeom prst="roundRect">
            <a:avLst>
              <a:gd name="adj" fmla="val 5157"/>
            </a:avLst>
          </a:prstGeom>
          <a:solidFill>
            <a:srgbClr val="EBF4FB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15000" y="3539877"/>
            <a:ext cx="2966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Tells Us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15000" y="3762077"/>
            <a:ext cx="2966567" cy="75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is systematically lenient; Claude is strict; GPT falls between with very low variance (SD=0.30). These tendencies distort author-group comparisons unless controlled via cross-evaluator designs or regression adjustments.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201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SELF-PREFERENCE BIAS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23850"/>
            <a:ext cx="86015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AI Evaluators Favor Their Own Proposals?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625376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scores each evaluator gives to proposals it authored vs. proposals from others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22152"/>
            <a:ext cx="5181749" cy="63490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21577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358652"/>
            <a:ext cx="777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Self-deprecates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96901" y="1136452"/>
            <a:ext cx="12650" cy="406301"/>
          </a:xfrm>
          <a:prstGeom prst="rect">
            <a:avLst/>
          </a:prstGeom>
          <a:solidFill>
            <a:srgbClr val="E0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36502" y="1136452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7341" y="1187202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7341" y="1396752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87327" y="1282452"/>
            <a:ext cx="13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93305" y="1136452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04145" y="1187202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04145" y="1396752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29274" y="1160413"/>
            <a:ext cx="955625" cy="155377"/>
          </a:xfrm>
          <a:prstGeom prst="roundRect">
            <a:avLst>
              <a:gd name="adj" fmla="val 24521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18124" y="1185714"/>
            <a:ext cx="7934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−0.535 (large)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29274" y="1353889"/>
            <a:ext cx="955625" cy="164902"/>
          </a:xfrm>
          <a:prstGeom prst="roundRect">
            <a:avLst>
              <a:gd name="adj" fmla="val 23105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18124" y="1379190"/>
            <a:ext cx="793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0.0002 ✓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5550" y="1745903"/>
            <a:ext cx="5181749" cy="63490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950" y="1939528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950" y="2082403"/>
            <a:ext cx="777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bias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96901" y="1860203"/>
            <a:ext cx="12650" cy="406301"/>
          </a:xfrm>
          <a:prstGeom prst="rect">
            <a:avLst/>
          </a:prstGeom>
          <a:solidFill>
            <a:srgbClr val="E0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36502" y="1860203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47341" y="1910953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7341" y="2120503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87327" y="2006203"/>
            <a:ext cx="13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93305" y="1860203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04145" y="1910953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04145" y="2120503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315123" y="1888927"/>
            <a:ext cx="1069777" cy="155377"/>
          </a:xfrm>
          <a:prstGeom prst="roundRect">
            <a:avLst>
              <a:gd name="adj" fmla="val 24521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03973" y="1914227"/>
            <a:ext cx="9099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+0.291 (small)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15123" y="2082403"/>
            <a:ext cx="1069777" cy="155377"/>
          </a:xfrm>
          <a:prstGeom prst="roundRect">
            <a:avLst>
              <a:gd name="adj" fmla="val 24521"/>
            </a:avLst>
          </a:prstGeom>
          <a:solidFill>
            <a:srgbClr val="FDFE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03973" y="2107704"/>
            <a:ext cx="9099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0.044 (marginal)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55550" y="2469654"/>
            <a:ext cx="5181749" cy="673001"/>
          </a:xfrm>
          <a:prstGeom prst="roundRect">
            <a:avLst>
              <a:gd name="adj" fmla="val 9435"/>
            </a:avLst>
          </a:prstGeom>
          <a:solidFill>
            <a:srgbClr val="FFFFFF"/>
          </a:solidFill>
          <a:ln w="19050">
            <a:solidFill>
              <a:srgbClr val="FDEBD0"/>
            </a:solidFill>
          </a:ln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7000" y="2653754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000" y="2796629"/>
            <a:ext cx="777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Self-inflates ⚠️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415951" y="2603004"/>
            <a:ext cx="12650" cy="406301"/>
          </a:xfrm>
          <a:prstGeom prst="rect">
            <a:avLst/>
          </a:prstGeom>
          <a:solidFill>
            <a:srgbClr val="E0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55552" y="2603004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66391" y="2653754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66391" y="2863304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06377" y="2749004"/>
            <a:ext cx="13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12355" y="2603004"/>
            <a:ext cx="574625" cy="406301"/>
          </a:xfrm>
          <a:prstGeom prst="roundRect">
            <a:avLst>
              <a:gd name="adj" fmla="val 12503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523195" y="2653754"/>
            <a:ext cx="35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523195" y="2863304"/>
            <a:ext cx="352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410224" y="2626965"/>
            <a:ext cx="955625" cy="155377"/>
          </a:xfrm>
          <a:prstGeom prst="roundRect">
            <a:avLst>
              <a:gd name="adj" fmla="val 24521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499074" y="2652266"/>
            <a:ext cx="7934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+0.635 (large)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410224" y="2820442"/>
            <a:ext cx="955625" cy="164902"/>
          </a:xfrm>
          <a:prstGeom prst="roundRect">
            <a:avLst>
              <a:gd name="adj" fmla="val 23105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499074" y="2845743"/>
            <a:ext cx="793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0.00002 ✓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40450" y="1022152"/>
            <a:ext cx="3048000" cy="116205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92850" y="1149102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Asymmetry Problem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92850" y="1345853"/>
            <a:ext cx="279806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gives its </a:t>
            </a:r>
            <a:pPr algn="l" indent="0" marL="0">
              <a:lnSpc>
                <a:spcPts val="1120"/>
              </a:lnSpc>
              <a:buNone/>
            </a:pP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proposals scores 0.32 points higher than others' proposals — a large, significant bias. Claude does the opposite, being harder on itself. These biases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distort the apparent ranking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GPT's edge may partly reflect self-promotion, not genuine novelty.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40450" y="2273052"/>
            <a:ext cx="3048000" cy="116205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92850" y="2400002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Fixed-Effects Regression Confirms Bias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92850" y="2596753"/>
            <a:ext cx="279806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fixed-effects regression controls for proposal quality and evaluator severity, isolating the pure self/other effect. Even after these controls, GPT shows a net self-preference of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+0.33 points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proposal — a real evaluator bias, not a proxy for GPT proposals being objectively better.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40450" y="3523952"/>
            <a:ext cx="3048000" cy="1019770"/>
          </a:xfrm>
          <a:prstGeom prst="roundRect">
            <a:avLst>
              <a:gd name="adj" fmla="val 6227"/>
            </a:avLst>
          </a:prstGeom>
          <a:solidFill>
            <a:srgbClr val="FEF9E7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5749975" y="3523952"/>
            <a:ext cx="0" cy="1019770"/>
          </a:xfrm>
          <a:prstGeom prst="line">
            <a:avLst/>
          </a:prstGeom>
          <a:noFill/>
          <a:ln w="19050">
            <a:solidFill>
              <a:srgbClr val="F1C40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11900" y="3650903"/>
            <a:ext cx="27786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BH-FDR Corrected p-values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11900" y="3847654"/>
            <a:ext cx="2778633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significance tests use Benjamini-Hochberg false discovery rate correction (q-values). Claude and GPT biases survive multiple comparisons correction; Gemini's marginal result (q=0.044) requires caution.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201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CRITERION-LEVEL SELF-PREFERENCE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23850"/>
            <a:ext cx="86015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Self-Preference Concentrate? A Criterion Breakdown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625376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Self-preference delta (self score − others score) by evaluator and novelty criterion; positive = favors own proposals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22152"/>
            <a:ext cx="5435798" cy="3994398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601" y="1149102"/>
            <a:ext cx="5207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Self-Preference Delta by Criterion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0601" y="3202484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3001" y="3212009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inflates (large)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543348" y="3202484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95748" y="3212009"/>
            <a:ext cx="917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deflates (large)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6319" y="3202484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8719" y="3212009"/>
            <a:ext cx="5440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positive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83620" y="3202484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6020" y="3212009"/>
            <a:ext cx="5794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negative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94499" y="1022152"/>
            <a:ext cx="2793950" cy="116205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6899" y="114910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Is Consistent Across All Criteria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46899" y="1345853"/>
            <a:ext cx="2538933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GPT-5.2's self-inflation appears on all six criteria, strongest on "Unique Knowledge Generation" (+0.72) and "Beyond State of the Art" (+0.67). This is a systematic evaluative stance, not a criterion-specific quirk.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94499" y="2285702"/>
            <a:ext cx="2793950" cy="12954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46899" y="2412653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Self-Deprecation Is Equally Systematic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6899" y="2742754"/>
            <a:ext cx="2538933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consistently harder on its own proposals across all dimensions. Its strictest criterion is "Unique Knowledge Generation" (−0.60) — the very one where GPT most strongly inflates. Opposite biases amplify the apparent GPT–Claude gap.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94499" y="3682603"/>
            <a:ext cx="2793950" cy="1019770"/>
          </a:xfrm>
          <a:prstGeom prst="roundRect">
            <a:avLst>
              <a:gd name="adj" fmla="val 6227"/>
            </a:avLst>
          </a:prstGeom>
          <a:solidFill>
            <a:srgbClr val="EAFAF1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04024" y="3682603"/>
            <a:ext cx="0" cy="101977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5949" y="3809554"/>
            <a:ext cx="2519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Implication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5949" y="4006304"/>
            <a:ext cx="2519502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cross-evaluator asymmetries inflate the GPT–Claude gap in any pooled analysis. Removing self-evaluations is essential before comparing author groups.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201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· CROSS-EVALUATOR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323850"/>
            <a:ext cx="86015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Bias-Corrected Scores: Removing Self-Evaluations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625376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AI-authored proposals, self-evaluations are excluded — each AI proposal rated by 2 cross-evaluators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22152"/>
            <a:ext cx="5181749" cy="1316682"/>
          </a:xfrm>
          <a:prstGeom prst="roundRect">
            <a:avLst>
              <a:gd name="adj" fmla="val 48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601" y="1149102"/>
            <a:ext cx="494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Cross-Evaluator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0601" y="1579066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601" y="1415653"/>
            <a:ext cx="1242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Self-evaluations removed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70264" y="1415653"/>
            <a:ext cx="4100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0601" y="1791593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601" y="1628180"/>
            <a:ext cx="9299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reviews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66072" y="1628180"/>
            <a:ext cx="618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reviews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0601" y="2004120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601" y="1840706"/>
            <a:ext cx="21231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proposals: cross-evaluators per proposal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70524" y="1840706"/>
            <a:ext cx="7157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(cross only)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0601" y="2053233"/>
            <a:ext cx="20742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proposals: evaluators per proposal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4657" y="2053233"/>
            <a:ext cx="752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(unchanged)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5550" y="2440335"/>
            <a:ext cx="5181749" cy="2576215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0601" y="2567285"/>
            <a:ext cx="494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Cross-Evaluator Results: Human vs. AI Author Groups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601" y="3022848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601" y="285303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8302" y="2846636"/>
            <a:ext cx="15172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(all) — reference group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49279" y="2846636"/>
            <a:ext cx="431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3.76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0601" y="3365748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601" y="314354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F8C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8302" y="3137148"/>
            <a:ext cx="8261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45020" y="3084761"/>
            <a:ext cx="1327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significantly different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45020" y="3199061"/>
            <a:ext cx="13272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≈ 0, q &gt; 0.05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0601" y="3708648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601" y="348644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8302" y="3480048"/>
            <a:ext cx="1064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 Preview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60813" y="3427661"/>
            <a:ext cx="911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Marginally higher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60813" y="3541961"/>
            <a:ext cx="911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0.032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20601" y="4061073"/>
            <a:ext cx="4851648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0601" y="383411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8302" y="3827711"/>
            <a:ext cx="4100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50755" y="3770561"/>
            <a:ext cx="1021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higher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50755" y="3884861"/>
            <a:ext cx="1021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−0.87, q &lt; 0.001 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0601" y="418177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8302" y="4175373"/>
            <a:ext cx="852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Y1 vs. Y2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37093" y="4122986"/>
            <a:ext cx="10351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Y1=3.31, Y2=3.48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37093" y="4237286"/>
            <a:ext cx="1035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40450" y="1022152"/>
            <a:ext cx="3048000" cy="1469827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05500" y="1149102"/>
            <a:ext cx="2772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Advantage: Before vs. After Self-Removal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3942" y="1371302"/>
            <a:ext cx="11789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(ALL EVALS)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05500" y="1526828"/>
            <a:ext cx="1155799" cy="495300"/>
          </a:xfrm>
          <a:prstGeom prst="roundRect">
            <a:avLst>
              <a:gd name="adj" fmla="val 102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97473" y="1603028"/>
            <a:ext cx="9718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vs. Human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997473" y="1707803"/>
            <a:ext cx="971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−0.72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97473" y="1841153"/>
            <a:ext cx="9718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&lt; 0.001 ✓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162800" y="157757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56042" y="1371302"/>
            <a:ext cx="11789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CROSS-EVAL ONLY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467600" y="1526828"/>
            <a:ext cx="1155799" cy="495300"/>
          </a:xfrm>
          <a:prstGeom prst="roundRect">
            <a:avLst>
              <a:gd name="adj" fmla="val 102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559573" y="1603028"/>
            <a:ext cx="9718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vs. Human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559573" y="1707803"/>
            <a:ext cx="971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−0.87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59573" y="1841153"/>
            <a:ext cx="9718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&lt; 0.001 ✓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905500" y="2098328"/>
            <a:ext cx="27722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GPT advantage grows slightly after self-removal — cross-evaluators rate GPT proposals highly, not just GPT itself.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740450" y="2593479"/>
            <a:ext cx="3048000" cy="2423071"/>
          </a:xfrm>
          <a:prstGeom prst="roundRect">
            <a:avLst>
              <a:gd name="adj" fmla="val 2621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759500" y="2593479"/>
            <a:ext cx="0" cy="2423071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30950" y="2707779"/>
            <a:ext cx="27592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30950" y="2891879"/>
            <a:ext cx="2759202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correcting for self-preference bias,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proposals still score significantly higher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human proposals (δ = −0.87). Self-inflation exaggerated but did not create this effect. Claude proposals become indistinguishable from humans; Gemini shows only a marginal advantage.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66551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50" y="418951"/>
            <a:ext cx="86015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Together: A Coherent Story on AI Novelty Review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55550" y="774502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findings that complement each other — the full picture requires holding all four at once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5550" y="1180802"/>
            <a:ext cx="1965424" cy="281032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601" y="1333202"/>
            <a:ext cx="166803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2E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0601" y="1591121"/>
            <a:ext cx="1635323" cy="19050"/>
          </a:xfrm>
          <a:prstGeom prst="roundRect">
            <a:avLst>
              <a:gd name="adj" fmla="val 66667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0601" y="1711672"/>
            <a:ext cx="1668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Scores Favor GPT-5.2 Proposals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0601" y="2107853"/>
            <a:ext cx="1668030" cy="125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proposals receive the highest overall novelty scores (M=3.99), above human proposals (M=3.76) and Claude proposals (M=3.40). On raw numbers, AI proposals — especially GPT's — appear more novel to AI reviewers.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98675" y="1180802"/>
            <a:ext cx="1965424" cy="281032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3726" y="1333202"/>
            <a:ext cx="166803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63726" y="1591121"/>
            <a:ext cx="1635323" cy="19050"/>
          </a:xfrm>
          <a:prstGeom prst="roundRect">
            <a:avLst>
              <a:gd name="adj" fmla="val 66667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63726" y="1711672"/>
            <a:ext cx="1668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Evaluators Differ Dramatically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63726" y="2107853"/>
            <a:ext cx="1668030" cy="125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1-point spread exists between the most lenient (Gemini, M=4.18) and strictest (Claude, M=3.18) evaluators — larger than the entire human-GPT score gap. Raw comparisons are confounded by who is doing the rating.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41800" y="1180802"/>
            <a:ext cx="1965424" cy="281032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6851" y="1333202"/>
            <a:ext cx="166803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6851" y="1591121"/>
            <a:ext cx="1635323" cy="19050"/>
          </a:xfrm>
          <a:prstGeom prst="roundRect">
            <a:avLst>
              <a:gd name="adj" fmla="val 6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6851" y="1711672"/>
            <a:ext cx="1668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Self-Preference Amplifies the Pattern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6851" y="2107853"/>
            <a:ext cx="1668030" cy="109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inflates its own proposals (+0.32 pts, large effect); Claude deflates its own (−0.40 pts, large effect). These opposing biases artificially widen the apparent GPT–Claude quality gap across all six novelty criteria.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84925" y="1180802"/>
            <a:ext cx="2003524" cy="2810321"/>
          </a:xfrm>
          <a:prstGeom prst="roundRect">
            <a:avLst>
              <a:gd name="adj" fmla="val 3803"/>
            </a:avLst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69026" y="1352252"/>
            <a:ext cx="166803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69026" y="1610171"/>
            <a:ext cx="1635323" cy="19050"/>
          </a:xfrm>
          <a:prstGeom prst="roundRect">
            <a:avLst>
              <a:gd name="adj" fmla="val 6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69026" y="1730722"/>
            <a:ext cx="1668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Advantage Is Real, But Smaller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69026" y="2126903"/>
            <a:ext cx="1668030" cy="125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removing self-evaluations, GPT-5.2 proposals still score significantly higher than human proposals (δ=−0.87, p&lt;0.001). The bias amplified but did not fabricate this effect. Claude proposals become indistinguishable from humans.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5550" y="4245025"/>
            <a:ext cx="8432899" cy="771525"/>
          </a:xfrm>
          <a:prstGeom prst="roundRect">
            <a:avLst>
              <a:gd name="adj" fmla="val 8230"/>
            </a:avLst>
          </a:prstGeom>
          <a:solidFill>
            <a:srgbClr val="2E7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2476" y="4359325"/>
            <a:ext cx="823904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Picture:</a:t>
            </a:r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evaluators reveal genuine differences in how AI-authored vs. human-authored proposals articulate novelty — but those evaluators are themselves biased. Trustworthy AI review requires cross-evaluator designs that neutralize self-preference, plus awareness that evaluator leniency can swamp any author-group signal.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Novelty Reviews of AI vs. Human Research Proposals</dc:title>
  <dc:subject>Part IV Quality Analysis — Style-Controlled Condition</dc:subject>
  <dc:creator>PptxGenJS</dc:creator>
  <cp:lastModifiedBy>PptxGenJS</cp:lastModifiedBy>
  <cp:revision>1</cp:revision>
  <dcterms:created xsi:type="dcterms:W3CDTF">2026-04-19T19:56:06Z</dcterms:created>
  <dcterms:modified xsi:type="dcterms:W3CDTF">2026-04-19T19:56:06Z</dcterms:modified>
</cp:coreProperties>
</file>