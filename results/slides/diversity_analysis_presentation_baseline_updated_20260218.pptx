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4" r:id="rId7"/>
    <p:sldId id="291" r:id="rId8"/>
    <p:sldId id="259" r:id="rId9"/>
    <p:sldId id="260" r:id="rId10"/>
    <p:sldId id="261" r:id="rId11"/>
    <p:sldId id="262" r:id="rId12"/>
    <p:sldId id="273" r:id="rId13"/>
    <p:sldId id="266" r:id="rId14"/>
    <p:sldId id="267" r:id="rId15"/>
    <p:sldId id="268" r:id="rId16"/>
    <p:sldId id="269" r:id="rId17"/>
    <p:sldId id="270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2" r:id="rId3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E50"/>
    <a:srgbClr val="E8505B"/>
    <a:srgbClr val="87929C"/>
    <a:srgbClr val="EA728A"/>
    <a:srgbClr val="8E44AD"/>
    <a:srgbClr val="FFBA66"/>
    <a:srgbClr val="B2B2B2"/>
    <a:srgbClr val="2E86AB"/>
    <a:srgbClr val="16A0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2715870583107"/>
          <c:y val="0.064708849548914"/>
          <c:w val="0.785854131807253"/>
          <c:h val="0.8061087562607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Cliff's Delta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D6D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rgbClr val="2C3E5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All AI</c:v>
                </c:pt>
                <c:pt idx="1">
                  <c:v>Claude</c:v>
                </c:pt>
                <c:pt idx="2">
                  <c:v>Gemini</c:v>
                </c:pt>
                <c:pt idx="3">
                  <c:v>GPT-5.2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-0.29</c:v>
                </c:pt>
                <c:pt idx="1">
                  <c:v>0.248</c:v>
                </c:pt>
                <c:pt idx="2">
                  <c:v>-0.726</c:v>
                </c:pt>
                <c:pt idx="3">
                  <c:v>-1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-1.1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Arial" panose="020B0604020202090204"/>
                  </a:rPr>
                  <a:t>Cliff's Delta</a:t>
                </a:r>
                <a:endParaRPr sz="800" b="0" i="0" u="none" strike="noStrike">
                  <a:solidFill>
                    <a:srgbClr val="000000"/>
                  </a:solidFill>
                  <a:latin typeface="Arial" panose="020B060402020209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00314f2-4890-4587-9a79-4da99555cb1d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9941685099538"/>
          <c:y val="0.0775091089764823"/>
          <c:w val="0.76951538306857"/>
          <c:h val="0.781649552832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Distance to Centroid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D6D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rgbClr val="2C3E5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Human</c:v>
                </c:pt>
                <c:pt idx="1">
                  <c:v>Claude</c:v>
                </c:pt>
                <c:pt idx="2">
                  <c:v>Gemini</c:v>
                </c:pt>
                <c:pt idx="3">
                  <c:v>GPT-5.2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0.032</c:v>
                </c:pt>
                <c:pt idx="1">
                  <c:v>0.179</c:v>
                </c:pt>
                <c:pt idx="2">
                  <c:v>0.047</c:v>
                </c:pt>
                <c:pt idx="3">
                  <c:v>0.01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Arial" panose="020B0604020202090204"/>
                  </a:rPr>
                  <a:t>Mean Cosine Distance</a:t>
                </a:r>
                <a:endParaRPr sz="800" b="0" i="0" u="none" strike="noStrike">
                  <a:solidFill>
                    <a:srgbClr val="000000"/>
                  </a:solidFill>
                  <a:latin typeface="Arial" panose="020B060402020209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67fba64-100b-4f7a-a812-74a825e9161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5020" y="1302752"/>
            <a:ext cx="7772400" cy="857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800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Comparing Diversity, Novelty, and Quality </a:t>
            </a:r>
            <a:endParaRPr lang="en-US" sz="2800" dirty="0">
              <a:solidFill>
                <a:srgbClr val="1B2A4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2800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of AI vs Human Research Proposals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2436763"/>
            <a:ext cx="777240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00"/>
              </a:spcAft>
              <a:buNone/>
            </a:pPr>
            <a:r>
              <a:rPr lang="en-US" sz="1600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Embedding-Based Comparison Using BioLinkBERT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979688"/>
            <a:ext cx="1015901" cy="38100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3525738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Study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79277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180802"/>
            <a:ext cx="507950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307654"/>
            <a:ext cx="3951021" cy="5598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do AI-generated research proposals compare to human-written proposals in diversity, novelty, quality, and thematic content when responding to the same funding call?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950" y="1943745"/>
            <a:ext cx="3951021" cy="5598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 compare 23 human proposals and 69 AI proposals (from three frontier models) for the NSF NCEMS call, using embedding-based analyses across three dimensions: internal diversity, novelty relative to published literature, and thematic/cluster composition.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833737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3135263"/>
            <a:ext cx="507950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6035" y="3288149"/>
            <a:ext cx="3873550" cy="743843"/>
          </a:xfrm>
          <a:prstGeom prst="rect">
            <a:avLst/>
          </a:prstGeom>
          <a:solidFill>
            <a:srgbClr val="FD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3312914"/>
            <a:ext cx="0" cy="743843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50" y="3414415"/>
            <a:ext cx="3601263" cy="355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8450" y="3795266"/>
            <a:ext cx="360126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proposals (written by top scientists in MCB domain)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4209157"/>
            <a:ext cx="3873550" cy="743843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4209157"/>
            <a:ext cx="0" cy="74384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450" y="4310658"/>
            <a:ext cx="3601263" cy="355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8450" y="4691509"/>
            <a:ext cx="360126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proposals (23 per model)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5840" y="3633272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Models Tested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2500" y="1180802"/>
            <a:ext cx="507950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81550" y="1383854"/>
            <a:ext cx="0" cy="58385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5840" y="4038689"/>
            <a:ext cx="3601263" cy="195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Opus 4.5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2500" y="2145506"/>
            <a:ext cx="3873550" cy="583853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81550" y="2171700"/>
            <a:ext cx="635" cy="111760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5840" y="4268212"/>
            <a:ext cx="3601263" cy="195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E44A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 3 Pro Preview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5840" y="4512975"/>
            <a:ext cx="3601263" cy="195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67E2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62500" y="878522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81550" y="3928963"/>
            <a:ext cx="507950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72050" y="1345634"/>
            <a:ext cx="3951021" cy="3732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All models received the same funding call and evaluation criteria. All analyses use BioLinkBERT embeddings with non-parametric statistical tests.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72050" y="2045335"/>
            <a:ext cx="3950970" cy="1358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spans four parts: </a:t>
            </a:r>
            <a:endParaRPr lang="en-US" sz="10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(1) Diversity via pairwise, centroid, and nearest-neighbor metrics; </a:t>
            </a:r>
            <a:endParaRPr lang="en-US" sz="10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(2) Novelty via distance to a PubMed literature corpus; </a:t>
            </a:r>
            <a:endParaRPr lang="en-US" sz="10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(3) Thematic separation via topic modeling and cluster analysis. </a:t>
            </a:r>
            <a:endParaRPr lang="en-US" sz="10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(4) Stylistic comparison and regularization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Embedding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315" y="1104445"/>
            <a:ext cx="507950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180000"/>
            <a:ext cx="3951021" cy="340000"/>
          </a:xfrm>
          <a:prstGeom prst="roundRect">
            <a:avLst>
              <a:gd name="adj" fmla="val 3000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257470"/>
            <a:ext cx="0" cy="34000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8450" y="1200000"/>
            <a:ext cx="3700000" cy="1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BioLinkBERT-large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8500" y="1404620"/>
            <a:ext cx="387350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340M-param biomedical model pretrained on PubMed with citation links. Encodes each proposal as a 1024-dim vector (400-word overlapping chunks, averaged).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7000" y="1785105"/>
            <a:ext cx="0" cy="24000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500" y="1786255"/>
            <a:ext cx="3505200" cy="1295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Cosine distance in 1024-dim space for all metrics. </a:t>
            </a:r>
            <a:r>
              <a:rPr lang="en-US" sz="8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Proposal-level inference: Mann-Whitney U, Cliff’s delta, permutation tests (10K), bootstrap 95% CIs, and Holm correction for model-wise comparisons.</a:t>
            </a:r>
            <a:endParaRPr lang="en-US" sz="800" b="1" dirty="0"/>
          </a:p>
        </p:txBody>
      </p:sp>
      <p:sp>
        <p:nvSpPr>
          <p:cNvPr id="13" name="Text 11"/>
          <p:cNvSpPr/>
          <p:nvPr/>
        </p:nvSpPr>
        <p:spPr>
          <a:xfrm>
            <a:off x="527000" y="2289570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Metric Definitions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6365" y="2514805"/>
            <a:ext cx="507950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27050" y="2590165"/>
            <a:ext cx="1764030" cy="635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415" y="2649855"/>
            <a:ext cx="188468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Diversity </a:t>
            </a:r>
            <a:endParaRPr lang="en-US" sz="900" b="1" dirty="0">
              <a:solidFill>
                <a:srgbClr val="E8505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6415" y="2882900"/>
            <a:ext cx="1764665" cy="1857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different are proposals from each other within the same group and between groups?</a:t>
            </a:r>
            <a:endParaRPr lang="en-US" sz="800" dirty="0">
              <a:solidFill>
                <a:srgbClr val="E8505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Measured by cosine distances between proposal embeddings. Three complementary lenses: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71450" indent="-171450" algn="l">
              <a:lnSpc>
                <a:spcPts val="1050"/>
              </a:lnSpc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pairwise distances (all pairs)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71450" indent="-171450" algn="l">
              <a:lnSpc>
                <a:spcPts val="1050"/>
              </a:lnSpc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centroid dispersion (distance to group center)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71450" indent="-171450" algn="l">
              <a:lnSpc>
                <a:spcPts val="1050"/>
              </a:lnSpc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nearest-neighbor analysis (closest proposal in the combined space of all groups). 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82545" y="2585720"/>
            <a:ext cx="1791970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2545" y="2656205"/>
            <a:ext cx="1678305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</a:t>
            </a:r>
            <a:endParaRPr lang="en-US" sz="900" b="1" dirty="0">
              <a:solidFill>
                <a:srgbClr val="2E86A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82545" y="2896235"/>
            <a:ext cx="1678305" cy="20154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far are proposals from </a:t>
            </a:r>
            <a:r>
              <a:rPr lang="en-US" sz="800" b="1" dirty="0">
                <a:solidFill>
                  <a:srgbClr val="2E86AB"/>
                </a:solidFill>
                <a:latin typeface="Arial Bold" panose="020B0604020202090204" charset="0"/>
                <a:ea typeface="Arial" panose="020B0604020202090204" pitchFamily="34" charset="-122"/>
                <a:cs typeface="Arial Bold" panose="020B0604020202090204" charset="0"/>
              </a:rPr>
              <a:t>what already exists in the scientific literature</a:t>
            </a:r>
            <a:r>
              <a:rPr lang="en-US" sz="800" b="1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?</a:t>
            </a:r>
            <a:r>
              <a:rPr lang="en-US" sz="800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endParaRPr lang="en-US" sz="800" dirty="0">
              <a:solidFill>
                <a:srgbClr val="2E86A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Measured as mean cosine distance from each proposal to its 10 nearest neighbors in a corpus of 350 PubMed articles. Higher = more novel.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Crucially different from diversity: a group can be internally diverse but still close to published work, or internally homogeneous but exploring genuinely new territory.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55820" y="2581275"/>
            <a:ext cx="1884680" cy="63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5820" y="2656205"/>
            <a:ext cx="176403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Thematic &amp; Stylistic Separation </a:t>
            </a:r>
            <a:endParaRPr lang="en-US" sz="900" b="1" dirty="0">
              <a:solidFill>
                <a:srgbClr val="16A085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55820" y="2896235"/>
            <a:ext cx="1764030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6A08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 human and AI proposals occupy the same conceptual regions (based on topics and styles)? </a:t>
            </a:r>
            <a:endParaRPr lang="en-US" sz="800" dirty="0">
              <a:solidFill>
                <a:srgbClr val="16A085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LDA topic modeling identifies latent themes;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Gaussian Mixture Model clustering groups proposals by embedding similarity. Tests whether sources are segregated or intermingled.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Stylistic feature separation between groups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endParaRPr lang="en-US" sz="800" dirty="0"/>
          </a:p>
        </p:txBody>
      </p:sp>
      <p:sp>
        <p:nvSpPr>
          <p:cNvPr id="44" name="Shape 22"/>
          <p:cNvSpPr/>
          <p:nvPr/>
        </p:nvSpPr>
        <p:spPr>
          <a:xfrm>
            <a:off x="6863080" y="2571115"/>
            <a:ext cx="1884680" cy="635"/>
          </a:xfrm>
          <a:prstGeom prst="line">
            <a:avLst/>
          </a:prstGeom>
          <a:noFill/>
          <a:ln w="38100" cap="flat" cmpd="sng">
            <a:solidFill>
              <a:schemeClr val="accent2"/>
            </a:solidFill>
            <a:prstDash val="solid"/>
            <a:headEnd type="none"/>
            <a:tailEnd type="none"/>
          </a:ln>
        </p:spPr>
      </p:sp>
      <p:sp>
        <p:nvSpPr>
          <p:cNvPr id="45" name="Text 23"/>
          <p:cNvSpPr/>
          <p:nvPr/>
        </p:nvSpPr>
        <p:spPr>
          <a:xfrm>
            <a:off x="6877050" y="2658745"/>
            <a:ext cx="176403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Quality</a:t>
            </a:r>
            <a:endParaRPr lang="en-US" sz="900" b="1" dirty="0">
              <a:solidFill>
                <a:schemeClr val="accent2">
                  <a:lumMod val="75000"/>
                </a:scheme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6" name="Text 24"/>
          <p:cNvSpPr/>
          <p:nvPr/>
        </p:nvSpPr>
        <p:spPr>
          <a:xfrm>
            <a:off x="6877050" y="2896235"/>
            <a:ext cx="1764030" cy="1623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 human and AI proposals exhibit same level of quality?</a:t>
            </a:r>
            <a:endParaRPr lang="en-US" sz="800" dirty="0">
              <a:solidFill>
                <a:schemeClr val="accent2">
                  <a:lumMod val="75000"/>
                </a:scheme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domain experts reviewed all human proposals and provided qualitative reviews;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reviewed all proposals with same criteria and requirements;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Compared similarity between AI and human reviews to check whether AI reviews are valid proxy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39395" y="853827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Overview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9395" y="1098730"/>
            <a:ext cx="507950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39395" y="2242185"/>
            <a:ext cx="1764030" cy="1786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Pairwise diversity (descriptive): all n(n−1)/2 within-group pairs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Centroid dispersion — distance from each proposal to group mean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Nearest-neighbor — closest proposal in combined 92-proposal space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Embedding visualization — UMAP 2D projection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94890" y="2242185"/>
            <a:ext cx="1792605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Literature corpus: 350 PubMed articles from 7 search queries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
• Novelty score: mean distance to k=10 nearest neighbors in literature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Compares title+abstract embeddings (fair comparison with abstracts)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Inference framework: proposal-level tests + permutation + bootstrap CI + Holm correction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55465" y="2320925"/>
            <a:ext cx="1903095" cy="429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LDA topic modeling (k=5, strong priors, stability-validated)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Topic distribution: Fisher’s exact tests with FDR correction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GMM clustering (k=3, selected by BIC)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
• Segregation metrics: NMI, ARI, between/within distance ratio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248535" y="762635"/>
            <a:ext cx="4404360" cy="866140"/>
          </a:xfrm>
          <a:prstGeom prst="roundRect">
            <a:avLst>
              <a:gd name="adj" fmla="val 3000"/>
            </a:avLst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400935" y="802675"/>
            <a:ext cx="3600000" cy="1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 these separate analyses?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400935" y="972820"/>
            <a:ext cx="405765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Diversity asks: “Are the ideas varied?” Novelty asks: “Are they new relative to the field?” Thematic analysis asks: “Are they about the same things?” Quality asks: “Are they ‘good’ based on defined metrics?” A model can score high on one and low on another — these dimensions are complementary, not redundant.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9395" y="1851660"/>
            <a:ext cx="1764030" cy="635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8760" y="1911350"/>
            <a:ext cx="188468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Diversity  (Slides 4-7)</a:t>
            </a:r>
            <a:endParaRPr lang="en-US" sz="900" b="1" dirty="0">
              <a:solidFill>
                <a:srgbClr val="E8505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94890" y="1847215"/>
            <a:ext cx="1791970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94890" y="1917700"/>
            <a:ext cx="1678305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(Slides 9-11)</a:t>
            </a:r>
            <a:endParaRPr lang="en-US" sz="900" b="1" dirty="0">
              <a:solidFill>
                <a:srgbClr val="2E86A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68165" y="1842770"/>
            <a:ext cx="1884680" cy="63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63720" y="1920240"/>
            <a:ext cx="176403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Thematic &amp; Style-Controlled (Slides 12-17)</a:t>
            </a:r>
            <a:endParaRPr lang="en-US" sz="900" b="1" dirty="0">
              <a:solidFill>
                <a:srgbClr val="16A085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4" name="Shape 22"/>
          <p:cNvSpPr/>
          <p:nvPr/>
        </p:nvSpPr>
        <p:spPr>
          <a:xfrm>
            <a:off x="6575425" y="1832610"/>
            <a:ext cx="1884680" cy="635"/>
          </a:xfrm>
          <a:prstGeom prst="line">
            <a:avLst/>
          </a:prstGeom>
          <a:noFill/>
          <a:ln w="38100" cap="flat" cmpd="sng">
            <a:solidFill>
              <a:schemeClr val="accent2"/>
            </a:solidFill>
            <a:prstDash val="solid"/>
            <a:headEnd type="none"/>
            <a:tailEnd type="none"/>
          </a:ln>
        </p:spPr>
      </p:sp>
      <p:sp>
        <p:nvSpPr>
          <p:cNvPr id="45" name="Text 23"/>
          <p:cNvSpPr/>
          <p:nvPr/>
        </p:nvSpPr>
        <p:spPr>
          <a:xfrm>
            <a:off x="6589395" y="1920240"/>
            <a:ext cx="176403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Quality (Slide 19-31)</a:t>
            </a:r>
            <a:endParaRPr lang="en-US" sz="900" b="1" dirty="0">
              <a:solidFill>
                <a:schemeClr val="accent2">
                  <a:lumMod val="75000"/>
                </a:scheme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Text 38"/>
          <p:cNvSpPr/>
          <p:nvPr/>
        </p:nvSpPr>
        <p:spPr>
          <a:xfrm>
            <a:off x="6571615" y="2242185"/>
            <a:ext cx="1903095" cy="17551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Compare similarity between AI reviews against human experts reviews (on year 1)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Compare scores of each proposal group by each AI evaluator (gemini, claude, gpt)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Check if there are self-preference bias in AI evaluators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
• Re-score proposals by removing those self-preference bias and compare the scores again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Research Questions, Main Findings, and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One-sentence answers to each RQ from the integrated 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014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53728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D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272778"/>
            <a:ext cx="3937099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350" y="1353728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RQ1 (Diversity): Do AI and human proposals differ in internal diversity?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1510" y="1740535"/>
            <a:ext cx="3700145" cy="5054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Yes. Diversity is model-specific: Claude is most diverse, GPT-5.2 is most homogeneous, and Gemini is intermediate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9000" y="1253490"/>
            <a:ext cx="3937000" cy="92329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98950" y="1272778"/>
            <a:ext cx="3937099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1350" y="1353728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RQ2 (Novelty): Are AI proposals more novel than humans relative to literature?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51350" y="1721053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No. Humans are more novel than pooled AI, and model-level tests show Claude and Gemini remain significantly less novel than humans.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500000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2519050"/>
            <a:ext cx="3937099" cy="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350" y="2600000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RQ3 (Thematic/Stylistic): Are AI and human proposals similar in topic and style?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1460" y="3036540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No. Topic, nearest-neighbor, and cluster analyses all show source (human vs each different AI model)-linked separation, and style adjustment reduces but does not eliminate it.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2500000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98950" y="2519050"/>
            <a:ext cx="3937099" cy="0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1350" y="2600000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RQ4 (Quality): </a:t>
            </a: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 Are AI and human proposals similar in quality?</a:t>
            </a: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51350" y="2780000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8000" y="3966210"/>
            <a:ext cx="8128000" cy="923925"/>
          </a:xfrm>
          <a:prstGeom prst="roundRect">
            <a:avLst>
              <a:gd name="adj" fmla="val 3000"/>
            </a:avLst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1460" y="4100907"/>
            <a:ext cx="7900000" cy="3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Main takeaway: </a:t>
            </a:r>
            <a:r>
              <a:rPr lang="en-US" sz="1000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AI can optimize proposal scores without matching human novelty; model choice creates clear tradeoffs across diversity, novelty, and scored quality.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Next Steps: Add blinded human scoring of AI proposals, fix reviewer-calibration reliability (ICC/rank agreement)</a:t>
            </a:r>
            <a:endParaRPr lang="en-US" sz="1000" b="1" dirty="0">
              <a:solidFill>
                <a:schemeClr val="bg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734560" y="2949575"/>
            <a:ext cx="3901440" cy="915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AI reviews generally align with human expert feedback, but AI judges are less diverse in perspective than human panels. 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Quality is evaluator-sensitive: GPT remains robustly higher than human proposals under controls, Gemini attenuates after self-removal, and Claude is not superior under stricter evaluator settings.</a:t>
            </a:r>
            <a:endParaRPr lang="en-US" sz="9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1: Within-Group Pairwise Diversity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28377"/>
            <a:ext cx="362706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602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8000" y="4769485"/>
            <a:ext cx="4215765" cy="280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Proposal-level pairwise diversity vs Human baseline (one value per proposal).</a:t>
            </a:r>
            <a:r>
              <a:rPr lang="en-US" sz="850" b="1" dirty="0">
                <a:solidFill>
                  <a:srgbClr val="5D6D7E"/>
                </a:solidFill>
                <a:latin typeface="Arial Bold" panose="020B0604020202090204" charset="0"/>
                <a:ea typeface="Arial" panose="020B0604020202090204" pitchFamily="34" charset="-122"/>
                <a:cs typeface="Arial Bold" panose="020B0604020202090204" charset="0"/>
              </a:rPr>
              <a:t>Positive = AI more diverse. </a:t>
            </a:r>
            <a:endParaRPr lang="en-US" sz="850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17802" y="828377"/>
            <a:ext cx="440461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7802" y="1076027"/>
            <a:ext cx="444401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37050" y="1651000"/>
            <a:ext cx="635" cy="623570"/>
          </a:xfrm>
          <a:prstGeom prst="line">
            <a:avLst/>
          </a:prstGeom>
          <a:noFill/>
          <a:ln w="38100">
            <a:solidFill>
              <a:srgbClr val="B2B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2852" y="1659979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Opus 4.5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is the strongest AI source of diversity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2852" y="1867595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diff vs Human: +0.274 (95% CI [0.209, 0.344]); Cliff’s δ = +1.00, p &lt; 1e-8.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36852" y="2376438"/>
            <a:ext cx="0" cy="691158"/>
          </a:xfrm>
          <a:prstGeom prst="line">
            <a:avLst/>
          </a:prstGeom>
          <a:noFill/>
          <a:ln w="38100">
            <a:solidFill>
              <a:srgbClr val="FFB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2852" y="2452638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shows extreme homogeneity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2852" y="2660253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diff vs Human: -0.0445 (95% CI [-0.0486, -0.0408]); Cliff’s δ = -1.00, p &lt; 1e-8.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36852" y="3169096"/>
            <a:ext cx="0" cy="691158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2852" y="3245296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 3 Pro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is not significantly different from Human at proposal level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2852" y="3452912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diff: +0.0304 (95% CI [-0.0014, 0.0907]); Cliff’s δ = +0.30; MW p = 0.083.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36852" y="3961755"/>
            <a:ext cx="0" cy="691158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2852" y="4037955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All AI combined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shows higher proposal-level diversity than Human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2852" y="4245570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Cliff’s δ = +1.00; mean diff +0.107 (95% CI [0.068, 0.150]); Holm-adjusted permutation p = 0.015.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17780" y="2610624"/>
          <a:ext cx="3555950" cy="2158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26" name="Picture 25" descr="pairwise_diversity_by_model"/>
          <p:cNvPicPr>
            <a:picLocks noChangeAspect="1"/>
          </p:cNvPicPr>
          <p:nvPr/>
        </p:nvPicPr>
        <p:blipFill>
          <a:blip r:embed="rId2"/>
          <a:srcRect t="10864" r="52891" b="59988"/>
          <a:stretch>
            <a:fillRect/>
          </a:stretch>
        </p:blipFill>
        <p:spPr>
          <a:xfrm>
            <a:off x="508000" y="1177925"/>
            <a:ext cx="3465830" cy="1499235"/>
          </a:xfrm>
          <a:prstGeom prst="rect">
            <a:avLst/>
          </a:prstGeom>
        </p:spPr>
      </p:pic>
      <p:sp>
        <p:nvSpPr>
          <p:cNvPr id="27" name="Shape 8"/>
          <p:cNvSpPr/>
          <p:nvPr/>
        </p:nvSpPr>
        <p:spPr>
          <a:xfrm>
            <a:off x="4342130" y="1214120"/>
            <a:ext cx="635" cy="34036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29" name="Text 9"/>
          <p:cNvSpPr/>
          <p:nvPr/>
        </p:nvSpPr>
        <p:spPr>
          <a:xfrm>
            <a:off x="4482852" y="1270089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baseline: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mean 0.066; median 0.064; Std 0.018; 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2: Centroid Dispersion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726777"/>
            <a:ext cx="362706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97442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7330" y="4682430"/>
            <a:ext cx="3627069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distance from each proposal to its group centroid. Larger = more spread out from center.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17802" y="828377"/>
            <a:ext cx="440461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7802" y="1076027"/>
            <a:ext cx="444401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802" y="1253579"/>
            <a:ext cx="4318248" cy="691158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41932" y="1633944"/>
            <a:ext cx="0" cy="691158"/>
          </a:xfrm>
          <a:prstGeom prst="line">
            <a:avLst/>
          </a:prstGeom>
          <a:noFill/>
          <a:ln w="38100">
            <a:solidFill>
              <a:srgbClr val="B2B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2852" y="1626324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shows massive dispersion from its centroid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2852" y="1833940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dist: 0.179 vs </a:t>
            </a:r>
            <a:r>
              <a:rPr lang="en-US" sz="850" b="1" dirty="0">
                <a:solidFill>
                  <a:srgbClr val="5D6D7E"/>
                </a:solidFill>
                <a:latin typeface="Arial Bold" panose="020B0604020202090204" charset="0"/>
                <a:ea typeface="Arial" panose="020B0604020202090204" pitchFamily="34" charset="-122"/>
                <a:cs typeface="Arial Bold" panose="020B0604020202090204" charset="0"/>
              </a:rPr>
              <a:t>Human 0.032</a:t>
            </a: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. Cliff's Delta = +0.99 (near-maximum large effect, p &lt; 0.001). Proposals spread widely around center.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17802" y="2135138"/>
            <a:ext cx="4318248" cy="831354"/>
          </a:xfrm>
          <a:prstGeom prst="rect">
            <a:avLst/>
          </a:prstGeom>
          <a:solidFill>
            <a:srgbClr val="FD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40860" y="2296160"/>
            <a:ext cx="1270" cy="581660"/>
          </a:xfrm>
          <a:prstGeom prst="line">
            <a:avLst/>
          </a:prstGeom>
          <a:noFill/>
          <a:ln w="38100">
            <a:solidFill>
              <a:srgbClr val="FFB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2852" y="2289443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is tightly clustered around its centroid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2852" y="2497693"/>
            <a:ext cx="4106772" cy="420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dist: 0.010. Cliff's Delta = -1.00 (p &lt; 0.001). Variance: 0.000005 vs Human 0.00008. Near-zero spread: all proposals essentially the same point in embedding space.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17802" y="3119428"/>
            <a:ext cx="4318248" cy="691158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41932" y="3024178"/>
            <a:ext cx="0" cy="691158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3802" y="3043228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is less dispersed than humans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2852" y="3276878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dist: 0.047; Median 0.0178; SD 0.1348; Cliff's Delta = -0.82 (large effect, p &lt; 0.001). Moderate clustering, though has some high-distance outlier proposals that skewed mean and sd.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17802" y="3771751"/>
            <a:ext cx="4318248" cy="691158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337050" y="3912235"/>
            <a:ext cx="635" cy="54292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2852" y="3910181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All AI combined vs Human: not significant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2852" y="4129861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Cliff's Delta = -0.17, p = 0.22. Claude's high dispersion offsets GPT-5.2's low dispersion, producing a misleading null result when aggregated.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17802" y="4628594"/>
            <a:ext cx="4404613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Consistency:</a:t>
            </a:r>
            <a:r>
              <a:rPr lang="en-US" sz="900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Centroid pattern remains heterogeneous: Claude &gt;&gt; Human ≈ Gemini &gt; GPT-5.2.</a:t>
            </a:r>
            <a:endParaRPr lang="en-US" sz="9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789940" y="2765425"/>
          <a:ext cx="3157855" cy="1917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28" name="Picture 27" descr="centroid_dispersion_by_model"/>
          <p:cNvPicPr>
            <a:picLocks noChangeAspect="1"/>
          </p:cNvPicPr>
          <p:nvPr/>
        </p:nvPicPr>
        <p:blipFill>
          <a:blip r:embed="rId2"/>
          <a:srcRect r="49285" b="5016"/>
          <a:stretch>
            <a:fillRect/>
          </a:stretch>
        </p:blipFill>
        <p:spPr>
          <a:xfrm>
            <a:off x="952500" y="952500"/>
            <a:ext cx="2780665" cy="1925320"/>
          </a:xfrm>
          <a:prstGeom prst="rect">
            <a:avLst/>
          </a:prstGeom>
        </p:spPr>
      </p:pic>
      <p:sp>
        <p:nvSpPr>
          <p:cNvPr id="27" name="Shape 8"/>
          <p:cNvSpPr/>
          <p:nvPr/>
        </p:nvSpPr>
        <p:spPr>
          <a:xfrm>
            <a:off x="4342130" y="1214120"/>
            <a:ext cx="635" cy="34036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29" name="Text 9"/>
          <p:cNvSpPr/>
          <p:nvPr/>
        </p:nvSpPr>
        <p:spPr>
          <a:xfrm>
            <a:off x="4482852" y="1270089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baseline: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Mean 0.032; Median 0.029; Std 0.009; 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7780" y="16119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3: Nearest-Neighbor Outlier Detection 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828377"/>
            <a:ext cx="365075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Outlier Rates (top 10% NN distance)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602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40929"/>
            <a:ext cx="1738759" cy="611832"/>
          </a:xfrm>
          <a:prstGeom prst="roundRect">
            <a:avLst>
              <a:gd name="adj" fmla="val 6227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833711"/>
            <a:ext cx="1738759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094" y="1317129"/>
            <a:ext cx="1566473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13.0%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094" y="1606451"/>
            <a:ext cx="1566473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48210" y="1240929"/>
            <a:ext cx="1738908" cy="611832"/>
          </a:xfrm>
          <a:prstGeom prst="roundRect">
            <a:avLst>
              <a:gd name="adj" fmla="val 6227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348210" y="1833711"/>
            <a:ext cx="1738908" cy="0"/>
          </a:xfrm>
          <a:prstGeom prst="line">
            <a:avLst/>
          </a:prstGeom>
          <a:noFill/>
          <a:ln w="38100">
            <a:solidFill>
              <a:srgbClr val="5D6D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4352" y="1317129"/>
            <a:ext cx="1566624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26.1%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34352" y="1606451"/>
            <a:ext cx="1566624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1928961"/>
            <a:ext cx="1738759" cy="611832"/>
          </a:xfrm>
          <a:prstGeom prst="roundRect">
            <a:avLst>
              <a:gd name="adj" fmla="val 6227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2521744"/>
            <a:ext cx="1738759" cy="0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094" y="2005161"/>
            <a:ext cx="1566473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4.3%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094" y="2294483"/>
            <a:ext cx="1566473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48210" y="1928961"/>
            <a:ext cx="1738908" cy="611832"/>
          </a:xfrm>
          <a:prstGeom prst="roundRect">
            <a:avLst>
              <a:gd name="adj" fmla="val 6227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348210" y="2521744"/>
            <a:ext cx="1738908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34352" y="2005161"/>
            <a:ext cx="1566624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0 %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34352" y="2294483"/>
            <a:ext cx="1566624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85519" y="823297"/>
            <a:ext cx="438093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5519" y="1070947"/>
            <a:ext cx="444401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41019" y="1253579"/>
            <a:ext cx="4295031" cy="691158"/>
          </a:xfrm>
          <a:prstGeom prst="rect">
            <a:avLst/>
          </a:prstGeom>
          <a:solidFill>
            <a:srgbClr val="FD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804569" y="1238339"/>
            <a:ext cx="0" cy="691158"/>
          </a:xfrm>
          <a:prstGeom prst="line">
            <a:avLst/>
          </a:prstGeom>
          <a:noFill/>
          <a:ln w="38100">
            <a:solidFill>
              <a:srgbClr val="FFB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0569" y="1314539"/>
            <a:ext cx="4083091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Claude: high dispersion and high outlier rate are consistent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50460" y="1522095"/>
            <a:ext cx="3500120" cy="280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26.1% outliers aligns with Slide 6: Claude has the largest centroid dispersion, so many proposals fall far from nearest neighbors in global space.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85519" y="2030998"/>
            <a:ext cx="4295031" cy="831354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804569" y="2030998"/>
            <a:ext cx="0" cy="831354"/>
          </a:xfrm>
          <a:prstGeom prst="line">
            <a:avLst/>
          </a:prstGeom>
          <a:noFill/>
          <a:ln w="38100">
            <a:solidFill>
              <a:srgbClr val="B2B2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0569" y="2111643"/>
            <a:ext cx="4083091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GPT-5.2: near-zero NN distances and zero outliers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0460" y="2319020"/>
            <a:ext cx="3500120" cy="420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0% outliers and the smallest NN distances (mean 0.0139). GPT-5.2 proposals are near-identical, so each point has an extremely close same-model neighbor.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41019" y="2979093"/>
            <a:ext cx="4295031" cy="691158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804569" y="2963853"/>
            <a:ext cx="0" cy="691158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0569" y="3040053"/>
            <a:ext cx="4083091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proposals produce genuine outliers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0460" y="3247390"/>
            <a:ext cx="3500120" cy="280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FF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13% outliers. 43.5% have NN from own group; 56.5% NN from AI</a:t>
            </a: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. Humans occupy shared territory but also produce truly unique ideas.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41019" y="3771751"/>
            <a:ext cx="4295031" cy="831354"/>
          </a:xfrm>
          <a:prstGeom prst="rect">
            <a:avLst/>
          </a:prstGeom>
          <a:solidFill>
            <a:srgbClr val="FD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804569" y="3756511"/>
            <a:ext cx="0" cy="83135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0569" y="3832711"/>
            <a:ext cx="4083091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100% of AI proposals' nearest neighbors are other AI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50460" y="4040505"/>
            <a:ext cx="3500120" cy="420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 AI proposal is closest to a human proposal. 95.7% of GPT-5.2 nearest neighbors are within GPT-5.2. This indicates strong source-specific framing differences.</a:t>
            </a:r>
            <a:endParaRPr lang="en-US" sz="850" dirty="0"/>
          </a:p>
        </p:txBody>
      </p:sp>
      <p:sp>
        <p:nvSpPr>
          <p:cNvPr id="43" name="Text 26"/>
          <p:cNvSpPr/>
          <p:nvPr/>
        </p:nvSpPr>
        <p:spPr>
          <a:xfrm>
            <a:off x="423019" y="456654"/>
            <a:ext cx="4083091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chemeClr val="bg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Outliers = </a:t>
            </a:r>
            <a:r>
              <a:rPr lang="en-US" altLang="en-US" sz="950" b="1" dirty="0">
                <a:solidFill>
                  <a:schemeClr val="bg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top 10% largest NN distances across all 92 proposals.</a:t>
            </a:r>
            <a:endParaRPr lang="en-US" altLang="en-US" sz="950" b="1" dirty="0">
              <a:solidFill>
                <a:schemeClr val="bg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pic>
        <p:nvPicPr>
          <p:cNvPr id="44" name="Picture 43" descr="nearest_neighbor_by_mode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" y="2773680"/>
            <a:ext cx="4641215" cy="16389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Embedding Space Visualization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91460" y="803077"/>
            <a:ext cx="333697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UMAP 2D Projection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91460" y="1050727"/>
            <a:ext cx="444401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91460" y="1177528"/>
            <a:ext cx="3336971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92 proposals projected from 1024-dim to 2D. X markers = group centroids. Magenta circles = outliers.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91460" y="1576090"/>
            <a:ext cx="3271540" cy="50021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10510" y="1576090"/>
            <a:ext cx="0" cy="500211"/>
          </a:xfrm>
          <a:prstGeom prst="line">
            <a:avLst/>
          </a:prstGeom>
          <a:noFill/>
          <a:ln w="38100">
            <a:solidFill>
              <a:srgbClr val="FFB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56511" y="1652290"/>
            <a:ext cx="3039130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forms a tight, compact micro-cluster, consistent with very low within-model diversity.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91460" y="2177802"/>
            <a:ext cx="3271540" cy="50021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510510" y="2177802"/>
            <a:ext cx="0" cy="500211"/>
          </a:xfrm>
          <a:prstGeom prst="line">
            <a:avLst/>
          </a:prstGeom>
          <a:noFill/>
          <a:ln w="38100">
            <a:solidFill>
              <a:srgbClr val="B2B2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6511" y="2254002"/>
            <a:ext cx="3039130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proposals occupy multiple regions, including the far-left periphery, and account for many highlighted outliers.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91460" y="2779514"/>
            <a:ext cx="3271540" cy="35168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510510" y="2779514"/>
            <a:ext cx="0" cy="351681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6511" y="2855714"/>
            <a:ext cx="3039130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shows moderate clustering with some spread.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91460" y="3232696"/>
            <a:ext cx="3271540" cy="50021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10510" y="3232696"/>
            <a:ext cx="0" cy="500211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6511" y="3308896"/>
            <a:ext cx="3039130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proposals are distributed throughout the center-right, overlapping with Claude and Gemini.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91460" y="3834408"/>
            <a:ext cx="3271540" cy="50021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510510" y="3834408"/>
            <a:ext cx="0" cy="500211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6511" y="3910608"/>
            <a:ext cx="3039130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Outliers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(magenta) are primarily Claude and Human proposals at the space periphery; GPT-5.2 remains compact with few/no outliers in this view.</a:t>
            </a:r>
            <a:endParaRPr lang="en-US" sz="900" dirty="0"/>
          </a:p>
        </p:txBody>
      </p:sp>
      <p:pic>
        <p:nvPicPr>
          <p:cNvPr id="23" name="Image 0" descr="/Users/eveyhuang/Documents/NICO/human-AI-proposal-comparison/results/figures/embedding_space_2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03077"/>
            <a:ext cx="4825901" cy="3936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Defining Novelty &amp; the Literature Corpus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is novelty measured?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100000"/>
            <a:ext cx="507950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180000"/>
            <a:ext cx="3951021" cy="700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199050"/>
            <a:ext cx="3951021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950" y="1307310"/>
            <a:ext cx="3700000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For each proposal, we find its k=10 nearest neighbors in a reference corpus of published PubMed articles and compute the mean cosine distance. A higher score means the proposal is further from anything previously published — it explores territory that the existing literature does not cover. We embed only the title + abstract of each proposal (not the full text) to ensure a fair comparison with the PubMed abstracts.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8630" y="2627630"/>
            <a:ext cx="395097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does novelty differ from diversity?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9850" y="2885310"/>
            <a:ext cx="1900000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450" y="2977695"/>
            <a:ext cx="1700000" cy="1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Diversity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4150" y="3219135"/>
            <a:ext cx="1700000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Compares proposals to each other within a group. A diverse group produces varied ideas, but those ideas may all be well-known in the literature. Reference: internal (proposals vs. proposals).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9850" y="2885310"/>
            <a:ext cx="190000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1450" y="2977695"/>
            <a:ext cx="1700000" cy="1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34150" y="3219135"/>
            <a:ext cx="1700000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Compares proposals to published literature. A novel proposal explores territory that no published paper covers, regardless of how similar it is to other proposals. Reference: external (proposals vs. PubMed).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8580" y="4257295"/>
            <a:ext cx="3951021" cy="350000"/>
          </a:xfrm>
          <a:prstGeom prst="roundRect">
            <a:avLst>
              <a:gd name="adj" fmla="val 3000"/>
            </a:avLst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0980" y="4297295"/>
            <a:ext cx="37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Implication: A model can be highly diverse (varied output) but low novelty (ideas the field already knows), or low diversity (repetitive) but high novelty (repetitively novel). These are independent dimensions.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62500" y="853827"/>
            <a:ext cx="387355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Reference Literature Corpus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62500" y="1100000"/>
            <a:ext cx="507950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1179830"/>
            <a:ext cx="3700145" cy="2000250"/>
          </a:xfrm>
          <a:prstGeom prst="rect">
            <a:avLst/>
          </a:prstGeom>
        </p:spPr>
      </p:pic>
      <p:sp>
        <p:nvSpPr>
          <p:cNvPr id="24" name="Text 22"/>
          <p:cNvSpPr/>
          <p:nvPr/>
        </p:nvSpPr>
        <p:spPr>
          <a:xfrm>
            <a:off x="4762500" y="3280000"/>
            <a:ext cx="3873550" cy="1120000"/>
          </a:xfrm>
          <a:prstGeom prst="roundRect">
            <a:avLst>
              <a:gd name="adj" fmla="val 3000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81550" y="3470500"/>
            <a:ext cx="0" cy="112000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3000" y="3320000"/>
            <a:ext cx="3600000" cy="1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350 PubMed articles from 7 targeted queries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3000" y="3490000"/>
            <a:ext cx="3600000" cy="8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Emergent properties in molecular/cellular biology (59 articles)
• Mesoscale biology &amp; biomolecular organization (49)
• Biomolecular condensates &amp; phase separation (49)
• Multi-omics data integration (50)
• AI/ML in molecular &amp; cellular biology (59)
• Systems biology &amp; network analysis (44)
• Protein self-assembly &amp; supramolecular organization (40)
Mean abstract length: 1,351 characters. Embedded with BioLinkBERT using same pipeline as proposals.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Analysis: Distance from Existing Literature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= Mean cosine distance to 10 nearest neighbors in a corpus of 350 PubMed articles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014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" y="1202690"/>
            <a:ext cx="4688840" cy="3517265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4850000" y="1253728"/>
            <a:ext cx="3937099" cy="1050000"/>
          </a:xfrm>
          <a:prstGeom prst="roundRect">
            <a:avLst>
              <a:gd name="adj" fmla="val 3645"/>
            </a:avLst>
          </a:prstGeom>
          <a:solidFill>
            <a:srgbClr val="FD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50000" y="1272778"/>
            <a:ext cx="3937099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2400" y="1380679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proposals are more novel than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02400" y="1581299"/>
            <a:ext cx="3704945" cy="5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mean novelty: 0.151 vs AI combined: 0.117 (Cliff’s d = −0.34, medium effect, p = 0.014). Human proposals sit further from published literature, suggesting they draw on less well-trodden ideas.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50000" y="2430000"/>
            <a:ext cx="3937099" cy="76000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50000" y="2449050"/>
            <a:ext cx="3937099" cy="0"/>
          </a:xfrm>
          <a:prstGeom prst="line">
            <a:avLst/>
          </a:prstGeom>
          <a:noFill/>
          <a:ln w="38100">
            <a:solidFill>
              <a:srgbClr val="B2B2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2400" y="2556272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Model-level novelty gaps after corrected model mapping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02400" y="2945265"/>
            <a:ext cx="3704945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Claude: d = −0.40 (p = 0.020), Gemini: d = −0.42 (p = 0.016), GPT-5.2: d = −0.21 (p = 0.219, ns). Pooled AI remains significantly less novel than Human.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50000" y="3625595"/>
            <a:ext cx="3937099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2400" y="3732817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Most vs. least novel proposals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02530" y="3906520"/>
            <a:ext cx="3705225" cy="7594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Most novel human: “Cytokinetic Bottlenecks of Heat Waves” (0.260). Least novel AI: a Gemini antibiotic resistance proposal (0.059), nearly overlapping published work. AI’s lower novelty may reflect reliance on training-data-dominant framings.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in Embedding Space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Proposals (colored) projected alongside 350 PubMed articles (gray) via UMAP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014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0000" y="1253728"/>
            <a:ext cx="3937099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50000" y="1530000"/>
            <a:ext cx="3937099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proposals sit at the periphery of the literature cluster, occupying regions where fewer published articles exist. This aligns with the higher human novelty scores.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55080" y="2152235"/>
            <a:ext cx="3937099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proposals tend to concentrate closer to dense literature regions. Claude and Gemini still show clear novelty gaps vs Human, while GPT-5.2 is closer to Human and not significant in model-level testing.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50000" y="3777280"/>
            <a:ext cx="3704945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Linking diversity and novelty: GPT-5.2’s tight internal cluster maps onto well-published territory. </a:t>
            </a:r>
            <a:endParaRPr lang="en-US" sz="900" dirty="0">
              <a:solidFill>
                <a:srgbClr val="E8505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High internal similarity + low novelty = AI re-deriving the same ideas from training data. </a:t>
            </a:r>
            <a:endParaRPr lang="en-US" sz="900" dirty="0">
              <a:solidFill>
                <a:srgbClr val="E8505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Claude’s spread extends into less-charted space, but model-level novelty remains below Human.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50000" y="2983935"/>
            <a:ext cx="3937099" cy="5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Interpretation caveat: UMAP projections can distort distances. The quantitative novelty scores (slide 10) are the primary evidence; this visualization serves as a qualitative consistency check. Proposals near literature ≠ low quality, and distance from literature could also indicate incoherence.</a:t>
            </a:r>
            <a:endParaRPr lang="en-US" sz="850" dirty="0"/>
          </a:p>
        </p:txBody>
      </p:sp>
      <p:pic>
        <p:nvPicPr>
          <p:cNvPr id="13" name="Picture 12" descr="novelty_embedding_spa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" y="1208405"/>
            <a:ext cx="4661535" cy="34886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Thematic Analysis: Topic Distribution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7395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LDA topic modeling (k=5, strong priors) with Fisher’s exact tests and FDR correction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9871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0000" y="1253728"/>
            <a:ext cx="3937099" cy="900000"/>
          </a:xfrm>
          <a:prstGeom prst="roundRect">
            <a:avLst>
              <a:gd name="adj" fmla="val 3645"/>
            </a:avLst>
          </a:prstGeom>
          <a:solidFill>
            <a:srgbClr val="FD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9910" y="3416935"/>
            <a:ext cx="3362325" cy="635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310" y="3494405"/>
            <a:ext cx="316484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Strong but not complete thematic separation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2310" y="3813810"/>
            <a:ext cx="3164840" cy="5702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Dominant-topic table now shows overlap: Topic 3 contains Human=21 and AI=3, and Topic 5 contains Human=2 and AI=11. Overall distribution difference remains significant (chi-square permutation p &lt; 0.0001).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66895" y="3417570"/>
            <a:ext cx="3362325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9295" y="3498215"/>
            <a:ext cx="316484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Per-topic Fisher’s exact tests (FDR-corrected)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19295" y="3813810"/>
            <a:ext cx="3164840" cy="379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FDR-corrected per-topic tests: Topic 3 is Human-overrepresented (OR=231, q&lt;0.001), Topics 1 and 4 are AI-overrepresented (q&lt;0.01), while Topics 2 and 5 are not significant. Subsample validation: Topics 1, 3, and 4 are robust.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83655" y="1427480"/>
            <a:ext cx="241490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Critical caveat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83655" y="1597660"/>
            <a:ext cx="2414905" cy="309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Separation is substantial but no longer perfect after content-only normalization. Human entropy is no longer zero (H=0.448), while AI remains much higher (subsampled H≈1.99). Results are exploratory and should be validated with expert coding.</a:t>
            </a:r>
            <a:endParaRPr lang="en-US" sz="850" dirty="0"/>
          </a:p>
        </p:txBody>
      </p:sp>
      <p:pic>
        <p:nvPicPr>
          <p:cNvPr id="18" name="Picture 17" descr="topic_distribution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70" y="1160780"/>
            <a:ext cx="5633085" cy="20866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Cluster Segregation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565" y="75476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Gaussian Mixture Model clustering (k=3, selected by BIC) with segregation metrics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565" y="100241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0000" y="1253728"/>
            <a:ext cx="3937099" cy="85000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50000" y="1272778"/>
            <a:ext cx="3937099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2400" y="1350000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Cluster composition reveals asymmetric segregation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02400" y="1530000"/>
            <a:ext cx="3704945" cy="5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Cluster 0 (n=27): 100% AI. Cluster 1 (n=7): 100% AI. Cluster 2 (n=58): 40% human, 60% AI. Two clusters are entirely AI-dominated. All 23 human proposals land in a single mixed cluster, while AI proposals spread across all three, suggesting </a:t>
            </a:r>
            <a:r>
              <a:rPr lang="en-US" sz="900" u="sng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AI occupies distinct conceptual regions that humans do not enter.</a:t>
            </a:r>
            <a:endParaRPr lang="en-US" sz="900" u="sng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29045" y="2430660"/>
            <a:ext cx="3937099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8905" y="2537645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Segregation metrics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78905" y="2717645"/>
            <a:ext cx="3704945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NMI = 0.197 (p &lt; 0.0001): clusters predict human/AI source better than chance. ARI = −0.035 (p = 0.86): no agreement beyond chance (expected given unbalanced groups). Between/within distance ratio = 1.085 (p = 0.004): </a:t>
            </a:r>
            <a:r>
              <a:rPr lang="en-US" sz="900" u="sng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and AI proposals are measurably more distant from each other than from their own group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9365" y="3636740"/>
            <a:ext cx="3937099" cy="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9540" y="3750710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Connecting the evidence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79540" y="3930710"/>
            <a:ext cx="3704945" cy="3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Cluster segregation corroborates the nearest-neighbor finding (100% AI-AI nearest neighbors) and the topic separation. Across three independent methods — NN analysis, LDA topic modeling, and GMM clustering — humans and AI occupy different semantic territories.</a:t>
            </a:r>
            <a:endParaRPr lang="en-US" sz="900" dirty="0"/>
          </a:p>
        </p:txBody>
      </p:sp>
      <p:pic>
        <p:nvPicPr>
          <p:cNvPr id="19" name="Picture 18" descr="cluster_analysis_visualiz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25" y="1126490"/>
            <a:ext cx="4333240" cy="3851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Integrated Findings Across All Analyses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Convergent evidence from diversity, novelty, thematic, and cluster analyses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014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53728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D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272778"/>
            <a:ext cx="3937099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350" y="1353728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Diversity ranking is consistent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0350" y="1533728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Proposal-level pairwise, centroid, and NN analyses all show strong model heterogeneity: Claude is broad, GPT-5.2 shows mode collapse, and Gemini is intermediate.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950" y="1253728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98950" y="1272778"/>
            <a:ext cx="3937099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1350" y="1353728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tracks a different dimension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51350" y="1533728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adds a second lens: humans are furthest from the literature, while AI variation is often within known regions. This explains why high internal diversity (Claude) does not automatically imply high external novelty.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500000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2519050"/>
            <a:ext cx="3937099" cy="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350" y="2600000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Semantic segregation confirmed 3 ways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0350" y="2780000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NN, LDA, and GMM all point to source-linked semantic segregation. Style-adjusted NN still shows strong asymmetry (AI same-group NN 94.2%), so the separation is reduced but not eliminated by style control.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2500000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98950" y="2519050"/>
            <a:ext cx="3937099" cy="0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1350" y="2600000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Aggregation masks real differences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51350" y="2780000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Aggregation can hide or invert model-level effects depending on metric; report model-specific estimates with CIs and adjusted p-values.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8000" y="3746500"/>
            <a:ext cx="8128000" cy="702310"/>
          </a:xfrm>
          <a:prstGeom prst="roundRect">
            <a:avLst>
              <a:gd name="adj" fmla="val 3000"/>
            </a:avLst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1460" y="3806267"/>
            <a:ext cx="7900000" cy="3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Coherent story: AI model choice controls within-AI diversity; humans remain more novel vs literature; topic/cluster analyses show source-linked semantic separation; style-adjusted tests confirm the gap is not purely stylistic.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style_features_by_model_boxplo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0" y="1030605"/>
            <a:ext cx="6415405" cy="352996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9495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Strong Stylistic Differences Between Human and AI Proposals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565" y="75476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Style-only baseline strongly separates Human vs AI (AUROC 1.000 ± 0.000; balanced accuracy 1.000 ± 0.000)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565" y="100241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64325" y="1272540"/>
            <a:ext cx="2122805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4005" y="1350010"/>
            <a:ext cx="206375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Are there stylistic differences between human and AI proposals?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44005" y="1789430"/>
            <a:ext cx="2346960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We created style-only features that quantify how a proposal is written (structure, lexical variety, stopword usage, hedging/stance, sectioning, readability, and punctuation/formatting patterns) to build a style baseline.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5069205" y="3208020"/>
            <a:ext cx="3117215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Using logistic regression on style features, we found that </a:t>
            </a:r>
            <a:r>
              <a:rPr lang="en-US" altLang="en-US" sz="900" b="1" dirty="0">
                <a:solidFill>
                  <a:srgbClr val="E8505B"/>
                </a:solidFill>
                <a:latin typeface="Arial Bold" panose="020B0604020202090204" charset="0"/>
                <a:cs typeface="Arial Bold" panose="020B0604020202090204" charset="0"/>
              </a:rPr>
              <a:t>style alone can separate human vs AI proposals.</a:t>
            </a:r>
            <a:endParaRPr lang="en-US" altLang="en-US" sz="900" b="1" dirty="0">
              <a:solidFill>
                <a:srgbClr val="E8505B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b="1" dirty="0">
                <a:solidFill>
                  <a:srgbClr val="2C3E50"/>
                </a:solidFill>
                <a:latin typeface="Arial Bold" panose="020B0604020202090204" charset="0"/>
                <a:cs typeface="Arial Bold" panose="020B0604020202090204" charset="0"/>
              </a:rPr>
              <a:t>Permutation test</a:t>
            </a: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(AUROC, 1,000 label shuffles):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Observed AUROC: 1.000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Null mean AUROC: 0.505 ± 0.098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p-value: 0.0010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ntroid_dispersion_style_adjus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30" y="1122045"/>
            <a:ext cx="6054090" cy="368236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9495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Style-adjusted centroid dispersion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565" y="75476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alt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After removing embedding components predictable from style features, does semantic separation remain?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565" y="100241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384290" y="1272540"/>
            <a:ext cx="2402840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4925" y="1350010"/>
            <a:ext cx="232283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Style-adjusted centroid dispersion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84925" y="1619250"/>
            <a:ext cx="2606675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Residualization workflow: fit y_raw ~ style features, subtract predicted style component, and analyze adjusted distances in residual space.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Style-only signal is maximal (AUROC 1.000), so this adjustment isolates style-independent embedding structure.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1" name="Picture 10" descr="Screenshot 2026-02-18 at 10.36.20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460" y="3851275"/>
            <a:ext cx="2607310" cy="97155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6347460" y="2936875"/>
            <a:ext cx="2570480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b="1" dirty="0">
                <a:solidFill>
                  <a:srgbClr val="E8505B"/>
                </a:solidFill>
                <a:latin typeface="Arial Bold" panose="020B0604020202090204" charset="0"/>
                <a:cs typeface="Arial Bold" panose="020B0604020202090204" charset="0"/>
              </a:rPr>
              <a:t>Adjusted results: AI-vs-human coefficient remains positive (+0.0486 for own-group centroid distance; permutation p=0.0002). Per-model effects: Claude δ=+0.123 (ns), Gemini δ=-0.611 (p=4.0e-4), GPT-5.2 δ=-0.172 (ns).</a:t>
            </a:r>
            <a:endParaRPr lang="en-US" altLang="en-US" sz="900" b="1" dirty="0">
              <a:solidFill>
                <a:srgbClr val="E8505B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9495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Style-adjusted NN and embedding-space diagnostics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91710" y="1157605"/>
            <a:ext cx="2402840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710" y="738505"/>
            <a:ext cx="232283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What changes after removing style-related embedding variance?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91710" y="1254125"/>
            <a:ext cx="3111500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Nearest-neighbor and UMAP checks in residual space test whether human/AI separation persists beyond writing style.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791710" y="1821180"/>
            <a:ext cx="3996055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b="1" dirty="0">
                <a:solidFill>
                  <a:srgbClr val="E8505B"/>
                </a:solidFill>
                <a:latin typeface="Arial Bold" panose="020B0604020202090204" charset="0"/>
                <a:cs typeface="Arial Bold" panose="020B0604020202090204" charset="0"/>
              </a:rPr>
              <a:t>After adjustment, GPT-5.2 is most isolated (mean NN 0.5667; 30.4% outliers) while Claude is least isolated (mean NN 0.2973; 0% outliers).</a:t>
            </a:r>
            <a:endParaRPr lang="en-US" altLang="en-US" sz="900" b="1" dirty="0">
              <a:solidFill>
                <a:srgbClr val="E8505B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b="1" dirty="0">
                <a:solidFill>
                  <a:srgbClr val="E8505B"/>
                </a:solidFill>
                <a:latin typeface="Arial Bold" panose="020B0604020202090204" charset="0"/>
                <a:cs typeface="Arial Bold" panose="020B0604020202090204" charset="0"/>
              </a:rPr>
              <a:t>Style-adjustment reduces style leakage (mean |corr(style, PC)|: 0.2036 → 0.0405), yet human/AI neighborhood asymmetry remains (AI same-group NN: 94.2%).</a:t>
            </a:r>
            <a:endParaRPr lang="en-US" altLang="en-US" sz="900" b="1" dirty="0">
              <a:solidFill>
                <a:srgbClr val="E8505B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69495" y="782022"/>
            <a:ext cx="365075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Outlier Rates (top 10% NN distance)</a:t>
            </a:r>
            <a:endParaRPr lang="en-US" sz="1200" dirty="0"/>
          </a:p>
        </p:txBody>
      </p:sp>
      <p:sp>
        <p:nvSpPr>
          <p:cNvPr id="12" name="Text 3"/>
          <p:cNvSpPr/>
          <p:nvPr/>
        </p:nvSpPr>
        <p:spPr>
          <a:xfrm>
            <a:off x="169495" y="1029672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5"/>
          <p:cNvSpPr/>
          <p:nvPr/>
        </p:nvSpPr>
        <p:spPr>
          <a:xfrm>
            <a:off x="169495" y="1787356"/>
            <a:ext cx="1738759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255639" y="1270774"/>
            <a:ext cx="1566473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13.0%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255639" y="1560096"/>
            <a:ext cx="1566473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</a:t>
            </a:r>
            <a:endParaRPr lang="en-US" sz="800" dirty="0"/>
          </a:p>
        </p:txBody>
      </p:sp>
      <p:sp>
        <p:nvSpPr>
          <p:cNvPr id="16" name="Shape 9"/>
          <p:cNvSpPr/>
          <p:nvPr/>
        </p:nvSpPr>
        <p:spPr>
          <a:xfrm>
            <a:off x="2009755" y="1787356"/>
            <a:ext cx="1738908" cy="0"/>
          </a:xfrm>
          <a:prstGeom prst="line">
            <a:avLst/>
          </a:prstGeom>
          <a:noFill/>
          <a:ln w="38100">
            <a:solidFill>
              <a:srgbClr val="5D6D7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2095897" y="1270774"/>
            <a:ext cx="1566624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26.1% -&gt;</a:t>
            </a: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0.0%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2095897" y="1560096"/>
            <a:ext cx="1566624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69495" y="2475389"/>
            <a:ext cx="1738759" cy="0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255639" y="1958806"/>
            <a:ext cx="1566473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4.3% -&gt;</a:t>
            </a: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0.0%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255639" y="2248128"/>
            <a:ext cx="1566473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2009755" y="2475389"/>
            <a:ext cx="1738908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095897" y="1958806"/>
            <a:ext cx="1566624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0.0% -&gt;</a:t>
            </a: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30.4%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2095897" y="2248128"/>
            <a:ext cx="1566624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endParaRPr lang="en-US" sz="800" dirty="0"/>
          </a:p>
        </p:txBody>
      </p:sp>
      <p:pic>
        <p:nvPicPr>
          <p:cNvPr id="26" name="Picture 25" descr="nearest_neighbor_by_model_style_adjus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45" y="2924175"/>
            <a:ext cx="5879465" cy="2077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500000" y="17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IV Quality: Why Three Linked Analyses?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461265" y="76000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Motivation, analytical logic, and how R1, R2, and R3 connect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sp>
        <p:nvSpPr>
          <p:cNvPr id="6" name="Txt6"/>
          <p:cNvSpPr/>
          <p:nvPr/>
        </p:nvSpPr>
        <p:spPr>
          <a:xfrm>
            <a:off x="500000" y="1200000"/>
            <a:ext cx="8400000" cy="38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9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Motivation:</a:t>
            </a:r>
            <a:endParaRPr sz="9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8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Diversity and novelty analyses (Parts I–III) tell us whether AI proposals explore different intellectual territory.</a:t>
            </a:r>
            <a:endParaRPr sz="88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8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They do not tell us whether those proposals are high-quality, rigorous, or fundable. That requires explicit quality scoring.</a:t>
            </a:r>
            <a:endParaRPr sz="88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8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But quality scoring with AI evaluators introduces new risks: evaluator leniency differences and self-preference bias.</a:t>
            </a:r>
            <a:endParaRPr sz="88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9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Three linked sub-analyses:</a:t>
            </a:r>
            <a:endParaRPr sz="9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" panose="020B0604020202090204"/>
                <a:ea typeface="Arial" panose="020B0604020202090204"/>
                <a:cs typeface="Arial" panose="020B0604020202090204"/>
              </a:rPr>
              <a:t>R1  Proxy Validity:</a:t>
            </a:r>
            <a:r>
              <a:rPr sz="1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 Are AI reviews textually and judgmentally similar to expert human reviews?</a:t>
            </a:r>
            <a:endParaRPr sz="1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Arial Bold" panose="020B0604020202090204" charset="0"/>
              <a:ea typeface="Arial" panose="020B0604020202090204"/>
              <a:cs typeface="Arial Bold" panose="020B0604020202090204" charset="0"/>
            </a:endParaRPr>
          </a:p>
          <a:p>
            <a:pPr algn="l"/>
            <a:r>
              <a:rPr sz="1200">
                <a:solidFill>
                  <a:srgbClr val="5D6D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Without this, AI-judged quality scores have no established relationship to expert opinion.</a:t>
            </a:r>
            <a:endParaRPr sz="1200">
              <a:solidFill>
                <a:srgbClr val="5D6D7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120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200">
                <a:solidFill>
                  <a:schemeClr val="accent2">
                    <a:lumMod val="75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R2  Proposal Quality: </a:t>
            </a:r>
            <a:r>
              <a:rPr sz="1200" b="1">
                <a:solidFill>
                  <a:schemeClr val="accent2">
                    <a:lumMod val="75000"/>
                  </a:schemeClr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Do AI-generated proposals score higher than human-authored proposals under AI evaluation?</a:t>
            </a:r>
            <a:endParaRPr sz="1200">
              <a:solidFill>
                <a:schemeClr val="accent2">
                  <a:lumMod val="75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200">
                <a:solidFill>
                  <a:srgbClr val="5D6D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This is the core substantive question—but only interpretable after R1 and R3 are addressed.</a:t>
            </a:r>
            <a:endParaRPr sz="1200">
              <a:solidFill>
                <a:srgbClr val="5D6D7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1200">
              <a:solidFill>
                <a:srgbClr val="5D6D7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200">
                <a:solidFill>
                  <a:schemeClr val="accent6">
                    <a:lumMod val="75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R3  Evaluator Bias: </a:t>
            </a:r>
            <a:r>
              <a:rPr sz="1200" b="1">
                <a:solidFill>
                  <a:schemeClr val="accent6">
                    <a:lumMod val="75000"/>
                  </a:schemeClr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Do AI evaluators show systematic leniency differences or self-preference?</a:t>
            </a:r>
            <a:endParaRPr sz="1200">
              <a:solidFill>
                <a:schemeClr val="accent6">
                  <a:lumMod val="75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200">
                <a:solidFill>
                  <a:srgbClr val="5D6D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If yes, R2 conclusions are confounded and must be re-run with bias controls.</a:t>
            </a:r>
            <a:endParaRPr sz="1200">
              <a:solidFill>
                <a:srgbClr val="5D6D7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870" b="1">
                <a:solidFill>
                  <a:srgbClr val="E850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Analytical sequence: R1 validates the instrument → R3 diagnoses bias → bias-controlled R2 enables valid inference.</a:t>
            </a:r>
            <a:endParaRPr sz="870" b="1">
              <a:solidFill>
                <a:srgbClr val="E850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299975" y="-18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R1 </a:t>
            </a:r>
            <a:r>
              <a:rPr sz="20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Proxy Validity:</a:t>
            </a:r>
            <a:r>
              <a:rPr sz="2000" b="1">
                <a:solidFill>
                  <a:schemeClr val="bg1"/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  <a:sym typeface="+mn-ea"/>
              </a:rPr>
              <a:t> Are AI reviews textually and judgmentally similar to expert human reviews?</a:t>
            </a:r>
            <a:endParaRPr sz="2000" b="1">
              <a:solidFill>
                <a:schemeClr val="bg1"/>
              </a:solidFill>
              <a:latin typeface="Arial Bold" panose="020B0604020202090204" charset="0"/>
              <a:ea typeface="Arial" panose="020B0604020202090204"/>
              <a:cs typeface="Arial Bold" panose="020B0604020202090204" charset="0"/>
            </a:endParaRPr>
          </a:p>
          <a:p>
            <a:pPr algn="l"/>
            <a:endParaRPr sz="2000" b="1">
              <a:solidFill>
                <a:schemeClr val="bg1"/>
              </a:solidFill>
              <a:latin typeface="Arial Bold" panose="020B0604020202090204" charset="0"/>
              <a:ea typeface="Arial" panose="020B0604020202090204"/>
              <a:cs typeface="Arial Bold" panose="020B0604020202090204" charset="0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422530" y="76000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Cosine similarity, sentiment alignment, and categorical agreement across review pair types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sp>
        <p:nvSpPr>
          <p:cNvPr id="7" name="Txt7"/>
          <p:cNvSpPr/>
          <p:nvPr/>
        </p:nvSpPr>
        <p:spPr>
          <a:xfrm>
            <a:off x="549910" y="3500755"/>
            <a:ext cx="7581265" cy="1527175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this analysis:</a:t>
            </a:r>
            <a:r>
              <a:rPr lang="en-US" sz="10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 AI reviewers produce fundamentally different assessments than human experts, using them as a quality proxy</a:t>
            </a:r>
            <a:r>
              <a:rPr lang="en-US" sz="9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 methodologically indefensible. </a:t>
            </a:r>
            <a:endParaRPr sz="9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10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Design:</a:t>
            </a:r>
            <a:r>
              <a:rPr lang="en-US" sz="10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 Y1 proposals were reviewed by both expert human panels and all 3 AI models, enabling direct pair comparison.</a:t>
            </a:r>
            <a:endParaRPr sz="9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Three pair types: Human–Human (HH), Human–AI (HAI), AI–AI (AIAI).</a:t>
            </a:r>
            <a:r>
              <a:rPr lang="en-US" sz="9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Paired Wilcoxon signed-rank is the primary test (same 12 proposals in both groups)</a:t>
            </a:r>
            <a:endParaRPr sz="9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Metrics: </a:t>
            </a:r>
            <a:r>
              <a:rPr lang="en-US" sz="9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 (1) </a:t>
            </a:r>
            <a:r>
              <a:rPr sz="920" u="sng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cosine similarity (sentence-BERT embeddings</a:t>
            </a:r>
            <a:r>
              <a:rPr lang="en-US" sz="920" u="sng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, do the reviews talk about similar things</a:t>
            </a:r>
            <a:r>
              <a:rPr sz="920" u="sng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), </a:t>
            </a:r>
            <a:endParaRPr sz="920" u="sng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  <a:sym typeface="+mn-ea"/>
            </a:endParaRPr>
          </a:p>
          <a:p>
            <a:pPr indent="457200" algn="l"/>
            <a:r>
              <a:rPr lang="en-US" sz="920" u="sng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(2) </a:t>
            </a:r>
            <a:r>
              <a:rPr sz="920" u="sng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sentiment polarity alignment</a:t>
            </a:r>
            <a:r>
              <a:rPr lang="en-US" sz="920" u="sng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: </a:t>
            </a:r>
            <a:r>
              <a:rPr lang="en-US" altLang="en-US" sz="920" u="sng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How close the two reviewers' tone/warmth is in a graded, continuous way (0-1)</a:t>
            </a:r>
            <a:endParaRPr lang="en-US" altLang="en-US" sz="920" u="sng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  <a:sym typeface="+mn-ea"/>
            </a:endParaRPr>
          </a:p>
          <a:p>
            <a:pPr indent="457200" algn="l"/>
            <a:r>
              <a:rPr lang="en-US" sz="920" u="sng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(3) </a:t>
            </a:r>
            <a:r>
              <a:rPr sz="920" u="sng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categorical agreement</a:t>
            </a:r>
            <a:r>
              <a:rPr lang="en-US" sz="920" u="sng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: </a:t>
            </a:r>
            <a:r>
              <a:rPr lang="en-US" altLang="en-US" sz="9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Whether the two reviewers are pointing in the same direction — thumbs up, down, or mixed — regardless of how far apart they are. It treats neutral as a middle ground rather than full disagreement.</a:t>
            </a:r>
            <a:endParaRPr lang="en-US" altLang="en-US" sz="9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  <a:sym typeface="+mn-ea"/>
            </a:endParaRPr>
          </a:p>
          <a:p>
            <a:pPr algn="l"/>
            <a:endParaRPr lang="en-US" altLang="en-US" sz="9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  <a:sym typeface="+mn-ea"/>
            </a:endParaRPr>
          </a:p>
        </p:txBody>
      </p:sp>
      <p:pic>
        <p:nvPicPr>
          <p:cNvPr id="8" name="Picture 7" descr="quality_similarity_proxy_paired_slop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910" y="1103630"/>
            <a:ext cx="7266305" cy="23958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500000" y="-18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R1 Results: AI Reviews Are Aligned With Humans—But AI Judges Cluster Tightly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00000" y="76000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Human–AI similarity is not significantly lower than human–human; AI–AI similarity is dramatically higher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sp>
        <p:nvSpPr>
          <p:cNvPr id="8" name="Txt8"/>
          <p:cNvSpPr/>
          <p:nvPr/>
        </p:nvSpPr>
        <p:spPr>
          <a:xfrm>
            <a:off x="501270" y="3229910"/>
            <a:ext cx="8400000" cy="11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Human–AI vs Human–Human cosine: q=0.237, δ=-0.29 (small, not significant)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00">
                <a:solidFill>
                  <a:srgbClr val="27AE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 AI reviews are not detectably more dissimilar to each other than human reviews are to each other.</a:t>
            </a:r>
            <a:endParaRPr sz="1000">
              <a:solidFill>
                <a:srgbClr val="27AE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AI–AI vs Human–Human cosine: Wilcoxon p=0.016, q=0.025, δ=0.58 (large, significant)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AI–AI vs Human–AI cosine: Wilcoxon p=0.00049, q=&lt;0.001, δ=0.93 (large, highly significant)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00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 AI models converge on far more similar review language than humans do, and more than when reviewing the same human-written proposal.</a:t>
            </a:r>
            <a:endParaRPr sz="1000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10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Interpretation: AI reviews are not foreign to human expert assessments in textual content (R1 passes the basic validity bar).</a:t>
            </a:r>
            <a:endParaRPr sz="10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However, the AI judge panel lacks the heterogeneity of human expert panels, which may compress the diversity of critical perspectives.</a:t>
            </a:r>
            <a:endParaRPr sz="1020" b="1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9" name="Picture 8" descr="quality_similarity_human_ai_by_model_proposal_leve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45" y="1122045"/>
            <a:ext cx="8445500" cy="20053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421895" y="-18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R2 Setup: Verifying Human Baseline </a:t>
            </a:r>
            <a:r>
              <a:rPr lang="en-US"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Differences </a:t>
            </a:r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(Year 1 vs Year 2)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00000" y="76000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Before pooling two human cohorts as "human-all," we test whether </a:t>
            </a:r>
            <a:r>
              <a:rPr lang="en-US"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they </a:t>
            </a:r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are statistically equivalent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sp>
        <p:nvSpPr>
          <p:cNvPr id="6" name="Txt6"/>
          <p:cNvSpPr/>
          <p:nvPr/>
        </p:nvSpPr>
        <p:spPr>
          <a:xfrm>
            <a:off x="500000" y="1200000"/>
            <a:ext cx="8400000" cy="38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this matters:</a:t>
            </a:r>
            <a:endParaRPr sz="12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7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Two human cohorts exist: Year 1 (n=12 proposals, evaluated by both human experts and AI) and Year 2 (n=11 proposals, AI-evaluated only).</a:t>
            </a:r>
            <a:endParaRPr sz="107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7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 the cohorts differ substantially in quality, pooling them inflates within-group variance and biases comparisons to AI.</a:t>
            </a:r>
            <a:endParaRPr sz="107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2400"/>
          </a:p>
          <a:p>
            <a:pPr algn="l"/>
            <a:r>
              <a:rPr sz="107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Method: Mann–Whitney U + Cliff’s delta + BH-FDR, applied to all 8 scored dimensions.</a:t>
            </a:r>
            <a:endParaRPr sz="107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2400"/>
          </a:p>
          <a:p>
            <a:pPr algn="l"/>
            <a:r>
              <a:rPr sz="12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Results across 8 criteria (BH-FDR corrected):</a:t>
            </a:r>
            <a:endParaRPr sz="12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70">
                <a:solidFill>
                  <a:srgbClr val="27AE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Overall score: Y1 mean=3.51, Y2 mean=3.81, q=0.090 — NOT significant (δ=-0.42 medium)</a:t>
            </a:r>
            <a:endParaRPr sz="1070">
              <a:solidFill>
                <a:srgbClr val="27AE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70">
                <a:solidFill>
                  <a:srgbClr val="27AE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Relevance, Novelty, Rigor, Scope/Timeline, Synthesis, Open Science: all non-significant (q &gt; 0.05)</a:t>
            </a:r>
            <a:endParaRPr sz="1070">
              <a:solidFill>
                <a:srgbClr val="27AE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70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EXCEPTION — Data Identification: Y1=3.36, Y2=4.06, q=0.005, δ=-0.69 (large, significant)</a:t>
            </a:r>
            <a:endParaRPr sz="1070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6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Y2 proposals include stronger data identification plans, possibly reflecting evolved grant writing norms.</a:t>
            </a:r>
            <a:endParaRPr sz="106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2400"/>
          </a:p>
          <a:p>
            <a:pPr algn="l"/>
            <a:r>
              <a:rPr sz="1400" b="1">
                <a:solidFill>
                  <a:srgbClr val="2C3E50"/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Conclusion: the two cohorts are equivalent on 7 of 8 dimensions. Pooling as "human-all" is justified for overall quality comparisons,</a:t>
            </a:r>
            <a:r>
              <a:rPr lang="en-US" sz="1400" b="1">
                <a:solidFill>
                  <a:srgbClr val="2C3E50"/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 </a:t>
            </a:r>
            <a:r>
              <a:rPr sz="1400" b="1">
                <a:solidFill>
                  <a:srgbClr val="2C3E50"/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with the caveat that Data Identification scores in human-all reflect a year-of-submission effect.</a:t>
            </a:r>
            <a:endParaRPr sz="1400" b="1">
              <a:solidFill>
                <a:srgbClr val="2C3E50"/>
              </a:solidFill>
              <a:latin typeface="Arial Bold" panose="020B0604020202090204" charset="0"/>
              <a:ea typeface="Arial" panose="020B0604020202090204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422530" y="-18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R2 Baseline: AI-Generated Proposals Score Higher Under AI Evaluation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422275" y="650240"/>
            <a:ext cx="4709795" cy="259715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All evaluators </a:t>
            </a:r>
            <a:r>
              <a:rPr lang="en-US"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(gemini, claude, gpt) </a:t>
            </a:r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pooled; 23 AI proposals vs 23 human proposals per group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pic>
        <p:nvPicPr>
          <p:cNvPr id="6" name="Pic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45" y="1129665"/>
            <a:ext cx="3412490" cy="2218055"/>
          </a:xfrm>
          <a:prstGeom prst="rect">
            <a:avLst/>
          </a:prstGeom>
        </p:spPr>
      </p:pic>
      <p:sp>
        <p:nvSpPr>
          <p:cNvPr id="8" name="Txt8"/>
          <p:cNvSpPr/>
          <p:nvPr/>
        </p:nvSpPr>
        <p:spPr>
          <a:xfrm>
            <a:off x="322835" y="3348020"/>
            <a:ext cx="8400000" cy="115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Method: proposal-level means (averaged across all AI evaluators), Mann–Whitney + Cliff’s δ + BH-FDR + bootstrap CI.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Human-all: mean=3.65 │ Claude: 3.50 (q=0.358, ns) │ Gemini: 4.12 (q=&lt;0.001***) │ GPT-5.2: 4.39 (q=&lt;0.001***)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Robust bootstrap (human−AI): Claude +0.15 [95% CI: −0.11, +0.43] ns │ Gemini −0.47 [−0.68, −0.23] sig │ GPT −0.74 [−0.91, −0.57] sig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Interpretation: Gemini and GPT proposals receive substantially higher scores than human proposals under pooled AI evaluation.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Claude proposals are statistically indistinguishable from human proposals (both on the 1–5 scale near 3.5).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20" b="1">
                <a:solidFill>
                  <a:srgbClr val="C039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IMPORTANT CAVEAT: these pooled scores include self-evaluations (AI evaluating its own proposals). R3 quantifies this bias.</a:t>
            </a:r>
            <a:endParaRPr sz="820" b="1">
              <a:solidFill>
                <a:srgbClr val="C039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780">
                <a:solidFill>
                  <a:srgbClr val="5D6D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Left: overall score distributions by author group. Right: radar chart of 7 criteria reveals pattern heterogeneity.</a:t>
            </a:r>
            <a:endParaRPr sz="780">
              <a:solidFill>
                <a:srgbClr val="5D6D7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0" name="Picture 9" descr="quality_radar_criteria_proposal_level"/>
          <p:cNvPicPr>
            <a:picLocks noChangeAspect="1"/>
          </p:cNvPicPr>
          <p:nvPr/>
        </p:nvPicPr>
        <p:blipFill>
          <a:blip r:embed="rId2"/>
          <a:srcRect t="21443"/>
          <a:stretch>
            <a:fillRect/>
          </a:stretch>
        </p:blipFill>
        <p:spPr>
          <a:xfrm>
            <a:off x="4951730" y="743585"/>
            <a:ext cx="4156075" cy="31680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905" y="1071565"/>
            <a:ext cx="4200000" cy="3000000"/>
          </a:xfrm>
          <a:prstGeom prst="rect">
            <a:avLst/>
          </a:prstGeom>
        </p:spPr>
      </p:pic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500000" y="-18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R2 Criterion Decomposition: The AI Advantage Is Model- and Dimension-Specific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00000" y="67237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Effect-size heatmap and dot plot across 7 rubric criteria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49530" y="91792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pic>
        <p:nvPicPr>
          <p:cNvPr id="7" name="Pic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0" y="1003620"/>
            <a:ext cx="3800000" cy="3000000"/>
          </a:xfrm>
          <a:prstGeom prst="rect">
            <a:avLst/>
          </a:prstGeom>
        </p:spPr>
      </p:pic>
      <p:sp>
        <p:nvSpPr>
          <p:cNvPr id="8" name="Txt8"/>
          <p:cNvSpPr/>
          <p:nvPr/>
        </p:nvSpPr>
        <p:spPr>
          <a:xfrm>
            <a:off x="1158495" y="4043295"/>
            <a:ext cx="8400000" cy="75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patterns (human-all vs each AI author group):</a:t>
            </a:r>
            <a:endParaRPr sz="12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3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Relevance: all three AI models score near ceiling (5.0) vs human mean ≈3.75 — δ ≈ −0.87 large for all models.</a:t>
            </a:r>
            <a:endParaRPr sz="103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3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Interpretation: "AI proposals score higher" is not uniform—models and criteria show opposite patterns.</a:t>
            </a:r>
            <a:endParaRPr sz="103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3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Claude underperforms humans on Rigor and Scope/Timeline while exceeding them on Relevance alone.</a:t>
            </a:r>
            <a:endParaRPr sz="103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80">
                <a:solidFill>
                  <a:srgbClr val="5D6D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Heatmap: blue=human higher, red=AI higher; gray=non-significant. Dot plot: filled=significant, hollow=ns.</a:t>
            </a:r>
            <a:endParaRPr sz="980">
              <a:solidFill>
                <a:srgbClr val="5D6D7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499745" y="0"/>
            <a:ext cx="8300085" cy="65024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R3 </a:t>
            </a:r>
            <a:r>
              <a:rPr lang="en-US"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Evaluator leniency</a:t>
            </a:r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AI Evaluators Differ Substantially in Scoring Leniency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421895" y="751745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Kruskal–Wallis test across all 276 AI reviews; evaluator identity predicts score independently of proposal quality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pic>
        <p:nvPicPr>
          <p:cNvPr id="6" name="Pic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895" y="1340805"/>
            <a:ext cx="4600000" cy="2900000"/>
          </a:xfrm>
          <a:prstGeom prst="rect">
            <a:avLst/>
          </a:prstGeom>
        </p:spPr>
      </p:pic>
      <p:sp>
        <p:nvSpPr>
          <p:cNvPr id="7" name="Txt7"/>
          <p:cNvSpPr/>
          <p:nvPr/>
        </p:nvSpPr>
        <p:spPr>
          <a:xfrm>
            <a:off x="5200000" y="1250000"/>
            <a:ext cx="3400000" cy="29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9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diagnose evaluator leniency first:</a:t>
            </a:r>
            <a:endParaRPr sz="9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 one evaluator systematically assigns higher scores, comparing author groups across a pooled panel</a:t>
            </a:r>
            <a:endParaRPr sz="8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confounds proposal quality with evaluator severity—an evaluator effect, not a quality effect.</a:t>
            </a:r>
            <a:endParaRPr sz="8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9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Result:</a:t>
            </a:r>
            <a:endParaRPr sz="9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Kruskal–Wallis H = 70.034, p = 6.2 × 10⁻¹⁶ — evaluator identity is a highly significant predictor of score.</a:t>
            </a:r>
            <a:endParaRPr sz="8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Gemini evaluator: mean = 4.32 (most lenient) │ Claude: 3.80 │ GPT: 3.62 (most strict)</a:t>
            </a:r>
            <a:endParaRPr sz="8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50" b="1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0.71-point spread between Gemini and GPT evaluator means is larger than the human–GPT author group difference.</a:t>
            </a:r>
            <a:endParaRPr sz="850" b="1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9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Consequence:</a:t>
            </a:r>
            <a:endParaRPr sz="9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Pooled-evaluator R2 results are a mixture of proposal quality and evaluator severity.</a:t>
            </a:r>
            <a:endParaRPr sz="8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Before accepting the R2 baseline, we must check (a) self-preference bias (R3 Step 2) and</a:t>
            </a:r>
            <a:endParaRPr sz="8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(b) whether findings replicate with evaluator configuration controlled (sensitivity analyses).</a:t>
            </a:r>
            <a:endParaRPr sz="8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450470" y="8999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R3 </a:t>
            </a:r>
            <a:r>
              <a:rPr lang="en-US"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Self-preference bias</a:t>
            </a:r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Large in Magnitude and Model-Divergent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450470" y="70793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GPT strongly self-inflates; Claude self-deprecates; Gemini is neutral—all three effects are large or negligible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635" y="96745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sp>
        <p:nvSpPr>
          <p:cNvPr id="8" name="Txt8"/>
          <p:cNvSpPr/>
          <p:nvPr/>
        </p:nvSpPr>
        <p:spPr>
          <a:xfrm>
            <a:off x="210820" y="3403600"/>
            <a:ext cx="8399780" cy="16891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20" b="1">
                <a:solidFill>
                  <a:srgbClr val="2C3E50"/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Method</a:t>
            </a:r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for each AI evaluator, compare scores assigned to its own proposals (self) vs other models' proposals (other).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Mann–Whitney U + Cliff’s δ + BH-FDR, then criterion-level decomposition.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lang="en-US" sz="820" b="1">
                <a:solidFill>
                  <a:schemeClr val="tx1"/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Results:</a:t>
            </a:r>
            <a:r>
              <a:rPr lang="en-US" sz="820" b="1">
                <a:solidFill>
                  <a:srgbClr val="C039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endParaRPr lang="en-US" sz="820" b="1">
              <a:solidFill>
                <a:srgbClr val="C039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lang="en-US" sz="820" b="1">
                <a:solidFill>
                  <a:srgbClr val="C039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(1) </a:t>
            </a:r>
            <a:r>
              <a:rPr sz="820" b="1">
                <a:solidFill>
                  <a:srgbClr val="C039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GPT evaluator → strong self-INFLATION: δ=+0.987 large (q=&lt;0.001); own mean=4.08 vs others mean=3.57</a:t>
            </a:r>
            <a:endParaRPr sz="820" b="1">
              <a:solidFill>
                <a:srgbClr val="C039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lang="en-US" sz="820" b="1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(2) </a:t>
            </a:r>
            <a:r>
              <a:rPr sz="820" b="1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Claude evaluator → strong self-DEPRECATION: δ=−0.581 large (q=&lt;0.001); own mean=3.54 vs others mean=4.10</a:t>
            </a:r>
            <a:endParaRPr sz="820" b="1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lang="en-US" sz="820" b="1">
                <a:solidFill>
                  <a:srgbClr val="27AE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(3) </a:t>
            </a:r>
            <a:r>
              <a:rPr sz="820" b="1">
                <a:solidFill>
                  <a:srgbClr val="27AE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Gemini evaluator → NO significant self-preference: δ=+0.128 negligible (q=0.327)</a:t>
            </a:r>
            <a:endParaRPr sz="820" b="1">
              <a:solidFill>
                <a:srgbClr val="27AE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1020" b="1">
              <a:solidFill>
                <a:srgbClr val="C0392B"/>
              </a:solidFill>
              <a:latin typeface="Arial Bold" panose="020B0604020202090204" charset="0"/>
              <a:ea typeface="Arial" panose="020B0604020202090204"/>
              <a:cs typeface="Arial Bold" panose="020B0604020202090204" charset="0"/>
            </a:endParaRPr>
          </a:p>
          <a:p>
            <a:pPr algn="l"/>
            <a:r>
              <a:rPr sz="1020" b="1">
                <a:solidFill>
                  <a:srgbClr val="C0392B"/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Implication: GPT baseline R2 advantage is at least partly a self-evaluation artifact, not objective quality difference.</a:t>
            </a:r>
            <a:endParaRPr sz="1020" b="1">
              <a:solidFill>
                <a:srgbClr val="C0392B"/>
              </a:solidFill>
              <a:latin typeface="Arial Bold" panose="020B0604020202090204" charset="0"/>
              <a:ea typeface="Arial" panose="020B0604020202090204"/>
              <a:cs typeface="Arial Bold" panose="020B0604020202090204" charset="0"/>
            </a:endParaRPr>
          </a:p>
          <a:p>
            <a:pPr algn="l"/>
            <a:r>
              <a:rPr sz="760">
                <a:solidFill>
                  <a:srgbClr val="5D6D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Left: strip/box plot of self vs other by evaluator. Right: criterion-level heatmap of self−other mean differences.</a:t>
            </a:r>
            <a:endParaRPr sz="760">
              <a:solidFill>
                <a:srgbClr val="5D6D7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9" name="Picture 8" descr="self_pref_strip_over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385" y="1025525"/>
            <a:ext cx="5603875" cy="2378075"/>
          </a:xfrm>
          <a:prstGeom prst="rect">
            <a:avLst/>
          </a:prstGeom>
        </p:spPr>
      </p:pic>
      <p:pic>
        <p:nvPicPr>
          <p:cNvPr id="10" name="Picture 9" descr="self_pref_criterion_heat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890" y="1226185"/>
            <a:ext cx="2676525" cy="32734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500000" y="17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R3 Step 3: Self-Preference Survives Proposal-Quality Controls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00000" y="76000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Fixed-effects regression isolates self-preference net of proposal identity, evaluator severity, and author group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sp>
        <p:nvSpPr>
          <p:cNvPr id="7" name="Txt7"/>
          <p:cNvSpPr/>
          <p:nvPr/>
        </p:nvSpPr>
        <p:spPr>
          <a:xfrm>
            <a:off x="6266180" y="1073150"/>
            <a:ext cx="2696845" cy="389255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9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a regression?</a:t>
            </a:r>
            <a:endParaRPr sz="9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self vs other comparison conflates two mechanisms: (1) genuine self-preference bias and (2) AI models may simply</a:t>
            </a:r>
            <a:r>
              <a:rPr lang="en-US" sz="8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8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produce higher-quality proposals that any evaluator would rate higher.</a:t>
            </a:r>
            <a:endParaRPr sz="84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regression removes the second explanation by adding proposal fixed effects.</a:t>
            </a:r>
            <a:endParaRPr sz="84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8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Model: score ~ is_self * criterion + evaluator + author + proposal_uid (HC3-robust SEs)</a:t>
            </a:r>
            <a:endParaRPr sz="84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Proposal fixed effects absorb all between-proposal quality variation.</a:t>
            </a:r>
            <a:endParaRPr sz="84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9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findings:</a:t>
            </a:r>
            <a:endParaRPr sz="9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40" b="1">
                <a:solidFill>
                  <a:srgbClr val="C039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Net self-preference (Data_ID reference criterion): +0.33 points persists after all controls.</a:t>
            </a:r>
            <a:endParaRPr sz="840" b="1">
              <a:solidFill>
                <a:srgbClr val="C039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Evaluator effects confirmed: Gemini +0.40 above Claude baseline; GPT −0.20 below.</a:t>
            </a:r>
            <a:endParaRPr sz="84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GPT-authored proposals receive ~+1.25 more points than the baseline, net of evaluator severity.</a:t>
            </a:r>
            <a:endParaRPr sz="84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</a:p>
          <a:p>
            <a:pPr algn="l"/>
            <a:r>
              <a:rPr sz="840" b="1">
                <a:solidFill>
                  <a:srgbClr val="E850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Conclusion: self-preference is a real evaluator bias, not a proxy for objective quality differences.</a:t>
            </a:r>
            <a:endParaRPr sz="840" b="1">
              <a:solidFill>
                <a:srgbClr val="E850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00">
                <a:solidFill>
                  <a:srgbClr val="5D6D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Forest plot shows per-criterion self-preference coefficients (β ± 95% CI) and evaluator severity panel.</a:t>
            </a:r>
            <a:endParaRPr sz="800">
              <a:solidFill>
                <a:srgbClr val="5D6D7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" name="Picture 7" descr="self_pref_regression_fore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73200"/>
            <a:ext cx="6148705" cy="27527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235205" y="-18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</a:t>
            </a:r>
            <a:r>
              <a:rPr lang="en-US"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e-run</a:t>
            </a:r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R2: Why Bias-Controlled Reruns Are Necessary Before Drawing Conclusions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00000" y="76000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Two sources of confound identified; two sensitivity analyses designed to address them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sp>
        <p:nvSpPr>
          <p:cNvPr id="6" name="Txt6"/>
          <p:cNvSpPr/>
          <p:nvPr/>
        </p:nvSpPr>
        <p:spPr>
          <a:xfrm>
            <a:off x="500000" y="1200000"/>
            <a:ext cx="8400000" cy="38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Summary of R3 findings and their implications for R2:</a:t>
            </a:r>
            <a:endParaRPr sz="12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2400"/>
          </a:p>
          <a:p>
            <a:pPr algn="l"/>
            <a:r>
              <a:rPr sz="1200" b="1">
                <a:solidFill>
                  <a:srgbClr val="C039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Confound 1 — Evaluator self-preference:</a:t>
            </a:r>
            <a:endParaRPr sz="1200" b="1">
              <a:solidFill>
                <a:srgbClr val="C039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6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GPT evaluator strongly inflates own proposals (+0.99δ large). Including GPT self-evaluations in the pooled baseline</a:t>
            </a:r>
            <a:endParaRPr sz="106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6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artificially elevates GPT-authored proposal scores.</a:t>
            </a:r>
            <a:endParaRPr sz="106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60">
                <a:solidFill>
                  <a:srgbClr val="27AE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Fix: Sensitivity 1 removes self-evaluations for AI authors (cross-evaluator-only).</a:t>
            </a:r>
            <a:endParaRPr sz="1060">
              <a:solidFill>
                <a:srgbClr val="27AE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2400"/>
          </a:p>
          <a:p>
            <a:pPr algn="l"/>
            <a:r>
              <a:rPr sz="1200" b="1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Confound 2 — Evaluator leniency heterogeneity:</a:t>
            </a:r>
            <a:endParaRPr sz="1200" b="1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6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Gemini evaluator is 0.71 points more lenient than GPT evaluator. Pooling evaluators weights</a:t>
            </a:r>
            <a:endParaRPr sz="106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6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proposal group comparisons by the leniency of whichever evaluator happened to review more of one group.</a:t>
            </a:r>
            <a:endParaRPr sz="106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60">
                <a:solidFill>
                  <a:srgbClr val="27AE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Fix: Sensitivity 2 uses Gemini-only as a single, uniform evaluator for all proposals.</a:t>
            </a:r>
            <a:endParaRPr sz="1060">
              <a:solidFill>
                <a:srgbClr val="27AE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2400"/>
          </a:p>
          <a:p>
            <a:pPr algn="l"/>
            <a:r>
              <a:rPr sz="120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Interpretation framework for the two reruns:</a:t>
            </a:r>
            <a:endParaRPr sz="120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6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Findings that hold under both controls are robust and interpretable.</a:t>
            </a:r>
            <a:endParaRPr sz="106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6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Findings that disappear or reverse under one control are evaluator-configuration sensitive.</a:t>
            </a:r>
            <a:endParaRPr sz="106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106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GPT’s elevated scores must survive cross-evaluator removal to be credible.</a:t>
            </a:r>
            <a:endParaRPr sz="106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152655" y="-18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Sensitivity 1 — Cross-Evaluator Only: GPT Advantage Is Robust; Gemini Attenuates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00000" y="76000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Removing self-evaluations: each AI proposal scored only by the 2 models that did not write it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pic>
        <p:nvPicPr>
          <p:cNvPr id="6" name="Pic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35" y="1103315"/>
            <a:ext cx="4000000" cy="2600000"/>
          </a:xfrm>
          <a:prstGeom prst="rect">
            <a:avLst/>
          </a:prstGeom>
        </p:spPr>
      </p:pic>
      <p:pic>
        <p:nvPicPr>
          <p:cNvPr id="7" name="Pic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40" y="1019495"/>
            <a:ext cx="3950000" cy="2600000"/>
          </a:xfrm>
          <a:prstGeom prst="rect">
            <a:avLst/>
          </a:prstGeom>
        </p:spPr>
      </p:pic>
      <p:sp>
        <p:nvSpPr>
          <p:cNvPr id="8" name="Txt8"/>
          <p:cNvSpPr/>
          <p:nvPr/>
        </p:nvSpPr>
        <p:spPr>
          <a:xfrm>
            <a:off x="400050" y="3651250"/>
            <a:ext cx="8399780" cy="140716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Design: for Claude-, Gemini-, and GPT-authored proposals, remove the 69 rows where evaluator==author (23 per model).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Human proposals are unaffected (all 3 AI models review them). This controls for self-preference without losing proposals.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1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Means (cross-eval only): Human 3.65 │ Claude 3.48 (q=0.262, ns) │ Gemini 3.84 (q=0.070, marginal) │ GPT 4.55 (q=&lt;0.001***)</a:t>
            </a:r>
            <a:endParaRPr sz="81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87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7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changes from baseline:</a:t>
            </a:r>
            <a:endParaRPr sz="87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10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Gemini advantage: baseline q=1.4×10⁻⁵ (large sig) → q=0.070 (marginal, non-significant after self-removal)</a:t>
            </a:r>
            <a:endParaRPr sz="910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00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→ Gemini’s elevated baseline score was substantially driven by self-evaluation inflation.</a:t>
            </a:r>
            <a:endParaRPr sz="900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10">
                <a:solidFill>
                  <a:srgbClr val="27AE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GPT advantage: remains highly significant (q=1.5×10⁻⁸, δ=−1.00 large); robust to self-removal.</a:t>
            </a:r>
            <a:endParaRPr sz="910">
              <a:solidFill>
                <a:srgbClr val="27AE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00">
                <a:solidFill>
                  <a:srgbClr val="27AE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→ GPT proposals are rated higher even by models that did not write them—a more credible quality signal.</a:t>
            </a:r>
            <a:endParaRPr sz="900">
              <a:solidFill>
                <a:srgbClr val="27AE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1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Claude: unchanged (never significant), confirming Claude proposals are similar to human quality under fair evaluation.</a:t>
            </a:r>
            <a:endParaRPr sz="91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421895" y="-18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Sensitivity 2 — Gemini-Only Evaluator: Claude Falls Below Human Baseline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00000" y="76000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Single-evaluator control: all proposals evaluated by Gemini, eliminating leniency-mix confound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pic>
        <p:nvPicPr>
          <p:cNvPr id="6" name="Pic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00" y="1103315"/>
            <a:ext cx="4000000" cy="2600000"/>
          </a:xfrm>
          <a:prstGeom prst="rect">
            <a:avLst/>
          </a:prstGeom>
        </p:spPr>
      </p:pic>
      <p:pic>
        <p:nvPicPr>
          <p:cNvPr id="7" name="Pic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000" y="1092520"/>
            <a:ext cx="3950000" cy="2600000"/>
          </a:xfrm>
          <a:prstGeom prst="rect">
            <a:avLst/>
          </a:prstGeom>
        </p:spPr>
      </p:pic>
      <p:sp>
        <p:nvSpPr>
          <p:cNvPr id="8" name="Txt8"/>
          <p:cNvSpPr/>
          <p:nvPr/>
        </p:nvSpPr>
        <p:spPr>
          <a:xfrm>
            <a:off x="421640" y="3692525"/>
            <a:ext cx="8399780" cy="1450975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Design: restrict to </a:t>
            </a:r>
            <a:r>
              <a:rPr sz="820" b="1">
                <a:solidFill>
                  <a:srgbClr val="2C3E50"/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Gemini-only reviews</a:t>
            </a:r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(92 rows). All 5 author groups evaluated by the same single evaluator.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2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This eliminates leniency-mix bias, at the cost of reduced power (n=23 per group, single evaluator).</a:t>
            </a:r>
            <a:endParaRPr sz="82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20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Note: Gemini evaluates its own proposals (self-preference not removed here), making Gemini results still potentially inflated.</a:t>
            </a:r>
            <a:endParaRPr sz="820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81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Means (Gemini-only): Human 4.23 │ Claude 3.58 (q=0.029***) │ Gemini 4.66 (q=&lt;0.001***) │ GPT 4.83 (q=&lt;0.001***)</a:t>
            </a:r>
            <a:endParaRPr sz="81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87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7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changes from baseline:</a:t>
            </a:r>
            <a:endParaRPr sz="97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10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Claude reversal: baseline q=0.358 (ns, Claude ≈ human) → Gemini-only q=0.029 (humans score significantly HIGHER than Claude).</a:t>
            </a:r>
            <a:endParaRPr sz="910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00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→ Under a strict single evaluator, Claude proposals fall below human quality. The baseline equivalence was partly an artifact of mixed leniency.</a:t>
            </a:r>
            <a:endParaRPr sz="900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10">
                <a:solidFill>
                  <a:srgbClr val="27AE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GPT: still elevated above humans, robust across evaluator configurations.</a:t>
            </a:r>
            <a:endParaRPr sz="910">
              <a:solidFill>
                <a:srgbClr val="27AE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10">
                <a:solidFill>
                  <a:srgbClr val="E67E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Gemini: elevated above humans (but Gemini evaluates own proposals—self-preference likely inflating this result).</a:t>
            </a:r>
            <a:endParaRPr sz="910">
              <a:solidFill>
                <a:srgbClr val="E67E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500000" y="17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Summary: Key Findings, Big Picture, and Next Steps</a:t>
            </a:r>
            <a:endParaRPr sz="20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00000" y="760000"/>
            <a:ext cx="8300000" cy="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Integrating R1–R3 and the sensitivity analyses into actionable conclusions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Accent"/>
          <p:cNvSpPr/>
          <p:nvPr/>
        </p:nvSpPr>
        <p:spPr>
          <a:xfrm>
            <a:off x="500000" y="1050000"/>
            <a:ext cx="500000" cy="23000"/>
          </a:xfrm>
          <a:prstGeom prst="rect">
            <a:avLst/>
          </a:prstGeom>
          <a:solidFill>
            <a:srgbClr val="E8505B"/>
          </a:solidFill>
        </p:spPr>
        <p:txBody>
          <a:bodyPr/>
          <a:lstStyle/>
          <a:p/>
        </p:txBody>
      </p:sp>
      <p:sp>
        <p:nvSpPr>
          <p:cNvPr id="6" name="Txt6"/>
          <p:cNvSpPr/>
          <p:nvPr/>
        </p:nvSpPr>
        <p:spPr>
          <a:xfrm>
            <a:off x="500000" y="1129515"/>
            <a:ext cx="8400000" cy="38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we found: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R1: AI reviews are not detectably dissimilar to human expert reviews in text content (proxy validity holds at the bar tested).</a:t>
            </a:r>
            <a:endParaRPr sz="9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40">
                <a:solidFill>
                  <a:srgbClr val="5D6D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However, AI reviewers converge far more tightly with each other than human experts do—homogeneous critique is a limitation.</a:t>
            </a:r>
            <a:endParaRPr sz="940">
              <a:solidFill>
                <a:srgbClr val="5D6D7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R2 (baseline): AI proposals—especially GPT and Gemini—score substantially higher than human proposals under pooled AI evaluation.</a:t>
            </a:r>
            <a:endParaRPr sz="9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R3: Self-preference biases are large (GPT: +0.99δ; Claude: −0.58δ) and evaluator leniency varies by 0.71 points across models.</a:t>
            </a:r>
            <a:endParaRPr sz="9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After controls: GPT advantage is robust (δ=−1.00, sig across both sensitivity analyses). Gemini advantage disappears after self-removal.</a:t>
            </a:r>
            <a:endParaRPr sz="9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Claude equivalence to humans flips to deficit under strict single-evaluator assessment.</a:t>
            </a:r>
            <a:endParaRPr sz="9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2000"/>
          </a:p>
          <a:p>
            <a:pPr algn="l"/>
            <a:r>
              <a:rPr sz="1050" b="1">
                <a:solidFill>
                  <a:srgbClr val="1B2A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Big picture:</a:t>
            </a:r>
            <a:endParaRPr sz="1050" b="1">
              <a:solidFill>
                <a:srgbClr val="1B2A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 language models—particularly GPT-5.2—generate grant proposals that are consistently rated more highly than human proposals</a:t>
            </a:r>
            <a:endParaRPr sz="9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even by other AI models that did not write them. This is not merely an artifact of self-preference.</a:t>
            </a:r>
            <a:endParaRPr sz="9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pattern varies by model: Claude does not outperform humans; Gemini only does so under conditions that inflate its own score.</a:t>
            </a:r>
            <a:endParaRPr sz="9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5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 evaluators can serve as a scalable screening proxy, but they systematically compress critique diversity compared to human panels.</a:t>
            </a:r>
            <a:endParaRPr sz="95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2000"/>
          </a:p>
          <a:p>
            <a:pPr algn="l"/>
            <a:r>
              <a:rPr sz="1050" b="1">
                <a:solidFill>
                  <a:srgbClr val="C039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Limitations to address next:</a:t>
            </a:r>
            <a:endParaRPr sz="1050" b="1">
              <a:solidFill>
                <a:srgbClr val="C039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 Proxy validity beyond text similarity: ICC and rank-correlation with human panel are NaN—harmonization must be fixed.</a:t>
            </a:r>
            <a:endParaRPr sz="94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 Small n for human expert reviews (n=12 proposals, 47 reviews)—statistical power for human-AI calibration is limited.</a:t>
            </a:r>
            <a:endParaRPr sz="94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 Blinded external re-review: human raters have not scored AI proposals; the inverse direction (human rates AI) is untested.</a:t>
            </a:r>
            <a:endParaRPr sz="94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40">
                <a:solidFill>
                  <a:srgbClr val="2C3E5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4. GPT-5.2 near-zero variance in quality scores (SD=0.05) warrants investigation—are prompts saturating the rubric?</a:t>
            </a:r>
            <a:endParaRPr sz="940">
              <a:solidFill>
                <a:srgbClr val="2C3E5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endParaRPr sz="2000"/>
          </a:p>
          <a:p>
            <a:pPr algn="l"/>
            <a:r>
              <a:rPr sz="940" b="1">
                <a:solidFill>
                  <a:srgbClr val="E850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Recommended next steps: (a) repair proxy-validity harmonization; (b) recruit blinded human reviewers to rate AI proposals;</a:t>
            </a:r>
            <a:endParaRPr sz="940" b="1">
              <a:solidFill>
                <a:srgbClr val="E850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/>
            <a:r>
              <a:rPr sz="940">
                <a:solidFill>
                  <a:srgbClr val="E850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(c) test whether AI–AI homogeneity in reviews leads to worse ranking discrimination than human review panels.</a:t>
            </a:r>
            <a:endParaRPr sz="940">
              <a:solidFill>
                <a:srgbClr val="E850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Research Questions, Main Findings, and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One-sentence answers to each RQ from the integrated 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014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53728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D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272778"/>
            <a:ext cx="3937099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350" y="1353728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RQ1 (Diversity): Do AI and human proposals differ in internal diversity?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1510" y="1740535"/>
            <a:ext cx="3700145" cy="5054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Yes. Diversity is model-specific: Claude is most diverse, GPT-5.2 is most homogeneous, and Gemini is intermediate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9000" y="1253490"/>
            <a:ext cx="3937000" cy="92329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98950" y="1272778"/>
            <a:ext cx="3937099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1350" y="1353728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RQ2 (Novelty): Are AI proposals more novel than humans relative to literature?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51350" y="1721053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No. Humans are more novel than pooled AI, and model-level tests show Claude and Gemini remain significantly less novel than humans.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500000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2519050"/>
            <a:ext cx="3937099" cy="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350" y="2600000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RQ3 (Thematic/Stylistic): Are AI and human proposals similar in topic and style?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1460" y="3036540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No. Topic, nearest-neighbor, and cluster analyses all show source (human vs each different AI model)-linked separation, and style adjustment reduces but does not eliminate it.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2500000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98950" y="2519050"/>
            <a:ext cx="3937099" cy="0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1350" y="2600000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RQ4 (Quality): </a:t>
            </a: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 Are AI and human proposals similar in quality?</a:t>
            </a: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51350" y="2780000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8000" y="3966210"/>
            <a:ext cx="8128000" cy="923925"/>
          </a:xfrm>
          <a:prstGeom prst="roundRect">
            <a:avLst>
              <a:gd name="adj" fmla="val 3000"/>
            </a:avLst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1460" y="4100907"/>
            <a:ext cx="7900000" cy="3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Main takeaway: </a:t>
            </a:r>
            <a:r>
              <a:rPr lang="en-US" sz="1000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AI can optimize proposal scores without matching human novelty; model choice creates clear tradeoffs across diversity, novelty, and scored quality.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Next Steps: Add blinded human scoring of AI proposals, fix reviewer-calibration reliability (ICC/rank agreement)</a:t>
            </a:r>
            <a:endParaRPr lang="en-US" sz="1000" b="1" dirty="0">
              <a:solidFill>
                <a:schemeClr val="bg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734560" y="2949575"/>
            <a:ext cx="3901440" cy="915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AI reviews generally align with human expert feedback, but AI judges are less diverse in perspective than human panels. 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Quality is evaluator-sensitive: GPT remains robustly higher than human proposals under controls, Gemini attenuates after self-removal, and Claude is not superior under stricter evaluator settings.</a:t>
            </a:r>
            <a:endParaRPr lang="en-US" sz="9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33799</Words>
  <Application>WPS Presentation</Application>
  <PresentationFormat>On-screen Show (16:9)</PresentationFormat>
  <Paragraphs>666</Paragraphs>
  <Slides>32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Arial</vt:lpstr>
      <vt:lpstr>SimSun</vt:lpstr>
      <vt:lpstr>Wingdings</vt:lpstr>
      <vt:lpstr>Arial</vt:lpstr>
      <vt:lpstr>Arial</vt:lpstr>
      <vt:lpstr>Arial Bold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vs Human Research Proposal Diversity Analysis</dc:title>
  <dc:creator>Diversity Analysis</dc:creator>
  <dc:subject>PptxGenJS Presentation</dc:subject>
  <cp:lastModifiedBy>evey</cp:lastModifiedBy>
  <cp:revision>24</cp:revision>
  <dcterms:created xsi:type="dcterms:W3CDTF">2026-04-28T16:54:47Z</dcterms:created>
  <dcterms:modified xsi:type="dcterms:W3CDTF">2026-04-28T16:54:47Z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FC05F9E07865875A12F58B69795AEE2A_42</vt:lpwstr>
  </property>
  <property fmtid="{D5CDD505-2E9C-101B-9397-08002B2CF9AE}" pid="3" name="KSOProductBuildVer">
    <vt:lpwstr>1033-12.1.23141.23141</vt:lpwstr>
  </property>
</Properties>
</file>