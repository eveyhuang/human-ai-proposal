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2715870583107"/>
          <c:y val="0.064708849548914"/>
          <c:w val="0.785854131807253"/>
          <c:h val="0.80610875626070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Cliff's Delta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E44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700" b="0" i="0" u="none" strike="noStrike" kern="1200" baseline="0">
                    <a:solidFill>
                      <a:srgbClr val="2C3E5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All AI</c:v>
                </c:pt>
                <c:pt idx="1">
                  <c:v>Claude</c:v>
                </c:pt>
                <c:pt idx="2">
                  <c:v>Gemini</c:v>
                </c:pt>
                <c:pt idx="3">
                  <c:v>GPT-5.2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-0.29</c:v>
                </c:pt>
                <c:pt idx="1">
                  <c:v>0.248</c:v>
                </c:pt>
                <c:pt idx="2">
                  <c:v>-0.726</c:v>
                </c:pt>
                <c:pt idx="3">
                  <c:v>-1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4"/>
          <c:min val="-1.1"/>
        </c:scaling>
        <c:delete val="0"/>
        <c:axPos val="l"/>
        <c:majorGridlines>
          <c:spPr>
            <a:ln w="12700" cap="flat" cmpd="sng" algn="ctr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en-US" sz="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Arial" panose="020B0604020202090204"/>
                  </a:rPr>
                  <a:t>Cliff's Delta</a:t>
                </a:r>
                <a:endParaRPr sz="800" b="0" i="0" u="none" strike="noStrike">
                  <a:solidFill>
                    <a:srgbClr val="000000"/>
                  </a:solidFill>
                  <a:latin typeface="Arial" panose="020B0604020202090204"/>
                </a:endParaRP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200314f2-4890-4587-9a79-4da99555cb1d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9941685099538"/>
          <c:y val="0.0775091089764823"/>
          <c:w val="0.76951538306857"/>
          <c:h val="0.7816495528320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Distance to Centroid</c:v>
                </c:pt>
              </c:strCache>
            </c:strRef>
          </c:tx>
          <c:spPr>
            <a:solidFill>
              <a:srgbClr val="E74C3C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74C3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E44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700" b="0" i="0" u="none" strike="noStrike" kern="1200" baseline="0">
                    <a:solidFill>
                      <a:srgbClr val="2C3E5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Human</c:v>
                </c:pt>
                <c:pt idx="1">
                  <c:v>Claude</c:v>
                </c:pt>
                <c:pt idx="2">
                  <c:v>Gemini</c:v>
                </c:pt>
                <c:pt idx="3">
                  <c:v>GPT-5.2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0.032</c:v>
                </c:pt>
                <c:pt idx="1">
                  <c:v>0.179</c:v>
                </c:pt>
                <c:pt idx="2">
                  <c:v>0.047</c:v>
                </c:pt>
                <c:pt idx="3">
                  <c:v>0.01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2"/>
          <c:min val="0"/>
        </c:scaling>
        <c:delete val="0"/>
        <c:axPos val="l"/>
        <c:majorGridlines>
          <c:spPr>
            <a:ln w="12700" cap="flat" cmpd="sng" algn="ctr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en-US" sz="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Arial" panose="020B0604020202090204"/>
                  </a:rPr>
                  <a:t>Mean Cosine Distance</a:t>
                </a:r>
                <a:endParaRPr sz="800" b="0" i="0" u="none" strike="noStrike">
                  <a:solidFill>
                    <a:srgbClr val="000000"/>
                  </a:solidFill>
                  <a:latin typeface="Arial" panose="020B0604020202090204"/>
                </a:endParaRP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367fba64-100b-4f7a-a812-74a825e91617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Same Group</c:v>
                </c:pt>
              </c:strCache>
            </c:strRef>
          </c:tx>
          <c:spPr>
            <a:solidFill>
              <a:srgbClr val="2E86AB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Human</c:v>
                </c:pt>
                <c:pt idx="1">
                  <c:v>Claude</c:v>
                </c:pt>
                <c:pt idx="2">
                  <c:v>Gemini</c:v>
                </c:pt>
                <c:pt idx="3">
                  <c:v>GPT-5.2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43.5</c:v>
                </c:pt>
                <c:pt idx="1">
                  <c:v>95.7</c:v>
                </c:pt>
                <c:pt idx="2">
                  <c:v>69.6</c:v>
                </c:pt>
                <c:pt idx="3">
                  <c:v>69.6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AI Model</c:v>
                </c:pt>
              </c:strCache>
            </c:strRef>
          </c:tx>
          <c:spPr>
            <a:solidFill>
              <a:srgbClr val="B0C4DE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Human</c:v>
                </c:pt>
                <c:pt idx="1">
                  <c:v>Claude</c:v>
                </c:pt>
                <c:pt idx="2">
                  <c:v>Gemini</c:v>
                </c:pt>
                <c:pt idx="3">
                  <c:v>GPT-5.2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4.3</c:v>
                </c:pt>
                <c:pt idx="2">
                  <c:v>30.4</c:v>
                </c:pt>
                <c:pt idx="3">
                  <c:v>30.4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Different Group Type</c:v>
                </c:pt>
              </c:strCache>
            </c:strRef>
          </c:tx>
          <c:spPr>
            <a:solidFill>
              <a:srgbClr val="E8505B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Human</c:v>
                </c:pt>
                <c:pt idx="1">
                  <c:v>Claude</c:v>
                </c:pt>
                <c:pt idx="2">
                  <c:v>Gemini</c:v>
                </c:pt>
                <c:pt idx="3">
                  <c:v>GPT-5.2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56.5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7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 cmpd="sng" algn="ctr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 rot="0" spcFirstLastPara="0" vertOverflow="ellipsis" vert="horz" wrap="square" anchor="ctr" anchorCtr="1"/>
              <a:lstStyle/>
              <a:p>
                <a:pPr>
                  <a:defRPr lang="en-US" sz="7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  <a:r>
                  <a:rPr sz="700" b="0" i="0" u="none" strike="noStrike">
                    <a:solidFill>
                      <a:srgbClr val="000000"/>
                    </a:solidFill>
                    <a:latin typeface="Arial" panose="020B0604020202090204"/>
                  </a:rPr>
                  <a:t>% of Proposals</a:t>
                </a:r>
                <a:endParaRPr sz="700" b="0" i="0" u="none" strike="noStrike">
                  <a:solidFill>
                    <a:srgbClr val="000000"/>
                  </a:solidFill>
                  <a:latin typeface="Arial" panose="020B0604020202090204"/>
                </a:endParaRP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7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62dcc2d8-c056-4d1b-baa9-212a3f35dbee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62000" y="1478012"/>
            <a:ext cx="7772400" cy="8572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30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Analysis: AI vs Human</a:t>
            </a:r>
            <a:endParaRPr lang="en-US" sz="30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30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Research Proposals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62000" y="2436763"/>
            <a:ext cx="7772400" cy="2381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400"/>
              </a:spcAft>
              <a:buNone/>
            </a:pPr>
            <a:r>
              <a:rPr lang="en-US" sz="1600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Embedding-Based Comparison Using BioLinkBERT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2979688"/>
            <a:ext cx="1015901" cy="38100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62000" y="3322588"/>
            <a:ext cx="77724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NSF National Synthesis Center for Emergence in Molecular &amp; Cellular Sciences (NCEMS)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2000" y="3525738"/>
            <a:ext cx="77724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February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0" y="5105400"/>
            <a:ext cx="9144000" cy="38100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Study Design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7927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Research Question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180802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333054"/>
            <a:ext cx="3951021" cy="55989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Do AI-generated research proposals exhibit less diversity than human-written proposals when responding to the same funding call?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7950" y="1969145"/>
            <a:ext cx="3951021" cy="55989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We compare proposals written by humans and three frontier AI models for the NSF NCEMS call on emergence in molecular and cellular biosciences.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7950" y="278293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Sample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7950" y="3084463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7950" y="3312914"/>
            <a:ext cx="3873550" cy="743843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7000" y="3312914"/>
            <a:ext cx="0" cy="743843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450" y="3414415"/>
            <a:ext cx="3601263" cy="3555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8450" y="3795266"/>
            <a:ext cx="3601263" cy="1599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(from 2 cohorts)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4209157"/>
            <a:ext cx="3873550" cy="743843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27000" y="4209157"/>
            <a:ext cx="0" cy="743843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8450" y="4310658"/>
            <a:ext cx="3601263" cy="3555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69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8450" y="4691509"/>
            <a:ext cx="3601263" cy="1599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proposals (23 per model)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62500" y="87927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Models Tested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62500" y="1180802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762500" y="1409254"/>
            <a:ext cx="3873550" cy="583853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81550" y="1409254"/>
            <a:ext cx="0" cy="583853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53000" y="1510754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 Opus 4.5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53000" y="1731615"/>
            <a:ext cx="3601263" cy="1599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Anthropic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62500" y="2145506"/>
            <a:ext cx="3873550" cy="583853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781550" y="2145506"/>
            <a:ext cx="0" cy="583853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3000" y="2247007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8E44AD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 3 Pro Preview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53000" y="2467868"/>
            <a:ext cx="3601263" cy="1599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Google DeepMind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62500" y="2881759"/>
            <a:ext cx="3873550" cy="583853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781550" y="2881759"/>
            <a:ext cx="0" cy="583853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3000" y="2983260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E67E2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53000" y="3204121"/>
            <a:ext cx="3601263" cy="1599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OpenAI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62500" y="3719512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Approach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762500" y="4021038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762500" y="4173289"/>
            <a:ext cx="3951021" cy="3732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models received the same funding call, background literature, and evaluation criteria that the human applicants had.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62500" y="4622750"/>
            <a:ext cx="3951021" cy="3732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is measured via three complementary embedding-space analyses with non-parametric statistical tests.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Methodology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28377"/>
            <a:ext cx="4417365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 Pipeline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050578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190179"/>
            <a:ext cx="4330750" cy="549176"/>
          </a:xfrm>
          <a:prstGeom prst="roundRect">
            <a:avLst>
              <a:gd name="adj" fmla="val 6938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451" y="1253579"/>
            <a:ext cx="4210303" cy="1507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5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1. BioLinkBERT-large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09451" y="1416993"/>
            <a:ext cx="4210303" cy="2589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340M param biomedical model pretrained on PubMed with citation links. SOTA on biomedical NLP.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07950" y="1815554"/>
            <a:ext cx="4330750" cy="549176"/>
          </a:xfrm>
          <a:prstGeom prst="roundRect">
            <a:avLst>
              <a:gd name="adj" fmla="val 6938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9451" y="1878955"/>
            <a:ext cx="4210303" cy="1507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5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2. Overlapping Chunk Averaging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09451" y="2042368"/>
            <a:ext cx="4210303" cy="2589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400-word chunks, 50-word overlap. Averaged to one 1024-dim vector per proposal. Uses 100% of text.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07950" y="2440930"/>
            <a:ext cx="4330750" cy="419695"/>
          </a:xfrm>
          <a:prstGeom prst="roundRect">
            <a:avLst>
              <a:gd name="adj" fmla="val 9078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9451" y="2504331"/>
            <a:ext cx="4210303" cy="1507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5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3. Cosine Distance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09451" y="2667744"/>
            <a:ext cx="4210303" cy="129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diversity metrics computed as cosine distance in 1024-dim embedding space.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7950" y="3000226"/>
            <a:ext cx="4417365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Statistical Tests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7950" y="3222427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7950" y="3336578"/>
            <a:ext cx="927646" cy="222200"/>
          </a:xfrm>
          <a:prstGeom prst="roundRect">
            <a:avLst>
              <a:gd name="adj" fmla="val 17147"/>
            </a:avLst>
          </a:prstGeom>
          <a:solidFill>
            <a:srgbClr val="E8F4F8"/>
          </a:solidFill>
          <a:ln w="9525">
            <a:solidFill>
              <a:srgbClr val="2E86A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3675" y="3384203"/>
            <a:ext cx="771320" cy="1269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Mann-Whitney U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473696" y="3336578"/>
            <a:ext cx="679996" cy="222200"/>
          </a:xfrm>
          <a:prstGeom prst="roundRect">
            <a:avLst>
              <a:gd name="adj" fmla="val 17147"/>
            </a:avLst>
          </a:prstGeom>
          <a:solidFill>
            <a:srgbClr val="E8F4F8"/>
          </a:solidFill>
          <a:ln w="9525">
            <a:solidFill>
              <a:srgbClr val="2E86A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559421" y="3384203"/>
            <a:ext cx="518717" cy="1269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Cliff's Delta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191792" y="3336578"/>
            <a:ext cx="995511" cy="222200"/>
          </a:xfrm>
          <a:prstGeom prst="roundRect">
            <a:avLst>
              <a:gd name="adj" fmla="val 17147"/>
            </a:avLst>
          </a:prstGeom>
          <a:solidFill>
            <a:srgbClr val="E8F4F8"/>
          </a:solidFill>
          <a:ln w="9525">
            <a:solidFill>
              <a:srgbClr val="2E86A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277517" y="3384203"/>
            <a:ext cx="840543" cy="1269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Permutation (10K)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092601" y="828377"/>
            <a:ext cx="3614318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Three Complementary Analyses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92601" y="1050578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092601" y="1190179"/>
            <a:ext cx="3543449" cy="549176"/>
          </a:xfrm>
          <a:prstGeom prst="rect">
            <a:avLst/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5111651" y="1190179"/>
            <a:ext cx="0" cy="549176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32202" y="1253579"/>
            <a:ext cx="3368394" cy="1507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5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Pairwise Diversity (Within-group)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232202" y="1416993"/>
            <a:ext cx="3368394" cy="2589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Within-group cosine distances between all pairs. Measures how different proposals are from each other.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092601" y="1815554"/>
            <a:ext cx="3543449" cy="549176"/>
          </a:xfrm>
          <a:prstGeom prst="rect">
            <a:avLst/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5111651" y="1815554"/>
            <a:ext cx="0" cy="549176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32202" y="1878955"/>
            <a:ext cx="3368394" cy="1507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5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Centroid Dispersion (Within-group)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232202" y="2042368"/>
            <a:ext cx="3368394" cy="2589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Distance from each proposal to its group centroid. Measures spread around central tendency.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092601" y="2440930"/>
            <a:ext cx="3543449" cy="549176"/>
          </a:xfrm>
          <a:prstGeom prst="rect">
            <a:avLst/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5111651" y="2440930"/>
            <a:ext cx="0" cy="549176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202" y="2504331"/>
            <a:ext cx="3368394" cy="15076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5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Nearest-Neighbor Outlier Detection (Between-group)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232202" y="2667744"/>
            <a:ext cx="3368394" cy="2589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NN distance in combined space (92 proposals). Top 10% = outliers. Tracks which group NN belongs to.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092601" y="3104406"/>
            <a:ext cx="3614318" cy="1348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5"/>
              </a:lnSpc>
              <a:spcBef>
                <a:spcPts val="600"/>
              </a:spcBef>
              <a:spcAft>
                <a:spcPts val="3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Consistent findings across all three analyses strengthens conclusions.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1: Within-Group Pairwise Diversity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28377"/>
            <a:ext cx="3627069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0760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8000" y="4769485"/>
            <a:ext cx="4215765" cy="2806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Cliff's Delta effect sizes vs Human baseline. Positive = AI more diverse. *** p &lt; 0.001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317802" y="828377"/>
            <a:ext cx="4404613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802" y="10760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17802" y="1253579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36852" y="1253579"/>
            <a:ext cx="0" cy="691158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2852" y="1329779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 Opus 4.5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the only model MORE diverse than humans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2852" y="1537395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pairwise distance: 0.340 vs Human 0.066 (small effect, p &lt; 0.001). However, highly skewed distribution: median 0.072 with long tail to 0.8.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17802" y="2046238"/>
            <a:ext cx="4318248" cy="691158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36852" y="2046238"/>
            <a:ext cx="0" cy="691158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2852" y="2122438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extreme homogeneity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82852" y="2330053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pairwise distance: 0.022 (3x lower than humans). Cliff's Delta = -1.00 (maximum possible effect). Proposals are near-identical.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317802" y="2838896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336852" y="2838896"/>
            <a:ext cx="0" cy="691158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2852" y="2915096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 3 Pro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moderately less diverse than humans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82852" y="3122712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Mean: 0.096. Cliff's Delta = -0.73 (large effect, p &lt; 0.001). More varied than GPT-5.2 but still significantly less than human.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317802" y="3631555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336852" y="3631555"/>
            <a:ext cx="0" cy="691158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2852" y="3707755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AI combined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a small negative effect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82852" y="3915370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Cliff's Delta = -0.29 (small). Aggregating masks dramatic between-model differences.</a:t>
            </a:r>
            <a:endParaRPr lang="en-US" sz="85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417780" y="2610624"/>
          <a:ext cx="3555950" cy="21589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26" name="Picture 25" descr="pairwise_diversity_by_model"/>
          <p:cNvPicPr>
            <a:picLocks noChangeAspect="1"/>
          </p:cNvPicPr>
          <p:nvPr/>
        </p:nvPicPr>
        <p:blipFill>
          <a:blip r:embed="rId2"/>
          <a:srcRect t="10864" r="52891" b="59988"/>
          <a:stretch>
            <a:fillRect/>
          </a:stretch>
        </p:blipFill>
        <p:spPr>
          <a:xfrm>
            <a:off x="508000" y="1177925"/>
            <a:ext cx="3465830" cy="14992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2: Centroid Dispersion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726777"/>
            <a:ext cx="3627069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9744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7330" y="4682430"/>
            <a:ext cx="3627069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distance from each proposal to its group centroid. Larger = more spread out from center.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317802" y="828377"/>
            <a:ext cx="4404613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802" y="10760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17802" y="1253579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36852" y="1253579"/>
            <a:ext cx="0" cy="691158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2852" y="1329779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massive dispersion from its centroid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2852" y="1537395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0.179 vs Human 0.032. Cliff's Delta = +0.99 (near-maximum large effect, p &lt; 0.001). Proposals spread widely around center.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17802" y="2046238"/>
            <a:ext cx="4318248" cy="831354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36852" y="2046238"/>
            <a:ext cx="0" cy="831354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2852" y="2122438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tightly clustered around its centroid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82852" y="2330053"/>
            <a:ext cx="4106772" cy="420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0.010. Cliff's Delta = -1.00 (p &lt; 0.001). Variance: 0.000005 vs Human 0.00008. Near-zero spread: all proposals essentially the same point in embedding space.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317802" y="2979093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336852" y="2979093"/>
            <a:ext cx="0" cy="691158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2852" y="3055293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less dispersed than humans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82852" y="3262908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0.047. Cliff's Delta = -0.82 (large effect, p &lt; 0.001). Moderate clustering, though has some high-distance outlier proposals.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317802" y="3771751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336852" y="3771751"/>
            <a:ext cx="0" cy="691158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2852" y="3847951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AI combined vs Human: not significant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82852" y="4055566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Cliff's Delta = -0.17, p = 0.22. Claude's high dispersion offsets GPT-5.2's low dispersion, producing a misleading null result when aggregated.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17802" y="4589859"/>
            <a:ext cx="4404613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Consistency:</a:t>
            </a:r>
            <a:r>
              <a:rPr lang="en-US" sz="9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Confirms pairwise analysis ranking: Claude &gt; Human &gt; Gemini &gt; GPT-5.2</a:t>
            </a:r>
            <a:endParaRPr lang="en-US" sz="90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789940" y="2765425"/>
          <a:ext cx="3157855" cy="1917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28" name="Picture 27" descr="centroid_dispersion_by_model"/>
          <p:cNvPicPr>
            <a:picLocks noChangeAspect="1"/>
          </p:cNvPicPr>
          <p:nvPr/>
        </p:nvPicPr>
        <p:blipFill>
          <a:blip r:embed="rId2"/>
          <a:srcRect r="49285" b="5016"/>
          <a:stretch>
            <a:fillRect/>
          </a:stretch>
        </p:blipFill>
        <p:spPr>
          <a:xfrm>
            <a:off x="952500" y="952500"/>
            <a:ext cx="2780665" cy="1925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3: Nearest-Neighbor Outlier Detection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28377"/>
            <a:ext cx="365075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 Rates (top 10% NN distance)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0760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240929"/>
            <a:ext cx="1738759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833711"/>
            <a:ext cx="1738759" cy="0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094" y="1317129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13.0%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094" y="1606451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348210" y="1240929"/>
            <a:ext cx="1738908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348210" y="1833711"/>
            <a:ext cx="1738908" cy="0"/>
          </a:xfrm>
          <a:prstGeom prst="line">
            <a:avLst/>
          </a:prstGeom>
          <a:noFill/>
          <a:ln w="38100">
            <a:solidFill>
              <a:srgbClr val="5D6D7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34352" y="1317129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0.0%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34352" y="1606451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7950" y="1928961"/>
            <a:ext cx="1738759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521744"/>
            <a:ext cx="173875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094" y="2005161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4.3%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094" y="2294483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48210" y="1928961"/>
            <a:ext cx="1738908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348210" y="2521744"/>
            <a:ext cx="1738908" cy="0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34352" y="2005161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26.1%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434352" y="2294483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07950" y="2705844"/>
            <a:ext cx="365075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Nearest Neighbor Origins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7950" y="2953494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341019" y="828377"/>
            <a:ext cx="438093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341019" y="10760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341019" y="1253579"/>
            <a:ext cx="4295031" cy="691158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360069" y="1253579"/>
            <a:ext cx="0" cy="691158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06069" y="1329779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 paradox: most outliers despite least diverse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06069" y="1537395"/>
            <a:ext cx="4083091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26.1% outliers. Its extreme internal similarity creates a tight, isolated cluster far from everyone else. Individual proposals appear as outliers in the global space.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341019" y="2046238"/>
            <a:ext cx="4295031" cy="831354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360069" y="2046238"/>
            <a:ext cx="0" cy="831354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06069" y="2122438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Claude: zero outliers despite highest diversity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06069" y="2330053"/>
            <a:ext cx="4083091" cy="420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0% outliers, smallest NN distances (mean 0.014). Claude forms subclusters that are individually tight but spread across the space. Each proposal has a close neighbor.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41019" y="2979093"/>
            <a:ext cx="4295031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360069" y="2979093"/>
            <a:ext cx="0" cy="691158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06069" y="3055293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produce genuine outliers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506069" y="3262908"/>
            <a:ext cx="4083091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FF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13% outliers. 43.5% have NN from own group; 56.5% NN from AI</a:t>
            </a: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. Humans occupy shared territory but also produce truly unique ideas.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341019" y="3771751"/>
            <a:ext cx="4295031" cy="831354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360069" y="3771751"/>
            <a:ext cx="0" cy="831354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06069" y="3847951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100% of AI proposals' nearest neighbors are other AI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06069" y="4055566"/>
            <a:ext cx="4083091" cy="420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 AI proposal is closest to a human proposal. 95.7% of Claude's NN are from Claude itself. Suggests systematic framing differences between AI and human approaches.</a:t>
            </a:r>
            <a:endParaRPr lang="en-US" sz="850" dirty="0"/>
          </a:p>
        </p:txBody>
      </p:sp>
      <p:graphicFrame>
        <p:nvGraphicFramePr>
          <p:cNvPr id="42" name="Chart 0"/>
          <p:cNvGraphicFramePr/>
          <p:nvPr/>
        </p:nvGraphicFramePr>
        <p:xfrm>
          <a:off x="507950" y="3080296"/>
          <a:ext cx="3555950" cy="152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 Space Visualization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91460" y="803077"/>
            <a:ext cx="333697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UMAP 2D Projection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91460" y="10507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91460" y="1177528"/>
            <a:ext cx="3336971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92 proposals projected from 1024-dim to 2D. X markers = group centroids. Magenta circles = outliers.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91460" y="1576090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510510" y="1576090"/>
            <a:ext cx="0" cy="500211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56511" y="1652290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forms a tight, isolated cluster on the far left, visually confirming near-identical output.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91460" y="2177802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510510" y="2177802"/>
            <a:ext cx="0" cy="500211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56511" y="2254002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proposals are spread across multiple regions, forming distinct subclusters.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91460" y="2779514"/>
            <a:ext cx="3271540" cy="35168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510510" y="2779514"/>
            <a:ext cx="0" cy="351681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56511" y="2855714"/>
            <a:ext cx="3039130" cy="1485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moderate clustering with some spread.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91460" y="3232696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510510" y="3232696"/>
            <a:ext cx="0" cy="500211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56511" y="3308896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proposals are distributed throughout the center-right, overlapping with Claude and Gemini.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91460" y="3834408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510510" y="3834408"/>
            <a:ext cx="0" cy="500211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6511" y="3910608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Outliers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(magenta) are predominantly human and GPT-5.2 proposals at the space periphery.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91460" y="4461570"/>
            <a:ext cx="3336971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t-SNE projection (not shown) confirms same clustering patterns, reinforcing structural validity of findings.</a:t>
            </a:r>
            <a:endParaRPr lang="en-US" sz="850" dirty="0"/>
          </a:p>
        </p:txBody>
      </p:sp>
      <p:pic>
        <p:nvPicPr>
          <p:cNvPr id="23" name="Image 0" descr="/Users/eveyhuang/Documents/NICO/human-AI-proposal-comparison/results/figures/embedding_space_2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803077"/>
            <a:ext cx="4825901" cy="39369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Cross-Analysis Consistency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Summary of Cliff's Delta Effect Sizes vs Human Baseline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3387179"/>
            <a:ext cx="8290661" cy="1401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Bef>
                <a:spcPts val="800"/>
              </a:spcBef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Positive = more diverse/dispersed/outlier-prone than humans. Negative = less. *** p &lt; 0.001, ns = not significant.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7950" y="3628876"/>
            <a:ext cx="8128099" cy="766465"/>
          </a:xfrm>
          <a:prstGeom prst="rect">
            <a:avLst/>
          </a:prstGeom>
          <a:solidFill>
            <a:srgbClr val="E8F8E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27000" y="3628876"/>
            <a:ext cx="0" cy="766465"/>
          </a:xfrm>
          <a:prstGeom prst="line">
            <a:avLst/>
          </a:prstGeom>
          <a:noFill/>
          <a:ln w="38100">
            <a:solidFill>
              <a:srgbClr val="27AE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8450" y="3730377"/>
            <a:ext cx="7940903" cy="16490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Findings are highly consistent across all three analyses: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8450" y="3946029"/>
            <a:ext cx="7940903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 diversity ranking Claude &gt; Human &gt; Gemini &gt; GPT-5.2 holds across pairwise, centroid, and nearest-neighbor metrics. The sole exception is GPT-5.2's high outlier rate, which reflects its isolation as a cluster rather than true diversity. Aggregating across models masks these dramatic differences.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507950" y="1253728"/>
          <a:ext cx="8127950" cy="16002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188720"/>
                <a:gridCol w="1188720"/>
                <a:gridCol w="731520"/>
                <a:gridCol w="2011680"/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Group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Pairwise Diversity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Centroid Dispersion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NN Distance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Outlier Rate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Overall Pattern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Human (baseline)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---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---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---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13.0%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Moderate diversity, genuine outliers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Claude Opus 4.5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+0.25 (small) ***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+0.99 (large) ***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-1.00 (large) ***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0.0%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High spread, subcluster pattern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Gemini 3 Pro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-0.73 (large) ***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-0.82 (large) ***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-0.76 (large) ***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4.3%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Low diversity, moderate clustering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GPT-5.2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-1.00 (large) ***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-1.00 (large) ***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+0.06 (negl.) ns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26.1%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Near-identical, isolated cluster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3937099" cy="1393627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07950" y="872877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0350" y="1018877"/>
            <a:ext cx="3704945" cy="3085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60350" y="1378148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Model-specific diversity varies dramatically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0350" y="1581299"/>
            <a:ext cx="3704945" cy="48845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There is no single "AI diversity" story. Claude is more diverse than humans, Gemini moderately less, and GPT-5.2 dramatically less. Aggregating across models produces misleading results.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7950" y="2374404"/>
            <a:ext cx="3937099" cy="1393627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07950" y="2393454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350" y="2539454"/>
            <a:ext cx="3704945" cy="3085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0350" y="2898725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 exhibits mode collapse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0350" y="3101876"/>
            <a:ext cx="3704945" cy="48845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Near-identical proposals with virtually zero internal variation across all 23 generations. Effect sizes hit the theoretical maximum (|delta| = 1.0) on pairwise and centroid measures.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98950" y="853827"/>
            <a:ext cx="3937099" cy="1556445"/>
          </a:xfrm>
          <a:prstGeom prst="roundRect">
            <a:avLst>
              <a:gd name="adj" fmla="val 3264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698950" y="872877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51350" y="1018877"/>
            <a:ext cx="3704945" cy="3085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51350" y="1378148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 produces diverse subclusters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51350" y="1581299"/>
            <a:ext cx="3704945" cy="6512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High overall diversity but with local clustering. Explores different proposal "modes" (indicated by subclusters in UMAP), yet within each mode, proposals share similarities. Zero outliers despite highest spread.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698950" y="2537222"/>
            <a:ext cx="3937099" cy="1708845"/>
          </a:xfrm>
          <a:prstGeom prst="roundRect">
            <a:avLst>
              <a:gd name="adj" fmla="val 2973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698950" y="2556272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51350" y="2702272"/>
            <a:ext cx="3704945" cy="3085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30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51350" y="3061543"/>
            <a:ext cx="3704945" cy="30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uniquely occupy shared and novel territory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51350" y="3417094"/>
            <a:ext cx="3704945" cy="6512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Moderate diversity with genuine outliers (13%). 56.5% of humans' nearest neighbors are AI proposals, meaning humans overlap with AI space. But humans also produce truly unique ideas not found in any AI output.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Implications &amp; Limitations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What This Means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253728"/>
            <a:ext cx="3962400" cy="1185863"/>
          </a:xfrm>
          <a:prstGeom prst="rect">
            <a:avLst/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27000" y="1253728"/>
            <a:ext cx="0" cy="1185863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8450" y="1380679"/>
            <a:ext cx="3691890" cy="17130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models are not interchangeable for scientific ideation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98450" y="1615380"/>
            <a:ext cx="3691890" cy="46255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 range from GPT-5.2's mode collapse to Claude's subcluster diversity shows that model choice drastically affects the space of ideas generated.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73501" y="1253728"/>
            <a:ext cx="3962549" cy="1185863"/>
          </a:xfrm>
          <a:prstGeom prst="rect">
            <a:avLst/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692551" y="1253728"/>
            <a:ext cx="0" cy="1185863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001" y="1380679"/>
            <a:ext cx="3692042" cy="34260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AI-generated proposals occupy a distinct region from humans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64001" y="1786682"/>
            <a:ext cx="3692042" cy="46255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100% of AI nearest neighbors are other AI. Even the most diverse AI model (Claude) does not fully overlap with human idea space, suggesting systematic framing differences.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591991"/>
            <a:ext cx="3962400" cy="1014561"/>
          </a:xfrm>
          <a:prstGeom prst="rect">
            <a:avLst/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27000" y="2591991"/>
            <a:ext cx="0" cy="1014561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8450" y="2718941"/>
            <a:ext cx="3691890" cy="17130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contribute unique outlier ideas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8450" y="2953643"/>
            <a:ext cx="3691890" cy="46255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13% of human proposals occupy territory far from both human and AI clusters. These "edge of the idea space" proposals represent novel thinking that AI may not replicate.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73501" y="2591991"/>
            <a:ext cx="3962549" cy="1014561"/>
          </a:xfrm>
          <a:prstGeom prst="rect">
            <a:avLst/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692551" y="2591991"/>
            <a:ext cx="0" cy="1014561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4001" y="2718941"/>
            <a:ext cx="3692042" cy="17130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Aggregated comparisons mask critical model differences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64001" y="2953643"/>
            <a:ext cx="3692042" cy="46255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Combined "AI vs Human" comparisons show small or null effects because Claude's diversity offsets GPT-5.2's homogeneity. Per-model analysis is essential.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7950" y="3860453"/>
            <a:ext cx="8128099" cy="574774"/>
          </a:xfrm>
          <a:prstGeom prst="roundRect">
            <a:avLst>
              <a:gd name="adj" fmla="val 6629"/>
            </a:avLst>
          </a:prstGeom>
          <a:solidFill>
            <a:srgbClr val="F5F5F5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60350" y="3961954"/>
            <a:ext cx="7979765" cy="3083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Limitations:</a:t>
            </a: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Single funding call (NCEMS); embedding similarity does not capture all dimensions of scientific novelty (e.g., feasibility, interdisciplinarity); 23 proposals per group; single generation per prompt per model; BioLinkBERT may not capture all domain-specific semantic distinctions.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8416</Words>
  <Application>WPS Spreadsheets</Application>
  <PresentationFormat>On-screen Show (16:9)</PresentationFormat>
  <Paragraphs>313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5" baseType="lpstr">
      <vt:lpstr>Arial</vt:lpstr>
      <vt:lpstr>宋体</vt:lpstr>
      <vt:lpstr>Wingdings</vt:lpstr>
      <vt:lpstr>Arial</vt:lpstr>
      <vt:lpstr>Arial</vt:lpstr>
      <vt:lpstr>Arial</vt:lpstr>
      <vt:lpstr>Calibri</vt:lpstr>
      <vt:lpstr>Helvetica Neue</vt:lpstr>
      <vt:lpstr>微软雅黑</vt:lpstr>
      <vt:lpstr>汉仪旗黑</vt:lpstr>
      <vt:lpstr>宋体</vt:lpstr>
      <vt:lpstr>Arial Unicode MS</vt:lpstr>
      <vt:lpstr>汉仪书宋二KW</vt:lpstr>
      <vt:lpstr>Arial Bold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vs Human Research Proposal Diversity Analysis</dc:title>
  <dc:creator>Diversity Analysis</dc:creator>
  <dc:subject>PptxGenJS Presentation</dc:subject>
  <cp:lastModifiedBy>嘉馨</cp:lastModifiedBy>
  <cp:revision>4</cp:revision>
  <dcterms:created xsi:type="dcterms:W3CDTF">2026-02-14T00:15:09Z</dcterms:created>
  <dcterms:modified xsi:type="dcterms:W3CDTF">2026-02-14T00:15:09Z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FC05F9E07865875A12F58B69795AEE2A_42</vt:lpwstr>
  </property>
  <property fmtid="{D5CDD505-2E9C-101B-9397-08002B2CF9AE}" pid="3" name="KSOProductBuildVer">
    <vt:lpwstr>1033-7.2.2.8955</vt:lpwstr>
  </property>
</Properties>
</file>