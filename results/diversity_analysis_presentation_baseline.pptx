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74" r:id="rId7"/>
    <p:sldId id="259" r:id="rId8"/>
    <p:sldId id="260" r:id="rId9"/>
    <p:sldId id="261" r:id="rId10"/>
    <p:sldId id="262" r:id="rId11"/>
    <p:sldId id="273" r:id="rId12"/>
    <p:sldId id="266" r:id="rId13"/>
    <p:sldId id="267" r:id="rId14"/>
    <p:sldId id="268" r:id="rId15"/>
    <p:sldId id="269" r:id="rId16"/>
    <p:sldId id="270" r:id="rId17"/>
    <p:sldId id="275" r:id="rId18"/>
    <p:sldId id="276" r:id="rId19"/>
    <p:sldId id="277" r:id="rId20"/>
    <p:sldId id="271" r:id="rId21"/>
    <p:sldId id="272" r:id="rId2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3E50"/>
    <a:srgbClr val="E8505B"/>
    <a:srgbClr val="87929C"/>
    <a:srgbClr val="EA728A"/>
    <a:srgbClr val="8E44AD"/>
    <a:srgbClr val="FFBA66"/>
    <a:srgbClr val="B2B2B2"/>
    <a:srgbClr val="2E86AB"/>
    <a:srgbClr val="16A0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715870583107"/>
          <c:y val="0.064708849548914"/>
          <c:w val="0.785854131807253"/>
          <c:h val="0.806108756260709"/>
        </c:manualLayout>
      </c:layout>
      <c:barChart>
        <c:barDir val="col"/>
        <c:grouping val="clustered"/>
        <c:varyColors val="0"/>
        <c:ser>
          <c:idx val="0"/>
          <c:order val="0"/>
          <c:tx>
            <c:strRef>
              <c:f>Sheet1!$B$1</c:f>
              <c:strCache>
                <c:ptCount val="1"/>
                <c:pt idx="0">
                  <c:v>Cliff's Delta</c:v>
                </c:pt>
              </c:strCache>
            </c:strRef>
          </c:tx>
          <c:spPr>
            <a:solidFill>
              <a:srgbClr val="1B2A4A"/>
            </a:solidFill>
            <a:effectLst/>
          </c:spPr>
          <c:invertIfNegative val="0"/>
          <c:dPt>
            <c:idx val="0"/>
            <c:invertIfNegative val="0"/>
            <c:bubble3D val="0"/>
            <c:spPr>
              <a:solidFill>
                <a:srgbClr val="1B2A4A"/>
              </a:solidFill>
              <a:effectLst/>
            </c:spPr>
          </c:dPt>
          <c:dPt>
            <c:idx val="1"/>
            <c:invertIfNegative val="0"/>
            <c:bubble3D val="0"/>
            <c:spPr>
              <a:solidFill>
                <a:srgbClr val="5D6D7E"/>
              </a:solidFill>
              <a:effectLst/>
            </c:spPr>
          </c:dPt>
          <c:dPt>
            <c:idx val="2"/>
            <c:invertIfNegative val="0"/>
            <c:bubble3D val="0"/>
            <c:spPr>
              <a:solidFill>
                <a:srgbClr val="8E44AD"/>
              </a:solidFill>
              <a:effectLst/>
            </c:spPr>
          </c:dPt>
          <c:dPt>
            <c:idx val="3"/>
            <c:invertIfNegative val="0"/>
            <c:bubble3D val="0"/>
            <c:spPr>
              <a:solidFill>
                <a:srgbClr val="E67E22"/>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en-US" sz="700" b="0" i="0" u="none" strike="noStrike" kern="1200" baseline="0">
                    <a:solidFill>
                      <a:srgbClr val="2C3E50"/>
                    </a:solidFill>
                    <a:latin typeface="Arial" panose="020B060402020209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All AI</c:v>
                </c:pt>
                <c:pt idx="1">
                  <c:v>Claude</c:v>
                </c:pt>
                <c:pt idx="2">
                  <c:v>Gemini</c:v>
                </c:pt>
                <c:pt idx="3">
                  <c:v>GPT-5.2</c:v>
                </c:pt>
              </c:strCache>
            </c:strRef>
          </c:cat>
          <c:val>
            <c:numRef>
              <c:f>Sheet1!$B$2:$B$5</c:f>
              <c:numCache>
                <c:formatCode>General</c:formatCode>
                <c:ptCount val="4"/>
                <c:pt idx="0">
                  <c:v>-0.29</c:v>
                </c:pt>
                <c:pt idx="1">
                  <c:v>0.248</c:v>
                </c:pt>
                <c:pt idx="2">
                  <c:v>-0.726</c:v>
                </c:pt>
                <c:pt idx="3">
                  <c:v>-1</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800" b="0" i="0" u="none" strike="noStrike" kern="1200" baseline="0">
                <a:solidFill>
                  <a:srgbClr val="000000"/>
                </a:solidFill>
                <a:latin typeface="Arial" panose="020B0604020202090204"/>
                <a:ea typeface="+mn-ea"/>
                <a:cs typeface="+mn-cs"/>
              </a:defRPr>
            </a:pPr>
          </a:p>
        </c:txPr>
        <c:crossAx val="2094734552"/>
        <c:crosses val="autoZero"/>
        <c:auto val="1"/>
        <c:lblAlgn val="ctr"/>
        <c:lblOffset val="100"/>
        <c:noMultiLvlLbl val="1"/>
      </c:catAx>
      <c:valAx>
        <c:axId val="2094734552"/>
        <c:scaling>
          <c:orientation val="minMax"/>
          <c:max val="0.4"/>
          <c:min val="-1.1"/>
        </c:scaling>
        <c:delete val="0"/>
        <c:axPos val="l"/>
        <c:majorGridlines>
          <c:spPr>
            <a:ln w="12700" cap="flat" cmpd="sng" algn="ctr">
              <a:solidFill>
                <a:srgbClr val="888888"/>
              </a:solidFill>
              <a:prstDash val="solid"/>
              <a:round/>
            </a:ln>
          </c:spPr>
        </c:majorGridlines>
        <c:title>
          <c:tx>
            <c:rich>
              <a:bodyPr rot="-5400000" spcFirstLastPara="0" vertOverflow="ellipsis" vert="horz" wrap="square" anchor="ctr" anchorCtr="1"/>
              <a:lstStyle/>
              <a:p>
                <a:pPr>
                  <a:defRPr lang="en-US" sz="800" b="0" i="0" u="none" strike="noStrike" kern="1200" baseline="0">
                    <a:solidFill>
                      <a:srgbClr val="000000"/>
                    </a:solidFill>
                    <a:latin typeface="Arial" panose="020B0604020202090204"/>
                    <a:ea typeface="+mn-ea"/>
                    <a:cs typeface="+mn-cs"/>
                  </a:defRPr>
                </a:pPr>
                <a:r>
                  <a:rPr sz="800" b="0" i="0" u="none" strike="noStrike">
                    <a:solidFill>
                      <a:srgbClr val="000000"/>
                    </a:solidFill>
                    <a:latin typeface="Arial" panose="020B0604020202090204"/>
                  </a:rPr>
                  <a:t>Cliff's Delta</a:t>
                </a:r>
                <a:endParaRPr sz="800" b="0" i="0" u="none" strike="noStrike">
                  <a:solidFill>
                    <a:srgbClr val="000000"/>
                  </a:solidFill>
                  <a:latin typeface="Arial" panose="020B0604020202090204"/>
                </a:endParaRPr>
              </a:p>
            </c:rich>
          </c:tx>
          <c:layout/>
          <c:overlay val="0"/>
        </c:title>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800" b="0" i="0" u="none" strike="noStrike" kern="1200" baseline="0">
                <a:solidFill>
                  <a:srgbClr val="000000"/>
                </a:solidFill>
                <a:latin typeface="Arial" panose="020B0604020202090204"/>
                <a:ea typeface="+mn-ea"/>
                <a:cs typeface="+mn-cs"/>
              </a:defRPr>
            </a:pPr>
          </a:p>
        </c:txPr>
        <c:crossAx val="2094734554"/>
        <c:crosses val="autoZero"/>
        <c:crossBetween val="between"/>
        <c:majorUnit val="0.25"/>
      </c:valAx>
      <c:spPr>
        <a:noFill/>
        <a:ln>
          <a:noFill/>
        </a:ln>
        <a:effectLst/>
      </c:spPr>
    </c:plotArea>
    <c:plotVisOnly val="1"/>
    <c:dispBlanksAs val="span"/>
    <c:showDLblsOverMax val="0"/>
    <c:extLst>
      <c:ext uri="{0b15fc19-7d7d-44ad-8c2d-2c3a37ce22c3}">
        <chartProps xmlns="https://web.wps.cn/et/2018/main" chartId="{200314f2-4890-4587-9a79-4da99555cb1d}"/>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941685099538"/>
          <c:y val="0.0775091089764823"/>
          <c:w val="0.76951538306857"/>
          <c:h val="0.781649552832064"/>
        </c:manualLayout>
      </c:layout>
      <c:barChart>
        <c:barDir val="col"/>
        <c:grouping val="clustered"/>
        <c:varyColors val="0"/>
        <c:ser>
          <c:idx val="0"/>
          <c:order val="0"/>
          <c:tx>
            <c:strRef>
              <c:f>Sheet1!$B$1</c:f>
              <c:strCache>
                <c:ptCount val="1"/>
                <c:pt idx="0">
                  <c:v>Mean Distance to Centroid</c:v>
                </c:pt>
              </c:strCache>
            </c:strRef>
          </c:tx>
          <c:spPr>
            <a:solidFill>
              <a:srgbClr val="E74C3C"/>
            </a:solidFill>
            <a:effectLst/>
          </c:spPr>
          <c:invertIfNegative val="0"/>
          <c:dPt>
            <c:idx val="0"/>
            <c:invertIfNegative val="0"/>
            <c:bubble3D val="0"/>
            <c:spPr>
              <a:solidFill>
                <a:srgbClr val="E74C3C"/>
              </a:solidFill>
              <a:effectLst/>
            </c:spPr>
          </c:dPt>
          <c:dPt>
            <c:idx val="1"/>
            <c:invertIfNegative val="0"/>
            <c:bubble3D val="0"/>
            <c:spPr>
              <a:solidFill>
                <a:srgbClr val="5D6D7E"/>
              </a:solidFill>
              <a:effectLst/>
            </c:spPr>
          </c:dPt>
          <c:dPt>
            <c:idx val="2"/>
            <c:invertIfNegative val="0"/>
            <c:bubble3D val="0"/>
            <c:spPr>
              <a:solidFill>
                <a:srgbClr val="8E44AD"/>
              </a:solidFill>
              <a:effectLst/>
            </c:spPr>
          </c:dPt>
          <c:dPt>
            <c:idx val="3"/>
            <c:invertIfNegative val="0"/>
            <c:bubble3D val="0"/>
            <c:spPr>
              <a:solidFill>
                <a:srgbClr val="E67E22"/>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en-US" sz="700" b="0" i="0" u="none" strike="noStrike" kern="1200" baseline="0">
                    <a:solidFill>
                      <a:srgbClr val="2C3E50"/>
                    </a:solidFill>
                    <a:latin typeface="Arial" panose="020B060402020209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Human</c:v>
                </c:pt>
                <c:pt idx="1">
                  <c:v>Claude</c:v>
                </c:pt>
                <c:pt idx="2">
                  <c:v>Gemini</c:v>
                </c:pt>
                <c:pt idx="3">
                  <c:v>GPT-5.2</c:v>
                </c:pt>
              </c:strCache>
            </c:strRef>
          </c:cat>
          <c:val>
            <c:numRef>
              <c:f>Sheet1!$B$2:$B$5</c:f>
              <c:numCache>
                <c:formatCode>General</c:formatCode>
                <c:ptCount val="4"/>
                <c:pt idx="0">
                  <c:v>0.032</c:v>
                </c:pt>
                <c:pt idx="1">
                  <c:v>0.179</c:v>
                </c:pt>
                <c:pt idx="2">
                  <c:v>0.047</c:v>
                </c:pt>
                <c:pt idx="3">
                  <c:v>0.01</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800" b="0" i="0" u="none" strike="noStrike" kern="1200" baseline="0">
                <a:solidFill>
                  <a:srgbClr val="000000"/>
                </a:solidFill>
                <a:latin typeface="Arial" panose="020B0604020202090204"/>
                <a:ea typeface="+mn-ea"/>
                <a:cs typeface="+mn-cs"/>
              </a:defRPr>
            </a:pPr>
          </a:p>
        </c:txPr>
        <c:crossAx val="2094734552"/>
        <c:crosses val="autoZero"/>
        <c:auto val="1"/>
        <c:lblAlgn val="ctr"/>
        <c:lblOffset val="100"/>
        <c:noMultiLvlLbl val="1"/>
      </c:catAx>
      <c:valAx>
        <c:axId val="2094734552"/>
        <c:scaling>
          <c:orientation val="minMax"/>
          <c:max val="0.2"/>
          <c:min val="0"/>
        </c:scaling>
        <c:delete val="0"/>
        <c:axPos val="l"/>
        <c:majorGridlines>
          <c:spPr>
            <a:ln w="12700" cap="flat" cmpd="sng" algn="ctr">
              <a:solidFill>
                <a:srgbClr val="888888"/>
              </a:solidFill>
              <a:prstDash val="solid"/>
              <a:round/>
            </a:ln>
          </c:spPr>
        </c:majorGridlines>
        <c:title>
          <c:tx>
            <c:rich>
              <a:bodyPr rot="-5400000" spcFirstLastPara="0" vertOverflow="ellipsis" vert="horz" wrap="square" anchor="ctr" anchorCtr="1"/>
              <a:lstStyle/>
              <a:p>
                <a:pPr>
                  <a:defRPr lang="en-US" sz="800" b="0" i="0" u="none" strike="noStrike" kern="1200" baseline="0">
                    <a:solidFill>
                      <a:srgbClr val="000000"/>
                    </a:solidFill>
                    <a:latin typeface="Arial" panose="020B0604020202090204"/>
                    <a:ea typeface="+mn-ea"/>
                    <a:cs typeface="+mn-cs"/>
                  </a:defRPr>
                </a:pPr>
                <a:r>
                  <a:rPr sz="800" b="0" i="0" u="none" strike="noStrike">
                    <a:solidFill>
                      <a:srgbClr val="000000"/>
                    </a:solidFill>
                    <a:latin typeface="Arial" panose="020B0604020202090204"/>
                  </a:rPr>
                  <a:t>Mean Cosine Distance</a:t>
                </a:r>
                <a:endParaRPr sz="800" b="0" i="0" u="none" strike="noStrike">
                  <a:solidFill>
                    <a:srgbClr val="000000"/>
                  </a:solidFill>
                  <a:latin typeface="Arial" panose="020B0604020202090204"/>
                </a:endParaRPr>
              </a:p>
            </c:rich>
          </c:tx>
          <c:layout/>
          <c:overlay val="0"/>
        </c:title>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800" b="0" i="0" u="none" strike="noStrike" kern="1200" baseline="0">
                <a:solidFill>
                  <a:srgbClr val="000000"/>
                </a:solidFill>
                <a:latin typeface="Arial" panose="020B0604020202090204"/>
                <a:ea typeface="+mn-ea"/>
                <a:cs typeface="+mn-cs"/>
              </a:defRPr>
            </a:pPr>
          </a:p>
        </c:txPr>
        <c:crossAx val="2094734554"/>
        <c:crosses val="autoZero"/>
        <c:crossBetween val="between"/>
        <c:majorUnit val="0.05"/>
      </c:valAx>
      <c:spPr>
        <a:noFill/>
        <a:ln>
          <a:noFill/>
        </a:ln>
        <a:effectLst/>
      </c:spPr>
    </c:plotArea>
    <c:plotVisOnly val="1"/>
    <c:dispBlanksAs val="span"/>
    <c:showDLblsOverMax val="0"/>
    <c:extLst>
      <c:ext uri="{0b15fc19-7d7d-44ad-8c2d-2c3a37ce22c3}">
        <chartProps xmlns="https://web.wps.cn/et/2018/main" chartId="{367fba64-100b-4f7a-a812-74a825e91617}"/>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chart" Target="../charts/chart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795020" y="1302752"/>
            <a:ext cx="7772400" cy="857250"/>
          </a:xfrm>
          <a:prstGeom prst="rect">
            <a:avLst/>
          </a:prstGeom>
          <a:noFill/>
        </p:spPr>
        <p:txBody>
          <a:bodyPr wrap="square" lIns="0" tIns="0" rIns="0" bIns="0" rtlCol="0" anchor="t"/>
          <a:lstStyle/>
          <a:p>
            <a:pPr marL="0" indent="0" algn="l">
              <a:spcAft>
                <a:spcPts val="800"/>
              </a:spcAft>
              <a:buNone/>
            </a:pPr>
            <a:r>
              <a:rPr lang="en-US" sz="2800" dirty="0">
                <a:solidFill>
                  <a:srgbClr val="1B2A4A"/>
                </a:solidFill>
                <a:latin typeface="Arial" panose="020B0604020202090204" pitchFamily="34" charset="0"/>
                <a:ea typeface="Arial" panose="020B0604020202090204" pitchFamily="34" charset="-122"/>
                <a:cs typeface="Arial" panose="020B0604020202090204" pitchFamily="34" charset="-120"/>
              </a:rPr>
              <a:t>Comparing Diversity, Novelty, and Quality </a:t>
            </a:r>
            <a:endParaRPr lang="en-US" sz="2800" dirty="0">
              <a:solidFill>
                <a:srgbClr val="1B2A4A"/>
              </a:solidFill>
              <a:latin typeface="Arial" panose="020B0604020202090204" pitchFamily="34" charset="0"/>
              <a:ea typeface="Arial" panose="020B0604020202090204" pitchFamily="34" charset="-122"/>
              <a:cs typeface="Arial" panose="020B0604020202090204" pitchFamily="34" charset="-120"/>
            </a:endParaRPr>
          </a:p>
          <a:p>
            <a:pPr marL="0" indent="0" algn="l">
              <a:spcAft>
                <a:spcPts val="800"/>
              </a:spcAft>
              <a:buNone/>
            </a:pPr>
            <a:r>
              <a:rPr lang="en-US" sz="2800" dirty="0">
                <a:solidFill>
                  <a:srgbClr val="1B2A4A"/>
                </a:solidFill>
                <a:latin typeface="Arial" panose="020B0604020202090204" pitchFamily="34" charset="0"/>
                <a:ea typeface="Arial" panose="020B0604020202090204" pitchFamily="34" charset="-122"/>
                <a:cs typeface="Arial" panose="020B0604020202090204" pitchFamily="34" charset="-120"/>
              </a:rPr>
              <a:t>of AI vs Human Research Proposals</a:t>
            </a:r>
            <a:endParaRPr lang="en-US" sz="2800" dirty="0"/>
          </a:p>
        </p:txBody>
      </p:sp>
      <p:sp>
        <p:nvSpPr>
          <p:cNvPr id="4" name="Text 2"/>
          <p:cNvSpPr/>
          <p:nvPr/>
        </p:nvSpPr>
        <p:spPr>
          <a:xfrm>
            <a:off x="762000" y="2436763"/>
            <a:ext cx="7772400" cy="238125"/>
          </a:xfrm>
          <a:prstGeom prst="rect">
            <a:avLst/>
          </a:prstGeom>
          <a:noFill/>
        </p:spPr>
        <p:txBody>
          <a:bodyPr wrap="square" lIns="0" tIns="0" rIns="0" bIns="0" rtlCol="0" anchor="t"/>
          <a:lstStyle/>
          <a:p>
            <a:pPr marL="0" indent="0" algn="l">
              <a:spcAft>
                <a:spcPts val="2400"/>
              </a:spcAft>
              <a:buNone/>
            </a:pPr>
            <a:r>
              <a:rPr lang="en-US" sz="1600" dirty="0">
                <a:solidFill>
                  <a:srgbClr val="2E86AB"/>
                </a:solidFill>
                <a:latin typeface="Arial" panose="020B0604020202090204" pitchFamily="34" charset="0"/>
                <a:ea typeface="Arial" panose="020B0604020202090204" pitchFamily="34" charset="-122"/>
                <a:cs typeface="Arial" panose="020B0604020202090204" pitchFamily="34" charset="-120"/>
              </a:rPr>
              <a:t>Embedding-Based Comparison Using BioLinkBERT</a:t>
            </a:r>
            <a:endParaRPr lang="en-US" sz="1600" dirty="0"/>
          </a:p>
        </p:txBody>
      </p:sp>
      <p:sp>
        <p:nvSpPr>
          <p:cNvPr id="5" name="Text 3"/>
          <p:cNvSpPr/>
          <p:nvPr/>
        </p:nvSpPr>
        <p:spPr>
          <a:xfrm>
            <a:off x="762000" y="2979688"/>
            <a:ext cx="1015901" cy="38100"/>
          </a:xfrm>
          <a:prstGeom prst="rect">
            <a:avLst/>
          </a:prstGeom>
          <a:solidFill>
            <a:srgbClr val="E8505B"/>
          </a:solidFill>
        </p:spPr>
        <p:txBody>
          <a:bodyPr wrap="square" rtlCol="0" anchor="ctr"/>
          <a:lstStyle/>
          <a:p>
            <a:pPr marL="0" indent="0">
              <a:buNone/>
            </a:pPr>
            <a:endParaRPr lang="en-US" dirty="0"/>
          </a:p>
        </p:txBody>
      </p:sp>
      <p:sp>
        <p:nvSpPr>
          <p:cNvPr id="7" name="Text 5"/>
          <p:cNvSpPr/>
          <p:nvPr/>
        </p:nvSpPr>
        <p:spPr>
          <a:xfrm>
            <a:off x="762000" y="3525738"/>
            <a:ext cx="7772400" cy="152400"/>
          </a:xfrm>
          <a:prstGeom prst="rect">
            <a:avLst/>
          </a:prstGeom>
          <a:noFill/>
        </p:spPr>
        <p:txBody>
          <a:bodyPr wrap="square" lIns="0" tIns="0" rIns="0" bIns="0" rtlCol="0" anchor="t"/>
          <a:lstStyle/>
          <a:p>
            <a:pPr marL="0" indent="0" algn="l">
              <a:spcAft>
                <a:spcPts val="400"/>
              </a:spcAft>
              <a:buNone/>
            </a:pPr>
            <a:r>
              <a:rPr lang="en-US" sz="1100" dirty="0">
                <a:solidFill>
                  <a:srgbClr val="5D6D7E"/>
                </a:solidFill>
                <a:latin typeface="Arial" panose="020B0604020202090204" pitchFamily="34" charset="0"/>
                <a:ea typeface="Arial" panose="020B0604020202090204" pitchFamily="34" charset="-122"/>
                <a:cs typeface="Arial" panose="020B0604020202090204" pitchFamily="34" charset="-120"/>
              </a:rPr>
              <a:t>February 2026</a:t>
            </a:r>
            <a:endParaRPr lang="en-US" sz="1100" dirty="0"/>
          </a:p>
        </p:txBody>
      </p:sp>
      <p:sp>
        <p:nvSpPr>
          <p:cNvPr id="8" name="Text 6"/>
          <p:cNvSpPr/>
          <p:nvPr/>
        </p:nvSpPr>
        <p:spPr>
          <a:xfrm>
            <a:off x="0" y="5105400"/>
            <a:ext cx="9144000" cy="38100"/>
          </a:xfrm>
          <a:prstGeom prst="rect">
            <a:avLst/>
          </a:prstGeom>
          <a:solidFill>
            <a:srgbClr val="1B2A4A"/>
          </a:solidFill>
        </p:spPr>
        <p:txBody>
          <a:bodyPr wrap="square" rtlCol="0" anchor="ctr"/>
          <a:lstStyle/>
          <a:p>
            <a:pPr marL="0" indent="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Study Design</a:t>
            </a:r>
            <a:endParaRPr lang="en-US" sz="2000" dirty="0"/>
          </a:p>
        </p:txBody>
      </p:sp>
      <p:sp>
        <p:nvSpPr>
          <p:cNvPr id="4" name="Text 2"/>
          <p:cNvSpPr/>
          <p:nvPr/>
        </p:nvSpPr>
        <p:spPr>
          <a:xfrm>
            <a:off x="507950" y="879277"/>
            <a:ext cx="3951021" cy="200025"/>
          </a:xfrm>
          <a:prstGeom prst="rect">
            <a:avLst/>
          </a:prstGeom>
          <a:noFill/>
        </p:spPr>
        <p:txBody>
          <a:bodyPr wrap="square" lIns="0" tIns="0" rIns="0" bIns="0" rtlCol="0" anchor="t"/>
          <a:lstStyle/>
          <a:p>
            <a:pPr marL="0" indent="0" algn="l">
              <a:spcAft>
                <a:spcPts val="800"/>
              </a:spcAft>
              <a:buNone/>
            </a:pPr>
            <a:r>
              <a:rPr lang="en-US" sz="1300" b="1" dirty="0">
                <a:solidFill>
                  <a:srgbClr val="1B2A4A"/>
                </a:solidFill>
                <a:latin typeface="Arial" panose="020B0604020202090204" pitchFamily="34" charset="0"/>
                <a:ea typeface="Arial" panose="020B0604020202090204" pitchFamily="34" charset="-122"/>
                <a:cs typeface="Arial" panose="020B0604020202090204" pitchFamily="34" charset="-120"/>
              </a:rPr>
              <a:t>Research Question</a:t>
            </a:r>
            <a:endParaRPr lang="en-US" sz="1300" dirty="0"/>
          </a:p>
        </p:txBody>
      </p:sp>
      <p:sp>
        <p:nvSpPr>
          <p:cNvPr id="5" name="Text 3"/>
          <p:cNvSpPr/>
          <p:nvPr/>
        </p:nvSpPr>
        <p:spPr>
          <a:xfrm>
            <a:off x="507950" y="1180802"/>
            <a:ext cx="507950" cy="25301"/>
          </a:xfrm>
          <a:prstGeom prst="rect">
            <a:avLst/>
          </a:prstGeom>
          <a:solidFill>
            <a:srgbClr val="E8505B"/>
          </a:solidFill>
        </p:spPr>
        <p:txBody>
          <a:bodyPr wrap="square" rtlCol="0" anchor="ctr"/>
          <a:lstStyle/>
          <a:p>
            <a:pPr marL="0" indent="0">
              <a:buNone/>
            </a:pPr>
            <a:endParaRPr lang="en-US" dirty="0"/>
          </a:p>
        </p:txBody>
      </p:sp>
      <p:sp>
        <p:nvSpPr>
          <p:cNvPr id="6" name="Text 4"/>
          <p:cNvSpPr/>
          <p:nvPr/>
        </p:nvSpPr>
        <p:spPr>
          <a:xfrm>
            <a:off x="507950" y="1307654"/>
            <a:ext cx="3951021" cy="559891"/>
          </a:xfrm>
          <a:prstGeom prst="rect">
            <a:avLst/>
          </a:prstGeom>
          <a:noFill/>
        </p:spPr>
        <p:txBody>
          <a:bodyPr wrap="square" lIns="0" tIns="0" rIns="0" bIns="0" rtlCol="0" anchor="t"/>
          <a:lstStyle/>
          <a:p>
            <a:pPr marL="0" indent="0" algn="l">
              <a:lnSpc>
                <a:spcPts val="1470"/>
              </a:lnSpc>
              <a:spcAft>
                <a:spcPts val="600"/>
              </a:spcAft>
              <a:buNone/>
            </a:pPr>
            <a:r>
              <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rPr>
              <a:t>How do AI-generated research proposals compare to human-written proposals in diversity, novelty, quality, and thematic content when responding to the same funding call?</a:t>
            </a:r>
            <a:endParaRPr lang="en-US" sz="1050" dirty="0"/>
          </a:p>
        </p:txBody>
      </p:sp>
      <p:sp>
        <p:nvSpPr>
          <p:cNvPr id="7" name="Text 5"/>
          <p:cNvSpPr/>
          <p:nvPr/>
        </p:nvSpPr>
        <p:spPr>
          <a:xfrm>
            <a:off x="507950" y="1943745"/>
            <a:ext cx="3951021" cy="559891"/>
          </a:xfrm>
          <a:prstGeom prst="rect">
            <a:avLst/>
          </a:prstGeom>
          <a:noFill/>
        </p:spPr>
        <p:txBody>
          <a:bodyPr wrap="square" lIns="0" tIns="0" rIns="0" bIns="0" rtlCol="0" anchor="t"/>
          <a:lstStyle/>
          <a:p>
            <a:pPr marL="0" indent="0" algn="l">
              <a:lnSpc>
                <a:spcPts val="1470"/>
              </a:lnSpc>
              <a:spcAft>
                <a:spcPts val="600"/>
              </a:spcAft>
              <a:buNone/>
            </a:pPr>
            <a:r>
              <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rPr>
              <a:t>We compare 23 human proposals and 69 AI proposals (from three frontier models) for the NSF NCEMS call, using embedding-based analyses across three dimensions: internal diversity, novelty relative to published literature, and thematic/cluster composition.</a:t>
            </a:r>
            <a:endParaRPr lang="en-US" sz="1050" dirty="0"/>
          </a:p>
        </p:txBody>
      </p:sp>
      <p:sp>
        <p:nvSpPr>
          <p:cNvPr id="8" name="Text 6"/>
          <p:cNvSpPr/>
          <p:nvPr/>
        </p:nvSpPr>
        <p:spPr>
          <a:xfrm>
            <a:off x="507950" y="2833737"/>
            <a:ext cx="3951021" cy="200025"/>
          </a:xfrm>
          <a:prstGeom prst="rect">
            <a:avLst/>
          </a:prstGeom>
          <a:noFill/>
        </p:spPr>
        <p:txBody>
          <a:bodyPr wrap="square" lIns="0" tIns="0" rIns="0" bIns="0" rtlCol="0" anchor="t"/>
          <a:lstStyle/>
          <a:p>
            <a:pPr marL="0" indent="0" algn="l">
              <a:spcBef>
                <a:spcPts val="1400"/>
              </a:spcBef>
              <a:spcAft>
                <a:spcPts val="800"/>
              </a:spcAft>
              <a:buNone/>
            </a:pPr>
            <a:r>
              <a:rPr lang="en-US" sz="1300" b="1" dirty="0">
                <a:solidFill>
                  <a:srgbClr val="1B2A4A"/>
                </a:solidFill>
                <a:latin typeface="Arial" panose="020B0604020202090204" pitchFamily="34" charset="0"/>
                <a:ea typeface="Arial" panose="020B0604020202090204" pitchFamily="34" charset="-122"/>
                <a:cs typeface="Arial" panose="020B0604020202090204" pitchFamily="34" charset="-120"/>
              </a:rPr>
              <a:t>Data</a:t>
            </a:r>
            <a:endParaRPr lang="en-US" sz="1300" dirty="0"/>
          </a:p>
        </p:txBody>
      </p:sp>
      <p:sp>
        <p:nvSpPr>
          <p:cNvPr id="9" name="Text 7"/>
          <p:cNvSpPr/>
          <p:nvPr/>
        </p:nvSpPr>
        <p:spPr>
          <a:xfrm>
            <a:off x="507950" y="3135263"/>
            <a:ext cx="507950" cy="25301"/>
          </a:xfrm>
          <a:prstGeom prst="rect">
            <a:avLst/>
          </a:prstGeom>
          <a:solidFill>
            <a:srgbClr val="2E86AB"/>
          </a:solidFill>
        </p:spPr>
        <p:txBody>
          <a:bodyPr wrap="square" rtlCol="0" anchor="ctr"/>
          <a:lstStyle/>
          <a:p>
            <a:pPr marL="0" indent="0">
              <a:buNone/>
            </a:pPr>
            <a:endParaRPr lang="en-US" dirty="0"/>
          </a:p>
        </p:txBody>
      </p:sp>
      <p:sp>
        <p:nvSpPr>
          <p:cNvPr id="10" name="Text 8"/>
          <p:cNvSpPr/>
          <p:nvPr/>
        </p:nvSpPr>
        <p:spPr>
          <a:xfrm>
            <a:off x="426035" y="3288149"/>
            <a:ext cx="3873550" cy="743843"/>
          </a:xfrm>
          <a:prstGeom prst="rect">
            <a:avLst/>
          </a:prstGeom>
          <a:solidFill>
            <a:srgbClr val="FDF0F0"/>
          </a:solidFill>
        </p:spPr>
        <p:txBody>
          <a:bodyPr wrap="square" rtlCol="0" anchor="ctr"/>
          <a:lstStyle/>
          <a:p>
            <a:pPr marL="0" indent="0">
              <a:buNone/>
            </a:pPr>
            <a:endParaRPr lang="en-US" dirty="0"/>
          </a:p>
        </p:txBody>
      </p:sp>
      <p:sp>
        <p:nvSpPr>
          <p:cNvPr id="11" name="Shape 9"/>
          <p:cNvSpPr/>
          <p:nvPr/>
        </p:nvSpPr>
        <p:spPr>
          <a:xfrm>
            <a:off x="527000" y="3312914"/>
            <a:ext cx="0" cy="743843"/>
          </a:xfrm>
          <a:prstGeom prst="line">
            <a:avLst/>
          </a:prstGeom>
          <a:noFill/>
          <a:ln w="38100">
            <a:solidFill>
              <a:srgbClr val="E8505B"/>
            </a:solidFill>
            <a:prstDash val="solid"/>
          </a:ln>
        </p:spPr>
      </p:sp>
      <p:sp>
        <p:nvSpPr>
          <p:cNvPr id="12" name="Text 10"/>
          <p:cNvSpPr/>
          <p:nvPr/>
        </p:nvSpPr>
        <p:spPr>
          <a:xfrm>
            <a:off x="698450" y="3414415"/>
            <a:ext cx="3601263" cy="355550"/>
          </a:xfrm>
          <a:prstGeom prst="rect">
            <a:avLst/>
          </a:prstGeom>
          <a:noFill/>
        </p:spPr>
        <p:txBody>
          <a:bodyPr wrap="square" lIns="0" tIns="0" rIns="0" bIns="0" rtlCol="0" anchor="t"/>
          <a:lstStyle/>
          <a:p>
            <a:pPr marL="0" indent="0" algn="l">
              <a:lnSpc>
                <a:spcPts val="2800"/>
              </a:lnSpc>
              <a:buNone/>
            </a:pPr>
            <a:r>
              <a:rPr lang="en-US" sz="2000" b="1" dirty="0">
                <a:solidFill>
                  <a:srgbClr val="1B2A4A"/>
                </a:solidFill>
                <a:latin typeface="Arial" panose="020B0604020202090204" pitchFamily="34" charset="0"/>
                <a:ea typeface="Arial" panose="020B0604020202090204" pitchFamily="34" charset="-122"/>
                <a:cs typeface="Arial" panose="020B0604020202090204" pitchFamily="34" charset="-120"/>
              </a:rPr>
              <a:t>23</a:t>
            </a:r>
            <a:endParaRPr lang="en-US" sz="2000" dirty="0"/>
          </a:p>
        </p:txBody>
      </p:sp>
      <p:sp>
        <p:nvSpPr>
          <p:cNvPr id="13" name="Text 11"/>
          <p:cNvSpPr/>
          <p:nvPr/>
        </p:nvSpPr>
        <p:spPr>
          <a:xfrm>
            <a:off x="698450" y="3795266"/>
            <a:ext cx="3601263" cy="159990"/>
          </a:xfrm>
          <a:prstGeom prst="rect">
            <a:avLst/>
          </a:prstGeom>
          <a:noFill/>
        </p:spPr>
        <p:txBody>
          <a:bodyPr wrap="square" lIns="0" tIns="0" rIns="0" bIns="0" rtlCol="0" anchor="t"/>
          <a:lstStyle/>
          <a:p>
            <a:pPr marL="0" indent="0" algn="l">
              <a:lnSpc>
                <a:spcPts val="1260"/>
              </a:lnSpc>
              <a:spcBef>
                <a:spcPts val="200"/>
              </a:spcBef>
              <a:buNone/>
            </a:pPr>
            <a:r>
              <a:rPr lang="en-US" sz="900" dirty="0">
                <a:solidFill>
                  <a:srgbClr val="5D6D7E"/>
                </a:solidFill>
                <a:latin typeface="Arial" panose="020B0604020202090204" pitchFamily="34" charset="0"/>
                <a:ea typeface="Arial" panose="020B0604020202090204" pitchFamily="34" charset="-122"/>
                <a:cs typeface="Arial" panose="020B0604020202090204" pitchFamily="34" charset="-120"/>
              </a:rPr>
              <a:t>Human proposals (written by top scientists in MCB domain) </a:t>
            </a:r>
            <a:endParaRPr lang="en-US" sz="900" dirty="0"/>
          </a:p>
        </p:txBody>
      </p:sp>
      <p:sp>
        <p:nvSpPr>
          <p:cNvPr id="14" name="Text 12"/>
          <p:cNvSpPr/>
          <p:nvPr/>
        </p:nvSpPr>
        <p:spPr>
          <a:xfrm>
            <a:off x="507950" y="4209157"/>
            <a:ext cx="3873550" cy="743843"/>
          </a:xfrm>
          <a:prstGeom prst="rect">
            <a:avLst/>
          </a:prstGeom>
          <a:solidFill>
            <a:srgbClr val="F0F4F8"/>
          </a:solidFill>
        </p:spPr>
        <p:txBody>
          <a:bodyPr wrap="square" rtlCol="0" anchor="ctr"/>
          <a:lstStyle/>
          <a:p>
            <a:pPr marL="0" indent="0">
              <a:buNone/>
            </a:pPr>
            <a:endParaRPr lang="en-US" dirty="0"/>
          </a:p>
        </p:txBody>
      </p:sp>
      <p:sp>
        <p:nvSpPr>
          <p:cNvPr id="15" name="Shape 13"/>
          <p:cNvSpPr/>
          <p:nvPr/>
        </p:nvSpPr>
        <p:spPr>
          <a:xfrm>
            <a:off x="527000" y="4209157"/>
            <a:ext cx="0" cy="743843"/>
          </a:xfrm>
          <a:prstGeom prst="line">
            <a:avLst/>
          </a:prstGeom>
          <a:noFill/>
          <a:ln w="38100">
            <a:solidFill>
              <a:srgbClr val="2E86AB"/>
            </a:solidFill>
            <a:prstDash val="solid"/>
          </a:ln>
        </p:spPr>
      </p:sp>
      <p:sp>
        <p:nvSpPr>
          <p:cNvPr id="16" name="Text 14"/>
          <p:cNvSpPr/>
          <p:nvPr/>
        </p:nvSpPr>
        <p:spPr>
          <a:xfrm>
            <a:off x="698450" y="4310658"/>
            <a:ext cx="3601263" cy="355550"/>
          </a:xfrm>
          <a:prstGeom prst="rect">
            <a:avLst/>
          </a:prstGeom>
          <a:noFill/>
        </p:spPr>
        <p:txBody>
          <a:bodyPr wrap="square" lIns="0" tIns="0" rIns="0" bIns="0" rtlCol="0" anchor="t"/>
          <a:lstStyle/>
          <a:p>
            <a:pPr marL="0" indent="0" algn="l">
              <a:lnSpc>
                <a:spcPts val="2800"/>
              </a:lnSpc>
              <a:buNone/>
            </a:pPr>
            <a:r>
              <a:rPr lang="en-US" sz="2000" b="1" dirty="0">
                <a:solidFill>
                  <a:srgbClr val="1B2A4A"/>
                </a:solidFill>
                <a:latin typeface="Arial" panose="020B0604020202090204" pitchFamily="34" charset="0"/>
                <a:ea typeface="Arial" panose="020B0604020202090204" pitchFamily="34" charset="-122"/>
                <a:cs typeface="Arial" panose="020B0604020202090204" pitchFamily="34" charset="-120"/>
              </a:rPr>
              <a:t>69</a:t>
            </a:r>
            <a:endParaRPr lang="en-US" sz="2000" dirty="0"/>
          </a:p>
        </p:txBody>
      </p:sp>
      <p:sp>
        <p:nvSpPr>
          <p:cNvPr id="17" name="Text 15"/>
          <p:cNvSpPr/>
          <p:nvPr/>
        </p:nvSpPr>
        <p:spPr>
          <a:xfrm>
            <a:off x="698450" y="4691509"/>
            <a:ext cx="3601263" cy="159990"/>
          </a:xfrm>
          <a:prstGeom prst="rect">
            <a:avLst/>
          </a:prstGeom>
          <a:noFill/>
        </p:spPr>
        <p:txBody>
          <a:bodyPr wrap="square" lIns="0" tIns="0" rIns="0" bIns="0" rtlCol="0" anchor="t"/>
          <a:lstStyle/>
          <a:p>
            <a:pPr marL="0" indent="0" algn="l">
              <a:lnSpc>
                <a:spcPts val="1260"/>
              </a:lnSpc>
              <a:spcBef>
                <a:spcPts val="200"/>
              </a:spcBef>
              <a:buNone/>
            </a:pPr>
            <a:r>
              <a:rPr lang="en-US" sz="900" dirty="0">
                <a:solidFill>
                  <a:srgbClr val="5D6D7E"/>
                </a:solidFill>
                <a:latin typeface="Arial" panose="020B0604020202090204" pitchFamily="34" charset="0"/>
                <a:ea typeface="Arial" panose="020B0604020202090204" pitchFamily="34" charset="-122"/>
                <a:cs typeface="Arial" panose="020B0604020202090204" pitchFamily="34" charset="-120"/>
              </a:rPr>
              <a:t>AI proposals (23 per model)</a:t>
            </a:r>
            <a:endParaRPr lang="en-US" sz="900" dirty="0"/>
          </a:p>
        </p:txBody>
      </p:sp>
      <p:sp>
        <p:nvSpPr>
          <p:cNvPr id="18" name="Text 16"/>
          <p:cNvSpPr/>
          <p:nvPr/>
        </p:nvSpPr>
        <p:spPr>
          <a:xfrm>
            <a:off x="4815840" y="3633272"/>
            <a:ext cx="3951021" cy="200025"/>
          </a:xfrm>
          <a:prstGeom prst="rect">
            <a:avLst/>
          </a:prstGeom>
          <a:noFill/>
        </p:spPr>
        <p:txBody>
          <a:bodyPr wrap="square" lIns="0" tIns="0" rIns="0" bIns="0" rtlCol="0" anchor="t"/>
          <a:lstStyle/>
          <a:p>
            <a:pPr marL="0" indent="0" algn="l">
              <a:spcAft>
                <a:spcPts val="800"/>
              </a:spcAft>
              <a:buNone/>
            </a:pPr>
            <a:r>
              <a:rPr lang="en-US" sz="1300" b="1" dirty="0">
                <a:solidFill>
                  <a:srgbClr val="1B2A4A"/>
                </a:solidFill>
                <a:latin typeface="Arial" panose="020B0604020202090204" pitchFamily="34" charset="0"/>
                <a:ea typeface="Arial" panose="020B0604020202090204" pitchFamily="34" charset="-122"/>
                <a:cs typeface="Arial" panose="020B0604020202090204" pitchFamily="34" charset="-120"/>
              </a:rPr>
              <a:t>AI Models Tested</a:t>
            </a:r>
            <a:endParaRPr lang="en-US" sz="1300" dirty="0"/>
          </a:p>
        </p:txBody>
      </p:sp>
      <p:sp>
        <p:nvSpPr>
          <p:cNvPr id="19" name="Text 17"/>
          <p:cNvSpPr/>
          <p:nvPr/>
        </p:nvSpPr>
        <p:spPr>
          <a:xfrm>
            <a:off x="4762500" y="1180802"/>
            <a:ext cx="507950" cy="25301"/>
          </a:xfrm>
          <a:prstGeom prst="rect">
            <a:avLst/>
          </a:prstGeom>
          <a:solidFill>
            <a:srgbClr val="2E86AB"/>
          </a:solidFill>
        </p:spPr>
        <p:txBody>
          <a:bodyPr wrap="square" rtlCol="0" anchor="ctr"/>
          <a:lstStyle/>
          <a:p>
            <a:pPr marL="0" indent="0">
              <a:buNone/>
            </a:pPr>
            <a:endParaRPr lang="en-US" dirty="0"/>
          </a:p>
        </p:txBody>
      </p:sp>
      <p:sp>
        <p:nvSpPr>
          <p:cNvPr id="21" name="Shape 19"/>
          <p:cNvSpPr/>
          <p:nvPr/>
        </p:nvSpPr>
        <p:spPr>
          <a:xfrm>
            <a:off x="4781550" y="1383854"/>
            <a:ext cx="0" cy="583853"/>
          </a:xfrm>
          <a:prstGeom prst="line">
            <a:avLst/>
          </a:prstGeom>
          <a:noFill/>
          <a:ln w="38100">
            <a:solidFill>
              <a:srgbClr val="2E86AB"/>
            </a:solidFill>
            <a:prstDash val="solid"/>
          </a:ln>
        </p:spPr>
      </p:sp>
      <p:sp>
        <p:nvSpPr>
          <p:cNvPr id="22" name="Text 20"/>
          <p:cNvSpPr/>
          <p:nvPr/>
        </p:nvSpPr>
        <p:spPr>
          <a:xfrm>
            <a:off x="4815840" y="4038689"/>
            <a:ext cx="3601263" cy="195560"/>
          </a:xfrm>
          <a:prstGeom prst="rect">
            <a:avLst/>
          </a:prstGeom>
          <a:noFill/>
        </p:spPr>
        <p:txBody>
          <a:bodyPr wrap="square" lIns="0" tIns="0" rIns="0" bIns="0" rtlCol="0" anchor="t"/>
          <a:lstStyle/>
          <a:p>
            <a:pPr marL="0" indent="0" algn="l">
              <a:lnSpc>
                <a:spcPts val="1540"/>
              </a:lnSpc>
              <a:buNone/>
            </a:pPr>
            <a:r>
              <a:rPr lang="en-US" sz="1100" b="1" dirty="0">
                <a:solidFill>
                  <a:srgbClr val="5D6D7E"/>
                </a:solidFill>
                <a:latin typeface="Arial" panose="020B0604020202090204" pitchFamily="34" charset="0"/>
                <a:ea typeface="Arial" panose="020B0604020202090204" pitchFamily="34" charset="-122"/>
                <a:cs typeface="Arial" panose="020B0604020202090204" pitchFamily="34" charset="-120"/>
              </a:rPr>
              <a:t>Claude Opus 4.5</a:t>
            </a:r>
            <a:endParaRPr lang="en-US" sz="1100" dirty="0"/>
          </a:p>
        </p:txBody>
      </p:sp>
      <p:sp>
        <p:nvSpPr>
          <p:cNvPr id="24" name="Text 22"/>
          <p:cNvSpPr/>
          <p:nvPr/>
        </p:nvSpPr>
        <p:spPr>
          <a:xfrm>
            <a:off x="4762500" y="2145506"/>
            <a:ext cx="3873550" cy="583853"/>
          </a:xfrm>
          <a:prstGeom prst="rect">
            <a:avLst/>
          </a:prstGeom>
          <a:solidFill>
            <a:srgbClr val="F0F4F8"/>
          </a:solidFill>
        </p:spPr>
        <p:txBody>
          <a:bodyPr wrap="square" rtlCol="0" anchor="ctr"/>
          <a:lstStyle/>
          <a:p>
            <a:pPr marL="0" indent="0">
              <a:buNone/>
            </a:pPr>
            <a:endParaRPr lang="en-US" dirty="0"/>
          </a:p>
        </p:txBody>
      </p:sp>
      <p:sp>
        <p:nvSpPr>
          <p:cNvPr id="25" name="Shape 23"/>
          <p:cNvSpPr/>
          <p:nvPr/>
        </p:nvSpPr>
        <p:spPr>
          <a:xfrm>
            <a:off x="4781550" y="2171700"/>
            <a:ext cx="635" cy="1117600"/>
          </a:xfrm>
          <a:prstGeom prst="line">
            <a:avLst/>
          </a:prstGeom>
          <a:noFill/>
          <a:ln w="38100">
            <a:solidFill>
              <a:srgbClr val="2E86AB"/>
            </a:solidFill>
            <a:prstDash val="solid"/>
          </a:ln>
        </p:spPr>
      </p:sp>
      <p:sp>
        <p:nvSpPr>
          <p:cNvPr id="26" name="Text 24"/>
          <p:cNvSpPr/>
          <p:nvPr/>
        </p:nvSpPr>
        <p:spPr>
          <a:xfrm>
            <a:off x="4815840" y="4268212"/>
            <a:ext cx="3601263" cy="195560"/>
          </a:xfrm>
          <a:prstGeom prst="rect">
            <a:avLst/>
          </a:prstGeom>
          <a:noFill/>
        </p:spPr>
        <p:txBody>
          <a:bodyPr wrap="square" lIns="0" tIns="0" rIns="0" bIns="0" rtlCol="0" anchor="t"/>
          <a:lstStyle/>
          <a:p>
            <a:pPr marL="0" indent="0" algn="l">
              <a:lnSpc>
                <a:spcPts val="1540"/>
              </a:lnSpc>
              <a:buNone/>
            </a:pPr>
            <a:r>
              <a:rPr lang="en-US" sz="1100" b="1" dirty="0">
                <a:solidFill>
                  <a:srgbClr val="8E44AD"/>
                </a:solidFill>
                <a:latin typeface="Arial" panose="020B0604020202090204" pitchFamily="34" charset="0"/>
                <a:ea typeface="Arial" panose="020B0604020202090204" pitchFamily="34" charset="-122"/>
                <a:cs typeface="Arial" panose="020B0604020202090204" pitchFamily="34" charset="-120"/>
              </a:rPr>
              <a:t>Gemini 3 Pro Preview</a:t>
            </a:r>
            <a:endParaRPr lang="en-US" sz="1100" dirty="0"/>
          </a:p>
        </p:txBody>
      </p:sp>
      <p:sp>
        <p:nvSpPr>
          <p:cNvPr id="30" name="Text 28"/>
          <p:cNvSpPr/>
          <p:nvPr/>
        </p:nvSpPr>
        <p:spPr>
          <a:xfrm>
            <a:off x="4815840" y="4512975"/>
            <a:ext cx="3601263" cy="195560"/>
          </a:xfrm>
          <a:prstGeom prst="rect">
            <a:avLst/>
          </a:prstGeom>
          <a:noFill/>
        </p:spPr>
        <p:txBody>
          <a:bodyPr wrap="square" lIns="0" tIns="0" rIns="0" bIns="0" rtlCol="0" anchor="t"/>
          <a:lstStyle/>
          <a:p>
            <a:pPr marL="0" indent="0" algn="l">
              <a:lnSpc>
                <a:spcPts val="1540"/>
              </a:lnSpc>
              <a:buNone/>
            </a:pPr>
            <a:r>
              <a:rPr lang="en-US" sz="1100" b="1" dirty="0">
                <a:solidFill>
                  <a:srgbClr val="E67E22"/>
                </a:solidFill>
                <a:latin typeface="Arial" panose="020B0604020202090204" pitchFamily="34" charset="0"/>
                <a:ea typeface="Arial" panose="020B0604020202090204" pitchFamily="34" charset="-122"/>
                <a:cs typeface="Arial" panose="020B0604020202090204" pitchFamily="34" charset="-120"/>
              </a:rPr>
              <a:t>GPT-5.2</a:t>
            </a:r>
            <a:endParaRPr lang="en-US" sz="1100" dirty="0"/>
          </a:p>
        </p:txBody>
      </p:sp>
      <p:sp>
        <p:nvSpPr>
          <p:cNvPr id="32" name="Text 30"/>
          <p:cNvSpPr/>
          <p:nvPr/>
        </p:nvSpPr>
        <p:spPr>
          <a:xfrm>
            <a:off x="4762500" y="878522"/>
            <a:ext cx="3951021" cy="200025"/>
          </a:xfrm>
          <a:prstGeom prst="rect">
            <a:avLst/>
          </a:prstGeom>
          <a:noFill/>
        </p:spPr>
        <p:txBody>
          <a:bodyPr wrap="square" lIns="0" tIns="0" rIns="0" bIns="0" rtlCol="0" anchor="t"/>
          <a:lstStyle/>
          <a:p>
            <a:pPr marL="0" indent="0" algn="l">
              <a:spcBef>
                <a:spcPts val="1400"/>
              </a:spcBef>
              <a:spcAft>
                <a:spcPts val="800"/>
              </a:spcAft>
              <a:buNone/>
            </a:pPr>
            <a:r>
              <a:rPr lang="en-US" sz="1300" b="1" dirty="0">
                <a:solidFill>
                  <a:srgbClr val="1B2A4A"/>
                </a:solidFill>
                <a:latin typeface="Arial" panose="020B0604020202090204" pitchFamily="34" charset="0"/>
                <a:ea typeface="Arial" panose="020B0604020202090204" pitchFamily="34" charset="-122"/>
                <a:cs typeface="Arial" panose="020B0604020202090204" pitchFamily="34" charset="-120"/>
              </a:rPr>
              <a:t>Approach</a:t>
            </a:r>
            <a:endParaRPr lang="en-US" sz="1300" dirty="0"/>
          </a:p>
        </p:txBody>
      </p:sp>
      <p:sp>
        <p:nvSpPr>
          <p:cNvPr id="33" name="Text 31"/>
          <p:cNvSpPr/>
          <p:nvPr/>
        </p:nvSpPr>
        <p:spPr>
          <a:xfrm>
            <a:off x="4781550" y="3928963"/>
            <a:ext cx="507950" cy="25301"/>
          </a:xfrm>
          <a:prstGeom prst="rect">
            <a:avLst/>
          </a:prstGeom>
          <a:solidFill>
            <a:srgbClr val="E8505B"/>
          </a:solidFill>
        </p:spPr>
        <p:txBody>
          <a:bodyPr wrap="square" rtlCol="0" anchor="ctr"/>
          <a:lstStyle/>
          <a:p>
            <a:pPr marL="0" indent="0">
              <a:buNone/>
            </a:pPr>
            <a:endParaRPr lang="en-US" dirty="0"/>
          </a:p>
        </p:txBody>
      </p:sp>
      <p:sp>
        <p:nvSpPr>
          <p:cNvPr id="34" name="Text 32"/>
          <p:cNvSpPr/>
          <p:nvPr/>
        </p:nvSpPr>
        <p:spPr>
          <a:xfrm>
            <a:off x="4972050" y="1345634"/>
            <a:ext cx="3951021" cy="373261"/>
          </a:xfrm>
          <a:prstGeom prst="rect">
            <a:avLst/>
          </a:prstGeom>
          <a:noFill/>
        </p:spPr>
        <p:txBody>
          <a:bodyPr wrap="square" lIns="0" tIns="0" rIns="0" bIns="0" rtlCol="0" anchor="t"/>
          <a:lstStyle/>
          <a:p>
            <a:pPr marL="0" indent="0" algn="l">
              <a:lnSpc>
                <a:spcPts val="1470"/>
              </a:lnSpc>
              <a:spcAft>
                <a:spcPts val="600"/>
              </a:spcAft>
              <a:buNone/>
            </a:pPr>
            <a:r>
              <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rPr>
              <a:t>All models received the same funding call and evaluation criteria. All analyses use BioLinkBERT embeddings with non-parametric statistical tests.</a:t>
            </a:r>
            <a:endParaRPr lang="en-US" sz="1050" dirty="0"/>
          </a:p>
        </p:txBody>
      </p:sp>
      <p:sp>
        <p:nvSpPr>
          <p:cNvPr id="35" name="Text 33"/>
          <p:cNvSpPr/>
          <p:nvPr/>
        </p:nvSpPr>
        <p:spPr>
          <a:xfrm>
            <a:off x="4972050" y="2045335"/>
            <a:ext cx="3950970" cy="1358900"/>
          </a:xfrm>
          <a:prstGeom prst="rect">
            <a:avLst/>
          </a:prstGeom>
          <a:noFill/>
        </p:spPr>
        <p:txBody>
          <a:bodyPr wrap="square" lIns="0" tIns="0" rIns="0" bIns="0" rtlCol="0" anchor="t"/>
          <a:lstStyle/>
          <a:p>
            <a:pPr marL="0" indent="0" algn="l">
              <a:lnSpc>
                <a:spcPts val="1470"/>
              </a:lnSpc>
              <a:spcAft>
                <a:spcPts val="600"/>
              </a:spcAft>
              <a:buNone/>
            </a:pPr>
            <a:r>
              <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rPr>
              <a:t>Analysis spans four parts: </a:t>
            </a:r>
            <a:endPar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470"/>
              </a:lnSpc>
              <a:spcAft>
                <a:spcPts val="600"/>
              </a:spcAft>
              <a:buNone/>
            </a:pPr>
            <a:r>
              <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rPr>
              <a:t>(1) Diversity via pairwise, centroid, and nearest-neighbor metrics; </a:t>
            </a:r>
            <a:endPar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470"/>
              </a:lnSpc>
              <a:spcAft>
                <a:spcPts val="600"/>
              </a:spcAft>
              <a:buNone/>
            </a:pPr>
            <a:r>
              <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rPr>
              <a:t>(2) Novelty via distance to a PubMed literature corpus; </a:t>
            </a:r>
            <a:endPar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470"/>
              </a:lnSpc>
              <a:spcAft>
                <a:spcPts val="600"/>
              </a:spcAft>
              <a:buNone/>
            </a:pPr>
            <a:r>
              <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rPr>
              <a:t>(3) Thematic separation via topic modeling and cluster analysis. </a:t>
            </a:r>
            <a:endPar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470"/>
              </a:lnSpc>
              <a:spcAft>
                <a:spcPts val="600"/>
              </a:spcAft>
              <a:buNone/>
            </a:pPr>
            <a:r>
              <a:rPr lang="en-US" sz="1050" dirty="0">
                <a:solidFill>
                  <a:srgbClr val="2C3E50"/>
                </a:solidFill>
                <a:latin typeface="Arial" panose="020B0604020202090204" pitchFamily="34" charset="0"/>
                <a:ea typeface="Arial" panose="020B0604020202090204" pitchFamily="34" charset="-122"/>
                <a:cs typeface="Arial" panose="020B0604020202090204" pitchFamily="34" charset="-120"/>
              </a:rPr>
              <a:t>(4) Stylistic comparison and regularization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Methodology</a:t>
            </a:r>
            <a:endParaRPr lang="en-US" sz="2000" dirty="0"/>
          </a:p>
        </p:txBody>
      </p:sp>
      <p:sp>
        <p:nvSpPr>
          <p:cNvPr id="4" name="Text 2"/>
          <p:cNvSpPr/>
          <p:nvPr/>
        </p:nvSpPr>
        <p:spPr>
          <a:xfrm>
            <a:off x="507950" y="853827"/>
            <a:ext cx="3951021" cy="200025"/>
          </a:xfrm>
          <a:prstGeom prst="rect">
            <a:avLst/>
          </a:prstGeom>
          <a:noFill/>
        </p:spPr>
        <p:txBody>
          <a:bodyPr wrap="square" lIns="0" tIns="0" rIns="0" bIns="0" rtlCol="0" anchor="t"/>
          <a:lstStyle/>
          <a:p>
            <a:pPr marL="0" indent="0" algn="l">
              <a:lnSpc>
                <a:spcPts val="1285"/>
              </a:lnSpc>
              <a:spcAft>
                <a:spcPts val="400"/>
              </a:spcAft>
              <a:buNone/>
            </a:pPr>
            <a:r>
              <a:rPr lang="en-US" sz="1300" b="1" dirty="0">
                <a:solidFill>
                  <a:srgbClr val="1B2A4A"/>
                </a:solidFill>
                <a:latin typeface="Arial" panose="020B0604020202090204" pitchFamily="34" charset="0"/>
                <a:ea typeface="Arial" panose="020B0604020202090204" pitchFamily="34" charset="-122"/>
                <a:cs typeface="Arial" panose="020B0604020202090204" pitchFamily="34" charset="-120"/>
              </a:rPr>
              <a:t>Embedding Pipeline</a:t>
            </a:r>
            <a:endParaRPr lang="en-US" sz="1300" dirty="0"/>
          </a:p>
        </p:txBody>
      </p:sp>
      <p:sp>
        <p:nvSpPr>
          <p:cNvPr id="5" name="Text 3"/>
          <p:cNvSpPr/>
          <p:nvPr/>
        </p:nvSpPr>
        <p:spPr>
          <a:xfrm>
            <a:off x="507315" y="1104445"/>
            <a:ext cx="507950" cy="25301"/>
          </a:xfrm>
          <a:prstGeom prst="rect">
            <a:avLst/>
          </a:prstGeom>
          <a:solidFill>
            <a:srgbClr val="E8505B"/>
          </a:solidFill>
        </p:spPr>
        <p:txBody>
          <a:bodyPr wrap="square" rtlCol="0" anchor="ctr"/>
          <a:lstStyle/>
          <a:p>
            <a:pPr marL="0" indent="0">
              <a:buNone/>
            </a:pPr>
            <a:endParaRPr lang="en-US" dirty="0"/>
          </a:p>
        </p:txBody>
      </p:sp>
      <p:sp>
        <p:nvSpPr>
          <p:cNvPr id="6" name="Text 4"/>
          <p:cNvSpPr/>
          <p:nvPr/>
        </p:nvSpPr>
        <p:spPr>
          <a:xfrm>
            <a:off x="507950" y="1180000"/>
            <a:ext cx="3951021" cy="340000"/>
          </a:xfrm>
          <a:prstGeom prst="roundRect">
            <a:avLst>
              <a:gd name="adj" fmla="val 3000"/>
            </a:avLst>
          </a:prstGeom>
          <a:solidFill>
            <a:srgbClr val="F0F4F8"/>
          </a:solidFill>
        </p:spPr>
        <p:txBody>
          <a:bodyPr wrap="square" rtlCol="0" anchor="ctr"/>
          <a:lstStyle/>
          <a:p>
            <a:pPr marL="0" indent="0">
              <a:buNone/>
            </a:pPr>
            <a:endParaRPr lang="en-US" dirty="0"/>
          </a:p>
        </p:txBody>
      </p:sp>
      <p:sp>
        <p:nvSpPr>
          <p:cNvPr id="7" name="Shape 5"/>
          <p:cNvSpPr/>
          <p:nvPr/>
        </p:nvSpPr>
        <p:spPr>
          <a:xfrm>
            <a:off x="527000" y="1257470"/>
            <a:ext cx="0" cy="340000"/>
          </a:xfrm>
          <a:prstGeom prst="line">
            <a:avLst/>
          </a:prstGeom>
          <a:noFill/>
          <a:ln w="38100">
            <a:solidFill>
              <a:srgbClr val="2E86AB"/>
            </a:solidFill>
            <a:prstDash val="solid"/>
          </a:ln>
        </p:spPr>
      </p:sp>
      <p:sp>
        <p:nvSpPr>
          <p:cNvPr id="8" name="Text 6"/>
          <p:cNvSpPr/>
          <p:nvPr/>
        </p:nvSpPr>
        <p:spPr>
          <a:xfrm>
            <a:off x="698450" y="1200000"/>
            <a:ext cx="3700000" cy="130000"/>
          </a:xfrm>
          <a:prstGeom prst="rect">
            <a:avLst/>
          </a:prstGeom>
          <a:noFill/>
        </p:spPr>
        <p:txBody>
          <a:bodyPr wrap="square" lIns="0" tIns="0" rIns="0" bIns="0" rtlCol="0" anchor="t"/>
          <a:lstStyle/>
          <a:p>
            <a:pPr marL="0" indent="0" algn="l">
              <a:lnSpc>
                <a:spcPts val="1400"/>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BioLinkBERT-large</a:t>
            </a:r>
            <a:endParaRPr lang="en-US" sz="1050" dirty="0"/>
          </a:p>
        </p:txBody>
      </p:sp>
      <p:sp>
        <p:nvSpPr>
          <p:cNvPr id="9" name="Text 7"/>
          <p:cNvSpPr/>
          <p:nvPr/>
        </p:nvSpPr>
        <p:spPr>
          <a:xfrm>
            <a:off x="698500" y="1404620"/>
            <a:ext cx="3873500" cy="14986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5D6D7E"/>
                </a:solidFill>
                <a:latin typeface="Arial" panose="020B0604020202090204" pitchFamily="34" charset="0"/>
                <a:ea typeface="Arial" panose="020B0604020202090204" pitchFamily="34" charset="-122"/>
                <a:cs typeface="Arial" panose="020B0604020202090204" pitchFamily="34" charset="-120"/>
              </a:rPr>
              <a:t>340M-param biomedical model pretrained on PubMed with citation links. Encodes each proposal as a 1024-dim vector (400-word overlapping chunks, averaged).</a:t>
            </a:r>
            <a:endParaRPr lang="en-US" sz="800" dirty="0"/>
          </a:p>
        </p:txBody>
      </p:sp>
      <p:sp>
        <p:nvSpPr>
          <p:cNvPr id="11" name="Shape 9"/>
          <p:cNvSpPr/>
          <p:nvPr/>
        </p:nvSpPr>
        <p:spPr>
          <a:xfrm>
            <a:off x="527000" y="1785105"/>
            <a:ext cx="0" cy="240000"/>
          </a:xfrm>
          <a:prstGeom prst="line">
            <a:avLst/>
          </a:prstGeom>
          <a:noFill/>
          <a:ln w="38100">
            <a:solidFill>
              <a:srgbClr val="2E86AB"/>
            </a:solidFill>
            <a:prstDash val="solid"/>
          </a:ln>
        </p:spPr>
      </p:sp>
      <p:sp>
        <p:nvSpPr>
          <p:cNvPr id="12" name="Text 10"/>
          <p:cNvSpPr/>
          <p:nvPr/>
        </p:nvSpPr>
        <p:spPr>
          <a:xfrm>
            <a:off x="698500" y="1786255"/>
            <a:ext cx="3505200" cy="12954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5D6D7E"/>
                </a:solidFill>
                <a:latin typeface="Arial" panose="020B0604020202090204" pitchFamily="34" charset="0"/>
                <a:ea typeface="Arial" panose="020B0604020202090204" pitchFamily="34" charset="-122"/>
                <a:cs typeface="Arial" panose="020B0604020202090204" pitchFamily="34" charset="-120"/>
              </a:rPr>
              <a:t>Cosine distance in 1024-dim space for all metrics. </a:t>
            </a:r>
            <a:r>
              <a:rPr lang="en-US" sz="800" b="1" dirty="0">
                <a:solidFill>
                  <a:srgbClr val="5D6D7E"/>
                </a:solidFill>
                <a:latin typeface="Arial" panose="020B0604020202090204" pitchFamily="34" charset="0"/>
                <a:ea typeface="Arial" panose="020B0604020202090204" pitchFamily="34" charset="-122"/>
                <a:cs typeface="Arial" panose="020B0604020202090204" pitchFamily="34" charset="-120"/>
              </a:rPr>
              <a:t>Mann-Whitney U tests, Cliff’s delta, and permutation tests (10K iterations) for all comparisons.</a:t>
            </a:r>
            <a:endParaRPr lang="en-US" sz="800" b="1" dirty="0"/>
          </a:p>
        </p:txBody>
      </p:sp>
      <p:sp>
        <p:nvSpPr>
          <p:cNvPr id="13" name="Text 11"/>
          <p:cNvSpPr/>
          <p:nvPr/>
        </p:nvSpPr>
        <p:spPr>
          <a:xfrm>
            <a:off x="527000" y="2289570"/>
            <a:ext cx="3951021" cy="200025"/>
          </a:xfrm>
          <a:prstGeom prst="rect">
            <a:avLst/>
          </a:prstGeom>
          <a:noFill/>
        </p:spPr>
        <p:txBody>
          <a:bodyPr wrap="square" lIns="0" tIns="0" rIns="0" bIns="0" rtlCol="0" anchor="t"/>
          <a:lstStyle/>
          <a:p>
            <a:pPr marL="0" indent="0" algn="l">
              <a:lnSpc>
                <a:spcPts val="1285"/>
              </a:lnSpc>
              <a:spcAft>
                <a:spcPts val="400"/>
              </a:spcAft>
              <a:buNone/>
            </a:pPr>
            <a:r>
              <a:rPr lang="en-US" sz="1300" b="1" dirty="0">
                <a:solidFill>
                  <a:srgbClr val="1B2A4A"/>
                </a:solidFill>
                <a:latin typeface="Arial" panose="020B0604020202090204" pitchFamily="34" charset="0"/>
                <a:ea typeface="Arial" panose="020B0604020202090204" pitchFamily="34" charset="-122"/>
                <a:cs typeface="Arial" panose="020B0604020202090204" pitchFamily="34" charset="-120"/>
              </a:rPr>
              <a:t>Key Metric Definitions</a:t>
            </a:r>
            <a:endParaRPr lang="en-US" sz="1300" dirty="0"/>
          </a:p>
        </p:txBody>
      </p:sp>
      <p:sp>
        <p:nvSpPr>
          <p:cNvPr id="14" name="Text 12"/>
          <p:cNvSpPr/>
          <p:nvPr/>
        </p:nvSpPr>
        <p:spPr>
          <a:xfrm>
            <a:off x="526365" y="2514805"/>
            <a:ext cx="507950" cy="25301"/>
          </a:xfrm>
          <a:prstGeom prst="rect">
            <a:avLst/>
          </a:prstGeom>
          <a:solidFill>
            <a:srgbClr val="2E86AB"/>
          </a:solidFill>
        </p:spPr>
        <p:txBody>
          <a:bodyPr wrap="square" rtlCol="0" anchor="ctr"/>
          <a:lstStyle/>
          <a:p>
            <a:pPr marL="0" indent="0">
              <a:buNone/>
            </a:pPr>
            <a:endParaRPr lang="en-US" dirty="0"/>
          </a:p>
        </p:txBody>
      </p:sp>
      <p:sp>
        <p:nvSpPr>
          <p:cNvPr id="16" name="Shape 14"/>
          <p:cNvSpPr/>
          <p:nvPr/>
        </p:nvSpPr>
        <p:spPr>
          <a:xfrm>
            <a:off x="527050" y="2590165"/>
            <a:ext cx="1764030" cy="635"/>
          </a:xfrm>
          <a:prstGeom prst="line">
            <a:avLst/>
          </a:prstGeom>
          <a:noFill/>
          <a:ln w="38100">
            <a:solidFill>
              <a:srgbClr val="E8505B"/>
            </a:solidFill>
            <a:prstDash val="solid"/>
          </a:ln>
        </p:spPr>
      </p:sp>
      <p:sp>
        <p:nvSpPr>
          <p:cNvPr id="17" name="Text 15"/>
          <p:cNvSpPr/>
          <p:nvPr/>
        </p:nvSpPr>
        <p:spPr>
          <a:xfrm>
            <a:off x="526415" y="2649855"/>
            <a:ext cx="1884680" cy="149860"/>
          </a:xfrm>
          <a:prstGeom prst="rect">
            <a:avLst/>
          </a:prstGeom>
          <a:noFill/>
        </p:spPr>
        <p:txBody>
          <a:bodyPr wrap="square" lIns="0" tIns="0" rIns="0" bIns="0" rtlCol="0" anchor="t"/>
          <a:lstStyle/>
          <a:p>
            <a:pPr marL="0" indent="0" algn="l">
              <a:lnSpc>
                <a:spcPts val="1400"/>
              </a:lnSpc>
              <a:spcAft>
                <a:spcPts val="400"/>
              </a:spcAft>
              <a:buNone/>
            </a:pPr>
            <a:r>
              <a:rPr lang="en-US" sz="900" b="1" dirty="0">
                <a:solidFill>
                  <a:srgbClr val="E8505B"/>
                </a:solidFill>
                <a:latin typeface="Arial" panose="020B0604020202090204" pitchFamily="34" charset="0"/>
                <a:ea typeface="Arial" panose="020B0604020202090204" pitchFamily="34" charset="-122"/>
                <a:cs typeface="Arial" panose="020B0604020202090204" pitchFamily="34" charset="-120"/>
              </a:rPr>
              <a:t>Diversity </a:t>
            </a:r>
            <a:endParaRPr lang="en-US" sz="900" b="1" dirty="0">
              <a:solidFill>
                <a:srgbClr val="E8505B"/>
              </a:solidFill>
              <a:latin typeface="Arial" panose="020B0604020202090204" pitchFamily="34" charset="0"/>
              <a:ea typeface="Arial" panose="020B0604020202090204" pitchFamily="34" charset="-122"/>
              <a:cs typeface="Arial" panose="020B0604020202090204" pitchFamily="34" charset="-120"/>
            </a:endParaRPr>
          </a:p>
        </p:txBody>
      </p:sp>
      <p:sp>
        <p:nvSpPr>
          <p:cNvPr id="18" name="Text 16"/>
          <p:cNvSpPr/>
          <p:nvPr/>
        </p:nvSpPr>
        <p:spPr>
          <a:xfrm>
            <a:off x="526415" y="2882900"/>
            <a:ext cx="1764665" cy="339725"/>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E8505B"/>
                </a:solidFill>
                <a:latin typeface="Arial" panose="020B0604020202090204" pitchFamily="34" charset="0"/>
                <a:ea typeface="Arial" panose="020B0604020202090204" pitchFamily="34" charset="-122"/>
                <a:cs typeface="Arial" panose="020B0604020202090204" pitchFamily="34" charset="-120"/>
              </a:rPr>
              <a:t>How different are proposals from each other within the same group and between groups?</a:t>
            </a:r>
            <a:endParaRPr lang="en-US" sz="800" dirty="0">
              <a:solidFill>
                <a:srgbClr val="E8505B"/>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Measured by cosine distances between proposal embeddings. Three complementary lenses: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171450" indent="-171450" algn="l">
              <a:lnSpc>
                <a:spcPts val="1050"/>
              </a:lnSpc>
              <a:spcAft>
                <a:spcPts val="400"/>
              </a:spcAft>
              <a:buFont typeface="Arial" panose="020B0604020202090204" pitchFamily="34" charset="0"/>
              <a:buChar char="•"/>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pairwise distances (all pairs)</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171450" indent="-171450" algn="l">
              <a:lnSpc>
                <a:spcPts val="1050"/>
              </a:lnSpc>
              <a:spcAft>
                <a:spcPts val="400"/>
              </a:spcAft>
              <a:buFont typeface="Arial" panose="020B0604020202090204" pitchFamily="34" charset="0"/>
              <a:buChar char="•"/>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centroid dispersion (distance to group center)</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171450" indent="-171450" algn="l">
              <a:lnSpc>
                <a:spcPts val="1050"/>
              </a:lnSpc>
              <a:spcAft>
                <a:spcPts val="400"/>
              </a:spcAft>
              <a:buFont typeface="Arial" panose="020B0604020202090204" pitchFamily="34" charset="0"/>
              <a:buChar char="•"/>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nearest-neighbor analysis (closest proposal in the combined space of all groups). </a:t>
            </a:r>
            <a:endParaRPr lang="en-US" sz="800" dirty="0"/>
          </a:p>
        </p:txBody>
      </p:sp>
      <p:sp>
        <p:nvSpPr>
          <p:cNvPr id="20" name="Shape 18"/>
          <p:cNvSpPr/>
          <p:nvPr/>
        </p:nvSpPr>
        <p:spPr>
          <a:xfrm>
            <a:off x="2582545" y="2585720"/>
            <a:ext cx="1791970" cy="635"/>
          </a:xfrm>
          <a:prstGeom prst="line">
            <a:avLst/>
          </a:prstGeom>
          <a:noFill/>
          <a:ln w="38100">
            <a:solidFill>
              <a:srgbClr val="2E86AB"/>
            </a:solidFill>
            <a:prstDash val="solid"/>
          </a:ln>
        </p:spPr>
      </p:sp>
      <p:sp>
        <p:nvSpPr>
          <p:cNvPr id="21" name="Text 19"/>
          <p:cNvSpPr/>
          <p:nvPr/>
        </p:nvSpPr>
        <p:spPr>
          <a:xfrm>
            <a:off x="2582545" y="2656205"/>
            <a:ext cx="1678305" cy="149860"/>
          </a:xfrm>
          <a:prstGeom prst="rect">
            <a:avLst/>
          </a:prstGeom>
          <a:noFill/>
        </p:spPr>
        <p:txBody>
          <a:bodyPr wrap="square" lIns="0" tIns="0" rIns="0" bIns="0" rtlCol="0" anchor="t"/>
          <a:lstStyle/>
          <a:p>
            <a:pPr marL="0" indent="0" algn="l">
              <a:lnSpc>
                <a:spcPts val="1400"/>
              </a:lnSpc>
              <a:spcAft>
                <a:spcPts val="400"/>
              </a:spcAft>
              <a:buNone/>
            </a:pPr>
            <a:r>
              <a:rPr lang="en-US" sz="900" b="1" dirty="0">
                <a:solidFill>
                  <a:srgbClr val="2E86AB"/>
                </a:solidFill>
                <a:latin typeface="Arial" panose="020B0604020202090204" pitchFamily="34" charset="0"/>
                <a:ea typeface="Arial" panose="020B0604020202090204" pitchFamily="34" charset="-122"/>
                <a:cs typeface="Arial" panose="020B0604020202090204" pitchFamily="34" charset="-120"/>
              </a:rPr>
              <a:t>Novelty </a:t>
            </a:r>
            <a:endParaRPr lang="en-US" sz="900" b="1" dirty="0">
              <a:solidFill>
                <a:srgbClr val="2E86AB"/>
              </a:solidFill>
              <a:latin typeface="Arial" panose="020B0604020202090204" pitchFamily="34" charset="0"/>
              <a:ea typeface="Arial" panose="020B0604020202090204" pitchFamily="34" charset="-122"/>
              <a:cs typeface="Arial" panose="020B0604020202090204" pitchFamily="34" charset="-120"/>
            </a:endParaRPr>
          </a:p>
        </p:txBody>
      </p:sp>
      <p:sp>
        <p:nvSpPr>
          <p:cNvPr id="22" name="Text 20"/>
          <p:cNvSpPr/>
          <p:nvPr/>
        </p:nvSpPr>
        <p:spPr>
          <a:xfrm>
            <a:off x="2582545" y="2896235"/>
            <a:ext cx="1678305" cy="339725"/>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E86AB"/>
                </a:solidFill>
                <a:latin typeface="Arial" panose="020B0604020202090204" pitchFamily="34" charset="0"/>
                <a:ea typeface="Arial" panose="020B0604020202090204" pitchFamily="34" charset="-122"/>
                <a:cs typeface="Arial" panose="020B0604020202090204" pitchFamily="34" charset="-120"/>
              </a:rPr>
              <a:t>How far are proposals from </a:t>
            </a:r>
            <a:r>
              <a:rPr lang="en-US" sz="800" b="1" dirty="0">
                <a:solidFill>
                  <a:srgbClr val="2E86AB"/>
                </a:solidFill>
                <a:latin typeface="Arial Bold" panose="020B0604020202090204" charset="0"/>
                <a:ea typeface="Arial" panose="020B0604020202090204" pitchFamily="34" charset="-122"/>
                <a:cs typeface="Arial Bold" panose="020B0604020202090204" charset="0"/>
              </a:rPr>
              <a:t>what already exists in the scientific literature</a:t>
            </a:r>
            <a:r>
              <a:rPr lang="en-US" sz="800" b="1" dirty="0">
                <a:solidFill>
                  <a:srgbClr val="2E86AB"/>
                </a:solidFill>
                <a:latin typeface="Arial" panose="020B0604020202090204" pitchFamily="34" charset="0"/>
                <a:ea typeface="Arial" panose="020B0604020202090204" pitchFamily="34" charset="-122"/>
                <a:cs typeface="Arial" panose="020B0604020202090204" pitchFamily="34" charset="-120"/>
              </a:rPr>
              <a:t>?</a:t>
            </a:r>
            <a:r>
              <a:rPr lang="en-US" sz="800" dirty="0">
                <a:solidFill>
                  <a:srgbClr val="2E86AB"/>
                </a:solidFill>
                <a:latin typeface="Arial" panose="020B0604020202090204" pitchFamily="34" charset="0"/>
                <a:ea typeface="Arial" panose="020B0604020202090204" pitchFamily="34" charset="-122"/>
                <a:cs typeface="Arial" panose="020B0604020202090204" pitchFamily="34" charset="-120"/>
              </a:rPr>
              <a:t> </a:t>
            </a:r>
            <a:endParaRPr lang="en-US" sz="800" dirty="0">
              <a:solidFill>
                <a:srgbClr val="2E86AB"/>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Measured as mean cosine distance from each proposal to its 10 nearest neighbors in a corpus of 350 PubMed articles. Higher = more novel.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Crucially different from diversity: a group can be internally diverse but still close to published work, or internally homogeneous but exploring genuinely new territory.</a:t>
            </a:r>
            <a:endParaRPr lang="en-US" sz="800" dirty="0"/>
          </a:p>
        </p:txBody>
      </p:sp>
      <p:sp>
        <p:nvSpPr>
          <p:cNvPr id="24" name="Shape 22"/>
          <p:cNvSpPr/>
          <p:nvPr/>
        </p:nvSpPr>
        <p:spPr>
          <a:xfrm>
            <a:off x="4655820" y="2581275"/>
            <a:ext cx="1884680" cy="635"/>
          </a:xfrm>
          <a:prstGeom prst="line">
            <a:avLst/>
          </a:prstGeom>
          <a:noFill/>
          <a:ln w="38100">
            <a:solidFill>
              <a:srgbClr val="16A085"/>
            </a:solidFill>
            <a:prstDash val="solid"/>
          </a:ln>
        </p:spPr>
      </p:sp>
      <p:sp>
        <p:nvSpPr>
          <p:cNvPr id="25" name="Text 23"/>
          <p:cNvSpPr/>
          <p:nvPr/>
        </p:nvSpPr>
        <p:spPr>
          <a:xfrm>
            <a:off x="4655820" y="2656205"/>
            <a:ext cx="1764030" cy="149860"/>
          </a:xfrm>
          <a:prstGeom prst="rect">
            <a:avLst/>
          </a:prstGeom>
          <a:noFill/>
        </p:spPr>
        <p:txBody>
          <a:bodyPr wrap="square" lIns="0" tIns="0" rIns="0" bIns="0" rtlCol="0" anchor="t"/>
          <a:lstStyle/>
          <a:p>
            <a:pPr marL="0" indent="0" algn="l">
              <a:lnSpc>
                <a:spcPts val="1400"/>
              </a:lnSpc>
              <a:spcAft>
                <a:spcPts val="400"/>
              </a:spcAft>
              <a:buNone/>
            </a:pPr>
            <a:r>
              <a:rPr lang="en-US" sz="900" b="1" dirty="0">
                <a:solidFill>
                  <a:srgbClr val="16A085"/>
                </a:solidFill>
                <a:latin typeface="Arial" panose="020B0604020202090204" pitchFamily="34" charset="0"/>
                <a:ea typeface="Arial" panose="020B0604020202090204" pitchFamily="34" charset="-122"/>
                <a:cs typeface="Arial" panose="020B0604020202090204" pitchFamily="34" charset="-120"/>
              </a:rPr>
              <a:t>Thematic &amp; Stylistic Separation </a:t>
            </a:r>
            <a:endParaRPr lang="en-US" sz="900" b="1" dirty="0">
              <a:solidFill>
                <a:srgbClr val="16A085"/>
              </a:solidFill>
              <a:latin typeface="Arial" panose="020B0604020202090204" pitchFamily="34" charset="0"/>
              <a:ea typeface="Arial" panose="020B0604020202090204" pitchFamily="34" charset="-122"/>
              <a:cs typeface="Arial" panose="020B0604020202090204" pitchFamily="34" charset="-120"/>
            </a:endParaRPr>
          </a:p>
        </p:txBody>
      </p:sp>
      <p:sp>
        <p:nvSpPr>
          <p:cNvPr id="26" name="Text 24"/>
          <p:cNvSpPr/>
          <p:nvPr/>
        </p:nvSpPr>
        <p:spPr>
          <a:xfrm>
            <a:off x="4655820" y="2896235"/>
            <a:ext cx="1764030" cy="24003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16A085"/>
                </a:solidFill>
                <a:latin typeface="Arial" panose="020B0604020202090204" pitchFamily="34" charset="0"/>
                <a:ea typeface="Arial" panose="020B0604020202090204" pitchFamily="34" charset="-122"/>
                <a:cs typeface="Arial" panose="020B0604020202090204" pitchFamily="34" charset="-120"/>
              </a:rPr>
              <a:t>Do human and AI proposals occupy the same conceptual regions (based on topics and styles)? </a:t>
            </a:r>
            <a:endParaRPr lang="en-US" sz="800" dirty="0">
              <a:solidFill>
                <a:srgbClr val="16A085"/>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LDA topic modeling identifies latent themes;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Gaussian Mixture Model clustering groups proposals by embedding similarity. Tests whether sources are segregated or intermingled.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Stylistic features seperation between groups</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endParaRPr lang="en-US" sz="800" dirty="0"/>
          </a:p>
        </p:txBody>
      </p:sp>
      <p:sp>
        <p:nvSpPr>
          <p:cNvPr id="44" name="Shape 22"/>
          <p:cNvSpPr/>
          <p:nvPr/>
        </p:nvSpPr>
        <p:spPr>
          <a:xfrm>
            <a:off x="6863080" y="2571115"/>
            <a:ext cx="1884680" cy="635"/>
          </a:xfrm>
          <a:prstGeom prst="line">
            <a:avLst/>
          </a:prstGeom>
          <a:noFill/>
          <a:ln w="38100" cap="flat" cmpd="sng">
            <a:solidFill>
              <a:schemeClr val="accent2"/>
            </a:solidFill>
            <a:prstDash val="solid"/>
            <a:headEnd type="none"/>
            <a:tailEnd type="none"/>
          </a:ln>
        </p:spPr>
      </p:sp>
      <p:sp>
        <p:nvSpPr>
          <p:cNvPr id="45" name="Text 23"/>
          <p:cNvSpPr/>
          <p:nvPr/>
        </p:nvSpPr>
        <p:spPr>
          <a:xfrm>
            <a:off x="6877050" y="2658745"/>
            <a:ext cx="1764030" cy="149860"/>
          </a:xfrm>
          <a:prstGeom prst="rect">
            <a:avLst/>
          </a:prstGeom>
          <a:noFill/>
        </p:spPr>
        <p:txBody>
          <a:bodyPr wrap="square" lIns="0" tIns="0" rIns="0" bIns="0" rtlCol="0" anchor="t"/>
          <a:lstStyle/>
          <a:p>
            <a:pPr marL="0" indent="0" algn="l">
              <a:lnSpc>
                <a:spcPts val="1400"/>
              </a:lnSpc>
              <a:spcAft>
                <a:spcPts val="400"/>
              </a:spcAft>
              <a:buNone/>
            </a:pPr>
            <a:r>
              <a:rPr lang="en-US" sz="900" b="1" dirty="0">
                <a:solidFill>
                  <a:schemeClr val="accent2">
                    <a:lumMod val="75000"/>
                  </a:schemeClr>
                </a:solidFill>
                <a:latin typeface="Arial" panose="020B0604020202090204" pitchFamily="34" charset="0"/>
                <a:ea typeface="Arial" panose="020B0604020202090204" pitchFamily="34" charset="-122"/>
                <a:cs typeface="Arial" panose="020B0604020202090204" pitchFamily="34" charset="-120"/>
              </a:rPr>
              <a:t>Quality</a:t>
            </a:r>
            <a:endParaRPr lang="en-US" sz="900" b="1" dirty="0">
              <a:solidFill>
                <a:schemeClr val="accent2">
                  <a:lumMod val="75000"/>
                </a:schemeClr>
              </a:solidFill>
              <a:latin typeface="Arial" panose="020B0604020202090204" pitchFamily="34" charset="0"/>
              <a:ea typeface="Arial" panose="020B0604020202090204" pitchFamily="34" charset="-122"/>
              <a:cs typeface="Arial" panose="020B0604020202090204" pitchFamily="34" charset="-120"/>
            </a:endParaRPr>
          </a:p>
        </p:txBody>
      </p:sp>
      <p:sp>
        <p:nvSpPr>
          <p:cNvPr id="46" name="Text 24"/>
          <p:cNvSpPr/>
          <p:nvPr/>
        </p:nvSpPr>
        <p:spPr>
          <a:xfrm>
            <a:off x="6877050" y="2896235"/>
            <a:ext cx="1764030" cy="162306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chemeClr val="accent2">
                    <a:lumMod val="75000"/>
                  </a:schemeClr>
                </a:solidFill>
                <a:latin typeface="Arial" panose="020B0604020202090204" pitchFamily="34" charset="0"/>
                <a:ea typeface="Arial" panose="020B0604020202090204" pitchFamily="34" charset="-122"/>
                <a:cs typeface="Arial" panose="020B0604020202090204" pitchFamily="34" charset="-120"/>
              </a:rPr>
              <a:t>Do human and AI proposals exhibit same level of quality?</a:t>
            </a:r>
            <a:endParaRPr lang="en-US" sz="800" dirty="0">
              <a:solidFill>
                <a:schemeClr val="accent2">
                  <a:lumMod val="75000"/>
                </a:schemeClr>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Human domain experts reviewed all human proposals and provided qualitative reviews;</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AI reviewed all proposals with same criteria and requirements;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Compared similarity between AI and human reviews to check whether AI reviews are valid proxy</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Methodology</a:t>
            </a:r>
            <a:endParaRPr lang="en-US" sz="2000" dirty="0"/>
          </a:p>
        </p:txBody>
      </p:sp>
      <p:sp>
        <p:nvSpPr>
          <p:cNvPr id="27" name="Text 25"/>
          <p:cNvSpPr/>
          <p:nvPr/>
        </p:nvSpPr>
        <p:spPr>
          <a:xfrm>
            <a:off x="239395" y="853827"/>
            <a:ext cx="3951021" cy="200025"/>
          </a:xfrm>
          <a:prstGeom prst="rect">
            <a:avLst/>
          </a:prstGeom>
          <a:noFill/>
        </p:spPr>
        <p:txBody>
          <a:bodyPr wrap="square" lIns="0" tIns="0" rIns="0" bIns="0" rtlCol="0" anchor="t"/>
          <a:lstStyle/>
          <a:p>
            <a:pPr marL="0" indent="0" algn="l">
              <a:lnSpc>
                <a:spcPts val="1285"/>
              </a:lnSpc>
              <a:spcAft>
                <a:spcPts val="400"/>
              </a:spcAft>
              <a:buNone/>
            </a:pPr>
            <a:r>
              <a:rPr lang="en-US" sz="1300" b="1" dirty="0">
                <a:solidFill>
                  <a:srgbClr val="1B2A4A"/>
                </a:solidFill>
                <a:latin typeface="Arial" panose="020B0604020202090204" pitchFamily="34" charset="0"/>
                <a:ea typeface="Arial" panose="020B0604020202090204" pitchFamily="34" charset="-122"/>
                <a:cs typeface="Arial" panose="020B0604020202090204" pitchFamily="34" charset="-120"/>
              </a:rPr>
              <a:t>Analysis Overview</a:t>
            </a:r>
            <a:endParaRPr lang="en-US" sz="1300" dirty="0"/>
          </a:p>
        </p:txBody>
      </p:sp>
      <p:sp>
        <p:nvSpPr>
          <p:cNvPr id="28" name="Text 26"/>
          <p:cNvSpPr/>
          <p:nvPr/>
        </p:nvSpPr>
        <p:spPr>
          <a:xfrm>
            <a:off x="239395" y="1098730"/>
            <a:ext cx="507950" cy="25301"/>
          </a:xfrm>
          <a:prstGeom prst="rect">
            <a:avLst/>
          </a:prstGeom>
          <a:solidFill>
            <a:srgbClr val="2E86AB"/>
          </a:solidFill>
        </p:spPr>
        <p:txBody>
          <a:bodyPr wrap="square" rtlCol="0" anchor="ctr"/>
          <a:lstStyle/>
          <a:p>
            <a:pPr marL="0" indent="0">
              <a:buNone/>
            </a:pPr>
            <a:endParaRPr lang="en-US" dirty="0"/>
          </a:p>
        </p:txBody>
      </p:sp>
      <p:sp>
        <p:nvSpPr>
          <p:cNvPr id="32" name="Text 30"/>
          <p:cNvSpPr/>
          <p:nvPr/>
        </p:nvSpPr>
        <p:spPr>
          <a:xfrm>
            <a:off x="239395" y="2242185"/>
            <a:ext cx="1764030" cy="178689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Pairwise distances — all n(n−1)/2 pairs within each group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Centroid dispersion — distance from each proposal to group mean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Nearest-neighbor — closest proposal in combined 92-proposal space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Embedding visualization — UMAP 2D projection</a:t>
            </a:r>
            <a:endParaRPr lang="en-US" sz="800" dirty="0"/>
          </a:p>
        </p:txBody>
      </p:sp>
      <p:sp>
        <p:nvSpPr>
          <p:cNvPr id="36" name="Text 34"/>
          <p:cNvSpPr/>
          <p:nvPr/>
        </p:nvSpPr>
        <p:spPr>
          <a:xfrm>
            <a:off x="2294890" y="2242185"/>
            <a:ext cx="1792605" cy="40005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Literature corpus: 350 PubMed articles from 7 search queries</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 Novelty score: mean distance to k=10 nearest neighbors in literature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Compares title+abstract embeddings (fair comparison with abstracts)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Statistical tests: same non-parametric framework as Part I</a:t>
            </a:r>
            <a:endParaRPr lang="en-US" sz="800" dirty="0"/>
          </a:p>
        </p:txBody>
      </p:sp>
      <p:sp>
        <p:nvSpPr>
          <p:cNvPr id="40" name="Text 38"/>
          <p:cNvSpPr/>
          <p:nvPr/>
        </p:nvSpPr>
        <p:spPr>
          <a:xfrm>
            <a:off x="4363720" y="2229485"/>
            <a:ext cx="1903095" cy="429895"/>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LDA topic modeling (k=5, strong priors, stability-validated)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Topic distribution: Fisher’s exact tests with FDR correction
</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GMM clustering (k=3, selected by BIC)</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 Segregation metrics: NMI, ARI, between/within distance ratio</a:t>
            </a:r>
            <a:endParaRPr lang="en-US" sz="800" dirty="0"/>
          </a:p>
        </p:txBody>
      </p:sp>
      <p:sp>
        <p:nvSpPr>
          <p:cNvPr id="41" name="Text 39"/>
          <p:cNvSpPr/>
          <p:nvPr/>
        </p:nvSpPr>
        <p:spPr>
          <a:xfrm>
            <a:off x="2248535" y="762635"/>
            <a:ext cx="4404360" cy="866140"/>
          </a:xfrm>
          <a:prstGeom prst="roundRect">
            <a:avLst>
              <a:gd name="adj" fmla="val 3000"/>
            </a:avLst>
          </a:prstGeom>
          <a:solidFill>
            <a:srgbClr val="1B2A4A"/>
          </a:solidFill>
        </p:spPr>
        <p:txBody>
          <a:bodyPr wrap="square" rtlCol="0" anchor="ctr"/>
          <a:lstStyle/>
          <a:p>
            <a:pPr marL="0" indent="0">
              <a:buNone/>
            </a:pPr>
            <a:endParaRPr lang="en-US" dirty="0"/>
          </a:p>
        </p:txBody>
      </p:sp>
      <p:sp>
        <p:nvSpPr>
          <p:cNvPr id="42" name="Text 40"/>
          <p:cNvSpPr/>
          <p:nvPr/>
        </p:nvSpPr>
        <p:spPr>
          <a:xfrm>
            <a:off x="2400935" y="802675"/>
            <a:ext cx="3600000" cy="150000"/>
          </a:xfrm>
          <a:prstGeom prst="rect">
            <a:avLst/>
          </a:prstGeom>
          <a:noFill/>
        </p:spPr>
        <p:txBody>
          <a:bodyPr wrap="square" lIns="0" tIns="0" rIns="0" bIns="0" rtlCol="0" anchor="t"/>
          <a:lstStyle/>
          <a:p>
            <a:pPr marL="0" indent="0" algn="l">
              <a:lnSpc>
                <a:spcPts val="1400"/>
              </a:lnSpc>
              <a:spcAft>
                <a:spcPts val="400"/>
              </a:spcAft>
              <a:buNone/>
            </a:pPr>
            <a:r>
              <a:rPr lang="en-US" sz="1050" b="1" dirty="0">
                <a:solidFill>
                  <a:srgbClr val="FFFFFF"/>
                </a:solidFill>
                <a:latin typeface="Arial" panose="020B0604020202090204" pitchFamily="34" charset="0"/>
                <a:ea typeface="Arial" panose="020B0604020202090204" pitchFamily="34" charset="-122"/>
                <a:cs typeface="Arial" panose="020B0604020202090204" pitchFamily="34" charset="-120"/>
              </a:rPr>
              <a:t>Why these separate analyses?</a:t>
            </a:r>
            <a:endParaRPr lang="en-US" sz="1050" dirty="0"/>
          </a:p>
        </p:txBody>
      </p:sp>
      <p:sp>
        <p:nvSpPr>
          <p:cNvPr id="43" name="Text 41"/>
          <p:cNvSpPr/>
          <p:nvPr/>
        </p:nvSpPr>
        <p:spPr>
          <a:xfrm>
            <a:off x="2400935" y="972820"/>
            <a:ext cx="4057650" cy="320040"/>
          </a:xfrm>
          <a:prstGeom prst="rect">
            <a:avLst/>
          </a:prstGeom>
          <a:noFill/>
        </p:spPr>
        <p:txBody>
          <a:bodyPr wrap="square" lIns="0" tIns="0" rIns="0" bIns="0" rtlCol="0" anchor="t"/>
          <a:lstStyle/>
          <a:p>
            <a:pPr marL="0" indent="0" algn="l">
              <a:lnSpc>
                <a:spcPts val="1100"/>
              </a:lnSpc>
              <a:spcAft>
                <a:spcPts val="400"/>
              </a:spcAft>
              <a:buNone/>
            </a:pPr>
            <a:r>
              <a:rPr lang="en-US" sz="850" dirty="0">
                <a:solidFill>
                  <a:srgbClr val="B0C4DE"/>
                </a:solidFill>
                <a:latin typeface="Arial" panose="020B0604020202090204" pitchFamily="34" charset="0"/>
                <a:ea typeface="Arial" panose="020B0604020202090204" pitchFamily="34" charset="-122"/>
                <a:cs typeface="Arial" panose="020B0604020202090204" pitchFamily="34" charset="-120"/>
              </a:rPr>
              <a:t>Diversity asks: “Are the ideas varied?” Novelty asks: “Are they new relative to the field?” Thematic analysis asks: “Are they about the same things?” Quality asks: “Are they ‘good’ based on defined metrics?” A model can score high on one and low on another — these dimensions are complementary, not redundant.</a:t>
            </a:r>
            <a:endParaRPr lang="en-US" sz="850" dirty="0"/>
          </a:p>
        </p:txBody>
      </p:sp>
      <p:sp>
        <p:nvSpPr>
          <p:cNvPr id="16" name="Shape 14"/>
          <p:cNvSpPr/>
          <p:nvPr/>
        </p:nvSpPr>
        <p:spPr>
          <a:xfrm>
            <a:off x="239395" y="1851660"/>
            <a:ext cx="1764030" cy="635"/>
          </a:xfrm>
          <a:prstGeom prst="line">
            <a:avLst/>
          </a:prstGeom>
          <a:noFill/>
          <a:ln w="38100">
            <a:solidFill>
              <a:srgbClr val="E8505B"/>
            </a:solidFill>
            <a:prstDash val="solid"/>
          </a:ln>
        </p:spPr>
      </p:sp>
      <p:sp>
        <p:nvSpPr>
          <p:cNvPr id="17" name="Text 15"/>
          <p:cNvSpPr/>
          <p:nvPr/>
        </p:nvSpPr>
        <p:spPr>
          <a:xfrm>
            <a:off x="238760" y="1911350"/>
            <a:ext cx="1884680" cy="149860"/>
          </a:xfrm>
          <a:prstGeom prst="rect">
            <a:avLst/>
          </a:prstGeom>
          <a:noFill/>
        </p:spPr>
        <p:txBody>
          <a:bodyPr wrap="square" lIns="0" tIns="0" rIns="0" bIns="0" rtlCol="0" anchor="t"/>
          <a:lstStyle/>
          <a:p>
            <a:pPr marL="0" indent="0" algn="l">
              <a:lnSpc>
                <a:spcPts val="1400"/>
              </a:lnSpc>
              <a:spcAft>
                <a:spcPts val="400"/>
              </a:spcAft>
              <a:buNone/>
            </a:pPr>
            <a:r>
              <a:rPr lang="en-US" sz="900" b="1" dirty="0">
                <a:solidFill>
                  <a:srgbClr val="E8505B"/>
                </a:solidFill>
                <a:latin typeface="Arial" panose="020B0604020202090204" pitchFamily="34" charset="0"/>
                <a:ea typeface="Arial" panose="020B0604020202090204" pitchFamily="34" charset="-122"/>
                <a:cs typeface="Arial" panose="020B0604020202090204" pitchFamily="34" charset="-120"/>
              </a:rPr>
              <a:t>Diversity  (Slides 4-7)</a:t>
            </a:r>
            <a:endParaRPr lang="en-US" sz="900" b="1" dirty="0">
              <a:solidFill>
                <a:srgbClr val="E8505B"/>
              </a:solidFill>
              <a:latin typeface="Arial" panose="020B0604020202090204" pitchFamily="34" charset="0"/>
              <a:ea typeface="Arial" panose="020B0604020202090204" pitchFamily="34" charset="-122"/>
              <a:cs typeface="Arial" panose="020B0604020202090204" pitchFamily="34" charset="-120"/>
            </a:endParaRPr>
          </a:p>
        </p:txBody>
      </p:sp>
      <p:sp>
        <p:nvSpPr>
          <p:cNvPr id="20" name="Shape 18"/>
          <p:cNvSpPr/>
          <p:nvPr/>
        </p:nvSpPr>
        <p:spPr>
          <a:xfrm>
            <a:off x="2294890" y="1847215"/>
            <a:ext cx="1791970" cy="635"/>
          </a:xfrm>
          <a:prstGeom prst="line">
            <a:avLst/>
          </a:prstGeom>
          <a:noFill/>
          <a:ln w="38100">
            <a:solidFill>
              <a:srgbClr val="2E86AB"/>
            </a:solidFill>
            <a:prstDash val="solid"/>
          </a:ln>
        </p:spPr>
      </p:sp>
      <p:sp>
        <p:nvSpPr>
          <p:cNvPr id="21" name="Text 19"/>
          <p:cNvSpPr/>
          <p:nvPr/>
        </p:nvSpPr>
        <p:spPr>
          <a:xfrm>
            <a:off x="2294890" y="1917700"/>
            <a:ext cx="1678305" cy="149860"/>
          </a:xfrm>
          <a:prstGeom prst="rect">
            <a:avLst/>
          </a:prstGeom>
          <a:noFill/>
        </p:spPr>
        <p:txBody>
          <a:bodyPr wrap="square" lIns="0" tIns="0" rIns="0" bIns="0" rtlCol="0" anchor="t"/>
          <a:lstStyle/>
          <a:p>
            <a:pPr marL="0" indent="0" algn="l">
              <a:lnSpc>
                <a:spcPts val="1400"/>
              </a:lnSpc>
              <a:spcAft>
                <a:spcPts val="400"/>
              </a:spcAft>
              <a:buNone/>
            </a:pPr>
            <a:r>
              <a:rPr lang="en-US" sz="900" b="1" dirty="0">
                <a:solidFill>
                  <a:srgbClr val="2E86AB"/>
                </a:solidFill>
                <a:latin typeface="Arial" panose="020B0604020202090204" pitchFamily="34" charset="0"/>
                <a:ea typeface="Arial" panose="020B0604020202090204" pitchFamily="34" charset="-122"/>
                <a:cs typeface="Arial" panose="020B0604020202090204" pitchFamily="34" charset="-120"/>
              </a:rPr>
              <a:t>Novelty (Slides 8-9) </a:t>
            </a:r>
            <a:endParaRPr lang="en-US" sz="900" b="1" dirty="0">
              <a:solidFill>
                <a:srgbClr val="2E86AB"/>
              </a:solidFill>
              <a:latin typeface="Arial" panose="020B0604020202090204" pitchFamily="34" charset="0"/>
              <a:ea typeface="Arial" panose="020B0604020202090204" pitchFamily="34" charset="-122"/>
              <a:cs typeface="Arial" panose="020B0604020202090204" pitchFamily="34" charset="-120"/>
            </a:endParaRPr>
          </a:p>
        </p:txBody>
      </p:sp>
      <p:sp>
        <p:nvSpPr>
          <p:cNvPr id="24" name="Shape 22"/>
          <p:cNvSpPr/>
          <p:nvPr/>
        </p:nvSpPr>
        <p:spPr>
          <a:xfrm>
            <a:off x="4368165" y="1842770"/>
            <a:ext cx="1884680" cy="635"/>
          </a:xfrm>
          <a:prstGeom prst="line">
            <a:avLst/>
          </a:prstGeom>
          <a:noFill/>
          <a:ln w="38100">
            <a:solidFill>
              <a:srgbClr val="16A085"/>
            </a:solidFill>
            <a:prstDash val="solid"/>
          </a:ln>
        </p:spPr>
      </p:sp>
      <p:sp>
        <p:nvSpPr>
          <p:cNvPr id="25" name="Text 23"/>
          <p:cNvSpPr/>
          <p:nvPr/>
        </p:nvSpPr>
        <p:spPr>
          <a:xfrm>
            <a:off x="4363720" y="1920240"/>
            <a:ext cx="1764030" cy="149860"/>
          </a:xfrm>
          <a:prstGeom prst="rect">
            <a:avLst/>
          </a:prstGeom>
          <a:noFill/>
        </p:spPr>
        <p:txBody>
          <a:bodyPr wrap="square" lIns="0" tIns="0" rIns="0" bIns="0" rtlCol="0" anchor="t"/>
          <a:lstStyle/>
          <a:p>
            <a:pPr marL="0" indent="0" algn="l">
              <a:lnSpc>
                <a:spcPts val="1400"/>
              </a:lnSpc>
              <a:spcAft>
                <a:spcPts val="400"/>
              </a:spcAft>
              <a:buNone/>
            </a:pPr>
            <a:r>
              <a:rPr lang="en-US" sz="900" b="1" dirty="0">
                <a:solidFill>
                  <a:srgbClr val="16A085"/>
                </a:solidFill>
                <a:latin typeface="Arial" panose="020B0604020202090204" pitchFamily="34" charset="0"/>
                <a:ea typeface="Arial" panose="020B0604020202090204" pitchFamily="34" charset="-122"/>
                <a:cs typeface="Arial" panose="020B0604020202090204" pitchFamily="34" charset="-120"/>
              </a:rPr>
              <a:t>Thematic &amp; Stylistic (10-11) </a:t>
            </a:r>
            <a:endParaRPr lang="en-US" sz="900" b="1" dirty="0">
              <a:solidFill>
                <a:srgbClr val="16A085"/>
              </a:solidFill>
              <a:latin typeface="Arial" panose="020B0604020202090204" pitchFamily="34" charset="0"/>
              <a:ea typeface="Arial" panose="020B0604020202090204" pitchFamily="34" charset="-122"/>
              <a:cs typeface="Arial" panose="020B0604020202090204" pitchFamily="34" charset="-120"/>
            </a:endParaRPr>
          </a:p>
        </p:txBody>
      </p:sp>
      <p:sp>
        <p:nvSpPr>
          <p:cNvPr id="44" name="Shape 22"/>
          <p:cNvSpPr/>
          <p:nvPr/>
        </p:nvSpPr>
        <p:spPr>
          <a:xfrm>
            <a:off x="6575425" y="1832610"/>
            <a:ext cx="1884680" cy="635"/>
          </a:xfrm>
          <a:prstGeom prst="line">
            <a:avLst/>
          </a:prstGeom>
          <a:noFill/>
          <a:ln w="38100" cap="flat" cmpd="sng">
            <a:solidFill>
              <a:schemeClr val="accent2"/>
            </a:solidFill>
            <a:prstDash val="solid"/>
            <a:headEnd type="none"/>
            <a:tailEnd type="none"/>
          </a:ln>
        </p:spPr>
      </p:sp>
      <p:sp>
        <p:nvSpPr>
          <p:cNvPr id="45" name="Text 23"/>
          <p:cNvSpPr/>
          <p:nvPr/>
        </p:nvSpPr>
        <p:spPr>
          <a:xfrm>
            <a:off x="6589395" y="1920240"/>
            <a:ext cx="1764030" cy="149860"/>
          </a:xfrm>
          <a:prstGeom prst="rect">
            <a:avLst/>
          </a:prstGeom>
          <a:noFill/>
        </p:spPr>
        <p:txBody>
          <a:bodyPr wrap="square" lIns="0" tIns="0" rIns="0" bIns="0" rtlCol="0" anchor="t"/>
          <a:lstStyle/>
          <a:p>
            <a:pPr marL="0" indent="0" algn="l">
              <a:lnSpc>
                <a:spcPts val="1400"/>
              </a:lnSpc>
              <a:spcAft>
                <a:spcPts val="400"/>
              </a:spcAft>
              <a:buNone/>
            </a:pPr>
            <a:r>
              <a:rPr lang="en-US" sz="900" b="1" dirty="0">
                <a:solidFill>
                  <a:schemeClr val="accent2">
                    <a:lumMod val="75000"/>
                  </a:schemeClr>
                </a:solidFill>
                <a:latin typeface="Arial" panose="020B0604020202090204" pitchFamily="34" charset="0"/>
                <a:ea typeface="Arial" panose="020B0604020202090204" pitchFamily="34" charset="-122"/>
                <a:cs typeface="Arial" panose="020B0604020202090204" pitchFamily="34" charset="-120"/>
              </a:rPr>
              <a:t>Quality</a:t>
            </a:r>
            <a:endParaRPr lang="en-US" sz="900" b="1" dirty="0">
              <a:solidFill>
                <a:schemeClr val="accent2">
                  <a:lumMod val="75000"/>
                </a:schemeClr>
              </a:solidFill>
              <a:latin typeface="Arial" panose="020B0604020202090204" pitchFamily="34" charset="0"/>
              <a:ea typeface="Arial" panose="020B0604020202090204" pitchFamily="34" charset="-122"/>
              <a:cs typeface="Arial" panose="020B0604020202090204"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Analysis 1: Within-Group Pairwise Diversity</a:t>
            </a:r>
            <a:endParaRPr lang="en-US" sz="2000" dirty="0"/>
          </a:p>
        </p:txBody>
      </p:sp>
      <p:sp>
        <p:nvSpPr>
          <p:cNvPr id="4" name="Text 2"/>
          <p:cNvSpPr/>
          <p:nvPr/>
        </p:nvSpPr>
        <p:spPr>
          <a:xfrm>
            <a:off x="507950" y="828377"/>
            <a:ext cx="3627069"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Results</a:t>
            </a:r>
            <a:endParaRPr lang="en-US" sz="1200" dirty="0"/>
          </a:p>
        </p:txBody>
      </p:sp>
      <p:sp>
        <p:nvSpPr>
          <p:cNvPr id="5" name="Text 3"/>
          <p:cNvSpPr/>
          <p:nvPr/>
        </p:nvSpPr>
        <p:spPr>
          <a:xfrm>
            <a:off x="507950" y="1076027"/>
            <a:ext cx="444401" cy="25301"/>
          </a:xfrm>
          <a:prstGeom prst="rect">
            <a:avLst/>
          </a:prstGeom>
          <a:solidFill>
            <a:srgbClr val="E8505B"/>
          </a:solidFill>
        </p:spPr>
        <p:txBody>
          <a:bodyPr wrap="square" rtlCol="0" anchor="ctr"/>
          <a:lstStyle/>
          <a:p>
            <a:pPr marL="0" indent="0">
              <a:buNone/>
            </a:pPr>
            <a:endParaRPr lang="en-US" dirty="0"/>
          </a:p>
        </p:txBody>
      </p:sp>
      <p:sp>
        <p:nvSpPr>
          <p:cNvPr id="6" name="Text 4"/>
          <p:cNvSpPr/>
          <p:nvPr/>
        </p:nvSpPr>
        <p:spPr>
          <a:xfrm>
            <a:off x="508000" y="4769485"/>
            <a:ext cx="4215765" cy="280670"/>
          </a:xfrm>
          <a:prstGeom prst="rect">
            <a:avLst/>
          </a:prstGeom>
          <a:noFill/>
        </p:spPr>
        <p:txBody>
          <a:bodyPr wrap="square" lIns="0" tIns="0" rIns="0" bIns="0" rtlCol="0" anchor="t"/>
          <a:lstStyle/>
          <a:p>
            <a:pPr marL="0" indent="0" algn="l">
              <a:lnSpc>
                <a:spcPts val="1105"/>
              </a:lnSpc>
              <a:spcBef>
                <a:spcPts val="800"/>
              </a:spcBef>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Cliff's Delta effect sizes vs Human baseline. </a:t>
            </a:r>
            <a:r>
              <a:rPr lang="en-US" sz="850" b="1" dirty="0">
                <a:solidFill>
                  <a:srgbClr val="5D6D7E"/>
                </a:solidFill>
                <a:latin typeface="Arial Bold" panose="020B0604020202090204" charset="0"/>
                <a:ea typeface="Arial" panose="020B0604020202090204" pitchFamily="34" charset="-122"/>
                <a:cs typeface="Arial Bold" panose="020B0604020202090204" charset="0"/>
              </a:rPr>
              <a:t>Positive = AI more diverse. </a:t>
            </a:r>
            <a:endParaRPr lang="en-US" sz="850" b="1" dirty="0">
              <a:latin typeface="Arial Bold" panose="020B0604020202090204" charset="0"/>
              <a:cs typeface="Arial Bold" panose="020B0604020202090204" charset="0"/>
            </a:endParaRPr>
          </a:p>
        </p:txBody>
      </p:sp>
      <p:sp>
        <p:nvSpPr>
          <p:cNvPr id="7" name="Text 5"/>
          <p:cNvSpPr/>
          <p:nvPr/>
        </p:nvSpPr>
        <p:spPr>
          <a:xfrm>
            <a:off x="4317802" y="828377"/>
            <a:ext cx="4404613"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Key Findings</a:t>
            </a:r>
            <a:endParaRPr lang="en-US" sz="1200" dirty="0"/>
          </a:p>
        </p:txBody>
      </p:sp>
      <p:sp>
        <p:nvSpPr>
          <p:cNvPr id="8" name="Text 6"/>
          <p:cNvSpPr/>
          <p:nvPr/>
        </p:nvSpPr>
        <p:spPr>
          <a:xfrm>
            <a:off x="4317802" y="1076027"/>
            <a:ext cx="444401" cy="25301"/>
          </a:xfrm>
          <a:prstGeom prst="rect">
            <a:avLst/>
          </a:prstGeom>
          <a:solidFill>
            <a:srgbClr val="2E86AB"/>
          </a:solidFill>
        </p:spPr>
        <p:txBody>
          <a:bodyPr wrap="square" rtlCol="0" anchor="ctr"/>
          <a:lstStyle/>
          <a:p>
            <a:pPr marL="0" indent="0">
              <a:buNone/>
            </a:pPr>
            <a:endParaRPr lang="en-US" dirty="0"/>
          </a:p>
        </p:txBody>
      </p:sp>
      <p:sp>
        <p:nvSpPr>
          <p:cNvPr id="10" name="Shape 8"/>
          <p:cNvSpPr/>
          <p:nvPr/>
        </p:nvSpPr>
        <p:spPr>
          <a:xfrm>
            <a:off x="4337050" y="1651000"/>
            <a:ext cx="635" cy="623570"/>
          </a:xfrm>
          <a:prstGeom prst="line">
            <a:avLst/>
          </a:prstGeom>
          <a:noFill/>
          <a:ln w="38100">
            <a:solidFill>
              <a:srgbClr val="B2B2B2"/>
            </a:solidFill>
            <a:prstDash val="solid"/>
          </a:ln>
        </p:spPr>
      </p:sp>
      <p:sp>
        <p:nvSpPr>
          <p:cNvPr id="11" name="Text 9"/>
          <p:cNvSpPr/>
          <p:nvPr/>
        </p:nvSpPr>
        <p:spPr>
          <a:xfrm>
            <a:off x="4482852" y="1659979"/>
            <a:ext cx="4106772"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Claude Opus 4.5</a:t>
            </a:r>
            <a:r>
              <a:rPr lang="en-US" sz="950" dirty="0">
                <a:solidFill>
                  <a:srgbClr val="2C3E50"/>
                </a:solidFill>
                <a:latin typeface="Arial" panose="020B0604020202090204" pitchFamily="34" charset="0"/>
                <a:ea typeface="Arial" panose="020B0604020202090204" pitchFamily="34" charset="-122"/>
                <a:cs typeface="Arial" panose="020B0604020202090204" pitchFamily="34" charset="-120"/>
              </a:rPr>
              <a:t> is the only model MORE diverse than humans</a:t>
            </a:r>
            <a:endParaRPr lang="en-US" sz="950" dirty="0"/>
          </a:p>
        </p:txBody>
      </p:sp>
      <p:sp>
        <p:nvSpPr>
          <p:cNvPr id="12" name="Text 10"/>
          <p:cNvSpPr/>
          <p:nvPr/>
        </p:nvSpPr>
        <p:spPr>
          <a:xfrm>
            <a:off x="4482852" y="1867595"/>
            <a:ext cx="4106772" cy="280392"/>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Mean pairwise distance: 0.340 vs Human 0.066 (</a:t>
            </a:r>
            <a:r>
              <a:rPr lang="en-US" sz="850" b="1" dirty="0">
                <a:solidFill>
                  <a:srgbClr val="5D6D7E"/>
                </a:solidFill>
                <a:latin typeface="Arial Bold" panose="020B0604020202090204" charset="0"/>
                <a:ea typeface="Arial" panose="020B0604020202090204" pitchFamily="34" charset="-122"/>
                <a:cs typeface="Arial Bold" panose="020B0604020202090204" charset="0"/>
              </a:rPr>
              <a:t>small effect, p &lt; 0.001</a:t>
            </a: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 However, highly skewed distribution: median 0.072 with long tail to 0.8.</a:t>
            </a:r>
            <a:endParaRPr lang="en-US" sz="850" dirty="0"/>
          </a:p>
        </p:txBody>
      </p:sp>
      <p:sp>
        <p:nvSpPr>
          <p:cNvPr id="14" name="Shape 12"/>
          <p:cNvSpPr/>
          <p:nvPr/>
        </p:nvSpPr>
        <p:spPr>
          <a:xfrm>
            <a:off x="4336852" y="2376438"/>
            <a:ext cx="0" cy="691158"/>
          </a:xfrm>
          <a:prstGeom prst="line">
            <a:avLst/>
          </a:prstGeom>
          <a:noFill/>
          <a:ln w="38100">
            <a:solidFill>
              <a:srgbClr val="FFBA66"/>
            </a:solidFill>
            <a:prstDash val="solid"/>
          </a:ln>
        </p:spPr>
      </p:sp>
      <p:sp>
        <p:nvSpPr>
          <p:cNvPr id="15" name="Text 13"/>
          <p:cNvSpPr/>
          <p:nvPr/>
        </p:nvSpPr>
        <p:spPr>
          <a:xfrm>
            <a:off x="4482852" y="2452638"/>
            <a:ext cx="4106772"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GPT-5.2</a:t>
            </a:r>
            <a:r>
              <a:rPr lang="en-US" sz="950" dirty="0">
                <a:solidFill>
                  <a:srgbClr val="2C3E50"/>
                </a:solidFill>
                <a:latin typeface="Arial" panose="020B0604020202090204" pitchFamily="34" charset="0"/>
                <a:ea typeface="Arial" panose="020B0604020202090204" pitchFamily="34" charset="-122"/>
                <a:cs typeface="Arial" panose="020B0604020202090204" pitchFamily="34" charset="-120"/>
              </a:rPr>
              <a:t> shows extreme homogeneity</a:t>
            </a:r>
            <a:endParaRPr lang="en-US" sz="950" dirty="0"/>
          </a:p>
        </p:txBody>
      </p:sp>
      <p:sp>
        <p:nvSpPr>
          <p:cNvPr id="16" name="Text 14"/>
          <p:cNvSpPr/>
          <p:nvPr/>
        </p:nvSpPr>
        <p:spPr>
          <a:xfrm>
            <a:off x="4482852" y="2660253"/>
            <a:ext cx="4106772" cy="280392"/>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Mean pairwise distance: 0.022 (3x lower than humans). Cliff's Delta = -1.00 (maximum possible effect). Proposals are near-identical.</a:t>
            </a:r>
            <a:endParaRPr lang="en-US" sz="850" dirty="0"/>
          </a:p>
        </p:txBody>
      </p:sp>
      <p:sp>
        <p:nvSpPr>
          <p:cNvPr id="18" name="Shape 16"/>
          <p:cNvSpPr/>
          <p:nvPr/>
        </p:nvSpPr>
        <p:spPr>
          <a:xfrm>
            <a:off x="4336852" y="3169096"/>
            <a:ext cx="0" cy="691158"/>
          </a:xfrm>
          <a:prstGeom prst="line">
            <a:avLst/>
          </a:prstGeom>
          <a:noFill/>
          <a:ln w="38100">
            <a:solidFill>
              <a:srgbClr val="8E44AD"/>
            </a:solidFill>
            <a:prstDash val="solid"/>
          </a:ln>
        </p:spPr>
      </p:sp>
      <p:sp>
        <p:nvSpPr>
          <p:cNvPr id="19" name="Text 17"/>
          <p:cNvSpPr/>
          <p:nvPr/>
        </p:nvSpPr>
        <p:spPr>
          <a:xfrm>
            <a:off x="4482852" y="3245296"/>
            <a:ext cx="4106772"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Gemini 3 Pro</a:t>
            </a:r>
            <a:r>
              <a:rPr lang="en-US" sz="950" dirty="0">
                <a:solidFill>
                  <a:srgbClr val="2C3E50"/>
                </a:solidFill>
                <a:latin typeface="Arial" panose="020B0604020202090204" pitchFamily="34" charset="0"/>
                <a:ea typeface="Arial" panose="020B0604020202090204" pitchFamily="34" charset="-122"/>
                <a:cs typeface="Arial" panose="020B0604020202090204" pitchFamily="34" charset="-120"/>
              </a:rPr>
              <a:t> is moderately less diverse than humans</a:t>
            </a:r>
            <a:endParaRPr lang="en-US" sz="950" dirty="0"/>
          </a:p>
        </p:txBody>
      </p:sp>
      <p:sp>
        <p:nvSpPr>
          <p:cNvPr id="20" name="Text 18"/>
          <p:cNvSpPr/>
          <p:nvPr/>
        </p:nvSpPr>
        <p:spPr>
          <a:xfrm>
            <a:off x="4482852" y="3452912"/>
            <a:ext cx="4106772" cy="280392"/>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Mean: 0.096. Cliff's Delta = -0.73 (large effect, </a:t>
            </a:r>
            <a:r>
              <a:rPr lang="en-US" sz="850" b="1" dirty="0">
                <a:solidFill>
                  <a:srgbClr val="5D6D7E"/>
                </a:solidFill>
                <a:latin typeface="Arial Bold" panose="020B0604020202090204" charset="0"/>
                <a:ea typeface="Arial" panose="020B0604020202090204" pitchFamily="34" charset="-122"/>
                <a:cs typeface="Arial Bold" panose="020B0604020202090204" charset="0"/>
              </a:rPr>
              <a:t>p &lt; 0.001</a:t>
            </a: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 More varied than GPT-5.2 but still significantly less than human.</a:t>
            </a:r>
            <a:endParaRPr lang="en-US" sz="850" dirty="0"/>
          </a:p>
        </p:txBody>
      </p:sp>
      <p:sp>
        <p:nvSpPr>
          <p:cNvPr id="22" name="Shape 20"/>
          <p:cNvSpPr/>
          <p:nvPr/>
        </p:nvSpPr>
        <p:spPr>
          <a:xfrm>
            <a:off x="4336852" y="3961755"/>
            <a:ext cx="0" cy="691158"/>
          </a:xfrm>
          <a:prstGeom prst="line">
            <a:avLst/>
          </a:prstGeom>
          <a:noFill/>
          <a:ln w="38100">
            <a:solidFill>
              <a:srgbClr val="2E86AB"/>
            </a:solidFill>
            <a:prstDash val="solid"/>
          </a:ln>
        </p:spPr>
      </p:sp>
      <p:sp>
        <p:nvSpPr>
          <p:cNvPr id="23" name="Text 21"/>
          <p:cNvSpPr/>
          <p:nvPr/>
        </p:nvSpPr>
        <p:spPr>
          <a:xfrm>
            <a:off x="4482852" y="4037955"/>
            <a:ext cx="4106772"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All AI combined</a:t>
            </a:r>
            <a:r>
              <a:rPr lang="en-US" sz="950" dirty="0">
                <a:solidFill>
                  <a:srgbClr val="2C3E50"/>
                </a:solidFill>
                <a:latin typeface="Arial" panose="020B0604020202090204" pitchFamily="34" charset="0"/>
                <a:ea typeface="Arial" panose="020B0604020202090204" pitchFamily="34" charset="-122"/>
                <a:cs typeface="Arial" panose="020B0604020202090204" pitchFamily="34" charset="-120"/>
              </a:rPr>
              <a:t> shows a small negative effect</a:t>
            </a:r>
            <a:endParaRPr lang="en-US" sz="950" dirty="0"/>
          </a:p>
        </p:txBody>
      </p:sp>
      <p:sp>
        <p:nvSpPr>
          <p:cNvPr id="24" name="Text 22"/>
          <p:cNvSpPr/>
          <p:nvPr/>
        </p:nvSpPr>
        <p:spPr>
          <a:xfrm>
            <a:off x="4482852" y="4245570"/>
            <a:ext cx="4106772" cy="280392"/>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Cliff's Delta = -0.29 (small). Aggregating masks dramatic between-model differences.</a:t>
            </a:r>
            <a:endParaRPr lang="en-US" sz="850" dirty="0"/>
          </a:p>
        </p:txBody>
      </p:sp>
      <p:graphicFrame>
        <p:nvGraphicFramePr>
          <p:cNvPr id="25" name="Chart 0"/>
          <p:cNvGraphicFramePr/>
          <p:nvPr/>
        </p:nvGraphicFramePr>
        <p:xfrm>
          <a:off x="417780" y="2610624"/>
          <a:ext cx="3555950" cy="2158901"/>
        </p:xfrm>
        <a:graphic>
          <a:graphicData uri="http://schemas.openxmlformats.org/drawingml/2006/chart">
            <c:chart xmlns:c="http://schemas.openxmlformats.org/drawingml/2006/chart" xmlns:r="http://schemas.openxmlformats.org/officeDocument/2006/relationships" r:id="rId1"/>
          </a:graphicData>
        </a:graphic>
      </p:graphicFrame>
      <p:pic>
        <p:nvPicPr>
          <p:cNvPr id="26" name="Picture 25" descr="pairwise_diversity_by_model"/>
          <p:cNvPicPr>
            <a:picLocks noChangeAspect="1"/>
          </p:cNvPicPr>
          <p:nvPr/>
        </p:nvPicPr>
        <p:blipFill>
          <a:blip r:embed="rId2"/>
          <a:srcRect t="10864" r="52891" b="59988"/>
          <a:stretch>
            <a:fillRect/>
          </a:stretch>
        </p:blipFill>
        <p:spPr>
          <a:xfrm>
            <a:off x="508000" y="1177925"/>
            <a:ext cx="3465830" cy="1499235"/>
          </a:xfrm>
          <a:prstGeom prst="rect">
            <a:avLst/>
          </a:prstGeom>
        </p:spPr>
      </p:pic>
      <p:sp>
        <p:nvSpPr>
          <p:cNvPr id="27" name="Shape 8"/>
          <p:cNvSpPr/>
          <p:nvPr/>
        </p:nvSpPr>
        <p:spPr>
          <a:xfrm>
            <a:off x="4342130" y="1214120"/>
            <a:ext cx="635" cy="340360"/>
          </a:xfrm>
          <a:prstGeom prst="line">
            <a:avLst/>
          </a:prstGeom>
          <a:noFill/>
          <a:ln w="38100">
            <a:solidFill>
              <a:srgbClr val="E8505B"/>
            </a:solidFill>
            <a:prstDash val="solid"/>
          </a:ln>
        </p:spPr>
      </p:sp>
      <p:sp>
        <p:nvSpPr>
          <p:cNvPr id="29" name="Text 9"/>
          <p:cNvSpPr/>
          <p:nvPr/>
        </p:nvSpPr>
        <p:spPr>
          <a:xfrm>
            <a:off x="4482852" y="1270089"/>
            <a:ext cx="4106772"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Human baseline:</a:t>
            </a:r>
            <a:r>
              <a:rPr lang="en-US" sz="950" dirty="0">
                <a:solidFill>
                  <a:srgbClr val="2C3E50"/>
                </a:solidFill>
                <a:latin typeface="Arial" panose="020B0604020202090204" pitchFamily="34" charset="0"/>
                <a:ea typeface="Arial" panose="020B0604020202090204" pitchFamily="34" charset="-122"/>
                <a:cs typeface="Arial" panose="020B0604020202090204" pitchFamily="34" charset="-120"/>
              </a:rPr>
              <a:t> mean 0.066; median 0.064; Std 0.018; </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Analysis 2: Centroid Dispersion</a:t>
            </a:r>
            <a:endParaRPr lang="en-US" sz="2000" dirty="0"/>
          </a:p>
        </p:txBody>
      </p:sp>
      <p:sp>
        <p:nvSpPr>
          <p:cNvPr id="4" name="Text 2"/>
          <p:cNvSpPr/>
          <p:nvPr/>
        </p:nvSpPr>
        <p:spPr>
          <a:xfrm>
            <a:off x="507950" y="726777"/>
            <a:ext cx="3627069"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Results</a:t>
            </a:r>
            <a:endParaRPr lang="en-US" sz="1200" dirty="0"/>
          </a:p>
        </p:txBody>
      </p:sp>
      <p:sp>
        <p:nvSpPr>
          <p:cNvPr id="5" name="Text 3"/>
          <p:cNvSpPr/>
          <p:nvPr/>
        </p:nvSpPr>
        <p:spPr>
          <a:xfrm>
            <a:off x="507950" y="974427"/>
            <a:ext cx="444401" cy="25301"/>
          </a:xfrm>
          <a:prstGeom prst="rect">
            <a:avLst/>
          </a:prstGeom>
          <a:solidFill>
            <a:srgbClr val="E8505B"/>
          </a:solidFill>
        </p:spPr>
        <p:txBody>
          <a:bodyPr wrap="square" rtlCol="0" anchor="ctr"/>
          <a:lstStyle/>
          <a:p>
            <a:pPr marL="0" indent="0">
              <a:buNone/>
            </a:pPr>
            <a:endParaRPr lang="en-US" dirty="0"/>
          </a:p>
        </p:txBody>
      </p:sp>
      <p:sp>
        <p:nvSpPr>
          <p:cNvPr id="6" name="Text 4"/>
          <p:cNvSpPr/>
          <p:nvPr/>
        </p:nvSpPr>
        <p:spPr>
          <a:xfrm>
            <a:off x="627330" y="4682430"/>
            <a:ext cx="3627069" cy="280392"/>
          </a:xfrm>
          <a:prstGeom prst="rect">
            <a:avLst/>
          </a:prstGeom>
          <a:noFill/>
        </p:spPr>
        <p:txBody>
          <a:bodyPr wrap="square" lIns="0" tIns="0" rIns="0" bIns="0" rtlCol="0" anchor="t"/>
          <a:lstStyle/>
          <a:p>
            <a:pPr marL="0" indent="0" algn="l">
              <a:lnSpc>
                <a:spcPts val="1105"/>
              </a:lnSpc>
              <a:spcBef>
                <a:spcPts val="800"/>
              </a:spcBef>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Mean distance from each proposal to its group centroid. Larger = more spread out from center.</a:t>
            </a:r>
            <a:endParaRPr lang="en-US" sz="850" dirty="0"/>
          </a:p>
        </p:txBody>
      </p:sp>
      <p:sp>
        <p:nvSpPr>
          <p:cNvPr id="7" name="Text 5"/>
          <p:cNvSpPr/>
          <p:nvPr/>
        </p:nvSpPr>
        <p:spPr>
          <a:xfrm>
            <a:off x="4317802" y="828377"/>
            <a:ext cx="4404613"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Key Findings</a:t>
            </a:r>
            <a:endParaRPr lang="en-US" sz="1200" dirty="0"/>
          </a:p>
        </p:txBody>
      </p:sp>
      <p:sp>
        <p:nvSpPr>
          <p:cNvPr id="8" name="Text 6"/>
          <p:cNvSpPr/>
          <p:nvPr/>
        </p:nvSpPr>
        <p:spPr>
          <a:xfrm>
            <a:off x="4317802" y="1076027"/>
            <a:ext cx="444401" cy="25301"/>
          </a:xfrm>
          <a:prstGeom prst="rect">
            <a:avLst/>
          </a:prstGeom>
          <a:solidFill>
            <a:srgbClr val="2E86AB"/>
          </a:solidFill>
        </p:spPr>
        <p:txBody>
          <a:bodyPr wrap="square" rtlCol="0" anchor="ctr"/>
          <a:lstStyle/>
          <a:p>
            <a:pPr marL="0" indent="0">
              <a:buNone/>
            </a:pPr>
            <a:endParaRPr lang="en-US" dirty="0"/>
          </a:p>
        </p:txBody>
      </p:sp>
      <p:sp>
        <p:nvSpPr>
          <p:cNvPr id="9" name="Text 7"/>
          <p:cNvSpPr/>
          <p:nvPr/>
        </p:nvSpPr>
        <p:spPr>
          <a:xfrm>
            <a:off x="4317802" y="1253579"/>
            <a:ext cx="4318248" cy="691158"/>
          </a:xfrm>
          <a:prstGeom prst="rect">
            <a:avLst/>
          </a:prstGeom>
          <a:solidFill>
            <a:srgbClr val="F0F4F8"/>
          </a:solidFill>
        </p:spPr>
        <p:txBody>
          <a:bodyPr wrap="square" rtlCol="0" anchor="ctr"/>
          <a:lstStyle/>
          <a:p>
            <a:pPr marL="0" indent="0">
              <a:buNone/>
            </a:pPr>
            <a:endParaRPr lang="en-US" dirty="0"/>
          </a:p>
        </p:txBody>
      </p:sp>
      <p:sp>
        <p:nvSpPr>
          <p:cNvPr id="10" name="Shape 8"/>
          <p:cNvSpPr/>
          <p:nvPr/>
        </p:nvSpPr>
        <p:spPr>
          <a:xfrm>
            <a:off x="4341932" y="1633944"/>
            <a:ext cx="0" cy="691158"/>
          </a:xfrm>
          <a:prstGeom prst="line">
            <a:avLst/>
          </a:prstGeom>
          <a:noFill/>
          <a:ln w="38100">
            <a:solidFill>
              <a:srgbClr val="B2B2B2"/>
            </a:solidFill>
            <a:prstDash val="solid"/>
          </a:ln>
        </p:spPr>
      </p:sp>
      <p:sp>
        <p:nvSpPr>
          <p:cNvPr id="11" name="Text 9"/>
          <p:cNvSpPr/>
          <p:nvPr/>
        </p:nvSpPr>
        <p:spPr>
          <a:xfrm>
            <a:off x="4482852" y="1626324"/>
            <a:ext cx="4106772"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Claude</a:t>
            </a:r>
            <a:r>
              <a:rPr lang="en-US" sz="950" dirty="0">
                <a:solidFill>
                  <a:srgbClr val="2C3E50"/>
                </a:solidFill>
                <a:latin typeface="Arial" panose="020B0604020202090204" pitchFamily="34" charset="0"/>
                <a:ea typeface="Arial" panose="020B0604020202090204" pitchFamily="34" charset="-122"/>
                <a:cs typeface="Arial" panose="020B0604020202090204" pitchFamily="34" charset="-120"/>
              </a:rPr>
              <a:t> shows massive dispersion from its centroid</a:t>
            </a:r>
            <a:endParaRPr lang="en-US" sz="950" dirty="0"/>
          </a:p>
        </p:txBody>
      </p:sp>
      <p:sp>
        <p:nvSpPr>
          <p:cNvPr id="12" name="Text 10"/>
          <p:cNvSpPr/>
          <p:nvPr/>
        </p:nvSpPr>
        <p:spPr>
          <a:xfrm>
            <a:off x="4482852" y="1833940"/>
            <a:ext cx="4106772" cy="280392"/>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Mean dist: 0.179 vs </a:t>
            </a:r>
            <a:r>
              <a:rPr lang="en-US" sz="850" b="1" dirty="0">
                <a:solidFill>
                  <a:srgbClr val="5D6D7E"/>
                </a:solidFill>
                <a:latin typeface="Arial Bold" panose="020B0604020202090204" charset="0"/>
                <a:ea typeface="Arial" panose="020B0604020202090204" pitchFamily="34" charset="-122"/>
                <a:cs typeface="Arial Bold" panose="020B0604020202090204" charset="0"/>
              </a:rPr>
              <a:t>Human 0.032</a:t>
            </a: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 Cliff's Delta = +0.99 (near-maximum large effect, p &lt; 0.001). Proposals spread widely around center.</a:t>
            </a:r>
            <a:endParaRPr lang="en-US" sz="850" dirty="0"/>
          </a:p>
        </p:txBody>
      </p:sp>
      <p:sp>
        <p:nvSpPr>
          <p:cNvPr id="13" name="Text 11"/>
          <p:cNvSpPr/>
          <p:nvPr/>
        </p:nvSpPr>
        <p:spPr>
          <a:xfrm>
            <a:off x="4317802" y="2135138"/>
            <a:ext cx="4318248" cy="831354"/>
          </a:xfrm>
          <a:prstGeom prst="rect">
            <a:avLst/>
          </a:prstGeom>
          <a:solidFill>
            <a:srgbClr val="FDF0F0"/>
          </a:solidFill>
        </p:spPr>
        <p:txBody>
          <a:bodyPr wrap="square" rtlCol="0" anchor="ctr"/>
          <a:lstStyle/>
          <a:p>
            <a:pPr marL="0" indent="0">
              <a:buNone/>
            </a:pPr>
            <a:endParaRPr lang="en-US" dirty="0"/>
          </a:p>
        </p:txBody>
      </p:sp>
      <p:sp>
        <p:nvSpPr>
          <p:cNvPr id="14" name="Shape 12"/>
          <p:cNvSpPr/>
          <p:nvPr/>
        </p:nvSpPr>
        <p:spPr>
          <a:xfrm>
            <a:off x="4340860" y="2296160"/>
            <a:ext cx="1270" cy="581660"/>
          </a:xfrm>
          <a:prstGeom prst="line">
            <a:avLst/>
          </a:prstGeom>
          <a:noFill/>
          <a:ln w="38100">
            <a:solidFill>
              <a:srgbClr val="FFBA66"/>
            </a:solidFill>
            <a:prstDash val="solid"/>
          </a:ln>
        </p:spPr>
      </p:sp>
      <p:sp>
        <p:nvSpPr>
          <p:cNvPr id="15" name="Text 13"/>
          <p:cNvSpPr/>
          <p:nvPr/>
        </p:nvSpPr>
        <p:spPr>
          <a:xfrm>
            <a:off x="4482852" y="2289443"/>
            <a:ext cx="4106772"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GPT-5.2</a:t>
            </a:r>
            <a:r>
              <a:rPr lang="en-US" sz="950" dirty="0">
                <a:solidFill>
                  <a:srgbClr val="2C3E50"/>
                </a:solidFill>
                <a:latin typeface="Arial" panose="020B0604020202090204" pitchFamily="34" charset="0"/>
                <a:ea typeface="Arial" panose="020B0604020202090204" pitchFamily="34" charset="-122"/>
                <a:cs typeface="Arial" panose="020B0604020202090204" pitchFamily="34" charset="-120"/>
              </a:rPr>
              <a:t> is tightly clustered around its centroid</a:t>
            </a:r>
            <a:endParaRPr lang="en-US" sz="950" dirty="0"/>
          </a:p>
        </p:txBody>
      </p:sp>
      <p:sp>
        <p:nvSpPr>
          <p:cNvPr id="16" name="Text 14"/>
          <p:cNvSpPr/>
          <p:nvPr/>
        </p:nvSpPr>
        <p:spPr>
          <a:xfrm>
            <a:off x="4482852" y="2497693"/>
            <a:ext cx="4106772" cy="420588"/>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Mean dist: 0.010. Cliff's Delta = -1.00 (p &lt; 0.001). Variance: 0.000005 vs Human 0.00008. Near-zero spread: all proposals essentially the same point in embedding space.</a:t>
            </a:r>
            <a:endParaRPr lang="en-US" sz="850" dirty="0"/>
          </a:p>
        </p:txBody>
      </p:sp>
      <p:sp>
        <p:nvSpPr>
          <p:cNvPr id="17" name="Text 15"/>
          <p:cNvSpPr/>
          <p:nvPr/>
        </p:nvSpPr>
        <p:spPr>
          <a:xfrm>
            <a:off x="4317802" y="3119428"/>
            <a:ext cx="4318248" cy="691158"/>
          </a:xfrm>
          <a:prstGeom prst="rect">
            <a:avLst/>
          </a:prstGeom>
          <a:solidFill>
            <a:srgbClr val="F0F4F8"/>
          </a:solidFill>
        </p:spPr>
        <p:txBody>
          <a:bodyPr wrap="square" rtlCol="0" anchor="ctr"/>
          <a:lstStyle/>
          <a:p>
            <a:pPr marL="0" indent="0">
              <a:buNone/>
            </a:pPr>
            <a:endParaRPr lang="en-US" dirty="0"/>
          </a:p>
        </p:txBody>
      </p:sp>
      <p:sp>
        <p:nvSpPr>
          <p:cNvPr id="18" name="Shape 16"/>
          <p:cNvSpPr/>
          <p:nvPr/>
        </p:nvSpPr>
        <p:spPr>
          <a:xfrm>
            <a:off x="4341932" y="3024178"/>
            <a:ext cx="0" cy="691158"/>
          </a:xfrm>
          <a:prstGeom prst="line">
            <a:avLst/>
          </a:prstGeom>
          <a:noFill/>
          <a:ln w="38100">
            <a:solidFill>
              <a:srgbClr val="8E44AD"/>
            </a:solidFill>
            <a:prstDash val="solid"/>
          </a:ln>
        </p:spPr>
      </p:sp>
      <p:sp>
        <p:nvSpPr>
          <p:cNvPr id="19" name="Text 17"/>
          <p:cNvSpPr/>
          <p:nvPr/>
        </p:nvSpPr>
        <p:spPr>
          <a:xfrm>
            <a:off x="4463802" y="3043228"/>
            <a:ext cx="4106772"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Gemini</a:t>
            </a:r>
            <a:r>
              <a:rPr lang="en-US" sz="950" dirty="0">
                <a:solidFill>
                  <a:srgbClr val="2C3E50"/>
                </a:solidFill>
                <a:latin typeface="Arial" panose="020B0604020202090204" pitchFamily="34" charset="0"/>
                <a:ea typeface="Arial" panose="020B0604020202090204" pitchFamily="34" charset="-122"/>
                <a:cs typeface="Arial" panose="020B0604020202090204" pitchFamily="34" charset="-120"/>
              </a:rPr>
              <a:t> is less dispersed than humans</a:t>
            </a:r>
            <a:endParaRPr lang="en-US" sz="950" dirty="0"/>
          </a:p>
        </p:txBody>
      </p:sp>
      <p:sp>
        <p:nvSpPr>
          <p:cNvPr id="20" name="Text 18"/>
          <p:cNvSpPr/>
          <p:nvPr/>
        </p:nvSpPr>
        <p:spPr>
          <a:xfrm>
            <a:off x="4482852" y="3276878"/>
            <a:ext cx="4106772" cy="280392"/>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Mean dist: 0.047; Median 0.0178; SD 0.1348; Cliff's Delta = -0.82 (large effect, p &lt; 0.001). Moderate clustering, though has some high-distance outlier proposals that skewed mean and sd. </a:t>
            </a:r>
            <a:endParaRPr lang="en-US" sz="850" dirty="0"/>
          </a:p>
        </p:txBody>
      </p:sp>
      <p:sp>
        <p:nvSpPr>
          <p:cNvPr id="21" name="Text 19"/>
          <p:cNvSpPr/>
          <p:nvPr/>
        </p:nvSpPr>
        <p:spPr>
          <a:xfrm>
            <a:off x="4317802" y="3771751"/>
            <a:ext cx="4318248" cy="691158"/>
          </a:xfrm>
          <a:prstGeom prst="rect">
            <a:avLst/>
          </a:prstGeom>
          <a:solidFill>
            <a:srgbClr val="F0F4F8"/>
          </a:solidFill>
        </p:spPr>
        <p:txBody>
          <a:bodyPr wrap="square" rtlCol="0" anchor="ctr"/>
          <a:lstStyle/>
          <a:p>
            <a:pPr marL="0" indent="0">
              <a:buNone/>
            </a:pPr>
            <a:endParaRPr lang="en-US" dirty="0"/>
          </a:p>
        </p:txBody>
      </p:sp>
      <p:sp>
        <p:nvSpPr>
          <p:cNvPr id="22" name="Shape 20"/>
          <p:cNvSpPr/>
          <p:nvPr/>
        </p:nvSpPr>
        <p:spPr>
          <a:xfrm>
            <a:off x="4337050" y="3912235"/>
            <a:ext cx="635" cy="542925"/>
          </a:xfrm>
          <a:prstGeom prst="line">
            <a:avLst/>
          </a:prstGeom>
          <a:noFill/>
          <a:ln w="38100">
            <a:solidFill>
              <a:srgbClr val="2E86AB"/>
            </a:solidFill>
            <a:prstDash val="solid"/>
          </a:ln>
        </p:spPr>
      </p:sp>
      <p:sp>
        <p:nvSpPr>
          <p:cNvPr id="23" name="Text 21"/>
          <p:cNvSpPr/>
          <p:nvPr/>
        </p:nvSpPr>
        <p:spPr>
          <a:xfrm>
            <a:off x="4482852" y="3910181"/>
            <a:ext cx="4106772"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All AI combined vs Human: not significant</a:t>
            </a:r>
            <a:endParaRPr lang="en-US" sz="950" dirty="0"/>
          </a:p>
        </p:txBody>
      </p:sp>
      <p:sp>
        <p:nvSpPr>
          <p:cNvPr id="24" name="Text 22"/>
          <p:cNvSpPr/>
          <p:nvPr/>
        </p:nvSpPr>
        <p:spPr>
          <a:xfrm>
            <a:off x="4482852" y="4129861"/>
            <a:ext cx="4106772" cy="280392"/>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Cliff's Delta = -0.17, p = 0.22. Claude's high dispersion offsets GPT-5.2's low dispersion, producing a misleading null result when aggregated.</a:t>
            </a:r>
            <a:endParaRPr lang="en-US" sz="850" dirty="0"/>
          </a:p>
        </p:txBody>
      </p:sp>
      <p:sp>
        <p:nvSpPr>
          <p:cNvPr id="25" name="Text 23"/>
          <p:cNvSpPr/>
          <p:nvPr/>
        </p:nvSpPr>
        <p:spPr>
          <a:xfrm>
            <a:off x="4317802" y="4628594"/>
            <a:ext cx="4404613" cy="297061"/>
          </a:xfrm>
          <a:prstGeom prst="rect">
            <a:avLst/>
          </a:prstGeom>
          <a:noFill/>
        </p:spPr>
        <p:txBody>
          <a:bodyPr wrap="square" lIns="0" tIns="0" rIns="0" bIns="0" rtlCol="0" anchor="t"/>
          <a:lstStyle/>
          <a:p>
            <a:pPr marL="0" indent="0" algn="l">
              <a:lnSpc>
                <a:spcPts val="1170"/>
              </a:lnSpc>
              <a:spcBef>
                <a:spcPts val="600"/>
              </a:spcBef>
              <a:spcAft>
                <a:spcPts val="400"/>
              </a:spcAft>
              <a:buNone/>
            </a:pPr>
            <a:r>
              <a:rPr lang="en-US" sz="900" b="1" dirty="0">
                <a:solidFill>
                  <a:srgbClr val="1B2A4A"/>
                </a:solidFill>
                <a:latin typeface="Arial" panose="020B0604020202090204" pitchFamily="34" charset="0"/>
                <a:ea typeface="Arial" panose="020B0604020202090204" pitchFamily="34" charset="-122"/>
                <a:cs typeface="Arial" panose="020B0604020202090204" pitchFamily="34" charset="-120"/>
              </a:rPr>
              <a:t>Consistency:</a:t>
            </a:r>
            <a:r>
              <a:rPr lang="en-US" sz="900" dirty="0">
                <a:solidFill>
                  <a:srgbClr val="1B2A4A"/>
                </a:solidFill>
                <a:latin typeface="Arial" panose="020B0604020202090204" pitchFamily="34" charset="0"/>
                <a:ea typeface="Arial" panose="020B0604020202090204" pitchFamily="34" charset="-122"/>
                <a:cs typeface="Arial" panose="020B0604020202090204" pitchFamily="34" charset="-120"/>
              </a:rPr>
              <a:t> Confirms pairwise analysis ranking: Claude &gt; Human &gt; Gemini &gt; GPT-5.2</a:t>
            </a:r>
            <a:endParaRPr lang="en-US" sz="900" dirty="0"/>
          </a:p>
        </p:txBody>
      </p:sp>
      <p:graphicFrame>
        <p:nvGraphicFramePr>
          <p:cNvPr id="26" name="Chart 0"/>
          <p:cNvGraphicFramePr/>
          <p:nvPr/>
        </p:nvGraphicFramePr>
        <p:xfrm>
          <a:off x="789940" y="2765425"/>
          <a:ext cx="3157855" cy="1917065"/>
        </p:xfrm>
        <a:graphic>
          <a:graphicData uri="http://schemas.openxmlformats.org/drawingml/2006/chart">
            <c:chart xmlns:c="http://schemas.openxmlformats.org/drawingml/2006/chart" xmlns:r="http://schemas.openxmlformats.org/officeDocument/2006/relationships" r:id="rId1"/>
          </a:graphicData>
        </a:graphic>
      </p:graphicFrame>
      <p:pic>
        <p:nvPicPr>
          <p:cNvPr id="28" name="Picture 27" descr="centroid_dispersion_by_model"/>
          <p:cNvPicPr>
            <a:picLocks noChangeAspect="1"/>
          </p:cNvPicPr>
          <p:nvPr/>
        </p:nvPicPr>
        <p:blipFill>
          <a:blip r:embed="rId2"/>
          <a:srcRect r="49285" b="5016"/>
          <a:stretch>
            <a:fillRect/>
          </a:stretch>
        </p:blipFill>
        <p:spPr>
          <a:xfrm>
            <a:off x="952500" y="952500"/>
            <a:ext cx="2780665" cy="1925320"/>
          </a:xfrm>
          <a:prstGeom prst="rect">
            <a:avLst/>
          </a:prstGeom>
        </p:spPr>
      </p:pic>
      <p:sp>
        <p:nvSpPr>
          <p:cNvPr id="27" name="Shape 8"/>
          <p:cNvSpPr/>
          <p:nvPr/>
        </p:nvSpPr>
        <p:spPr>
          <a:xfrm>
            <a:off x="4342130" y="1214120"/>
            <a:ext cx="635" cy="340360"/>
          </a:xfrm>
          <a:prstGeom prst="line">
            <a:avLst/>
          </a:prstGeom>
          <a:noFill/>
          <a:ln w="38100">
            <a:solidFill>
              <a:srgbClr val="E8505B"/>
            </a:solidFill>
            <a:prstDash val="solid"/>
          </a:ln>
        </p:spPr>
      </p:sp>
      <p:sp>
        <p:nvSpPr>
          <p:cNvPr id="29" name="Text 9"/>
          <p:cNvSpPr/>
          <p:nvPr/>
        </p:nvSpPr>
        <p:spPr>
          <a:xfrm>
            <a:off x="4482852" y="1270089"/>
            <a:ext cx="4106772"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Human baseline:</a:t>
            </a:r>
            <a:r>
              <a:rPr lang="en-US" sz="950" dirty="0">
                <a:solidFill>
                  <a:srgbClr val="2C3E50"/>
                </a:solidFill>
                <a:latin typeface="Arial" panose="020B0604020202090204" pitchFamily="34" charset="0"/>
                <a:ea typeface="Arial" panose="020B0604020202090204" pitchFamily="34" charset="-122"/>
                <a:cs typeface="Arial" panose="020B0604020202090204" pitchFamily="34" charset="-120"/>
              </a:rPr>
              <a:t> Mean 0.032; Median 0.029; Std 0.009; </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417780" y="161191"/>
            <a:ext cx="8290661" cy="295275"/>
          </a:xfrm>
          <a:prstGeom prst="rect">
            <a:avLst/>
          </a:prstGeom>
          <a:noFill/>
        </p:spPr>
        <p:txBody>
          <a:bodyPr wrap="square" lIns="0" tIns="0" rIns="0" bIns="0" rtlCol="0" anchor="t"/>
          <a:lstStyle/>
          <a:p>
            <a:pPr marL="0" indent="0" algn="l">
              <a:buNone/>
            </a:pPr>
            <a:r>
              <a:rPr lang="en-US" b="1" dirty="0">
                <a:solidFill>
                  <a:srgbClr val="FFFFFF"/>
                </a:solidFill>
                <a:latin typeface="Arial" panose="020B0604020202090204" pitchFamily="34" charset="0"/>
                <a:ea typeface="Arial" panose="020B0604020202090204" pitchFamily="34" charset="-122"/>
                <a:cs typeface="Arial" panose="020B0604020202090204" pitchFamily="34" charset="-120"/>
              </a:rPr>
              <a:t>Analysis 3: Nearest-Neighbor Outlier Detection </a:t>
            </a:r>
            <a:endParaRPr lang="en-US" dirty="0"/>
          </a:p>
        </p:txBody>
      </p:sp>
      <p:sp>
        <p:nvSpPr>
          <p:cNvPr id="4" name="Text 2"/>
          <p:cNvSpPr/>
          <p:nvPr/>
        </p:nvSpPr>
        <p:spPr>
          <a:xfrm>
            <a:off x="507950" y="828377"/>
            <a:ext cx="3650751"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Outlier Rates (top 10% NN distance)</a:t>
            </a:r>
            <a:endParaRPr lang="en-US" sz="1200" dirty="0"/>
          </a:p>
        </p:txBody>
      </p:sp>
      <p:sp>
        <p:nvSpPr>
          <p:cNvPr id="5" name="Text 3"/>
          <p:cNvSpPr/>
          <p:nvPr/>
        </p:nvSpPr>
        <p:spPr>
          <a:xfrm>
            <a:off x="507950" y="1076027"/>
            <a:ext cx="444401" cy="25301"/>
          </a:xfrm>
          <a:prstGeom prst="rect">
            <a:avLst/>
          </a:prstGeom>
          <a:solidFill>
            <a:srgbClr val="E8505B"/>
          </a:solidFill>
        </p:spPr>
        <p:txBody>
          <a:bodyPr wrap="square" rtlCol="0" anchor="ctr"/>
          <a:lstStyle/>
          <a:p>
            <a:pPr marL="0" indent="0">
              <a:buNone/>
            </a:pPr>
            <a:endParaRPr lang="en-US" dirty="0"/>
          </a:p>
        </p:txBody>
      </p:sp>
      <p:sp>
        <p:nvSpPr>
          <p:cNvPr id="6" name="Text 4"/>
          <p:cNvSpPr/>
          <p:nvPr/>
        </p:nvSpPr>
        <p:spPr>
          <a:xfrm>
            <a:off x="507950" y="1240929"/>
            <a:ext cx="1738759" cy="611832"/>
          </a:xfrm>
          <a:prstGeom prst="roundRect">
            <a:avLst>
              <a:gd name="adj" fmla="val 6227"/>
            </a:avLst>
          </a:prstGeom>
          <a:solidFill>
            <a:srgbClr val="F0F4F8"/>
          </a:solidFill>
        </p:spPr>
        <p:txBody>
          <a:bodyPr wrap="square" rtlCol="0" anchor="ctr"/>
          <a:lstStyle/>
          <a:p>
            <a:pPr marL="0" indent="0">
              <a:buNone/>
            </a:pPr>
            <a:endParaRPr lang="en-US" dirty="0"/>
          </a:p>
        </p:txBody>
      </p:sp>
      <p:sp>
        <p:nvSpPr>
          <p:cNvPr id="7" name="Shape 5"/>
          <p:cNvSpPr/>
          <p:nvPr/>
        </p:nvSpPr>
        <p:spPr>
          <a:xfrm>
            <a:off x="507950" y="1833711"/>
            <a:ext cx="1738759" cy="0"/>
          </a:xfrm>
          <a:prstGeom prst="line">
            <a:avLst/>
          </a:prstGeom>
          <a:noFill/>
          <a:ln w="38100">
            <a:solidFill>
              <a:srgbClr val="E74C3C"/>
            </a:solidFill>
            <a:prstDash val="solid"/>
          </a:ln>
        </p:spPr>
      </p:sp>
      <p:sp>
        <p:nvSpPr>
          <p:cNvPr id="8" name="Text 6"/>
          <p:cNvSpPr/>
          <p:nvPr/>
        </p:nvSpPr>
        <p:spPr>
          <a:xfrm>
            <a:off x="594094" y="1317129"/>
            <a:ext cx="1566473" cy="264021"/>
          </a:xfrm>
          <a:prstGeom prst="rect">
            <a:avLst/>
          </a:prstGeom>
          <a:noFill/>
        </p:spPr>
        <p:txBody>
          <a:bodyPr wrap="square" lIns="0" tIns="0" rIns="0" bIns="0" rtlCol="0" anchor="t"/>
          <a:lstStyle/>
          <a:p>
            <a:pPr marL="0" indent="0" algn="ctr">
              <a:lnSpc>
                <a:spcPts val="2080"/>
              </a:lnSpc>
              <a:buNone/>
            </a:pPr>
            <a:r>
              <a:rPr lang="en-US" sz="1600" b="1" dirty="0">
                <a:solidFill>
                  <a:srgbClr val="1B2A4A"/>
                </a:solidFill>
                <a:latin typeface="Arial" panose="020B0604020202090204" pitchFamily="34" charset="0"/>
                <a:ea typeface="Arial" panose="020B0604020202090204" pitchFamily="34" charset="-122"/>
                <a:cs typeface="Arial" panose="020B0604020202090204" pitchFamily="34" charset="-120"/>
              </a:rPr>
              <a:t>13.0%</a:t>
            </a:r>
            <a:endParaRPr lang="en-US" sz="1600" dirty="0"/>
          </a:p>
        </p:txBody>
      </p:sp>
      <p:sp>
        <p:nvSpPr>
          <p:cNvPr id="9" name="Text 7"/>
          <p:cNvSpPr/>
          <p:nvPr/>
        </p:nvSpPr>
        <p:spPr>
          <a:xfrm>
            <a:off x="594094" y="1606451"/>
            <a:ext cx="1566473" cy="132011"/>
          </a:xfrm>
          <a:prstGeom prst="rect">
            <a:avLst/>
          </a:prstGeom>
          <a:noFill/>
        </p:spPr>
        <p:txBody>
          <a:bodyPr wrap="square" lIns="0" tIns="0" rIns="0" bIns="0" rtlCol="0" anchor="t"/>
          <a:lstStyle/>
          <a:p>
            <a:pPr marL="0" indent="0" algn="ctr">
              <a:lnSpc>
                <a:spcPts val="1040"/>
              </a:lnSpc>
              <a:spcBef>
                <a:spcPts val="200"/>
              </a:spcBef>
              <a:buNone/>
            </a:pPr>
            <a:r>
              <a:rPr lang="en-US" sz="800" dirty="0">
                <a:solidFill>
                  <a:srgbClr val="5D6D7E"/>
                </a:solidFill>
                <a:latin typeface="Arial" panose="020B0604020202090204" pitchFamily="34" charset="0"/>
                <a:ea typeface="Arial" panose="020B0604020202090204" pitchFamily="34" charset="-122"/>
                <a:cs typeface="Arial" panose="020B0604020202090204" pitchFamily="34" charset="-120"/>
              </a:rPr>
              <a:t>Human</a:t>
            </a:r>
            <a:endParaRPr lang="en-US" sz="800" dirty="0"/>
          </a:p>
        </p:txBody>
      </p:sp>
      <p:sp>
        <p:nvSpPr>
          <p:cNvPr id="10" name="Text 8"/>
          <p:cNvSpPr/>
          <p:nvPr/>
        </p:nvSpPr>
        <p:spPr>
          <a:xfrm>
            <a:off x="2348210" y="1240929"/>
            <a:ext cx="1738908" cy="611832"/>
          </a:xfrm>
          <a:prstGeom prst="roundRect">
            <a:avLst>
              <a:gd name="adj" fmla="val 6227"/>
            </a:avLst>
          </a:prstGeom>
          <a:solidFill>
            <a:srgbClr val="F0F4F8"/>
          </a:solidFill>
        </p:spPr>
        <p:txBody>
          <a:bodyPr wrap="square" rtlCol="0" anchor="ctr"/>
          <a:lstStyle/>
          <a:p>
            <a:pPr marL="0" indent="0">
              <a:buNone/>
            </a:pPr>
            <a:endParaRPr lang="en-US" dirty="0"/>
          </a:p>
        </p:txBody>
      </p:sp>
      <p:sp>
        <p:nvSpPr>
          <p:cNvPr id="11" name="Shape 9"/>
          <p:cNvSpPr/>
          <p:nvPr/>
        </p:nvSpPr>
        <p:spPr>
          <a:xfrm>
            <a:off x="2348210" y="1833711"/>
            <a:ext cx="1738908" cy="0"/>
          </a:xfrm>
          <a:prstGeom prst="line">
            <a:avLst/>
          </a:prstGeom>
          <a:noFill/>
          <a:ln w="38100">
            <a:solidFill>
              <a:srgbClr val="5D6D7E"/>
            </a:solidFill>
            <a:prstDash val="solid"/>
          </a:ln>
        </p:spPr>
      </p:sp>
      <p:sp>
        <p:nvSpPr>
          <p:cNvPr id="12" name="Text 10"/>
          <p:cNvSpPr/>
          <p:nvPr/>
        </p:nvSpPr>
        <p:spPr>
          <a:xfrm>
            <a:off x="2434352" y="1317129"/>
            <a:ext cx="1566624" cy="264021"/>
          </a:xfrm>
          <a:prstGeom prst="rect">
            <a:avLst/>
          </a:prstGeom>
          <a:noFill/>
        </p:spPr>
        <p:txBody>
          <a:bodyPr wrap="square" lIns="0" tIns="0" rIns="0" bIns="0" rtlCol="0" anchor="t"/>
          <a:lstStyle/>
          <a:p>
            <a:pPr marL="0" indent="0" algn="ctr">
              <a:lnSpc>
                <a:spcPts val="2080"/>
              </a:lnSpc>
              <a:buNone/>
            </a:pPr>
            <a:r>
              <a:rPr lang="en-US" sz="1600" b="1" dirty="0">
                <a:solidFill>
                  <a:srgbClr val="1B2A4A"/>
                </a:solidFill>
                <a:latin typeface="Arial" panose="020B0604020202090204" pitchFamily="34" charset="0"/>
                <a:ea typeface="Arial" panose="020B0604020202090204" pitchFamily="34" charset="-122"/>
                <a:cs typeface="Arial" panose="020B0604020202090204" pitchFamily="34" charset="-120"/>
              </a:rPr>
              <a:t>26.1%</a:t>
            </a:r>
            <a:endParaRPr lang="en-US" sz="1600" dirty="0"/>
          </a:p>
        </p:txBody>
      </p:sp>
      <p:sp>
        <p:nvSpPr>
          <p:cNvPr id="13" name="Text 11"/>
          <p:cNvSpPr/>
          <p:nvPr/>
        </p:nvSpPr>
        <p:spPr>
          <a:xfrm>
            <a:off x="2434352" y="1606451"/>
            <a:ext cx="1566624" cy="132011"/>
          </a:xfrm>
          <a:prstGeom prst="rect">
            <a:avLst/>
          </a:prstGeom>
          <a:noFill/>
        </p:spPr>
        <p:txBody>
          <a:bodyPr wrap="square" lIns="0" tIns="0" rIns="0" bIns="0" rtlCol="0" anchor="t"/>
          <a:lstStyle/>
          <a:p>
            <a:pPr marL="0" indent="0" algn="ctr">
              <a:lnSpc>
                <a:spcPts val="1040"/>
              </a:lnSpc>
              <a:spcBef>
                <a:spcPts val="200"/>
              </a:spcBef>
              <a:buNone/>
            </a:pPr>
            <a:r>
              <a:rPr lang="en-US" sz="800" dirty="0">
                <a:solidFill>
                  <a:srgbClr val="5D6D7E"/>
                </a:solidFill>
                <a:latin typeface="Arial" panose="020B0604020202090204" pitchFamily="34" charset="0"/>
                <a:ea typeface="Arial" panose="020B0604020202090204" pitchFamily="34" charset="-122"/>
                <a:cs typeface="Arial" panose="020B0604020202090204" pitchFamily="34" charset="-120"/>
              </a:rPr>
              <a:t>Claude</a:t>
            </a:r>
            <a:endParaRPr lang="en-US" sz="800" dirty="0"/>
          </a:p>
        </p:txBody>
      </p:sp>
      <p:sp>
        <p:nvSpPr>
          <p:cNvPr id="14" name="Text 12"/>
          <p:cNvSpPr/>
          <p:nvPr/>
        </p:nvSpPr>
        <p:spPr>
          <a:xfrm>
            <a:off x="507950" y="1928961"/>
            <a:ext cx="1738759" cy="611832"/>
          </a:xfrm>
          <a:prstGeom prst="roundRect">
            <a:avLst>
              <a:gd name="adj" fmla="val 6227"/>
            </a:avLst>
          </a:prstGeom>
          <a:solidFill>
            <a:srgbClr val="F0F4F8"/>
          </a:solidFill>
        </p:spPr>
        <p:txBody>
          <a:bodyPr wrap="square" rtlCol="0" anchor="ctr"/>
          <a:lstStyle/>
          <a:p>
            <a:pPr marL="0" indent="0">
              <a:buNone/>
            </a:pPr>
            <a:endParaRPr lang="en-US" dirty="0"/>
          </a:p>
        </p:txBody>
      </p:sp>
      <p:sp>
        <p:nvSpPr>
          <p:cNvPr id="15" name="Shape 13"/>
          <p:cNvSpPr/>
          <p:nvPr/>
        </p:nvSpPr>
        <p:spPr>
          <a:xfrm>
            <a:off x="507950" y="2521744"/>
            <a:ext cx="1738759" cy="0"/>
          </a:xfrm>
          <a:prstGeom prst="line">
            <a:avLst/>
          </a:prstGeom>
          <a:noFill/>
          <a:ln w="38100">
            <a:solidFill>
              <a:srgbClr val="8E44AD"/>
            </a:solidFill>
            <a:prstDash val="solid"/>
          </a:ln>
        </p:spPr>
      </p:sp>
      <p:sp>
        <p:nvSpPr>
          <p:cNvPr id="16" name="Text 14"/>
          <p:cNvSpPr/>
          <p:nvPr/>
        </p:nvSpPr>
        <p:spPr>
          <a:xfrm>
            <a:off x="594094" y="2005161"/>
            <a:ext cx="1566473" cy="264021"/>
          </a:xfrm>
          <a:prstGeom prst="rect">
            <a:avLst/>
          </a:prstGeom>
          <a:noFill/>
        </p:spPr>
        <p:txBody>
          <a:bodyPr wrap="square" lIns="0" tIns="0" rIns="0" bIns="0" rtlCol="0" anchor="t"/>
          <a:lstStyle/>
          <a:p>
            <a:pPr marL="0" indent="0" algn="ctr">
              <a:lnSpc>
                <a:spcPts val="2080"/>
              </a:lnSpc>
              <a:buNone/>
            </a:pPr>
            <a:r>
              <a:rPr lang="en-US" sz="1600" b="1" dirty="0">
                <a:solidFill>
                  <a:srgbClr val="1B2A4A"/>
                </a:solidFill>
                <a:latin typeface="Arial" panose="020B0604020202090204" pitchFamily="34" charset="0"/>
                <a:ea typeface="Arial" panose="020B0604020202090204" pitchFamily="34" charset="-122"/>
                <a:cs typeface="Arial" panose="020B0604020202090204" pitchFamily="34" charset="-120"/>
              </a:rPr>
              <a:t>4.3%</a:t>
            </a:r>
            <a:endParaRPr lang="en-US" sz="1600" dirty="0"/>
          </a:p>
        </p:txBody>
      </p:sp>
      <p:sp>
        <p:nvSpPr>
          <p:cNvPr id="17" name="Text 15"/>
          <p:cNvSpPr/>
          <p:nvPr/>
        </p:nvSpPr>
        <p:spPr>
          <a:xfrm>
            <a:off x="594094" y="2294483"/>
            <a:ext cx="1566473" cy="132011"/>
          </a:xfrm>
          <a:prstGeom prst="rect">
            <a:avLst/>
          </a:prstGeom>
          <a:noFill/>
        </p:spPr>
        <p:txBody>
          <a:bodyPr wrap="square" lIns="0" tIns="0" rIns="0" bIns="0" rtlCol="0" anchor="t"/>
          <a:lstStyle/>
          <a:p>
            <a:pPr marL="0" indent="0" algn="ctr">
              <a:lnSpc>
                <a:spcPts val="1040"/>
              </a:lnSpc>
              <a:spcBef>
                <a:spcPts val="200"/>
              </a:spcBef>
              <a:buNone/>
            </a:pPr>
            <a:r>
              <a:rPr lang="en-US" sz="800" dirty="0">
                <a:solidFill>
                  <a:srgbClr val="5D6D7E"/>
                </a:solidFill>
                <a:latin typeface="Arial" panose="020B0604020202090204" pitchFamily="34" charset="0"/>
                <a:ea typeface="Arial" panose="020B0604020202090204" pitchFamily="34" charset="-122"/>
                <a:cs typeface="Arial" panose="020B0604020202090204" pitchFamily="34" charset="-120"/>
              </a:rPr>
              <a:t>Gemini</a:t>
            </a:r>
            <a:endParaRPr lang="en-US" sz="800" dirty="0"/>
          </a:p>
        </p:txBody>
      </p:sp>
      <p:sp>
        <p:nvSpPr>
          <p:cNvPr id="18" name="Text 16"/>
          <p:cNvSpPr/>
          <p:nvPr/>
        </p:nvSpPr>
        <p:spPr>
          <a:xfrm>
            <a:off x="2348210" y="1928961"/>
            <a:ext cx="1738908" cy="611832"/>
          </a:xfrm>
          <a:prstGeom prst="roundRect">
            <a:avLst>
              <a:gd name="adj" fmla="val 6227"/>
            </a:avLst>
          </a:prstGeom>
          <a:solidFill>
            <a:srgbClr val="F0F4F8"/>
          </a:solidFill>
        </p:spPr>
        <p:txBody>
          <a:bodyPr wrap="square" rtlCol="0" anchor="ctr"/>
          <a:lstStyle/>
          <a:p>
            <a:pPr marL="0" indent="0">
              <a:buNone/>
            </a:pPr>
            <a:endParaRPr lang="en-US" dirty="0"/>
          </a:p>
        </p:txBody>
      </p:sp>
      <p:sp>
        <p:nvSpPr>
          <p:cNvPr id="19" name="Shape 17"/>
          <p:cNvSpPr/>
          <p:nvPr/>
        </p:nvSpPr>
        <p:spPr>
          <a:xfrm>
            <a:off x="2348210" y="2521744"/>
            <a:ext cx="1738908" cy="0"/>
          </a:xfrm>
          <a:prstGeom prst="line">
            <a:avLst/>
          </a:prstGeom>
          <a:noFill/>
          <a:ln w="38100">
            <a:solidFill>
              <a:srgbClr val="E67E22"/>
            </a:solidFill>
            <a:prstDash val="solid"/>
          </a:ln>
        </p:spPr>
      </p:sp>
      <p:sp>
        <p:nvSpPr>
          <p:cNvPr id="20" name="Text 18"/>
          <p:cNvSpPr/>
          <p:nvPr/>
        </p:nvSpPr>
        <p:spPr>
          <a:xfrm>
            <a:off x="2434352" y="2005161"/>
            <a:ext cx="1566624" cy="264021"/>
          </a:xfrm>
          <a:prstGeom prst="rect">
            <a:avLst/>
          </a:prstGeom>
          <a:noFill/>
        </p:spPr>
        <p:txBody>
          <a:bodyPr wrap="square" lIns="0" tIns="0" rIns="0" bIns="0" rtlCol="0" anchor="t"/>
          <a:lstStyle/>
          <a:p>
            <a:pPr marL="0" indent="0" algn="ctr">
              <a:lnSpc>
                <a:spcPts val="2080"/>
              </a:lnSpc>
              <a:buNone/>
            </a:pPr>
            <a:r>
              <a:rPr lang="en-US" sz="1600" b="1" dirty="0">
                <a:solidFill>
                  <a:srgbClr val="1B2A4A"/>
                </a:solidFill>
                <a:latin typeface="Arial" panose="020B0604020202090204" pitchFamily="34" charset="0"/>
                <a:ea typeface="Arial" panose="020B0604020202090204" pitchFamily="34" charset="-122"/>
                <a:cs typeface="Arial" panose="020B0604020202090204" pitchFamily="34" charset="-120"/>
              </a:rPr>
              <a:t>0 %</a:t>
            </a:r>
            <a:endParaRPr lang="en-US" sz="1600" dirty="0"/>
          </a:p>
        </p:txBody>
      </p:sp>
      <p:sp>
        <p:nvSpPr>
          <p:cNvPr id="21" name="Text 19"/>
          <p:cNvSpPr/>
          <p:nvPr/>
        </p:nvSpPr>
        <p:spPr>
          <a:xfrm>
            <a:off x="2434352" y="2294483"/>
            <a:ext cx="1566624" cy="132011"/>
          </a:xfrm>
          <a:prstGeom prst="rect">
            <a:avLst/>
          </a:prstGeom>
          <a:noFill/>
        </p:spPr>
        <p:txBody>
          <a:bodyPr wrap="square" lIns="0" tIns="0" rIns="0" bIns="0" rtlCol="0" anchor="t"/>
          <a:lstStyle/>
          <a:p>
            <a:pPr marL="0" indent="0" algn="ctr">
              <a:lnSpc>
                <a:spcPts val="1040"/>
              </a:lnSpc>
              <a:spcBef>
                <a:spcPts val="200"/>
              </a:spcBef>
              <a:buNone/>
            </a:pPr>
            <a:r>
              <a:rPr lang="en-US" sz="800" dirty="0">
                <a:solidFill>
                  <a:srgbClr val="5D6D7E"/>
                </a:solidFill>
                <a:latin typeface="Arial" panose="020B0604020202090204" pitchFamily="34" charset="0"/>
                <a:ea typeface="Arial" panose="020B0604020202090204" pitchFamily="34" charset="-122"/>
                <a:cs typeface="Arial" panose="020B0604020202090204" pitchFamily="34" charset="-120"/>
              </a:rPr>
              <a:t>GPT-5.2</a:t>
            </a:r>
            <a:endParaRPr lang="en-US" sz="800" dirty="0"/>
          </a:p>
        </p:txBody>
      </p:sp>
      <p:sp>
        <p:nvSpPr>
          <p:cNvPr id="24" name="Text 22"/>
          <p:cNvSpPr/>
          <p:nvPr/>
        </p:nvSpPr>
        <p:spPr>
          <a:xfrm>
            <a:off x="4785519" y="823297"/>
            <a:ext cx="4380931"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Key Findings</a:t>
            </a:r>
            <a:endParaRPr lang="en-US" sz="1200" dirty="0"/>
          </a:p>
        </p:txBody>
      </p:sp>
      <p:sp>
        <p:nvSpPr>
          <p:cNvPr id="25" name="Text 23"/>
          <p:cNvSpPr/>
          <p:nvPr/>
        </p:nvSpPr>
        <p:spPr>
          <a:xfrm>
            <a:off x="4785519" y="1070947"/>
            <a:ext cx="444401" cy="25301"/>
          </a:xfrm>
          <a:prstGeom prst="rect">
            <a:avLst/>
          </a:prstGeom>
          <a:solidFill>
            <a:srgbClr val="2E86AB"/>
          </a:solidFill>
        </p:spPr>
        <p:txBody>
          <a:bodyPr wrap="square" rtlCol="0" anchor="ctr"/>
          <a:lstStyle/>
          <a:p>
            <a:pPr marL="0" indent="0">
              <a:buNone/>
            </a:pPr>
            <a:endParaRPr lang="en-US" dirty="0"/>
          </a:p>
        </p:txBody>
      </p:sp>
      <p:sp>
        <p:nvSpPr>
          <p:cNvPr id="26" name="Text 24"/>
          <p:cNvSpPr/>
          <p:nvPr/>
        </p:nvSpPr>
        <p:spPr>
          <a:xfrm>
            <a:off x="4341019" y="1253579"/>
            <a:ext cx="4295031" cy="691158"/>
          </a:xfrm>
          <a:prstGeom prst="rect">
            <a:avLst/>
          </a:prstGeom>
          <a:solidFill>
            <a:srgbClr val="FDF0F0"/>
          </a:solidFill>
        </p:spPr>
        <p:txBody>
          <a:bodyPr wrap="square" rtlCol="0" anchor="ctr"/>
          <a:lstStyle/>
          <a:p>
            <a:pPr marL="0" indent="0">
              <a:buNone/>
            </a:pPr>
            <a:endParaRPr lang="en-US" dirty="0"/>
          </a:p>
        </p:txBody>
      </p:sp>
      <p:sp>
        <p:nvSpPr>
          <p:cNvPr id="27" name="Shape 25"/>
          <p:cNvSpPr/>
          <p:nvPr/>
        </p:nvSpPr>
        <p:spPr>
          <a:xfrm>
            <a:off x="4804569" y="1238339"/>
            <a:ext cx="0" cy="691158"/>
          </a:xfrm>
          <a:prstGeom prst="line">
            <a:avLst/>
          </a:prstGeom>
          <a:noFill/>
          <a:ln w="38100">
            <a:solidFill>
              <a:srgbClr val="FFBA66"/>
            </a:solidFill>
            <a:prstDash val="solid"/>
          </a:ln>
        </p:spPr>
      </p:sp>
      <p:sp>
        <p:nvSpPr>
          <p:cNvPr id="28" name="Text 26"/>
          <p:cNvSpPr/>
          <p:nvPr/>
        </p:nvSpPr>
        <p:spPr>
          <a:xfrm>
            <a:off x="4950569" y="1314539"/>
            <a:ext cx="4083091"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GPT-5.2 paradox: most outliers despite least diverse</a:t>
            </a:r>
            <a:endParaRPr lang="en-US" sz="950" dirty="0"/>
          </a:p>
        </p:txBody>
      </p:sp>
      <p:sp>
        <p:nvSpPr>
          <p:cNvPr id="29" name="Text 27"/>
          <p:cNvSpPr/>
          <p:nvPr/>
        </p:nvSpPr>
        <p:spPr>
          <a:xfrm>
            <a:off x="4950460" y="1522095"/>
            <a:ext cx="3500120" cy="280670"/>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26.1% outliers. Its extreme internal similarity creates a tight, isolated cluster far from everyone else. Individual proposals appear as outliers in the global space.</a:t>
            </a:r>
            <a:endParaRPr lang="en-US" sz="850" dirty="0"/>
          </a:p>
        </p:txBody>
      </p:sp>
      <p:sp>
        <p:nvSpPr>
          <p:cNvPr id="30" name="Text 28"/>
          <p:cNvSpPr/>
          <p:nvPr/>
        </p:nvSpPr>
        <p:spPr>
          <a:xfrm>
            <a:off x="4785519" y="2030998"/>
            <a:ext cx="4295031" cy="831354"/>
          </a:xfrm>
          <a:prstGeom prst="rect">
            <a:avLst/>
          </a:prstGeom>
          <a:solidFill>
            <a:srgbClr val="F0F4F8"/>
          </a:solidFill>
        </p:spPr>
        <p:txBody>
          <a:bodyPr wrap="square" rtlCol="0" anchor="ctr"/>
          <a:lstStyle/>
          <a:p>
            <a:pPr marL="0" indent="0">
              <a:buNone/>
            </a:pPr>
            <a:endParaRPr lang="en-US" dirty="0"/>
          </a:p>
        </p:txBody>
      </p:sp>
      <p:sp>
        <p:nvSpPr>
          <p:cNvPr id="31" name="Shape 29"/>
          <p:cNvSpPr/>
          <p:nvPr/>
        </p:nvSpPr>
        <p:spPr>
          <a:xfrm>
            <a:off x="4804569" y="2030998"/>
            <a:ext cx="0" cy="831354"/>
          </a:xfrm>
          <a:prstGeom prst="line">
            <a:avLst/>
          </a:prstGeom>
          <a:noFill/>
          <a:ln w="38100">
            <a:solidFill>
              <a:srgbClr val="B2B2B2"/>
            </a:solidFill>
            <a:prstDash val="solid"/>
          </a:ln>
        </p:spPr>
      </p:sp>
      <p:sp>
        <p:nvSpPr>
          <p:cNvPr id="32" name="Text 30"/>
          <p:cNvSpPr/>
          <p:nvPr/>
        </p:nvSpPr>
        <p:spPr>
          <a:xfrm>
            <a:off x="4950569" y="2111643"/>
            <a:ext cx="4083091"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Claude: zero outliers despite highest diversity</a:t>
            </a:r>
            <a:endParaRPr lang="en-US" sz="950" dirty="0"/>
          </a:p>
        </p:txBody>
      </p:sp>
      <p:sp>
        <p:nvSpPr>
          <p:cNvPr id="33" name="Text 31"/>
          <p:cNvSpPr/>
          <p:nvPr/>
        </p:nvSpPr>
        <p:spPr>
          <a:xfrm>
            <a:off x="4950460" y="2319020"/>
            <a:ext cx="3500120" cy="420370"/>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0% outliers, smallest NN distances (mean 0.014). Claude forms subclusters that are individually tight but spread across the space. Each proposal has a close neighbor.</a:t>
            </a:r>
            <a:endParaRPr lang="en-US" sz="850" dirty="0"/>
          </a:p>
        </p:txBody>
      </p:sp>
      <p:sp>
        <p:nvSpPr>
          <p:cNvPr id="34" name="Text 32"/>
          <p:cNvSpPr/>
          <p:nvPr/>
        </p:nvSpPr>
        <p:spPr>
          <a:xfrm>
            <a:off x="4341019" y="2979093"/>
            <a:ext cx="4295031" cy="691158"/>
          </a:xfrm>
          <a:prstGeom prst="rect">
            <a:avLst/>
          </a:prstGeom>
          <a:solidFill>
            <a:srgbClr val="F0F4F8"/>
          </a:solidFill>
        </p:spPr>
        <p:txBody>
          <a:bodyPr wrap="square" rtlCol="0" anchor="ctr"/>
          <a:lstStyle/>
          <a:p>
            <a:pPr marL="0" indent="0">
              <a:buNone/>
            </a:pPr>
            <a:endParaRPr lang="en-US" dirty="0"/>
          </a:p>
        </p:txBody>
      </p:sp>
      <p:sp>
        <p:nvSpPr>
          <p:cNvPr id="35" name="Shape 33"/>
          <p:cNvSpPr/>
          <p:nvPr/>
        </p:nvSpPr>
        <p:spPr>
          <a:xfrm>
            <a:off x="4804569" y="2963853"/>
            <a:ext cx="0" cy="691158"/>
          </a:xfrm>
          <a:prstGeom prst="line">
            <a:avLst/>
          </a:prstGeom>
          <a:noFill/>
          <a:ln w="38100">
            <a:solidFill>
              <a:srgbClr val="E8505B"/>
            </a:solidFill>
            <a:prstDash val="solid"/>
          </a:ln>
        </p:spPr>
      </p:sp>
      <p:sp>
        <p:nvSpPr>
          <p:cNvPr id="36" name="Text 34"/>
          <p:cNvSpPr/>
          <p:nvPr/>
        </p:nvSpPr>
        <p:spPr>
          <a:xfrm>
            <a:off x="4950569" y="3040053"/>
            <a:ext cx="4083091"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Human proposals produce genuine outliers</a:t>
            </a:r>
            <a:endParaRPr lang="en-US" sz="950" dirty="0"/>
          </a:p>
        </p:txBody>
      </p:sp>
      <p:sp>
        <p:nvSpPr>
          <p:cNvPr id="37" name="Text 35"/>
          <p:cNvSpPr/>
          <p:nvPr/>
        </p:nvSpPr>
        <p:spPr>
          <a:xfrm>
            <a:off x="4950460" y="3247390"/>
            <a:ext cx="3500120" cy="280670"/>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FF0000"/>
                </a:solidFill>
                <a:latin typeface="Arial" panose="020B0604020202090204" pitchFamily="34" charset="0"/>
                <a:ea typeface="Arial" panose="020B0604020202090204" pitchFamily="34" charset="-122"/>
                <a:cs typeface="Arial" panose="020B0604020202090204" pitchFamily="34" charset="-120"/>
              </a:rPr>
              <a:t>13% outliers. 43.5% have NN from own group; 56.5% NN from AI</a:t>
            </a: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 Humans occupy shared territory but also produce truly unique ideas.</a:t>
            </a:r>
            <a:endParaRPr lang="en-US" sz="850" dirty="0"/>
          </a:p>
        </p:txBody>
      </p:sp>
      <p:sp>
        <p:nvSpPr>
          <p:cNvPr id="38" name="Text 36"/>
          <p:cNvSpPr/>
          <p:nvPr/>
        </p:nvSpPr>
        <p:spPr>
          <a:xfrm>
            <a:off x="4341019" y="3771751"/>
            <a:ext cx="4295031" cy="831354"/>
          </a:xfrm>
          <a:prstGeom prst="rect">
            <a:avLst/>
          </a:prstGeom>
          <a:solidFill>
            <a:srgbClr val="FDF0F0"/>
          </a:solidFill>
        </p:spPr>
        <p:txBody>
          <a:bodyPr wrap="square" rtlCol="0" anchor="ctr"/>
          <a:lstStyle/>
          <a:p>
            <a:pPr marL="0" indent="0">
              <a:buNone/>
            </a:pPr>
            <a:endParaRPr lang="en-US" dirty="0"/>
          </a:p>
        </p:txBody>
      </p:sp>
      <p:sp>
        <p:nvSpPr>
          <p:cNvPr id="39" name="Shape 37"/>
          <p:cNvSpPr/>
          <p:nvPr/>
        </p:nvSpPr>
        <p:spPr>
          <a:xfrm>
            <a:off x="4804569" y="3756511"/>
            <a:ext cx="0" cy="831354"/>
          </a:xfrm>
          <a:prstGeom prst="line">
            <a:avLst/>
          </a:prstGeom>
          <a:noFill/>
          <a:ln w="38100">
            <a:solidFill>
              <a:srgbClr val="2E86AB"/>
            </a:solidFill>
            <a:prstDash val="solid"/>
          </a:ln>
        </p:spPr>
      </p:sp>
      <p:sp>
        <p:nvSpPr>
          <p:cNvPr id="40" name="Text 38"/>
          <p:cNvSpPr/>
          <p:nvPr/>
        </p:nvSpPr>
        <p:spPr>
          <a:xfrm>
            <a:off x="4950569" y="3832711"/>
            <a:ext cx="4083091"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rgbClr val="2C3E50"/>
                </a:solidFill>
                <a:latin typeface="Arial" panose="020B0604020202090204" pitchFamily="34" charset="0"/>
                <a:ea typeface="Arial" panose="020B0604020202090204" pitchFamily="34" charset="-122"/>
                <a:cs typeface="Arial" panose="020B0604020202090204" pitchFamily="34" charset="-120"/>
              </a:rPr>
              <a:t>100% of AI proposals' nearest neighbors are other AI</a:t>
            </a:r>
            <a:endParaRPr lang="en-US" sz="950" dirty="0"/>
          </a:p>
        </p:txBody>
      </p:sp>
      <p:sp>
        <p:nvSpPr>
          <p:cNvPr id="41" name="Text 39"/>
          <p:cNvSpPr/>
          <p:nvPr/>
        </p:nvSpPr>
        <p:spPr>
          <a:xfrm>
            <a:off x="4950460" y="4040505"/>
            <a:ext cx="3500120" cy="420370"/>
          </a:xfrm>
          <a:prstGeom prst="rect">
            <a:avLst/>
          </a:prstGeom>
          <a:noFill/>
        </p:spPr>
        <p:txBody>
          <a:bodyPr wrap="square" lIns="0" tIns="0" rIns="0" bIns="0" rtlCol="0" anchor="t"/>
          <a:lstStyle/>
          <a:p>
            <a:pPr marL="0" indent="0" algn="l">
              <a:lnSpc>
                <a:spcPts val="110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No AI proposal is closest to a human proposal. 95.7% of Claude's NN are from Claude itself. Suggests systematic framing differences between AI and human approaches.</a:t>
            </a:r>
            <a:endParaRPr lang="en-US" sz="850" dirty="0"/>
          </a:p>
        </p:txBody>
      </p:sp>
      <p:sp>
        <p:nvSpPr>
          <p:cNvPr id="43" name="Text 26"/>
          <p:cNvSpPr/>
          <p:nvPr/>
        </p:nvSpPr>
        <p:spPr>
          <a:xfrm>
            <a:off x="423019" y="456654"/>
            <a:ext cx="4083091" cy="156865"/>
          </a:xfrm>
          <a:prstGeom prst="rect">
            <a:avLst/>
          </a:prstGeom>
          <a:noFill/>
        </p:spPr>
        <p:txBody>
          <a:bodyPr wrap="square" lIns="0" tIns="0" rIns="0" bIns="0" rtlCol="0" anchor="t"/>
          <a:lstStyle/>
          <a:p>
            <a:pPr marL="0" indent="0" algn="l">
              <a:lnSpc>
                <a:spcPts val="1235"/>
              </a:lnSpc>
              <a:spcAft>
                <a:spcPts val="400"/>
              </a:spcAft>
              <a:buNone/>
            </a:pPr>
            <a:r>
              <a:rPr lang="en-US" sz="950" b="1" dirty="0">
                <a:solidFill>
                  <a:schemeClr val="bg2"/>
                </a:solidFill>
                <a:latin typeface="Arial" panose="020B0604020202090204" pitchFamily="34" charset="0"/>
                <a:ea typeface="Arial" panose="020B0604020202090204" pitchFamily="34" charset="-122"/>
                <a:cs typeface="Arial" panose="020B0604020202090204" pitchFamily="34" charset="-120"/>
              </a:rPr>
              <a:t>Outliers = </a:t>
            </a:r>
            <a:r>
              <a:rPr lang="en-US" altLang="en-US" sz="950" b="1" dirty="0">
                <a:solidFill>
                  <a:schemeClr val="bg2"/>
                </a:solidFill>
                <a:latin typeface="Arial" panose="020B0604020202090204" pitchFamily="34" charset="0"/>
                <a:ea typeface="Arial" panose="020B0604020202090204" pitchFamily="34" charset="-122"/>
                <a:cs typeface="Arial" panose="020B0604020202090204" pitchFamily="34" charset="-120"/>
              </a:rPr>
              <a:t>top 10% largest NN distances across all 92 proposals.</a:t>
            </a:r>
            <a:endParaRPr lang="en-US" altLang="en-US" sz="950" b="1" dirty="0">
              <a:solidFill>
                <a:schemeClr val="bg2"/>
              </a:solidFill>
              <a:latin typeface="Arial" panose="020B0604020202090204" pitchFamily="34" charset="0"/>
              <a:ea typeface="Arial" panose="020B0604020202090204" pitchFamily="34" charset="-122"/>
              <a:cs typeface="Arial" panose="020B0604020202090204" pitchFamily="34" charset="-120"/>
            </a:endParaRPr>
          </a:p>
        </p:txBody>
      </p:sp>
      <p:pic>
        <p:nvPicPr>
          <p:cNvPr id="44" name="Picture 43" descr="nearest_neighbor_by_model"/>
          <p:cNvPicPr>
            <a:picLocks noChangeAspect="1"/>
          </p:cNvPicPr>
          <p:nvPr/>
        </p:nvPicPr>
        <p:blipFill>
          <a:blip r:embed="rId1"/>
          <a:stretch>
            <a:fillRect/>
          </a:stretch>
        </p:blipFill>
        <p:spPr>
          <a:xfrm>
            <a:off x="62865" y="2773680"/>
            <a:ext cx="4641215" cy="16389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Embedding Space Visualization</a:t>
            </a:r>
            <a:endParaRPr lang="en-US" sz="2000" dirty="0"/>
          </a:p>
        </p:txBody>
      </p:sp>
      <p:sp>
        <p:nvSpPr>
          <p:cNvPr id="4" name="Text 2"/>
          <p:cNvSpPr/>
          <p:nvPr/>
        </p:nvSpPr>
        <p:spPr>
          <a:xfrm>
            <a:off x="5491460" y="803077"/>
            <a:ext cx="3336971"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UMAP 2D Projection</a:t>
            </a:r>
            <a:endParaRPr lang="en-US" sz="1200" dirty="0"/>
          </a:p>
        </p:txBody>
      </p:sp>
      <p:sp>
        <p:nvSpPr>
          <p:cNvPr id="5" name="Text 3"/>
          <p:cNvSpPr/>
          <p:nvPr/>
        </p:nvSpPr>
        <p:spPr>
          <a:xfrm>
            <a:off x="5491460" y="1050727"/>
            <a:ext cx="444401" cy="25301"/>
          </a:xfrm>
          <a:prstGeom prst="rect">
            <a:avLst/>
          </a:prstGeom>
          <a:solidFill>
            <a:srgbClr val="2E86AB"/>
          </a:solidFill>
        </p:spPr>
        <p:txBody>
          <a:bodyPr wrap="square" rtlCol="0" anchor="ctr"/>
          <a:lstStyle/>
          <a:p>
            <a:pPr marL="0" indent="0">
              <a:buNone/>
            </a:pPr>
            <a:endParaRPr lang="en-US" dirty="0"/>
          </a:p>
        </p:txBody>
      </p:sp>
      <p:sp>
        <p:nvSpPr>
          <p:cNvPr id="6" name="Text 4"/>
          <p:cNvSpPr/>
          <p:nvPr/>
        </p:nvSpPr>
        <p:spPr>
          <a:xfrm>
            <a:off x="5491460" y="1177528"/>
            <a:ext cx="3336971" cy="297061"/>
          </a:xfrm>
          <a:prstGeom prst="rect">
            <a:avLst/>
          </a:prstGeom>
          <a:noFill/>
        </p:spPr>
        <p:txBody>
          <a:bodyPr wrap="square" lIns="0" tIns="0" rIns="0" bIns="0" rtlCol="0" anchor="t"/>
          <a:lstStyle/>
          <a:p>
            <a:pPr marL="0" indent="0" algn="l">
              <a:lnSpc>
                <a:spcPts val="1170"/>
              </a:lnSpc>
              <a:spcAft>
                <a:spcPts val="400"/>
              </a:spcAft>
              <a:buNone/>
            </a:pPr>
            <a:r>
              <a:rPr lang="en-US" sz="900" dirty="0">
                <a:solidFill>
                  <a:srgbClr val="5D6D7E"/>
                </a:solidFill>
                <a:latin typeface="Arial" panose="020B0604020202090204" pitchFamily="34" charset="0"/>
                <a:ea typeface="Arial" panose="020B0604020202090204" pitchFamily="34" charset="-122"/>
                <a:cs typeface="Arial" panose="020B0604020202090204" pitchFamily="34" charset="-120"/>
              </a:rPr>
              <a:t>92 proposals projected from 1024-dim to 2D. X markers = group centroids. Magenta circles = outliers.</a:t>
            </a:r>
            <a:endParaRPr lang="en-US" sz="900" dirty="0"/>
          </a:p>
        </p:txBody>
      </p:sp>
      <p:sp>
        <p:nvSpPr>
          <p:cNvPr id="7" name="Text 5"/>
          <p:cNvSpPr/>
          <p:nvPr/>
        </p:nvSpPr>
        <p:spPr>
          <a:xfrm>
            <a:off x="5491460" y="1576090"/>
            <a:ext cx="3271540" cy="500211"/>
          </a:xfrm>
          <a:prstGeom prst="rect">
            <a:avLst/>
          </a:prstGeom>
          <a:solidFill>
            <a:srgbClr val="F0F4F8"/>
          </a:solidFill>
        </p:spPr>
        <p:txBody>
          <a:bodyPr wrap="square" rtlCol="0" anchor="ctr"/>
          <a:lstStyle/>
          <a:p>
            <a:pPr marL="0" indent="0">
              <a:buNone/>
            </a:pPr>
            <a:endParaRPr lang="en-US" dirty="0"/>
          </a:p>
        </p:txBody>
      </p:sp>
      <p:sp>
        <p:nvSpPr>
          <p:cNvPr id="8" name="Shape 6"/>
          <p:cNvSpPr/>
          <p:nvPr/>
        </p:nvSpPr>
        <p:spPr>
          <a:xfrm>
            <a:off x="5510510" y="1576090"/>
            <a:ext cx="0" cy="500211"/>
          </a:xfrm>
          <a:prstGeom prst="line">
            <a:avLst/>
          </a:prstGeom>
          <a:noFill/>
          <a:ln w="38100">
            <a:solidFill>
              <a:srgbClr val="FFBA66"/>
            </a:solidFill>
            <a:prstDash val="solid"/>
          </a:ln>
        </p:spPr>
      </p:sp>
      <p:sp>
        <p:nvSpPr>
          <p:cNvPr id="9" name="Text 7"/>
          <p:cNvSpPr/>
          <p:nvPr/>
        </p:nvSpPr>
        <p:spPr>
          <a:xfrm>
            <a:off x="5656511" y="1652290"/>
            <a:ext cx="3039130" cy="297061"/>
          </a:xfrm>
          <a:prstGeom prst="rect">
            <a:avLst/>
          </a:prstGeom>
          <a:noFill/>
        </p:spPr>
        <p:txBody>
          <a:bodyPr wrap="square" lIns="0" tIns="0" rIns="0" bIns="0" rtlCol="0" anchor="t"/>
          <a:lstStyle/>
          <a:p>
            <a:pPr marL="0" indent="0" algn="l">
              <a:lnSpc>
                <a:spcPts val="1170"/>
              </a:lnSpc>
              <a:spcAft>
                <a:spcPts val="400"/>
              </a:spcAft>
              <a:buNone/>
            </a:pPr>
            <a:r>
              <a:rPr lang="en-US" sz="900" b="1" dirty="0">
                <a:solidFill>
                  <a:srgbClr val="2C3E50"/>
                </a:solidFill>
                <a:latin typeface="Arial" panose="020B0604020202090204" pitchFamily="34" charset="0"/>
                <a:ea typeface="Arial" panose="020B0604020202090204" pitchFamily="34" charset="-122"/>
                <a:cs typeface="Arial" panose="020B0604020202090204" pitchFamily="34" charset="-120"/>
              </a:rPr>
              <a:t>GPT-5.2</a:t>
            </a: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 forms a tight, isolated cluster on the far left, visually confirming near-identical output.</a:t>
            </a:r>
            <a:endParaRPr lang="en-US" sz="900" dirty="0"/>
          </a:p>
        </p:txBody>
      </p:sp>
      <p:sp>
        <p:nvSpPr>
          <p:cNvPr id="10" name="Text 8"/>
          <p:cNvSpPr/>
          <p:nvPr/>
        </p:nvSpPr>
        <p:spPr>
          <a:xfrm>
            <a:off x="5491460" y="2177802"/>
            <a:ext cx="3271540" cy="500211"/>
          </a:xfrm>
          <a:prstGeom prst="rect">
            <a:avLst/>
          </a:prstGeom>
          <a:solidFill>
            <a:srgbClr val="F0F4F8"/>
          </a:solidFill>
        </p:spPr>
        <p:txBody>
          <a:bodyPr wrap="square" rtlCol="0" anchor="ctr"/>
          <a:lstStyle/>
          <a:p>
            <a:pPr marL="0" indent="0">
              <a:buNone/>
            </a:pPr>
            <a:endParaRPr lang="en-US" dirty="0"/>
          </a:p>
        </p:txBody>
      </p:sp>
      <p:sp>
        <p:nvSpPr>
          <p:cNvPr id="11" name="Shape 9"/>
          <p:cNvSpPr/>
          <p:nvPr/>
        </p:nvSpPr>
        <p:spPr>
          <a:xfrm>
            <a:off x="5510510" y="2177802"/>
            <a:ext cx="0" cy="500211"/>
          </a:xfrm>
          <a:prstGeom prst="line">
            <a:avLst/>
          </a:prstGeom>
          <a:noFill/>
          <a:ln w="38100">
            <a:solidFill>
              <a:srgbClr val="B2B2B2"/>
            </a:solidFill>
            <a:prstDash val="solid"/>
          </a:ln>
        </p:spPr>
      </p:sp>
      <p:sp>
        <p:nvSpPr>
          <p:cNvPr id="12" name="Text 10"/>
          <p:cNvSpPr/>
          <p:nvPr/>
        </p:nvSpPr>
        <p:spPr>
          <a:xfrm>
            <a:off x="5656511" y="2254002"/>
            <a:ext cx="3039130" cy="297061"/>
          </a:xfrm>
          <a:prstGeom prst="rect">
            <a:avLst/>
          </a:prstGeom>
          <a:noFill/>
        </p:spPr>
        <p:txBody>
          <a:bodyPr wrap="square" lIns="0" tIns="0" rIns="0" bIns="0" rtlCol="0" anchor="t"/>
          <a:lstStyle/>
          <a:p>
            <a:pPr marL="0" indent="0" algn="l">
              <a:lnSpc>
                <a:spcPts val="1170"/>
              </a:lnSpc>
              <a:spcAft>
                <a:spcPts val="400"/>
              </a:spcAft>
              <a:buNone/>
            </a:pPr>
            <a:r>
              <a:rPr lang="en-US" sz="900" b="1" dirty="0">
                <a:solidFill>
                  <a:srgbClr val="2C3E50"/>
                </a:solidFill>
                <a:latin typeface="Arial" panose="020B0604020202090204" pitchFamily="34" charset="0"/>
                <a:ea typeface="Arial" panose="020B0604020202090204" pitchFamily="34" charset="-122"/>
                <a:cs typeface="Arial" panose="020B0604020202090204" pitchFamily="34" charset="-120"/>
              </a:rPr>
              <a:t>Claude</a:t>
            </a: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 proposals are spread across multiple regions, forming distinct subclusters.</a:t>
            </a:r>
            <a:endParaRPr lang="en-US" sz="900" dirty="0"/>
          </a:p>
        </p:txBody>
      </p:sp>
      <p:sp>
        <p:nvSpPr>
          <p:cNvPr id="13" name="Text 11"/>
          <p:cNvSpPr/>
          <p:nvPr/>
        </p:nvSpPr>
        <p:spPr>
          <a:xfrm>
            <a:off x="5491460" y="2779514"/>
            <a:ext cx="3271540" cy="351681"/>
          </a:xfrm>
          <a:prstGeom prst="rect">
            <a:avLst/>
          </a:prstGeom>
          <a:solidFill>
            <a:srgbClr val="F0F4F8"/>
          </a:solidFill>
        </p:spPr>
        <p:txBody>
          <a:bodyPr wrap="square" rtlCol="0" anchor="ctr"/>
          <a:lstStyle/>
          <a:p>
            <a:pPr marL="0" indent="0">
              <a:buNone/>
            </a:pPr>
            <a:endParaRPr lang="en-US" dirty="0"/>
          </a:p>
        </p:txBody>
      </p:sp>
      <p:sp>
        <p:nvSpPr>
          <p:cNvPr id="14" name="Shape 12"/>
          <p:cNvSpPr/>
          <p:nvPr/>
        </p:nvSpPr>
        <p:spPr>
          <a:xfrm>
            <a:off x="5510510" y="2779514"/>
            <a:ext cx="0" cy="351681"/>
          </a:xfrm>
          <a:prstGeom prst="line">
            <a:avLst/>
          </a:prstGeom>
          <a:noFill/>
          <a:ln w="38100">
            <a:solidFill>
              <a:srgbClr val="8E44AD"/>
            </a:solidFill>
            <a:prstDash val="solid"/>
          </a:ln>
        </p:spPr>
      </p:sp>
      <p:sp>
        <p:nvSpPr>
          <p:cNvPr id="15" name="Text 13"/>
          <p:cNvSpPr/>
          <p:nvPr/>
        </p:nvSpPr>
        <p:spPr>
          <a:xfrm>
            <a:off x="5656511" y="2855714"/>
            <a:ext cx="3039130" cy="148530"/>
          </a:xfrm>
          <a:prstGeom prst="rect">
            <a:avLst/>
          </a:prstGeom>
          <a:noFill/>
        </p:spPr>
        <p:txBody>
          <a:bodyPr wrap="square" lIns="0" tIns="0" rIns="0" bIns="0" rtlCol="0" anchor="t"/>
          <a:lstStyle/>
          <a:p>
            <a:pPr marL="0" indent="0" algn="l">
              <a:lnSpc>
                <a:spcPts val="1170"/>
              </a:lnSpc>
              <a:spcAft>
                <a:spcPts val="400"/>
              </a:spcAft>
              <a:buNone/>
            </a:pPr>
            <a:r>
              <a:rPr lang="en-US" sz="900" b="1" dirty="0">
                <a:solidFill>
                  <a:srgbClr val="2C3E50"/>
                </a:solidFill>
                <a:latin typeface="Arial" panose="020B0604020202090204" pitchFamily="34" charset="0"/>
                <a:ea typeface="Arial" panose="020B0604020202090204" pitchFamily="34" charset="-122"/>
                <a:cs typeface="Arial" panose="020B0604020202090204" pitchFamily="34" charset="-120"/>
              </a:rPr>
              <a:t>Gemini</a:t>
            </a: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 shows moderate clustering with some spread.</a:t>
            </a:r>
            <a:endParaRPr lang="en-US" sz="900" dirty="0"/>
          </a:p>
        </p:txBody>
      </p:sp>
      <p:sp>
        <p:nvSpPr>
          <p:cNvPr id="16" name="Text 14"/>
          <p:cNvSpPr/>
          <p:nvPr/>
        </p:nvSpPr>
        <p:spPr>
          <a:xfrm>
            <a:off x="5491460" y="3232696"/>
            <a:ext cx="3271540" cy="500211"/>
          </a:xfrm>
          <a:prstGeom prst="rect">
            <a:avLst/>
          </a:prstGeom>
          <a:solidFill>
            <a:srgbClr val="F0F4F8"/>
          </a:solidFill>
        </p:spPr>
        <p:txBody>
          <a:bodyPr wrap="square" rtlCol="0" anchor="ctr"/>
          <a:lstStyle/>
          <a:p>
            <a:pPr marL="0" indent="0">
              <a:buNone/>
            </a:pPr>
            <a:endParaRPr lang="en-US" dirty="0"/>
          </a:p>
        </p:txBody>
      </p:sp>
      <p:sp>
        <p:nvSpPr>
          <p:cNvPr id="17" name="Shape 15"/>
          <p:cNvSpPr/>
          <p:nvPr/>
        </p:nvSpPr>
        <p:spPr>
          <a:xfrm>
            <a:off x="5510510" y="3232696"/>
            <a:ext cx="0" cy="500211"/>
          </a:xfrm>
          <a:prstGeom prst="line">
            <a:avLst/>
          </a:prstGeom>
          <a:noFill/>
          <a:ln w="38100">
            <a:solidFill>
              <a:srgbClr val="E8505B"/>
            </a:solidFill>
            <a:prstDash val="solid"/>
          </a:ln>
        </p:spPr>
      </p:sp>
      <p:sp>
        <p:nvSpPr>
          <p:cNvPr id="18" name="Text 16"/>
          <p:cNvSpPr/>
          <p:nvPr/>
        </p:nvSpPr>
        <p:spPr>
          <a:xfrm>
            <a:off x="5656511" y="3308896"/>
            <a:ext cx="3039130" cy="297061"/>
          </a:xfrm>
          <a:prstGeom prst="rect">
            <a:avLst/>
          </a:prstGeom>
          <a:noFill/>
        </p:spPr>
        <p:txBody>
          <a:bodyPr wrap="square" lIns="0" tIns="0" rIns="0" bIns="0" rtlCol="0" anchor="t"/>
          <a:lstStyle/>
          <a:p>
            <a:pPr marL="0" indent="0" algn="l">
              <a:lnSpc>
                <a:spcPts val="1170"/>
              </a:lnSpc>
              <a:spcAft>
                <a:spcPts val="400"/>
              </a:spcAft>
              <a:buNone/>
            </a:pPr>
            <a:r>
              <a:rPr lang="en-US" sz="900" b="1" dirty="0">
                <a:solidFill>
                  <a:srgbClr val="2C3E50"/>
                </a:solidFill>
                <a:latin typeface="Arial" panose="020B0604020202090204" pitchFamily="34" charset="0"/>
                <a:ea typeface="Arial" panose="020B0604020202090204" pitchFamily="34" charset="-122"/>
                <a:cs typeface="Arial" panose="020B0604020202090204" pitchFamily="34" charset="-120"/>
              </a:rPr>
              <a:t>Human</a:t>
            </a: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 proposals are distributed throughout the center-right, overlapping with Claude and Gemini.</a:t>
            </a:r>
            <a:endParaRPr lang="en-US" sz="900" dirty="0"/>
          </a:p>
        </p:txBody>
      </p:sp>
      <p:sp>
        <p:nvSpPr>
          <p:cNvPr id="19" name="Text 17"/>
          <p:cNvSpPr/>
          <p:nvPr/>
        </p:nvSpPr>
        <p:spPr>
          <a:xfrm>
            <a:off x="5491460" y="3834408"/>
            <a:ext cx="3271540" cy="500211"/>
          </a:xfrm>
          <a:prstGeom prst="rect">
            <a:avLst/>
          </a:prstGeom>
          <a:solidFill>
            <a:srgbClr val="F0F4F8"/>
          </a:solidFill>
        </p:spPr>
        <p:txBody>
          <a:bodyPr wrap="square" rtlCol="0" anchor="ctr"/>
          <a:lstStyle/>
          <a:p>
            <a:pPr marL="0" indent="0">
              <a:buNone/>
            </a:pPr>
            <a:endParaRPr lang="en-US" dirty="0"/>
          </a:p>
        </p:txBody>
      </p:sp>
      <p:sp>
        <p:nvSpPr>
          <p:cNvPr id="20" name="Shape 18"/>
          <p:cNvSpPr/>
          <p:nvPr/>
        </p:nvSpPr>
        <p:spPr>
          <a:xfrm>
            <a:off x="5510510" y="3834408"/>
            <a:ext cx="0" cy="500211"/>
          </a:xfrm>
          <a:prstGeom prst="line">
            <a:avLst/>
          </a:prstGeom>
          <a:noFill/>
          <a:ln w="38100">
            <a:solidFill>
              <a:srgbClr val="2E86AB"/>
            </a:solidFill>
            <a:prstDash val="solid"/>
          </a:ln>
        </p:spPr>
      </p:sp>
      <p:sp>
        <p:nvSpPr>
          <p:cNvPr id="21" name="Text 19"/>
          <p:cNvSpPr/>
          <p:nvPr/>
        </p:nvSpPr>
        <p:spPr>
          <a:xfrm>
            <a:off x="5656511" y="3910608"/>
            <a:ext cx="3039130" cy="297061"/>
          </a:xfrm>
          <a:prstGeom prst="rect">
            <a:avLst/>
          </a:prstGeom>
          <a:noFill/>
        </p:spPr>
        <p:txBody>
          <a:bodyPr wrap="square" lIns="0" tIns="0" rIns="0" bIns="0" rtlCol="0" anchor="t"/>
          <a:lstStyle/>
          <a:p>
            <a:pPr marL="0" indent="0" algn="l">
              <a:lnSpc>
                <a:spcPts val="1170"/>
              </a:lnSpc>
              <a:spcAft>
                <a:spcPts val="400"/>
              </a:spcAft>
              <a:buNone/>
            </a:pPr>
            <a:r>
              <a:rPr lang="en-US" sz="900" b="1" dirty="0">
                <a:solidFill>
                  <a:srgbClr val="2C3E50"/>
                </a:solidFill>
                <a:latin typeface="Arial" panose="020B0604020202090204" pitchFamily="34" charset="0"/>
                <a:ea typeface="Arial" panose="020B0604020202090204" pitchFamily="34" charset="-122"/>
                <a:cs typeface="Arial" panose="020B0604020202090204" pitchFamily="34" charset="-120"/>
              </a:rPr>
              <a:t>Outliers</a:t>
            </a: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 (magenta) are predominantly human and GPT-5.2 proposals at the space periphery.</a:t>
            </a:r>
            <a:endParaRPr lang="en-US" sz="900" dirty="0"/>
          </a:p>
        </p:txBody>
      </p:sp>
      <p:pic>
        <p:nvPicPr>
          <p:cNvPr id="23" name="Image 0" descr="/Users/eveyhuang/Documents/NICO/human-AI-proposal-comparison/results/figures/embedding_space_2d.png"/>
          <p:cNvPicPr>
            <a:picLocks noChangeAspect="1"/>
          </p:cNvPicPr>
          <p:nvPr/>
        </p:nvPicPr>
        <p:blipFill>
          <a:blip r:embed="rId1"/>
          <a:stretch>
            <a:fillRect/>
          </a:stretch>
        </p:blipFill>
        <p:spPr>
          <a:xfrm>
            <a:off x="381000" y="803077"/>
            <a:ext cx="4825901" cy="39369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Defining Novelty &amp; the Literature Corpus</a:t>
            </a:r>
            <a:endParaRPr lang="en-US" sz="2000" dirty="0"/>
          </a:p>
        </p:txBody>
      </p:sp>
      <p:sp>
        <p:nvSpPr>
          <p:cNvPr id="4" name="Text 2"/>
          <p:cNvSpPr/>
          <p:nvPr/>
        </p:nvSpPr>
        <p:spPr>
          <a:xfrm>
            <a:off x="507950" y="853827"/>
            <a:ext cx="3951021" cy="200025"/>
          </a:xfrm>
          <a:prstGeom prst="rect">
            <a:avLst/>
          </a:prstGeom>
          <a:noFill/>
        </p:spPr>
        <p:txBody>
          <a:bodyPr wrap="square" lIns="0" tIns="0" rIns="0" bIns="0" rtlCol="0" anchor="t"/>
          <a:lstStyle/>
          <a:p>
            <a:pPr marL="0" indent="0" algn="l">
              <a:lnSpc>
                <a:spcPts val="1285"/>
              </a:lnSpc>
              <a:spcAft>
                <a:spcPts val="400"/>
              </a:spcAft>
              <a:buNone/>
            </a:pPr>
            <a:r>
              <a:rPr lang="en-US" sz="1300" b="1" dirty="0">
                <a:solidFill>
                  <a:srgbClr val="1B2A4A"/>
                </a:solidFill>
                <a:latin typeface="Arial" panose="020B0604020202090204" pitchFamily="34" charset="0"/>
                <a:ea typeface="Arial" panose="020B0604020202090204" pitchFamily="34" charset="-122"/>
                <a:cs typeface="Arial" panose="020B0604020202090204" pitchFamily="34" charset="-120"/>
              </a:rPr>
              <a:t>How is novelty measured?</a:t>
            </a:r>
            <a:endParaRPr lang="en-US" sz="1300" dirty="0"/>
          </a:p>
        </p:txBody>
      </p:sp>
      <p:sp>
        <p:nvSpPr>
          <p:cNvPr id="5" name="Text 3"/>
          <p:cNvSpPr/>
          <p:nvPr/>
        </p:nvSpPr>
        <p:spPr>
          <a:xfrm>
            <a:off x="507950" y="1100000"/>
            <a:ext cx="507950" cy="25301"/>
          </a:xfrm>
          <a:prstGeom prst="rect">
            <a:avLst/>
          </a:prstGeom>
          <a:solidFill>
            <a:srgbClr val="E8505B"/>
          </a:solidFill>
        </p:spPr>
        <p:txBody>
          <a:bodyPr wrap="square" rtlCol="0" anchor="ctr"/>
          <a:lstStyle/>
          <a:p>
            <a:pPr marL="0" indent="0">
              <a:buNone/>
            </a:pPr>
            <a:endParaRPr lang="en-US" dirty="0"/>
          </a:p>
        </p:txBody>
      </p:sp>
      <p:sp>
        <p:nvSpPr>
          <p:cNvPr id="6" name="Text 4"/>
          <p:cNvSpPr/>
          <p:nvPr/>
        </p:nvSpPr>
        <p:spPr>
          <a:xfrm>
            <a:off x="507950" y="1180000"/>
            <a:ext cx="3951021" cy="700000"/>
          </a:xfrm>
          <a:prstGeom prst="roundRect">
            <a:avLst>
              <a:gd name="adj" fmla="val 3000"/>
            </a:avLst>
          </a:prstGeom>
          <a:solidFill>
            <a:srgbClr val="F7F9FC"/>
          </a:solidFill>
        </p:spPr>
        <p:txBody>
          <a:bodyPr wrap="square" rtlCol="0" anchor="ctr"/>
          <a:lstStyle/>
          <a:p>
            <a:pPr marL="0" indent="0">
              <a:buNone/>
            </a:pPr>
            <a:endParaRPr lang="en-US" dirty="0"/>
          </a:p>
        </p:txBody>
      </p:sp>
      <p:sp>
        <p:nvSpPr>
          <p:cNvPr id="7" name="Shape 5"/>
          <p:cNvSpPr/>
          <p:nvPr/>
        </p:nvSpPr>
        <p:spPr>
          <a:xfrm>
            <a:off x="507950" y="1199050"/>
            <a:ext cx="3951021" cy="0"/>
          </a:xfrm>
          <a:prstGeom prst="line">
            <a:avLst/>
          </a:prstGeom>
          <a:noFill/>
          <a:ln w="38100">
            <a:solidFill>
              <a:srgbClr val="2E86AB"/>
            </a:solidFill>
            <a:prstDash val="solid"/>
          </a:ln>
        </p:spPr>
      </p:sp>
      <p:sp>
        <p:nvSpPr>
          <p:cNvPr id="8" name="Text 6"/>
          <p:cNvSpPr/>
          <p:nvPr/>
        </p:nvSpPr>
        <p:spPr>
          <a:xfrm>
            <a:off x="507950" y="1307310"/>
            <a:ext cx="3700000" cy="620000"/>
          </a:xfrm>
          <a:prstGeom prst="rect">
            <a:avLst/>
          </a:prstGeom>
          <a:noFill/>
        </p:spPr>
        <p:txBody>
          <a:bodyPr wrap="square" lIns="0" tIns="0" rIns="0" bIns="0" rtlCol="0" anchor="t"/>
          <a:lstStyle/>
          <a:p>
            <a:pPr marL="0" indent="0" algn="l">
              <a:lnSpc>
                <a:spcPts val="1150"/>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For each proposal, we find its k=10 nearest neighbors in a reference corpus of published PubMed articles and compute the mean cosine distance. A higher score means the proposal is further from anything previously published — it explores territory that the existing literature does not cover. We embed only the title + abstract of each proposal (not the full text) to ensure a fair comparison with the PubMed abstracts.</a:t>
            </a:r>
            <a:endParaRPr lang="en-US" sz="900" dirty="0"/>
          </a:p>
        </p:txBody>
      </p:sp>
      <p:sp>
        <p:nvSpPr>
          <p:cNvPr id="9" name="Text 7"/>
          <p:cNvSpPr/>
          <p:nvPr/>
        </p:nvSpPr>
        <p:spPr>
          <a:xfrm>
            <a:off x="468630" y="2627630"/>
            <a:ext cx="3950970" cy="200025"/>
          </a:xfrm>
          <a:prstGeom prst="rect">
            <a:avLst/>
          </a:prstGeom>
          <a:noFill/>
        </p:spPr>
        <p:txBody>
          <a:bodyPr wrap="square" lIns="0" tIns="0" rIns="0" bIns="0" rtlCol="0" anchor="t"/>
          <a:lstStyle/>
          <a:p>
            <a:pPr marL="0" indent="0" algn="l">
              <a:lnSpc>
                <a:spcPts val="1285"/>
              </a:lnSpc>
              <a:spcAft>
                <a:spcPts val="4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How does novelty differ from diversity?</a:t>
            </a:r>
            <a:endParaRPr lang="en-US" sz="1200" dirty="0"/>
          </a:p>
        </p:txBody>
      </p:sp>
      <p:sp>
        <p:nvSpPr>
          <p:cNvPr id="12" name="Shape 10"/>
          <p:cNvSpPr/>
          <p:nvPr/>
        </p:nvSpPr>
        <p:spPr>
          <a:xfrm>
            <a:off x="469850" y="2885310"/>
            <a:ext cx="1900000" cy="0"/>
          </a:xfrm>
          <a:prstGeom prst="line">
            <a:avLst/>
          </a:prstGeom>
          <a:noFill/>
          <a:ln w="38100">
            <a:solidFill>
              <a:srgbClr val="E8505B"/>
            </a:solidFill>
            <a:prstDash val="solid"/>
          </a:ln>
        </p:spPr>
      </p:sp>
      <p:sp>
        <p:nvSpPr>
          <p:cNvPr id="13" name="Text 11"/>
          <p:cNvSpPr/>
          <p:nvPr/>
        </p:nvSpPr>
        <p:spPr>
          <a:xfrm>
            <a:off x="571450" y="2977695"/>
            <a:ext cx="1700000" cy="150000"/>
          </a:xfrm>
          <a:prstGeom prst="rect">
            <a:avLst/>
          </a:prstGeom>
          <a:noFill/>
        </p:spPr>
        <p:txBody>
          <a:bodyPr wrap="square" lIns="0" tIns="0" rIns="0" bIns="0" rtlCol="0" anchor="t"/>
          <a:lstStyle/>
          <a:p>
            <a:pPr marL="0" indent="0" algn="l">
              <a:lnSpc>
                <a:spcPts val="1400"/>
              </a:lnSpc>
              <a:spcAft>
                <a:spcPts val="400"/>
              </a:spcAft>
              <a:buNone/>
            </a:pPr>
            <a:r>
              <a:rPr lang="en-US" sz="1050" b="1" dirty="0">
                <a:solidFill>
                  <a:srgbClr val="E8505B"/>
                </a:solidFill>
                <a:latin typeface="Arial" panose="020B0604020202090204" pitchFamily="34" charset="0"/>
                <a:ea typeface="Arial" panose="020B0604020202090204" pitchFamily="34" charset="-122"/>
                <a:cs typeface="Arial" panose="020B0604020202090204" pitchFamily="34" charset="-120"/>
              </a:rPr>
              <a:t>Diversity</a:t>
            </a:r>
            <a:endParaRPr lang="en-US" sz="1050" dirty="0"/>
          </a:p>
        </p:txBody>
      </p:sp>
      <p:sp>
        <p:nvSpPr>
          <p:cNvPr id="14" name="Text 12"/>
          <p:cNvSpPr/>
          <p:nvPr/>
        </p:nvSpPr>
        <p:spPr>
          <a:xfrm>
            <a:off x="584150" y="3219135"/>
            <a:ext cx="1700000" cy="38000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Compares proposals to each other within a group. A diverse group produces varied ideas, but those ideas may all be well-known in the literature. Reference: internal (proposals vs. proposals).</a:t>
            </a:r>
            <a:endParaRPr lang="en-US" sz="800" dirty="0"/>
          </a:p>
        </p:txBody>
      </p:sp>
      <p:sp>
        <p:nvSpPr>
          <p:cNvPr id="16" name="Shape 14"/>
          <p:cNvSpPr/>
          <p:nvPr/>
        </p:nvSpPr>
        <p:spPr>
          <a:xfrm>
            <a:off x="2519850" y="2885310"/>
            <a:ext cx="1900000" cy="0"/>
          </a:xfrm>
          <a:prstGeom prst="line">
            <a:avLst/>
          </a:prstGeom>
          <a:noFill/>
          <a:ln w="38100">
            <a:solidFill>
              <a:srgbClr val="2E86AB"/>
            </a:solidFill>
            <a:prstDash val="solid"/>
          </a:ln>
        </p:spPr>
      </p:sp>
      <p:sp>
        <p:nvSpPr>
          <p:cNvPr id="17" name="Text 15"/>
          <p:cNvSpPr/>
          <p:nvPr/>
        </p:nvSpPr>
        <p:spPr>
          <a:xfrm>
            <a:off x="2621450" y="2977695"/>
            <a:ext cx="1700000" cy="150000"/>
          </a:xfrm>
          <a:prstGeom prst="rect">
            <a:avLst/>
          </a:prstGeom>
          <a:noFill/>
        </p:spPr>
        <p:txBody>
          <a:bodyPr wrap="square" lIns="0" tIns="0" rIns="0" bIns="0" rtlCol="0" anchor="t"/>
          <a:lstStyle/>
          <a:p>
            <a:pPr marL="0" indent="0" algn="l">
              <a:lnSpc>
                <a:spcPts val="1400"/>
              </a:lnSpc>
              <a:spcAft>
                <a:spcPts val="400"/>
              </a:spcAft>
              <a:buNone/>
            </a:pPr>
            <a:r>
              <a:rPr lang="en-US" sz="1050" b="1" dirty="0">
                <a:solidFill>
                  <a:srgbClr val="2E86AB"/>
                </a:solidFill>
                <a:latin typeface="Arial" panose="020B0604020202090204" pitchFamily="34" charset="0"/>
                <a:ea typeface="Arial" panose="020B0604020202090204" pitchFamily="34" charset="-122"/>
                <a:cs typeface="Arial" panose="020B0604020202090204" pitchFamily="34" charset="-120"/>
              </a:rPr>
              <a:t>Novelty</a:t>
            </a:r>
            <a:endParaRPr lang="en-US" sz="1050" dirty="0"/>
          </a:p>
        </p:txBody>
      </p:sp>
      <p:sp>
        <p:nvSpPr>
          <p:cNvPr id="18" name="Text 16"/>
          <p:cNvSpPr/>
          <p:nvPr/>
        </p:nvSpPr>
        <p:spPr>
          <a:xfrm>
            <a:off x="2634150" y="3219135"/>
            <a:ext cx="1700000" cy="38000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Compares proposals to published literature. A novel proposal explores territory that no published paper covers, regardless of how similar it is to other proposals. Reference: external (proposals vs. PubMed).</a:t>
            </a:r>
            <a:endParaRPr lang="en-US" sz="800" dirty="0"/>
          </a:p>
        </p:txBody>
      </p:sp>
      <p:sp>
        <p:nvSpPr>
          <p:cNvPr id="19" name="Text 17"/>
          <p:cNvSpPr/>
          <p:nvPr/>
        </p:nvSpPr>
        <p:spPr>
          <a:xfrm>
            <a:off x="468580" y="4257295"/>
            <a:ext cx="3951021" cy="350000"/>
          </a:xfrm>
          <a:prstGeom prst="roundRect">
            <a:avLst>
              <a:gd name="adj" fmla="val 3000"/>
            </a:avLst>
          </a:prstGeom>
          <a:solidFill>
            <a:srgbClr val="1B2A4A"/>
          </a:solidFill>
        </p:spPr>
        <p:txBody>
          <a:bodyPr wrap="square" rtlCol="0" anchor="ctr"/>
          <a:lstStyle/>
          <a:p>
            <a:pPr marL="0" indent="0">
              <a:buNone/>
            </a:pPr>
            <a:endParaRPr lang="en-US" dirty="0"/>
          </a:p>
        </p:txBody>
      </p:sp>
      <p:sp>
        <p:nvSpPr>
          <p:cNvPr id="20" name="Text 18"/>
          <p:cNvSpPr/>
          <p:nvPr/>
        </p:nvSpPr>
        <p:spPr>
          <a:xfrm>
            <a:off x="620980" y="4297295"/>
            <a:ext cx="3700000" cy="280000"/>
          </a:xfrm>
          <a:prstGeom prst="rect">
            <a:avLst/>
          </a:prstGeom>
          <a:noFill/>
        </p:spPr>
        <p:txBody>
          <a:bodyPr wrap="square" lIns="0" tIns="0" rIns="0" bIns="0" rtlCol="0" anchor="t"/>
          <a:lstStyle/>
          <a:p>
            <a:pPr marL="0" indent="0" algn="l">
              <a:lnSpc>
                <a:spcPts val="1100"/>
              </a:lnSpc>
              <a:spcAft>
                <a:spcPts val="400"/>
              </a:spcAft>
              <a:buNone/>
            </a:pPr>
            <a:r>
              <a:rPr lang="en-US" sz="850" b="1" dirty="0">
                <a:solidFill>
                  <a:srgbClr val="FFFFFF"/>
                </a:solidFill>
                <a:latin typeface="Arial" panose="020B0604020202090204" pitchFamily="34" charset="0"/>
                <a:ea typeface="Arial" panose="020B0604020202090204" pitchFamily="34" charset="-122"/>
                <a:cs typeface="Arial" panose="020B0604020202090204" pitchFamily="34" charset="-120"/>
              </a:rPr>
              <a:t>Implication: A model can be highly diverse (varied output) but low novelty (ideas the field already knows), or low diversity (repetitive) but high novelty (repetitively novel). These are independent dimensions.</a:t>
            </a:r>
            <a:endParaRPr lang="en-US" sz="850" dirty="0"/>
          </a:p>
        </p:txBody>
      </p:sp>
      <p:sp>
        <p:nvSpPr>
          <p:cNvPr id="21" name="Text 19"/>
          <p:cNvSpPr/>
          <p:nvPr/>
        </p:nvSpPr>
        <p:spPr>
          <a:xfrm>
            <a:off x="4762500" y="853827"/>
            <a:ext cx="3873550" cy="200025"/>
          </a:xfrm>
          <a:prstGeom prst="rect">
            <a:avLst/>
          </a:prstGeom>
          <a:noFill/>
        </p:spPr>
        <p:txBody>
          <a:bodyPr wrap="square" lIns="0" tIns="0" rIns="0" bIns="0" rtlCol="0" anchor="t"/>
          <a:lstStyle/>
          <a:p>
            <a:pPr marL="0" indent="0" algn="l">
              <a:lnSpc>
                <a:spcPts val="1285"/>
              </a:lnSpc>
              <a:spcAft>
                <a:spcPts val="400"/>
              </a:spcAft>
              <a:buNone/>
            </a:pPr>
            <a:r>
              <a:rPr lang="en-US" sz="1300" b="1" dirty="0">
                <a:solidFill>
                  <a:srgbClr val="1B2A4A"/>
                </a:solidFill>
                <a:latin typeface="Arial" panose="020B0604020202090204" pitchFamily="34" charset="0"/>
                <a:ea typeface="Arial" panose="020B0604020202090204" pitchFamily="34" charset="-122"/>
                <a:cs typeface="Arial" panose="020B0604020202090204" pitchFamily="34" charset="-120"/>
              </a:rPr>
              <a:t>Reference Literature Corpus</a:t>
            </a:r>
            <a:endParaRPr lang="en-US" sz="1300" dirty="0"/>
          </a:p>
        </p:txBody>
      </p:sp>
      <p:sp>
        <p:nvSpPr>
          <p:cNvPr id="22" name="Text 20"/>
          <p:cNvSpPr/>
          <p:nvPr/>
        </p:nvSpPr>
        <p:spPr>
          <a:xfrm>
            <a:off x="4762500" y="1100000"/>
            <a:ext cx="507950" cy="25301"/>
          </a:xfrm>
          <a:prstGeom prst="rect">
            <a:avLst/>
          </a:prstGeom>
          <a:solidFill>
            <a:srgbClr val="2E86AB"/>
          </a:solidFill>
        </p:spPr>
        <p:txBody>
          <a:bodyPr wrap="square" rtlCol="0" anchor="ctr"/>
          <a:lstStyle/>
          <a:p>
            <a:pPr marL="0" indent="0">
              <a:buNone/>
            </a:pPr>
            <a:endParaRPr lang="en-US" dirty="0"/>
          </a:p>
        </p:txBody>
      </p:sp>
      <p:pic>
        <p:nvPicPr>
          <p:cNvPr id="23" name="Picture 23"/>
          <p:cNvPicPr>
            <a:picLocks noChangeAspect="1"/>
          </p:cNvPicPr>
          <p:nvPr/>
        </p:nvPicPr>
        <p:blipFill>
          <a:blip r:embed="rId1"/>
          <a:stretch>
            <a:fillRect/>
          </a:stretch>
        </p:blipFill>
        <p:spPr>
          <a:xfrm>
            <a:off x="4762500" y="1179830"/>
            <a:ext cx="3700145" cy="2000250"/>
          </a:xfrm>
          <a:prstGeom prst="rect">
            <a:avLst/>
          </a:prstGeom>
        </p:spPr>
      </p:pic>
      <p:sp>
        <p:nvSpPr>
          <p:cNvPr id="24" name="Text 22"/>
          <p:cNvSpPr/>
          <p:nvPr/>
        </p:nvSpPr>
        <p:spPr>
          <a:xfrm>
            <a:off x="4762500" y="3280000"/>
            <a:ext cx="3873550" cy="1120000"/>
          </a:xfrm>
          <a:prstGeom prst="roundRect">
            <a:avLst>
              <a:gd name="adj" fmla="val 3000"/>
            </a:avLst>
          </a:prstGeom>
          <a:solidFill>
            <a:srgbClr val="F0F4F8"/>
          </a:solidFill>
        </p:spPr>
        <p:txBody>
          <a:bodyPr wrap="square" rtlCol="0" anchor="ctr"/>
          <a:lstStyle/>
          <a:p>
            <a:pPr marL="0" indent="0">
              <a:buNone/>
            </a:pPr>
            <a:endParaRPr lang="en-US" dirty="0"/>
          </a:p>
        </p:txBody>
      </p:sp>
      <p:sp>
        <p:nvSpPr>
          <p:cNvPr id="25" name="Shape 23"/>
          <p:cNvSpPr/>
          <p:nvPr/>
        </p:nvSpPr>
        <p:spPr>
          <a:xfrm>
            <a:off x="4781550" y="3470500"/>
            <a:ext cx="0" cy="1120000"/>
          </a:xfrm>
          <a:prstGeom prst="line">
            <a:avLst/>
          </a:prstGeom>
          <a:noFill/>
          <a:ln w="38100">
            <a:solidFill>
              <a:srgbClr val="2E86AB"/>
            </a:solidFill>
            <a:prstDash val="solid"/>
          </a:ln>
        </p:spPr>
      </p:sp>
      <p:sp>
        <p:nvSpPr>
          <p:cNvPr id="26" name="Text 24"/>
          <p:cNvSpPr/>
          <p:nvPr/>
        </p:nvSpPr>
        <p:spPr>
          <a:xfrm>
            <a:off x="4953000" y="3320000"/>
            <a:ext cx="3600000" cy="150000"/>
          </a:xfrm>
          <a:prstGeom prst="rect">
            <a:avLst/>
          </a:prstGeom>
          <a:noFill/>
        </p:spPr>
        <p:txBody>
          <a:bodyPr wrap="square" lIns="0" tIns="0" rIns="0" bIns="0" rtlCol="0" anchor="t"/>
          <a:lstStyle/>
          <a:p>
            <a:pPr marL="0" indent="0" algn="l">
              <a:lnSpc>
                <a:spcPts val="1400"/>
              </a:lnSpc>
              <a:spcAft>
                <a:spcPts val="400"/>
              </a:spcAft>
              <a:buNone/>
            </a:pPr>
            <a:r>
              <a:rPr lang="en-US" sz="1000" b="1" dirty="0">
                <a:solidFill>
                  <a:srgbClr val="1B2A4A"/>
                </a:solidFill>
                <a:latin typeface="Arial" panose="020B0604020202090204" pitchFamily="34" charset="0"/>
                <a:ea typeface="Arial" panose="020B0604020202090204" pitchFamily="34" charset="-122"/>
                <a:cs typeface="Arial" panose="020B0604020202090204" pitchFamily="34" charset="-120"/>
              </a:rPr>
              <a:t>350 PubMed articles from 7 targeted queries</a:t>
            </a:r>
            <a:endParaRPr lang="en-US" sz="1000" dirty="0"/>
          </a:p>
        </p:txBody>
      </p:sp>
      <p:sp>
        <p:nvSpPr>
          <p:cNvPr id="27" name="Text 25"/>
          <p:cNvSpPr/>
          <p:nvPr/>
        </p:nvSpPr>
        <p:spPr>
          <a:xfrm>
            <a:off x="4953000" y="3490000"/>
            <a:ext cx="3600000" cy="860000"/>
          </a:xfrm>
          <a:prstGeom prst="rect">
            <a:avLst/>
          </a:prstGeom>
          <a:noFill/>
        </p:spPr>
        <p:txBody>
          <a:bodyPr wrap="square" lIns="0" tIns="0" rIns="0" bIns="0" rtlCol="0" anchor="t"/>
          <a:lstStyle/>
          <a:p>
            <a:pPr marL="0" indent="0" algn="l">
              <a:lnSpc>
                <a:spcPts val="1000"/>
              </a:lnSpc>
              <a:spcAft>
                <a:spcPts val="400"/>
              </a:spcAft>
              <a:buNone/>
            </a:pPr>
            <a:r>
              <a:rPr lang="en-US" sz="780" dirty="0">
                <a:solidFill>
                  <a:srgbClr val="2C3E50"/>
                </a:solidFill>
                <a:latin typeface="Arial" panose="020B0604020202090204" pitchFamily="34" charset="0"/>
                <a:ea typeface="Arial" panose="020B0604020202090204" pitchFamily="34" charset="-122"/>
                <a:cs typeface="Arial" panose="020B0604020202090204" pitchFamily="34" charset="-120"/>
              </a:rPr>
              <a:t>• Emergent properties in molecular/cellular biology (59 articles)
• Mesoscale biology &amp; biomolecular organization (49)
• Biomolecular condensates &amp; phase separation (49)
• Multi-omics data integration (50)
• AI/ML in molecular &amp; cellular biology (59)
• Systems biology &amp; network analysis (44)
• Protein self-assembly &amp; supramolecular organization (40)
Mean abstract length: 1,351 characters. Embedded with BioLinkBERT using same pipeline as proposals.</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Novelty Analysis: Distance from Existing Literature</a:t>
            </a:r>
            <a:endParaRPr lang="en-US" sz="2000" dirty="0"/>
          </a:p>
        </p:txBody>
      </p:sp>
      <p:sp>
        <p:nvSpPr>
          <p:cNvPr id="4" name="Text 2"/>
          <p:cNvSpPr/>
          <p:nvPr/>
        </p:nvSpPr>
        <p:spPr>
          <a:xfrm>
            <a:off x="507950" y="853827"/>
            <a:ext cx="8290661"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Novelty = Mean cosine distance to 10 nearest neighbors in a corpus of 350 PubMed articles</a:t>
            </a:r>
            <a:endParaRPr lang="en-US" sz="1200" dirty="0"/>
          </a:p>
        </p:txBody>
      </p:sp>
      <p:sp>
        <p:nvSpPr>
          <p:cNvPr id="5" name="Text 3"/>
          <p:cNvSpPr/>
          <p:nvPr/>
        </p:nvSpPr>
        <p:spPr>
          <a:xfrm>
            <a:off x="507950" y="1101477"/>
            <a:ext cx="444401" cy="25301"/>
          </a:xfrm>
          <a:prstGeom prst="rect">
            <a:avLst/>
          </a:prstGeom>
          <a:solidFill>
            <a:srgbClr val="E8505B"/>
          </a:solidFill>
        </p:spPr>
        <p:txBody>
          <a:bodyPr wrap="square" rtlCol="0" anchor="ctr"/>
          <a:lstStyle/>
          <a:p>
            <a:pPr marL="0" indent="0">
              <a:buNone/>
            </a:pPr>
            <a:endParaRPr lang="en-US" dirty="0"/>
          </a:p>
        </p:txBody>
      </p:sp>
      <p:pic>
        <p:nvPicPr>
          <p:cNvPr id="6" name="Picture 6"/>
          <p:cNvPicPr>
            <a:picLocks noChangeAspect="1"/>
          </p:cNvPicPr>
          <p:nvPr/>
        </p:nvPicPr>
        <p:blipFill>
          <a:blip r:embed="rId1"/>
          <a:stretch>
            <a:fillRect/>
          </a:stretch>
        </p:blipFill>
        <p:spPr>
          <a:xfrm>
            <a:off x="112395" y="1202690"/>
            <a:ext cx="4688840" cy="3517265"/>
          </a:xfrm>
          <a:prstGeom prst="rect">
            <a:avLst/>
          </a:prstGeom>
        </p:spPr>
      </p:pic>
      <p:sp>
        <p:nvSpPr>
          <p:cNvPr id="7" name="Text 5"/>
          <p:cNvSpPr/>
          <p:nvPr/>
        </p:nvSpPr>
        <p:spPr>
          <a:xfrm>
            <a:off x="4850000" y="1253728"/>
            <a:ext cx="3937099" cy="1050000"/>
          </a:xfrm>
          <a:prstGeom prst="roundRect">
            <a:avLst>
              <a:gd name="adj" fmla="val 3645"/>
            </a:avLst>
          </a:prstGeom>
          <a:solidFill>
            <a:srgbClr val="FDF8F8"/>
          </a:solidFill>
        </p:spPr>
        <p:txBody>
          <a:bodyPr wrap="square" rtlCol="0" anchor="ctr"/>
          <a:lstStyle/>
          <a:p>
            <a:pPr marL="0" indent="0">
              <a:buNone/>
            </a:pPr>
            <a:endParaRPr lang="en-US" dirty="0"/>
          </a:p>
        </p:txBody>
      </p:sp>
      <p:sp>
        <p:nvSpPr>
          <p:cNvPr id="8" name="Shape 6"/>
          <p:cNvSpPr/>
          <p:nvPr/>
        </p:nvSpPr>
        <p:spPr>
          <a:xfrm>
            <a:off x="4850000" y="1272778"/>
            <a:ext cx="3937099" cy="0"/>
          </a:xfrm>
          <a:prstGeom prst="line">
            <a:avLst/>
          </a:prstGeom>
          <a:noFill/>
          <a:ln w="38100">
            <a:solidFill>
              <a:srgbClr val="E8505B"/>
            </a:solidFill>
            <a:prstDash val="solid"/>
          </a:ln>
        </p:spPr>
      </p:sp>
      <p:sp>
        <p:nvSpPr>
          <p:cNvPr id="9" name="Text 7"/>
          <p:cNvSpPr/>
          <p:nvPr/>
        </p:nvSpPr>
        <p:spPr>
          <a:xfrm>
            <a:off x="5002400" y="1380679"/>
            <a:ext cx="3704945" cy="152400"/>
          </a:xfrm>
          <a:prstGeom prst="rect">
            <a:avLst/>
          </a:prstGeom>
          <a:noFill/>
        </p:spPr>
        <p:txBody>
          <a:bodyPr wrap="square" lIns="0" tIns="0" rIns="0" bIns="0" rtlCol="0" anchor="t"/>
          <a:lstStyle/>
          <a:p>
            <a:pPr marL="0" indent="0" algn="l">
              <a:lnSpc>
                <a:spcPts val="1285"/>
              </a:lnSpc>
              <a:spcAft>
                <a:spcPts val="400"/>
              </a:spcAft>
              <a:buNone/>
            </a:pPr>
            <a:r>
              <a:rPr lang="en-US" sz="1100" b="1" dirty="0">
                <a:solidFill>
                  <a:srgbClr val="1B2A4A"/>
                </a:solidFill>
                <a:latin typeface="Arial" panose="020B0604020202090204" pitchFamily="34" charset="0"/>
                <a:ea typeface="Arial" panose="020B0604020202090204" pitchFamily="34" charset="-122"/>
                <a:cs typeface="Arial" panose="020B0604020202090204" pitchFamily="34" charset="-120"/>
              </a:rPr>
              <a:t>Human proposals are more novel than AI</a:t>
            </a:r>
            <a:endParaRPr lang="en-US" sz="1100" dirty="0"/>
          </a:p>
        </p:txBody>
      </p:sp>
      <p:sp>
        <p:nvSpPr>
          <p:cNvPr id="10" name="Text 8"/>
          <p:cNvSpPr/>
          <p:nvPr/>
        </p:nvSpPr>
        <p:spPr>
          <a:xfrm>
            <a:off x="5002400" y="1581299"/>
            <a:ext cx="3704945" cy="57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Human mean novelty: 0.151 vs AI combined: 0.117 (Cliff’s d = −0.34, medium effect, p = 0.014). Human proposals sit further from published literature, suggesting they draw on less well-trodden ideas.</a:t>
            </a:r>
            <a:endParaRPr lang="en-US" sz="900" dirty="0"/>
          </a:p>
        </p:txBody>
      </p:sp>
      <p:sp>
        <p:nvSpPr>
          <p:cNvPr id="11" name="Text 9"/>
          <p:cNvSpPr/>
          <p:nvPr/>
        </p:nvSpPr>
        <p:spPr>
          <a:xfrm>
            <a:off x="4850000" y="2430000"/>
            <a:ext cx="3937099" cy="760000"/>
          </a:xfrm>
          <a:prstGeom prst="roundRect">
            <a:avLst>
              <a:gd name="adj" fmla="val 3645"/>
            </a:avLst>
          </a:prstGeom>
          <a:solidFill>
            <a:srgbClr val="F7F9FC"/>
          </a:solidFill>
        </p:spPr>
        <p:txBody>
          <a:bodyPr wrap="square" rtlCol="0" anchor="ctr"/>
          <a:lstStyle/>
          <a:p>
            <a:pPr marL="0" indent="0">
              <a:buNone/>
            </a:pPr>
            <a:endParaRPr lang="en-US" dirty="0"/>
          </a:p>
        </p:txBody>
      </p:sp>
      <p:sp>
        <p:nvSpPr>
          <p:cNvPr id="12" name="Shape 10"/>
          <p:cNvSpPr/>
          <p:nvPr/>
        </p:nvSpPr>
        <p:spPr>
          <a:xfrm>
            <a:off x="4850000" y="2449050"/>
            <a:ext cx="3937099" cy="0"/>
          </a:xfrm>
          <a:prstGeom prst="line">
            <a:avLst/>
          </a:prstGeom>
          <a:noFill/>
          <a:ln w="38100">
            <a:solidFill>
              <a:srgbClr val="B2B2B2"/>
            </a:solidFill>
            <a:prstDash val="solid"/>
          </a:ln>
        </p:spPr>
      </p:sp>
      <p:sp>
        <p:nvSpPr>
          <p:cNvPr id="13" name="Text 11"/>
          <p:cNvSpPr/>
          <p:nvPr/>
        </p:nvSpPr>
        <p:spPr>
          <a:xfrm>
            <a:off x="5002400" y="2556272"/>
            <a:ext cx="3704945" cy="152400"/>
          </a:xfrm>
          <a:prstGeom prst="rect">
            <a:avLst/>
          </a:prstGeom>
          <a:noFill/>
        </p:spPr>
        <p:txBody>
          <a:bodyPr wrap="square" lIns="0" tIns="0" rIns="0" bIns="0" rtlCol="0" anchor="t"/>
          <a:lstStyle/>
          <a:p>
            <a:pPr marL="0" indent="0" algn="l">
              <a:lnSpc>
                <a:spcPts val="1285"/>
              </a:lnSpc>
              <a:spcAft>
                <a:spcPts val="400"/>
              </a:spcAft>
              <a:buNone/>
            </a:pPr>
            <a:r>
              <a:rPr lang="en-US" sz="1100" b="1" dirty="0">
                <a:solidFill>
                  <a:srgbClr val="1B2A4A"/>
                </a:solidFill>
                <a:latin typeface="Arial" panose="020B0604020202090204" pitchFamily="34" charset="0"/>
                <a:ea typeface="Arial" panose="020B0604020202090204" pitchFamily="34" charset="-122"/>
                <a:cs typeface="Arial" panose="020B0604020202090204" pitchFamily="34" charset="-120"/>
              </a:rPr>
              <a:t>Claude is closest to human novelty</a:t>
            </a:r>
            <a:endParaRPr lang="en-US" sz="1100" dirty="0"/>
          </a:p>
        </p:txBody>
      </p:sp>
      <p:sp>
        <p:nvSpPr>
          <p:cNvPr id="14" name="Text 12"/>
          <p:cNvSpPr/>
          <p:nvPr/>
        </p:nvSpPr>
        <p:spPr>
          <a:xfrm>
            <a:off x="5002400" y="2730000"/>
            <a:ext cx="3704945" cy="40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Claude: d = −0.21 (small, p = 0.22, not significant). Gemini: d = −0.42 (medium, p = 0.016). GPT-5.2: d = −0.40 (medium, p = 0.020). The same model that shows greatest internal diversity also produces the most novel output.</a:t>
            </a:r>
            <a:endParaRPr lang="en-US" sz="900" dirty="0"/>
          </a:p>
        </p:txBody>
      </p:sp>
      <p:sp>
        <p:nvSpPr>
          <p:cNvPr id="16" name="Shape 14"/>
          <p:cNvSpPr/>
          <p:nvPr/>
        </p:nvSpPr>
        <p:spPr>
          <a:xfrm>
            <a:off x="4850000" y="3625595"/>
            <a:ext cx="3937099" cy="0"/>
          </a:xfrm>
          <a:prstGeom prst="line">
            <a:avLst/>
          </a:prstGeom>
          <a:noFill/>
          <a:ln w="38100">
            <a:solidFill>
              <a:srgbClr val="2E86AB"/>
            </a:solidFill>
            <a:prstDash val="solid"/>
          </a:ln>
        </p:spPr>
      </p:sp>
      <p:sp>
        <p:nvSpPr>
          <p:cNvPr id="17" name="Text 15"/>
          <p:cNvSpPr/>
          <p:nvPr/>
        </p:nvSpPr>
        <p:spPr>
          <a:xfrm>
            <a:off x="5002400" y="3732817"/>
            <a:ext cx="3704945" cy="152400"/>
          </a:xfrm>
          <a:prstGeom prst="rect">
            <a:avLst/>
          </a:prstGeom>
          <a:noFill/>
        </p:spPr>
        <p:txBody>
          <a:bodyPr wrap="square" lIns="0" tIns="0" rIns="0" bIns="0" rtlCol="0" anchor="t"/>
          <a:lstStyle/>
          <a:p>
            <a:pPr marL="0" indent="0" algn="l">
              <a:lnSpc>
                <a:spcPts val="1285"/>
              </a:lnSpc>
              <a:spcAft>
                <a:spcPts val="400"/>
              </a:spcAft>
              <a:buNone/>
            </a:pPr>
            <a:r>
              <a:rPr lang="en-US" sz="1100" b="1" dirty="0">
                <a:solidFill>
                  <a:srgbClr val="1B2A4A"/>
                </a:solidFill>
                <a:latin typeface="Arial" panose="020B0604020202090204" pitchFamily="34" charset="0"/>
                <a:ea typeface="Arial" panose="020B0604020202090204" pitchFamily="34" charset="-122"/>
                <a:cs typeface="Arial" panose="020B0604020202090204" pitchFamily="34" charset="-120"/>
              </a:rPr>
              <a:t>Most vs. least novel proposals</a:t>
            </a:r>
            <a:endParaRPr lang="en-US" sz="1100" dirty="0"/>
          </a:p>
        </p:txBody>
      </p:sp>
      <p:sp>
        <p:nvSpPr>
          <p:cNvPr id="18" name="Text 16"/>
          <p:cNvSpPr/>
          <p:nvPr/>
        </p:nvSpPr>
        <p:spPr>
          <a:xfrm>
            <a:off x="5002530" y="3906520"/>
            <a:ext cx="3705225" cy="75946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Most novel human: “Cytokinetic Bottlenecks of Heat Waves” (0.260). Least novel AI: a Gemini antibiotic resistance proposal (0.059), nearly overlapping published work. AI’s lower novelty may reflect reliance on training-data-dominant framings.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Novelty in Embedding Space</a:t>
            </a:r>
            <a:endParaRPr lang="en-US" sz="2000" dirty="0"/>
          </a:p>
        </p:txBody>
      </p:sp>
      <p:sp>
        <p:nvSpPr>
          <p:cNvPr id="4" name="Text 2"/>
          <p:cNvSpPr/>
          <p:nvPr/>
        </p:nvSpPr>
        <p:spPr>
          <a:xfrm>
            <a:off x="507950" y="853827"/>
            <a:ext cx="8290661"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Proposals (colored) projected alongside 350 PubMed articles (gray) via UMAP</a:t>
            </a:r>
            <a:endParaRPr lang="en-US" sz="1200" dirty="0"/>
          </a:p>
        </p:txBody>
      </p:sp>
      <p:sp>
        <p:nvSpPr>
          <p:cNvPr id="5" name="Text 3"/>
          <p:cNvSpPr/>
          <p:nvPr/>
        </p:nvSpPr>
        <p:spPr>
          <a:xfrm>
            <a:off x="507950" y="1101477"/>
            <a:ext cx="444401" cy="25301"/>
          </a:xfrm>
          <a:prstGeom prst="rect">
            <a:avLst/>
          </a:prstGeom>
          <a:solidFill>
            <a:srgbClr val="E8505B"/>
          </a:solidFill>
        </p:spPr>
        <p:txBody>
          <a:bodyPr wrap="square" rtlCol="0" anchor="ctr"/>
          <a:lstStyle/>
          <a:p>
            <a:pPr marL="0" indent="0">
              <a:buNone/>
            </a:pPr>
            <a:endParaRPr lang="en-US" dirty="0"/>
          </a:p>
        </p:txBody>
      </p:sp>
      <p:sp>
        <p:nvSpPr>
          <p:cNvPr id="7" name="Text 5"/>
          <p:cNvSpPr/>
          <p:nvPr/>
        </p:nvSpPr>
        <p:spPr>
          <a:xfrm>
            <a:off x="4850000" y="1253728"/>
            <a:ext cx="3937099" cy="200000"/>
          </a:xfrm>
          <a:prstGeom prst="rect">
            <a:avLst/>
          </a:prstGeom>
          <a:noFill/>
        </p:spPr>
        <p:txBody>
          <a:bodyPr wrap="square" lIns="0" tIns="0" rIns="0" bIns="0" rtlCol="0" anchor="t"/>
          <a:lstStyle/>
          <a:p>
            <a:pPr marL="0" indent="0" algn="l">
              <a:lnSpc>
                <a:spcPts val="1600"/>
              </a:lnSpc>
              <a:spcAft>
                <a:spcPts val="4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Key observations</a:t>
            </a:r>
            <a:endParaRPr lang="en-US" sz="1200" dirty="0"/>
          </a:p>
        </p:txBody>
      </p:sp>
      <p:sp>
        <p:nvSpPr>
          <p:cNvPr id="8" name="Text 6"/>
          <p:cNvSpPr/>
          <p:nvPr/>
        </p:nvSpPr>
        <p:spPr>
          <a:xfrm>
            <a:off x="4850000" y="1530000"/>
            <a:ext cx="3937099" cy="42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Human proposals (red markers) sit at the periphery of the literature cluster, occupying regions where fewer published articles exist. This is consistent with the novelty scores: humans venture further from the established literature.</a:t>
            </a:r>
            <a:endParaRPr lang="en-US" sz="900" dirty="0"/>
          </a:p>
        </p:txBody>
      </p:sp>
      <p:sp>
        <p:nvSpPr>
          <p:cNvPr id="9" name="Text 7"/>
          <p:cNvSpPr/>
          <p:nvPr/>
        </p:nvSpPr>
        <p:spPr>
          <a:xfrm>
            <a:off x="4855080" y="2152235"/>
            <a:ext cx="3937099" cy="42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AI proposals (colored markers) tend to concentrate closer to dense literature regions, particularly GPT-5.2 and Gemini. Claude proposals show more scatter, with some overlapping human territory, consistent with its non-significant novelty difference.</a:t>
            </a:r>
            <a:endParaRPr lang="en-US" sz="900" dirty="0"/>
          </a:p>
        </p:txBody>
      </p:sp>
      <p:sp>
        <p:nvSpPr>
          <p:cNvPr id="11" name="Text 9"/>
          <p:cNvSpPr/>
          <p:nvPr/>
        </p:nvSpPr>
        <p:spPr>
          <a:xfrm>
            <a:off x="4850000" y="3777280"/>
            <a:ext cx="3704945" cy="38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E8505B"/>
                </a:solidFill>
                <a:latin typeface="Arial" panose="020B0604020202090204" pitchFamily="34" charset="0"/>
                <a:ea typeface="Arial" panose="020B0604020202090204" pitchFamily="34" charset="-122"/>
                <a:cs typeface="Arial" panose="020B0604020202090204" pitchFamily="34" charset="-120"/>
              </a:rPr>
              <a:t>Linking diversity and novelty: GPT-5.2’s tight internal cluster maps onto well-published territory. </a:t>
            </a:r>
            <a:endParaRPr lang="en-US" sz="900" dirty="0">
              <a:solidFill>
                <a:srgbClr val="E8505B"/>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285"/>
              </a:lnSpc>
              <a:spcAft>
                <a:spcPts val="400"/>
              </a:spcAft>
              <a:buNone/>
            </a:pPr>
            <a:r>
              <a:rPr lang="en-US" sz="900" dirty="0">
                <a:solidFill>
                  <a:srgbClr val="E8505B"/>
                </a:solidFill>
                <a:latin typeface="Arial" panose="020B0604020202090204" pitchFamily="34" charset="0"/>
                <a:ea typeface="Arial" panose="020B0604020202090204" pitchFamily="34" charset="-122"/>
                <a:cs typeface="Arial" panose="020B0604020202090204" pitchFamily="34" charset="-120"/>
              </a:rPr>
              <a:t>High internal similarity + low novelty = AI re-deriving the same ideas from training data. </a:t>
            </a:r>
            <a:endParaRPr lang="en-US" sz="900" dirty="0">
              <a:solidFill>
                <a:srgbClr val="E8505B"/>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285"/>
              </a:lnSpc>
              <a:spcAft>
                <a:spcPts val="400"/>
              </a:spcAft>
              <a:buNone/>
            </a:pPr>
            <a:r>
              <a:rPr lang="en-US" sz="900" dirty="0">
                <a:solidFill>
                  <a:srgbClr val="E8505B"/>
                </a:solidFill>
                <a:latin typeface="Arial" panose="020B0604020202090204" pitchFamily="34" charset="0"/>
                <a:ea typeface="Arial" panose="020B0604020202090204" pitchFamily="34" charset="-122"/>
                <a:cs typeface="Arial" panose="020B0604020202090204" pitchFamily="34" charset="-120"/>
              </a:rPr>
              <a:t>Claude’s spread extends into less-charted space, mirroring its higher novelty scores.</a:t>
            </a:r>
            <a:endParaRPr lang="en-US" sz="900" dirty="0"/>
          </a:p>
        </p:txBody>
      </p:sp>
      <p:sp>
        <p:nvSpPr>
          <p:cNvPr id="12" name="Text 10"/>
          <p:cNvSpPr/>
          <p:nvPr/>
        </p:nvSpPr>
        <p:spPr>
          <a:xfrm>
            <a:off x="4850000" y="2983935"/>
            <a:ext cx="3937099" cy="550000"/>
          </a:xfrm>
          <a:prstGeom prst="rect">
            <a:avLst/>
          </a:prstGeom>
          <a:noFill/>
        </p:spPr>
        <p:txBody>
          <a:bodyPr wrap="square" lIns="0" tIns="0" rIns="0" bIns="0" rtlCol="0" anchor="t"/>
          <a:lstStyle/>
          <a:p>
            <a:pPr marL="0" indent="0" algn="l">
              <a:lnSpc>
                <a:spcPts val="128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Interpretation caveat: UMAP projections can distort distances. The quantitative novelty scores (slide 8) are the primary evidence; this visualization serves as a qualitative consistency check. Proposals near literature ≠ low quality, and distance from literature could also indicate incoherence.</a:t>
            </a:r>
            <a:endParaRPr lang="en-US" sz="850" dirty="0"/>
          </a:p>
        </p:txBody>
      </p:sp>
      <p:pic>
        <p:nvPicPr>
          <p:cNvPr id="13" name="Picture 12" descr="novelty_embedding_space"/>
          <p:cNvPicPr>
            <a:picLocks noChangeAspect="1"/>
          </p:cNvPicPr>
          <p:nvPr/>
        </p:nvPicPr>
        <p:blipFill>
          <a:blip r:embed="rId1"/>
          <a:stretch>
            <a:fillRect/>
          </a:stretch>
        </p:blipFill>
        <p:spPr>
          <a:xfrm>
            <a:off x="131445" y="1208405"/>
            <a:ext cx="4661535" cy="34886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Thematic Analysis: Topic Distribution</a:t>
            </a:r>
            <a:endParaRPr lang="en-US" sz="2000" dirty="0"/>
          </a:p>
        </p:txBody>
      </p:sp>
      <p:sp>
        <p:nvSpPr>
          <p:cNvPr id="4" name="Text 2"/>
          <p:cNvSpPr/>
          <p:nvPr/>
        </p:nvSpPr>
        <p:spPr>
          <a:xfrm>
            <a:off x="507950" y="739527"/>
            <a:ext cx="8290661"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LDA topic modeling (k=5, strong priors) with Fisher’s exact tests and FDR correction</a:t>
            </a:r>
            <a:endParaRPr lang="en-US" sz="1200" dirty="0"/>
          </a:p>
        </p:txBody>
      </p:sp>
      <p:sp>
        <p:nvSpPr>
          <p:cNvPr id="5" name="Text 3"/>
          <p:cNvSpPr/>
          <p:nvPr/>
        </p:nvSpPr>
        <p:spPr>
          <a:xfrm>
            <a:off x="507950" y="987177"/>
            <a:ext cx="444401" cy="25301"/>
          </a:xfrm>
          <a:prstGeom prst="rect">
            <a:avLst/>
          </a:prstGeom>
          <a:solidFill>
            <a:srgbClr val="E8505B"/>
          </a:solidFill>
        </p:spPr>
        <p:txBody>
          <a:bodyPr wrap="square" rtlCol="0" anchor="ctr"/>
          <a:lstStyle/>
          <a:p>
            <a:pPr marL="0" indent="0">
              <a:buNone/>
            </a:pPr>
            <a:endParaRPr lang="en-US" dirty="0"/>
          </a:p>
        </p:txBody>
      </p:sp>
      <p:sp>
        <p:nvSpPr>
          <p:cNvPr id="7" name="Text 5"/>
          <p:cNvSpPr/>
          <p:nvPr/>
        </p:nvSpPr>
        <p:spPr>
          <a:xfrm>
            <a:off x="4850000" y="1253728"/>
            <a:ext cx="3937099" cy="900000"/>
          </a:xfrm>
          <a:prstGeom prst="roundRect">
            <a:avLst>
              <a:gd name="adj" fmla="val 3645"/>
            </a:avLst>
          </a:prstGeom>
          <a:solidFill>
            <a:srgbClr val="FDF8F8"/>
          </a:solidFill>
        </p:spPr>
        <p:txBody>
          <a:bodyPr wrap="square" rtlCol="0" anchor="ctr"/>
          <a:lstStyle/>
          <a:p>
            <a:pPr marL="0" indent="0">
              <a:buNone/>
            </a:pPr>
            <a:endParaRPr lang="en-US" dirty="0"/>
          </a:p>
        </p:txBody>
      </p:sp>
      <p:sp>
        <p:nvSpPr>
          <p:cNvPr id="8" name="Shape 6"/>
          <p:cNvSpPr/>
          <p:nvPr/>
        </p:nvSpPr>
        <p:spPr>
          <a:xfrm>
            <a:off x="549910" y="3416935"/>
            <a:ext cx="3362325" cy="635"/>
          </a:xfrm>
          <a:prstGeom prst="line">
            <a:avLst/>
          </a:prstGeom>
          <a:noFill/>
          <a:ln w="38100">
            <a:solidFill>
              <a:srgbClr val="E8505B"/>
            </a:solidFill>
            <a:prstDash val="solid"/>
          </a:ln>
        </p:spPr>
      </p:sp>
      <p:sp>
        <p:nvSpPr>
          <p:cNvPr id="9" name="Text 7"/>
          <p:cNvSpPr/>
          <p:nvPr/>
        </p:nvSpPr>
        <p:spPr>
          <a:xfrm>
            <a:off x="702310" y="3494405"/>
            <a:ext cx="3164840" cy="152400"/>
          </a:xfrm>
          <a:prstGeom prst="rect">
            <a:avLst/>
          </a:prstGeom>
          <a:noFill/>
        </p:spPr>
        <p:txBody>
          <a:bodyPr wrap="square" lIns="0" tIns="0" rIns="0" bIns="0" rtlCol="0" anchor="t"/>
          <a:lstStyle/>
          <a:p>
            <a:pPr marL="0" indent="0" algn="l">
              <a:lnSpc>
                <a:spcPts val="1285"/>
              </a:lnSpc>
              <a:spcAft>
                <a:spcPts val="400"/>
              </a:spcAft>
              <a:buNone/>
            </a:pPr>
            <a:r>
              <a:rPr lang="en-US" sz="1100" b="1" dirty="0">
                <a:solidFill>
                  <a:srgbClr val="1B2A4A"/>
                </a:solidFill>
                <a:latin typeface="Arial" panose="020B0604020202090204" pitchFamily="34" charset="0"/>
                <a:ea typeface="Arial" panose="020B0604020202090204" pitchFamily="34" charset="-122"/>
                <a:cs typeface="Arial" panose="020B0604020202090204" pitchFamily="34" charset="-120"/>
              </a:rPr>
              <a:t>Complete thematic separation</a:t>
            </a:r>
            <a:endParaRPr lang="en-US" sz="1100" dirty="0"/>
          </a:p>
        </p:txBody>
      </p:sp>
      <p:sp>
        <p:nvSpPr>
          <p:cNvPr id="10" name="Text 8"/>
          <p:cNvSpPr/>
          <p:nvPr/>
        </p:nvSpPr>
        <p:spPr>
          <a:xfrm>
            <a:off x="702310" y="3813810"/>
            <a:ext cx="3164840" cy="57023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All 23 human proposals map to a single dominant topic (Topic 3: evolutionary/species-level biology). All 69 AI proposals distribute across the other 4 topics (mechanical/structural, transport/diffusion, imaging/perturbation, splicing/allosteric). Overall chi-square permutation test: p &lt; 0.0001.</a:t>
            </a:r>
            <a:endParaRPr lang="en-US" sz="900" dirty="0"/>
          </a:p>
        </p:txBody>
      </p:sp>
      <p:sp>
        <p:nvSpPr>
          <p:cNvPr id="12" name="Shape 10"/>
          <p:cNvSpPr/>
          <p:nvPr/>
        </p:nvSpPr>
        <p:spPr>
          <a:xfrm>
            <a:off x="4366895" y="3417570"/>
            <a:ext cx="3362325" cy="635"/>
          </a:xfrm>
          <a:prstGeom prst="line">
            <a:avLst/>
          </a:prstGeom>
          <a:noFill/>
          <a:ln w="38100">
            <a:solidFill>
              <a:srgbClr val="2E86AB"/>
            </a:solidFill>
            <a:prstDash val="solid"/>
          </a:ln>
        </p:spPr>
      </p:sp>
      <p:sp>
        <p:nvSpPr>
          <p:cNvPr id="13" name="Text 11"/>
          <p:cNvSpPr/>
          <p:nvPr/>
        </p:nvSpPr>
        <p:spPr>
          <a:xfrm>
            <a:off x="4519295" y="3498215"/>
            <a:ext cx="3164840"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Per-topic Fisher’s exact tests (FDR-corrected)</a:t>
            </a:r>
            <a:endParaRPr lang="en-US" sz="1050" dirty="0"/>
          </a:p>
        </p:txBody>
      </p:sp>
      <p:sp>
        <p:nvSpPr>
          <p:cNvPr id="14" name="Text 12"/>
          <p:cNvSpPr/>
          <p:nvPr/>
        </p:nvSpPr>
        <p:spPr>
          <a:xfrm>
            <a:off x="4519295" y="3813810"/>
            <a:ext cx="3164840" cy="37973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Topic 3 (human-exclusive): p &lt; 0.0001. Topics 1, 4, 5 (AI-overrepresented): p &lt; 0.05. Topic 2 (AI-leaning): p = 0.061 (marginal). Subsample validation (n=23 each, 1000 iter): Topics 1 and 3 robust (&gt;98%); Topic 2 weak (18.5%).</a:t>
            </a:r>
            <a:endParaRPr lang="en-US" sz="900" dirty="0"/>
          </a:p>
        </p:txBody>
      </p:sp>
      <p:sp>
        <p:nvSpPr>
          <p:cNvPr id="16" name="Text 14"/>
          <p:cNvSpPr/>
          <p:nvPr/>
        </p:nvSpPr>
        <p:spPr>
          <a:xfrm>
            <a:off x="6383655" y="1427480"/>
            <a:ext cx="2414905"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E8505B"/>
                </a:solidFill>
                <a:latin typeface="Arial" panose="020B0604020202090204" pitchFamily="34" charset="0"/>
                <a:ea typeface="Arial" panose="020B0604020202090204" pitchFamily="34" charset="-122"/>
                <a:cs typeface="Arial" panose="020B0604020202090204" pitchFamily="34" charset="-120"/>
              </a:rPr>
              <a:t>Critical caveat</a:t>
            </a:r>
            <a:endParaRPr lang="en-US" sz="1050" dirty="0"/>
          </a:p>
        </p:txBody>
      </p:sp>
      <p:sp>
        <p:nvSpPr>
          <p:cNvPr id="17" name="Text 15"/>
          <p:cNvSpPr/>
          <p:nvPr/>
        </p:nvSpPr>
        <p:spPr>
          <a:xfrm>
            <a:off x="6383655" y="1597660"/>
            <a:ext cx="2414905" cy="309880"/>
          </a:xfrm>
          <a:prstGeom prst="rect">
            <a:avLst/>
          </a:prstGeom>
          <a:noFill/>
        </p:spPr>
        <p:txBody>
          <a:bodyPr wrap="square" lIns="0" tIns="0" rIns="0" bIns="0" rtlCol="0" anchor="t"/>
          <a:lstStyle/>
          <a:p>
            <a:pPr marL="0" indent="0" algn="l">
              <a:lnSpc>
                <a:spcPts val="1285"/>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Perfect separation is a red flag: LDA may be capturing systematic stylistic or templating artifacts rather than genuine scientific themes. Human entropy = 0 (all in one topic) is suspicious. These results are exploratory and require validation with expert coding.</a:t>
            </a:r>
            <a:endParaRPr lang="en-US" sz="850" dirty="0"/>
          </a:p>
        </p:txBody>
      </p:sp>
      <p:pic>
        <p:nvPicPr>
          <p:cNvPr id="18" name="Picture 17" descr="topic_distribution_comparison"/>
          <p:cNvPicPr>
            <a:picLocks noChangeAspect="1"/>
          </p:cNvPicPr>
          <p:nvPr/>
        </p:nvPicPr>
        <p:blipFill>
          <a:blip r:embed="rId1"/>
          <a:stretch>
            <a:fillRect/>
          </a:stretch>
        </p:blipFill>
        <p:spPr>
          <a:xfrm>
            <a:off x="445770" y="1160780"/>
            <a:ext cx="5633085" cy="20866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Cluster Segregation Analysis</a:t>
            </a:r>
            <a:endParaRPr lang="en-US" sz="2000" dirty="0"/>
          </a:p>
        </p:txBody>
      </p:sp>
      <p:sp>
        <p:nvSpPr>
          <p:cNvPr id="4" name="Text 2"/>
          <p:cNvSpPr/>
          <p:nvPr/>
        </p:nvSpPr>
        <p:spPr>
          <a:xfrm>
            <a:off x="475565" y="754767"/>
            <a:ext cx="8290661"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Gaussian Mixture Model clustering (k=3, selected by BIC) with segregation metrics</a:t>
            </a:r>
            <a:endParaRPr lang="en-US" sz="1200" dirty="0"/>
          </a:p>
        </p:txBody>
      </p:sp>
      <p:sp>
        <p:nvSpPr>
          <p:cNvPr id="5" name="Text 3"/>
          <p:cNvSpPr/>
          <p:nvPr/>
        </p:nvSpPr>
        <p:spPr>
          <a:xfrm>
            <a:off x="475565" y="1002417"/>
            <a:ext cx="444401" cy="25301"/>
          </a:xfrm>
          <a:prstGeom prst="rect">
            <a:avLst/>
          </a:prstGeom>
          <a:solidFill>
            <a:srgbClr val="E8505B"/>
          </a:solidFill>
        </p:spPr>
        <p:txBody>
          <a:bodyPr wrap="square" rtlCol="0" anchor="ctr"/>
          <a:lstStyle/>
          <a:p>
            <a:pPr marL="0" indent="0">
              <a:buNone/>
            </a:pPr>
            <a:endParaRPr lang="en-US" dirty="0"/>
          </a:p>
        </p:txBody>
      </p:sp>
      <p:sp>
        <p:nvSpPr>
          <p:cNvPr id="7" name="Text 5"/>
          <p:cNvSpPr/>
          <p:nvPr/>
        </p:nvSpPr>
        <p:spPr>
          <a:xfrm>
            <a:off x="4850000" y="1253728"/>
            <a:ext cx="3937099" cy="850000"/>
          </a:xfrm>
          <a:prstGeom prst="roundRect">
            <a:avLst>
              <a:gd name="adj" fmla="val 3645"/>
            </a:avLst>
          </a:prstGeom>
          <a:solidFill>
            <a:srgbClr val="F7F9FC"/>
          </a:solidFill>
        </p:spPr>
        <p:txBody>
          <a:bodyPr wrap="square" rtlCol="0" anchor="ctr"/>
          <a:lstStyle/>
          <a:p>
            <a:pPr marL="0" indent="0">
              <a:buNone/>
            </a:pPr>
            <a:endParaRPr lang="en-US" dirty="0"/>
          </a:p>
        </p:txBody>
      </p:sp>
      <p:sp>
        <p:nvSpPr>
          <p:cNvPr id="8" name="Shape 6"/>
          <p:cNvSpPr/>
          <p:nvPr/>
        </p:nvSpPr>
        <p:spPr>
          <a:xfrm>
            <a:off x="4850000" y="1272778"/>
            <a:ext cx="3937099" cy="0"/>
          </a:xfrm>
          <a:prstGeom prst="line">
            <a:avLst/>
          </a:prstGeom>
          <a:noFill/>
          <a:ln w="38100">
            <a:solidFill>
              <a:srgbClr val="2E86AB"/>
            </a:solidFill>
            <a:prstDash val="solid"/>
          </a:ln>
        </p:spPr>
      </p:sp>
      <p:sp>
        <p:nvSpPr>
          <p:cNvPr id="9" name="Text 7"/>
          <p:cNvSpPr/>
          <p:nvPr/>
        </p:nvSpPr>
        <p:spPr>
          <a:xfrm>
            <a:off x="5002400" y="1350000"/>
            <a:ext cx="3704945"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Cluster composition reveals asymmetric segregation</a:t>
            </a:r>
            <a:endParaRPr lang="en-US" sz="1050" dirty="0"/>
          </a:p>
        </p:txBody>
      </p:sp>
      <p:sp>
        <p:nvSpPr>
          <p:cNvPr id="10" name="Text 8"/>
          <p:cNvSpPr/>
          <p:nvPr/>
        </p:nvSpPr>
        <p:spPr>
          <a:xfrm>
            <a:off x="5002400" y="1530000"/>
            <a:ext cx="3704945" cy="50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Cluster 0 (n=27): 100% AI. Cluster 1 (n=7): 100% AI. Cluster 2 (n=58): 40% human, 60% AI. Two clusters are entirely AI-dominated. All 23 human proposals land in a single mixed cluster, while AI proposals spread across all three, suggesting </a:t>
            </a:r>
            <a:r>
              <a:rPr lang="en-US" sz="900" u="sng" dirty="0">
                <a:solidFill>
                  <a:srgbClr val="2C3E50"/>
                </a:solidFill>
                <a:latin typeface="Arial" panose="020B0604020202090204" pitchFamily="34" charset="0"/>
                <a:ea typeface="Arial" panose="020B0604020202090204" pitchFamily="34" charset="-122"/>
                <a:cs typeface="Arial" panose="020B0604020202090204" pitchFamily="34" charset="0"/>
              </a:rPr>
              <a:t>AI occupies distinct conceptual regions that humans do not enter.</a:t>
            </a:r>
            <a:endParaRPr lang="en-US" sz="900" u="sng" dirty="0">
              <a:latin typeface="Arial" panose="020B0604020202090204" pitchFamily="34" charset="0"/>
              <a:cs typeface="Arial" panose="020B0604020202090204" pitchFamily="34" charset="0"/>
            </a:endParaRPr>
          </a:p>
        </p:txBody>
      </p:sp>
      <p:sp>
        <p:nvSpPr>
          <p:cNvPr id="12" name="Shape 10"/>
          <p:cNvSpPr/>
          <p:nvPr/>
        </p:nvSpPr>
        <p:spPr>
          <a:xfrm>
            <a:off x="4829045" y="2430660"/>
            <a:ext cx="3937099" cy="0"/>
          </a:xfrm>
          <a:prstGeom prst="line">
            <a:avLst/>
          </a:prstGeom>
          <a:noFill/>
          <a:ln w="38100">
            <a:solidFill>
              <a:srgbClr val="E8505B"/>
            </a:solidFill>
            <a:prstDash val="solid"/>
          </a:ln>
        </p:spPr>
      </p:sp>
      <p:sp>
        <p:nvSpPr>
          <p:cNvPr id="13" name="Text 11"/>
          <p:cNvSpPr/>
          <p:nvPr/>
        </p:nvSpPr>
        <p:spPr>
          <a:xfrm>
            <a:off x="4978905" y="2537645"/>
            <a:ext cx="3704945"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Segregation metrics</a:t>
            </a:r>
            <a:endParaRPr lang="en-US" sz="1050" dirty="0"/>
          </a:p>
        </p:txBody>
      </p:sp>
      <p:sp>
        <p:nvSpPr>
          <p:cNvPr id="14" name="Text 12"/>
          <p:cNvSpPr/>
          <p:nvPr/>
        </p:nvSpPr>
        <p:spPr>
          <a:xfrm>
            <a:off x="4978905" y="2717645"/>
            <a:ext cx="3704945" cy="38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NMI = 0.197 (p &lt; 0.0001): clusters predict human/AI source better than chance. ARI = −0.035 (p = 0.86): no agreement beyond chance (expected given unbalanced groups). Between/within distance ratio = 1.085 (p = 0.004): </a:t>
            </a:r>
            <a:r>
              <a:rPr lang="en-US" sz="900" u="sng" dirty="0">
                <a:solidFill>
                  <a:srgbClr val="2C3E50"/>
                </a:solidFill>
                <a:latin typeface="Arial" panose="020B0604020202090204" pitchFamily="34" charset="0"/>
                <a:ea typeface="Arial" panose="020B0604020202090204" pitchFamily="34" charset="-122"/>
                <a:cs typeface="Arial" panose="020B0604020202090204" pitchFamily="34" charset="-120"/>
              </a:rPr>
              <a:t>human and AI proposals are measurably more distant from each other than from their own group</a:t>
            </a: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a:t>
            </a:r>
            <a:endParaRPr lang="en-US" sz="900" dirty="0"/>
          </a:p>
        </p:txBody>
      </p:sp>
      <p:sp>
        <p:nvSpPr>
          <p:cNvPr id="16" name="Shape 14"/>
          <p:cNvSpPr/>
          <p:nvPr/>
        </p:nvSpPr>
        <p:spPr>
          <a:xfrm>
            <a:off x="4849365" y="3636740"/>
            <a:ext cx="3937099" cy="0"/>
          </a:xfrm>
          <a:prstGeom prst="line">
            <a:avLst/>
          </a:prstGeom>
          <a:noFill/>
          <a:ln w="38100">
            <a:solidFill>
              <a:srgbClr val="16A085"/>
            </a:solidFill>
            <a:prstDash val="solid"/>
          </a:ln>
        </p:spPr>
      </p:sp>
      <p:sp>
        <p:nvSpPr>
          <p:cNvPr id="17" name="Text 15"/>
          <p:cNvSpPr/>
          <p:nvPr/>
        </p:nvSpPr>
        <p:spPr>
          <a:xfrm>
            <a:off x="4979540" y="3750710"/>
            <a:ext cx="3704945"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Connecting the evidence</a:t>
            </a:r>
            <a:endParaRPr lang="en-US" sz="1050" dirty="0"/>
          </a:p>
        </p:txBody>
      </p:sp>
      <p:sp>
        <p:nvSpPr>
          <p:cNvPr id="18" name="Text 16"/>
          <p:cNvSpPr/>
          <p:nvPr/>
        </p:nvSpPr>
        <p:spPr>
          <a:xfrm>
            <a:off x="4979540" y="3930710"/>
            <a:ext cx="3704945" cy="33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Cluster segregation corroborates the nearest-neighbor finding (100% AI-AI nearest neighbors) and the topic separation. Across three independent methods — NN analysis, LDA topic modeling, and GMM clustering — humans and AI occupy different semantic territories.</a:t>
            </a:r>
            <a:endParaRPr lang="en-US" sz="900" dirty="0"/>
          </a:p>
        </p:txBody>
      </p:sp>
      <p:pic>
        <p:nvPicPr>
          <p:cNvPr id="19" name="Picture 18" descr="cluster_analysis_visualization"/>
          <p:cNvPicPr>
            <a:picLocks noChangeAspect="1"/>
          </p:cNvPicPr>
          <p:nvPr/>
        </p:nvPicPr>
        <p:blipFill>
          <a:blip r:embed="rId1"/>
          <a:stretch>
            <a:fillRect/>
          </a:stretch>
        </p:blipFill>
        <p:spPr>
          <a:xfrm>
            <a:off x="276225" y="1126490"/>
            <a:ext cx="4333240" cy="38512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Integrated Findings Across All Analyses</a:t>
            </a:r>
            <a:endParaRPr lang="en-US" sz="2000" dirty="0"/>
          </a:p>
        </p:txBody>
      </p:sp>
      <p:sp>
        <p:nvSpPr>
          <p:cNvPr id="4" name="Text 2"/>
          <p:cNvSpPr/>
          <p:nvPr/>
        </p:nvSpPr>
        <p:spPr>
          <a:xfrm>
            <a:off x="507950" y="853827"/>
            <a:ext cx="8290661"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Convergent evidence from diversity, novelty, thematic, and cluster analyses</a:t>
            </a:r>
            <a:endParaRPr lang="en-US" sz="1200" dirty="0"/>
          </a:p>
        </p:txBody>
      </p:sp>
      <p:sp>
        <p:nvSpPr>
          <p:cNvPr id="5" name="Text 3"/>
          <p:cNvSpPr/>
          <p:nvPr/>
        </p:nvSpPr>
        <p:spPr>
          <a:xfrm>
            <a:off x="507950" y="1101477"/>
            <a:ext cx="444401" cy="25301"/>
          </a:xfrm>
          <a:prstGeom prst="rect">
            <a:avLst/>
          </a:prstGeom>
          <a:solidFill>
            <a:srgbClr val="E8505B"/>
          </a:solidFill>
        </p:spPr>
        <p:txBody>
          <a:bodyPr wrap="square" rtlCol="0" anchor="ctr"/>
          <a:lstStyle/>
          <a:p>
            <a:pPr marL="0" indent="0">
              <a:buNone/>
            </a:pPr>
            <a:endParaRPr lang="en-US" dirty="0"/>
          </a:p>
        </p:txBody>
      </p:sp>
      <p:sp>
        <p:nvSpPr>
          <p:cNvPr id="6" name="Text 4"/>
          <p:cNvSpPr/>
          <p:nvPr/>
        </p:nvSpPr>
        <p:spPr>
          <a:xfrm>
            <a:off x="507950" y="1253728"/>
            <a:ext cx="3937099" cy="1120000"/>
          </a:xfrm>
          <a:prstGeom prst="roundRect">
            <a:avLst>
              <a:gd name="adj" fmla="val 3645"/>
            </a:avLst>
          </a:prstGeom>
          <a:solidFill>
            <a:srgbClr val="FDF8F8"/>
          </a:solidFill>
        </p:spPr>
        <p:txBody>
          <a:bodyPr wrap="square" rtlCol="0" anchor="ctr"/>
          <a:lstStyle/>
          <a:p>
            <a:pPr marL="0" indent="0">
              <a:buNone/>
            </a:pPr>
            <a:endParaRPr lang="en-US" dirty="0"/>
          </a:p>
        </p:txBody>
      </p:sp>
      <p:sp>
        <p:nvSpPr>
          <p:cNvPr id="7" name="Shape 5"/>
          <p:cNvSpPr/>
          <p:nvPr/>
        </p:nvSpPr>
        <p:spPr>
          <a:xfrm>
            <a:off x="507950" y="1272778"/>
            <a:ext cx="3937099" cy="0"/>
          </a:xfrm>
          <a:prstGeom prst="line">
            <a:avLst/>
          </a:prstGeom>
          <a:noFill/>
          <a:ln w="38100">
            <a:solidFill>
              <a:srgbClr val="E8505B"/>
            </a:solidFill>
            <a:prstDash val="solid"/>
          </a:ln>
        </p:spPr>
      </p:sp>
      <p:sp>
        <p:nvSpPr>
          <p:cNvPr id="8" name="Text 6"/>
          <p:cNvSpPr/>
          <p:nvPr/>
        </p:nvSpPr>
        <p:spPr>
          <a:xfrm>
            <a:off x="660350" y="1353728"/>
            <a:ext cx="3700000"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Diversity ranking is consistent</a:t>
            </a:r>
            <a:endParaRPr lang="en-US" sz="1050" dirty="0"/>
          </a:p>
        </p:txBody>
      </p:sp>
      <p:sp>
        <p:nvSpPr>
          <p:cNvPr id="9" name="Text 7"/>
          <p:cNvSpPr/>
          <p:nvPr/>
        </p:nvSpPr>
        <p:spPr>
          <a:xfrm>
            <a:off x="660350" y="1533728"/>
            <a:ext cx="3700000" cy="78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Claude &gt; Human &gt; Gemini &gt; GPT-5.2, confirmed by pairwise, centroid, and NN analyses. All three metrics agree: same ranking, consistent effect sizes, robust under permutation.</a:t>
            </a:r>
            <a:endParaRPr lang="en-US" sz="900" dirty="0"/>
          </a:p>
        </p:txBody>
      </p:sp>
      <p:sp>
        <p:nvSpPr>
          <p:cNvPr id="10" name="Text 8"/>
          <p:cNvSpPr/>
          <p:nvPr/>
        </p:nvSpPr>
        <p:spPr>
          <a:xfrm>
            <a:off x="4698950" y="1253728"/>
            <a:ext cx="3937099" cy="1120000"/>
          </a:xfrm>
          <a:prstGeom prst="roundRect">
            <a:avLst>
              <a:gd name="adj" fmla="val 3645"/>
            </a:avLst>
          </a:prstGeom>
          <a:solidFill>
            <a:srgbClr val="F7F9FC"/>
          </a:solidFill>
        </p:spPr>
        <p:txBody>
          <a:bodyPr wrap="square" rtlCol="0" anchor="ctr"/>
          <a:lstStyle/>
          <a:p>
            <a:pPr marL="0" indent="0">
              <a:buNone/>
            </a:pPr>
            <a:endParaRPr lang="en-US" dirty="0"/>
          </a:p>
        </p:txBody>
      </p:sp>
      <p:sp>
        <p:nvSpPr>
          <p:cNvPr id="11" name="Shape 9"/>
          <p:cNvSpPr/>
          <p:nvPr/>
        </p:nvSpPr>
        <p:spPr>
          <a:xfrm>
            <a:off x="4698950" y="1272778"/>
            <a:ext cx="3937099" cy="0"/>
          </a:xfrm>
          <a:prstGeom prst="line">
            <a:avLst/>
          </a:prstGeom>
          <a:noFill/>
          <a:ln w="38100">
            <a:solidFill>
              <a:srgbClr val="2E86AB"/>
            </a:solidFill>
            <a:prstDash val="solid"/>
          </a:ln>
        </p:spPr>
      </p:sp>
      <p:sp>
        <p:nvSpPr>
          <p:cNvPr id="12" name="Text 10"/>
          <p:cNvSpPr/>
          <p:nvPr/>
        </p:nvSpPr>
        <p:spPr>
          <a:xfrm>
            <a:off x="4851350" y="1353728"/>
            <a:ext cx="3700000"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Novelty tracks a different dimension</a:t>
            </a:r>
            <a:endParaRPr lang="en-US" sz="1050" dirty="0"/>
          </a:p>
        </p:txBody>
      </p:sp>
      <p:sp>
        <p:nvSpPr>
          <p:cNvPr id="13" name="Text 11"/>
          <p:cNvSpPr/>
          <p:nvPr/>
        </p:nvSpPr>
        <p:spPr>
          <a:xfrm>
            <a:off x="4851350" y="1533728"/>
            <a:ext cx="3700000" cy="78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Human &gt; Claude &gt; GPT-5.2 ≈ Gemini for novelty. Humans are both moderately diverse AND more novel. Claude is most diverse but only moderately novel, suggesting its spread is within AI-typical territory. Diversity ≠ novelty.</a:t>
            </a:r>
            <a:endParaRPr lang="en-US" sz="900" dirty="0"/>
          </a:p>
        </p:txBody>
      </p:sp>
      <p:sp>
        <p:nvSpPr>
          <p:cNvPr id="14" name="Text 12"/>
          <p:cNvSpPr/>
          <p:nvPr/>
        </p:nvSpPr>
        <p:spPr>
          <a:xfrm>
            <a:off x="507950" y="2500000"/>
            <a:ext cx="3937099" cy="1120000"/>
          </a:xfrm>
          <a:prstGeom prst="roundRect">
            <a:avLst>
              <a:gd name="adj" fmla="val 3645"/>
            </a:avLst>
          </a:prstGeom>
          <a:solidFill>
            <a:srgbClr val="F7F9FC"/>
          </a:solidFill>
        </p:spPr>
        <p:txBody>
          <a:bodyPr wrap="square" rtlCol="0" anchor="ctr"/>
          <a:lstStyle/>
          <a:p>
            <a:pPr marL="0" indent="0">
              <a:buNone/>
            </a:pPr>
            <a:endParaRPr lang="en-US" dirty="0"/>
          </a:p>
        </p:txBody>
      </p:sp>
      <p:sp>
        <p:nvSpPr>
          <p:cNvPr id="15" name="Shape 13"/>
          <p:cNvSpPr/>
          <p:nvPr/>
        </p:nvSpPr>
        <p:spPr>
          <a:xfrm>
            <a:off x="507950" y="2519050"/>
            <a:ext cx="3937099" cy="0"/>
          </a:xfrm>
          <a:prstGeom prst="line">
            <a:avLst/>
          </a:prstGeom>
          <a:noFill/>
          <a:ln w="38100">
            <a:solidFill>
              <a:srgbClr val="16A085"/>
            </a:solidFill>
            <a:prstDash val="solid"/>
          </a:ln>
        </p:spPr>
      </p:sp>
      <p:sp>
        <p:nvSpPr>
          <p:cNvPr id="16" name="Text 14"/>
          <p:cNvSpPr/>
          <p:nvPr/>
        </p:nvSpPr>
        <p:spPr>
          <a:xfrm>
            <a:off x="660350" y="2600000"/>
            <a:ext cx="3700000"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Semantic segregation confirmed 3 ways</a:t>
            </a:r>
            <a:endParaRPr lang="en-US" sz="1050" dirty="0"/>
          </a:p>
        </p:txBody>
      </p:sp>
      <p:sp>
        <p:nvSpPr>
          <p:cNvPr id="17" name="Text 15"/>
          <p:cNvSpPr/>
          <p:nvPr/>
        </p:nvSpPr>
        <p:spPr>
          <a:xfrm>
            <a:off x="660350" y="2780000"/>
            <a:ext cx="3700000" cy="78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100% AI-AI nearest neighbors (NN analysis). Complete topic separation (LDA). Two AI-only clusters (GMM, NMI p &lt; 0.0001). Human and AI proposals occupy different semantic regions, even when AI shows high internal diversity.</a:t>
            </a:r>
            <a:endParaRPr lang="en-US" sz="900" dirty="0"/>
          </a:p>
        </p:txBody>
      </p:sp>
      <p:sp>
        <p:nvSpPr>
          <p:cNvPr id="18" name="Text 16"/>
          <p:cNvSpPr/>
          <p:nvPr/>
        </p:nvSpPr>
        <p:spPr>
          <a:xfrm>
            <a:off x="4698950" y="2500000"/>
            <a:ext cx="3937099" cy="1120000"/>
          </a:xfrm>
          <a:prstGeom prst="roundRect">
            <a:avLst>
              <a:gd name="adj" fmla="val 3645"/>
            </a:avLst>
          </a:prstGeom>
          <a:solidFill>
            <a:srgbClr val="F0F4F8"/>
          </a:solidFill>
        </p:spPr>
        <p:txBody>
          <a:bodyPr wrap="square" rtlCol="0" anchor="ctr"/>
          <a:lstStyle/>
          <a:p>
            <a:pPr marL="0" indent="0">
              <a:buNone/>
            </a:pPr>
            <a:endParaRPr lang="en-US" dirty="0"/>
          </a:p>
        </p:txBody>
      </p:sp>
      <p:sp>
        <p:nvSpPr>
          <p:cNvPr id="19" name="Shape 17"/>
          <p:cNvSpPr/>
          <p:nvPr/>
        </p:nvSpPr>
        <p:spPr>
          <a:xfrm>
            <a:off x="4698950" y="2519050"/>
            <a:ext cx="3937099" cy="0"/>
          </a:xfrm>
          <a:prstGeom prst="line">
            <a:avLst/>
          </a:prstGeom>
          <a:noFill/>
          <a:ln w="38100">
            <a:solidFill>
              <a:srgbClr val="8E44AD"/>
            </a:solidFill>
            <a:prstDash val="solid"/>
          </a:ln>
        </p:spPr>
      </p:sp>
      <p:sp>
        <p:nvSpPr>
          <p:cNvPr id="20" name="Text 18"/>
          <p:cNvSpPr/>
          <p:nvPr/>
        </p:nvSpPr>
        <p:spPr>
          <a:xfrm>
            <a:off x="4851350" y="2600000"/>
            <a:ext cx="3700000"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Aggregation masks real differences</a:t>
            </a:r>
            <a:endParaRPr lang="en-US" sz="1050" dirty="0"/>
          </a:p>
        </p:txBody>
      </p:sp>
      <p:sp>
        <p:nvSpPr>
          <p:cNvPr id="21" name="Text 19"/>
          <p:cNvSpPr/>
          <p:nvPr/>
        </p:nvSpPr>
        <p:spPr>
          <a:xfrm>
            <a:off x="4851350" y="2780000"/>
            <a:ext cx="3700000" cy="78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“AI vs Human” centroid dispersion: non-significant (p = 0.22). But per-model: Claude d = +0.99, GPT-5.2 d = −1.00. Similarly, topic entropy (AI = 1.94, Human = 0.00) hides that humans produce truly distinctive ideas rather than a single narrow theme.</a:t>
            </a:r>
            <a:endParaRPr lang="en-US" sz="900" dirty="0"/>
          </a:p>
        </p:txBody>
      </p:sp>
      <p:sp>
        <p:nvSpPr>
          <p:cNvPr id="22" name="Text 20"/>
          <p:cNvSpPr/>
          <p:nvPr/>
        </p:nvSpPr>
        <p:spPr>
          <a:xfrm>
            <a:off x="508000" y="3746500"/>
            <a:ext cx="8128000" cy="702310"/>
          </a:xfrm>
          <a:prstGeom prst="roundRect">
            <a:avLst>
              <a:gd name="adj" fmla="val 3000"/>
            </a:avLst>
          </a:prstGeom>
          <a:solidFill>
            <a:srgbClr val="1B2A4A"/>
          </a:solidFill>
        </p:spPr>
        <p:txBody>
          <a:bodyPr wrap="square" rtlCol="0" anchor="ctr"/>
          <a:lstStyle/>
          <a:p>
            <a:pPr marL="0" indent="0">
              <a:buNone/>
            </a:pPr>
            <a:endParaRPr lang="en-US" dirty="0"/>
          </a:p>
        </p:txBody>
      </p:sp>
      <p:sp>
        <p:nvSpPr>
          <p:cNvPr id="23" name="Text 21"/>
          <p:cNvSpPr/>
          <p:nvPr/>
        </p:nvSpPr>
        <p:spPr>
          <a:xfrm>
            <a:off x="651460" y="3806267"/>
            <a:ext cx="7900000" cy="350000"/>
          </a:xfrm>
          <a:prstGeom prst="rect">
            <a:avLst/>
          </a:prstGeom>
          <a:noFill/>
        </p:spPr>
        <p:txBody>
          <a:bodyPr wrap="square" lIns="0" tIns="0" rIns="0" bIns="0" rtlCol="0" anchor="t"/>
          <a:lstStyle/>
          <a:p>
            <a:pPr marL="0" indent="0" algn="l">
              <a:lnSpc>
                <a:spcPts val="1400"/>
              </a:lnSpc>
              <a:spcAft>
                <a:spcPts val="400"/>
              </a:spcAft>
              <a:buNone/>
            </a:pPr>
            <a:r>
              <a:rPr lang="en-US" sz="1000" b="1" dirty="0">
                <a:solidFill>
                  <a:srgbClr val="FFFFFF"/>
                </a:solidFill>
                <a:latin typeface="Arial" panose="020B0604020202090204" pitchFamily="34" charset="0"/>
                <a:ea typeface="Arial" panose="020B0604020202090204" pitchFamily="34" charset="-122"/>
                <a:cs typeface="Arial" panose="020B0604020202090204" pitchFamily="34" charset="-120"/>
              </a:rPr>
              <a:t>Bottom line: AI models generate systematically different kinds of ideas than humans, and they differ dramatically from each other. Human proposals are more novel relative to existing literature and occupy unique conceptual territory that no AI model fully reaches.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Picture 20" descr="style_features_by_model_boxplots"/>
          <p:cNvPicPr>
            <a:picLocks noChangeAspect="1"/>
          </p:cNvPicPr>
          <p:nvPr/>
        </p:nvPicPr>
        <p:blipFill>
          <a:blip r:embed="rId1"/>
          <a:stretch>
            <a:fillRect/>
          </a:stretch>
        </p:blipFill>
        <p:spPr>
          <a:xfrm>
            <a:off x="39370" y="1030605"/>
            <a:ext cx="6415405" cy="3529965"/>
          </a:xfrm>
          <a:prstGeom prst="rect">
            <a:avLst/>
          </a:prstGeom>
        </p:spPr>
      </p:pic>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169495"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Strong Stylstic Differences Between Human and AI Proposals</a:t>
            </a:r>
            <a:endParaRPr lang="en-US" sz="2000" dirty="0"/>
          </a:p>
        </p:txBody>
      </p:sp>
      <p:sp>
        <p:nvSpPr>
          <p:cNvPr id="4" name="Text 2"/>
          <p:cNvSpPr/>
          <p:nvPr/>
        </p:nvSpPr>
        <p:spPr>
          <a:xfrm>
            <a:off x="475565" y="754767"/>
            <a:ext cx="8290661"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Stylistic differences can predict authorship (AI vs Human) with 90% accuracy </a:t>
            </a:r>
            <a:endParaRPr lang="en-US" sz="1200" dirty="0"/>
          </a:p>
        </p:txBody>
      </p:sp>
      <p:sp>
        <p:nvSpPr>
          <p:cNvPr id="5" name="Text 3"/>
          <p:cNvSpPr/>
          <p:nvPr/>
        </p:nvSpPr>
        <p:spPr>
          <a:xfrm>
            <a:off x="475565" y="1002417"/>
            <a:ext cx="444401" cy="25301"/>
          </a:xfrm>
          <a:prstGeom prst="rect">
            <a:avLst/>
          </a:prstGeom>
          <a:solidFill>
            <a:srgbClr val="E8505B"/>
          </a:solidFill>
        </p:spPr>
        <p:txBody>
          <a:bodyPr wrap="square" rtlCol="0" anchor="ctr"/>
          <a:lstStyle/>
          <a:p>
            <a:pPr marL="0" indent="0">
              <a:buNone/>
            </a:pPr>
            <a:endParaRPr lang="en-US" dirty="0"/>
          </a:p>
        </p:txBody>
      </p:sp>
      <p:sp>
        <p:nvSpPr>
          <p:cNvPr id="8" name="Shape 6"/>
          <p:cNvSpPr/>
          <p:nvPr/>
        </p:nvSpPr>
        <p:spPr>
          <a:xfrm>
            <a:off x="6664325" y="1272540"/>
            <a:ext cx="2122805" cy="635"/>
          </a:xfrm>
          <a:prstGeom prst="line">
            <a:avLst/>
          </a:prstGeom>
          <a:noFill/>
          <a:ln w="38100">
            <a:solidFill>
              <a:srgbClr val="2E86AB"/>
            </a:solidFill>
            <a:prstDash val="solid"/>
          </a:ln>
        </p:spPr>
      </p:sp>
      <p:sp>
        <p:nvSpPr>
          <p:cNvPr id="9" name="Text 7"/>
          <p:cNvSpPr/>
          <p:nvPr/>
        </p:nvSpPr>
        <p:spPr>
          <a:xfrm>
            <a:off x="6644005" y="1350010"/>
            <a:ext cx="2063750"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Are there stylistic differences beteween human/AI propsoals?</a:t>
            </a:r>
            <a:endParaRPr lang="en-US" sz="1050" dirty="0"/>
          </a:p>
        </p:txBody>
      </p:sp>
      <p:sp>
        <p:nvSpPr>
          <p:cNvPr id="10" name="Text 8"/>
          <p:cNvSpPr/>
          <p:nvPr/>
        </p:nvSpPr>
        <p:spPr>
          <a:xfrm>
            <a:off x="6644005" y="1789430"/>
            <a:ext cx="2346960" cy="499745"/>
          </a:xfrm>
          <a:prstGeom prst="rect">
            <a:avLst/>
          </a:prstGeom>
          <a:noFill/>
        </p:spPr>
        <p:txBody>
          <a:bodyPr wrap="square" lIns="0" tIns="0" rIns="0" bIns="0" rtlCol="0" anchor="t"/>
          <a:lstStyle/>
          <a:p>
            <a:pPr marL="0" indent="0" algn="l">
              <a:lnSpc>
                <a:spcPts val="1285"/>
              </a:lnSpc>
              <a:spcAft>
                <a:spcPts val="400"/>
              </a:spcAft>
              <a:buNone/>
            </a:pPr>
            <a:r>
              <a:rPr lang="en-US" altLang="en-US" sz="900" dirty="0">
                <a:solidFill>
                  <a:srgbClr val="2C3E50"/>
                </a:solidFill>
                <a:latin typeface="Arial" panose="020B0604020202090204" pitchFamily="34" charset="0"/>
                <a:cs typeface="Arial" panose="020B0604020202090204" pitchFamily="34" charset="0"/>
              </a:rPr>
              <a:t>We created style-only features that quantify how a proposal is written (structure, lexical variety, stopword usage, hedging/stance, sectioning, readability, and punctuation/formatting patterns) to build a style baseline.</a:t>
            </a:r>
            <a:endParaRPr lang="en-US" altLang="en-US" sz="900" dirty="0">
              <a:solidFill>
                <a:srgbClr val="2C3E50"/>
              </a:solidFill>
              <a:latin typeface="Arial" panose="020B0604020202090204" pitchFamily="34" charset="0"/>
              <a:cs typeface="Arial" panose="020B0604020202090204" pitchFamily="34" charset="0"/>
            </a:endParaRPr>
          </a:p>
          <a:p>
            <a:pPr marL="0" indent="0" algn="l">
              <a:lnSpc>
                <a:spcPts val="1285"/>
              </a:lnSpc>
              <a:spcAft>
                <a:spcPts val="400"/>
              </a:spcAft>
              <a:buNone/>
            </a:pPr>
            <a:endParaRPr lang="en-US" altLang="en-US" sz="900" dirty="0">
              <a:solidFill>
                <a:srgbClr val="2C3E50"/>
              </a:solidFill>
              <a:latin typeface="Arial" panose="020B0604020202090204" pitchFamily="34" charset="0"/>
              <a:cs typeface="Arial" panose="020B0604020202090204" pitchFamily="34" charset="0"/>
            </a:endParaRPr>
          </a:p>
          <a:p>
            <a:pPr marL="0" indent="0" algn="l">
              <a:lnSpc>
                <a:spcPts val="1285"/>
              </a:lnSpc>
              <a:spcAft>
                <a:spcPts val="400"/>
              </a:spcAft>
              <a:buNone/>
            </a:pPr>
            <a:endParaRPr lang="en-US" altLang="en-US" sz="900" dirty="0">
              <a:solidFill>
                <a:srgbClr val="2C3E50"/>
              </a:solidFill>
              <a:latin typeface="Arial" panose="020B0604020202090204" pitchFamily="34" charset="0"/>
              <a:cs typeface="Arial" panose="020B0604020202090204" pitchFamily="34" charset="0"/>
            </a:endParaRPr>
          </a:p>
        </p:txBody>
      </p:sp>
      <p:sp>
        <p:nvSpPr>
          <p:cNvPr id="20" name="Text 8"/>
          <p:cNvSpPr/>
          <p:nvPr/>
        </p:nvSpPr>
        <p:spPr>
          <a:xfrm>
            <a:off x="5069205" y="3208020"/>
            <a:ext cx="3117215" cy="499745"/>
          </a:xfrm>
          <a:prstGeom prst="rect">
            <a:avLst/>
          </a:prstGeom>
          <a:noFill/>
        </p:spPr>
        <p:txBody>
          <a:bodyPr wrap="square" lIns="0" tIns="0" rIns="0" bIns="0" rtlCol="0" anchor="t"/>
          <a:lstStyle/>
          <a:p>
            <a:pPr marL="0" indent="0" algn="l">
              <a:lnSpc>
                <a:spcPts val="1285"/>
              </a:lnSpc>
              <a:spcAft>
                <a:spcPts val="400"/>
              </a:spcAft>
              <a:buNone/>
            </a:pPr>
            <a:r>
              <a:rPr lang="en-US" altLang="en-US" sz="900" dirty="0">
                <a:solidFill>
                  <a:srgbClr val="2C3E50"/>
                </a:solidFill>
                <a:latin typeface="Arial" panose="020B0604020202090204" pitchFamily="34" charset="0"/>
                <a:cs typeface="Arial" panose="020B0604020202090204" pitchFamily="34" charset="0"/>
              </a:rPr>
              <a:t>With logistic regression, we found that </a:t>
            </a:r>
            <a:r>
              <a:rPr lang="en-US" altLang="en-US" sz="900" b="1" dirty="0">
                <a:solidFill>
                  <a:srgbClr val="E8505B"/>
                </a:solidFill>
                <a:latin typeface="Arial Bold" panose="020B0604020202090204" charset="0"/>
                <a:cs typeface="Arial Bold" panose="020B0604020202090204" charset="0"/>
              </a:rPr>
              <a:t>style alone can seperate human vs AI proposals </a:t>
            </a:r>
            <a:endParaRPr lang="en-US" altLang="en-US" sz="900" b="1" dirty="0">
              <a:solidFill>
                <a:srgbClr val="E8505B"/>
              </a:solidFill>
              <a:latin typeface="Arial Bold" panose="020B0604020202090204" charset="0"/>
              <a:cs typeface="Arial Bold" panose="020B0604020202090204" charset="0"/>
            </a:endParaRPr>
          </a:p>
          <a:p>
            <a:pPr marL="0" indent="0" algn="l">
              <a:lnSpc>
                <a:spcPts val="1285"/>
              </a:lnSpc>
              <a:spcAft>
                <a:spcPts val="400"/>
              </a:spcAft>
              <a:buNone/>
            </a:pPr>
            <a:r>
              <a:rPr lang="en-US" altLang="en-US" sz="900" b="1" dirty="0">
                <a:solidFill>
                  <a:srgbClr val="2C3E50"/>
                </a:solidFill>
                <a:latin typeface="Arial Bold" panose="020B0604020202090204" charset="0"/>
                <a:cs typeface="Arial Bold" panose="020B0604020202090204" charset="0"/>
              </a:rPr>
              <a:t>Permutation test</a:t>
            </a:r>
            <a:r>
              <a:rPr lang="en-US" altLang="en-US" sz="900" dirty="0">
                <a:solidFill>
                  <a:srgbClr val="2C3E50"/>
                </a:solidFill>
                <a:latin typeface="Arial" panose="020B0604020202090204" pitchFamily="34" charset="0"/>
                <a:cs typeface="Arial" panose="020B0604020202090204" pitchFamily="34" charset="0"/>
              </a:rPr>
              <a:t> (AUROC, 1,000 label shuffles):</a:t>
            </a:r>
            <a:endParaRPr lang="en-US" altLang="en-US" sz="900" dirty="0">
              <a:solidFill>
                <a:srgbClr val="2C3E50"/>
              </a:solidFill>
              <a:latin typeface="Arial" panose="020B0604020202090204" pitchFamily="34" charset="0"/>
              <a:cs typeface="Arial" panose="020B0604020202090204" pitchFamily="34" charset="0"/>
            </a:endParaRPr>
          </a:p>
          <a:p>
            <a:pPr marL="0" indent="0" algn="l">
              <a:lnSpc>
                <a:spcPts val="1285"/>
              </a:lnSpc>
              <a:spcAft>
                <a:spcPts val="400"/>
              </a:spcAft>
              <a:buNone/>
            </a:pPr>
            <a:r>
              <a:rPr lang="en-US" altLang="en-US" sz="900" dirty="0">
                <a:solidFill>
                  <a:srgbClr val="2C3E50"/>
                </a:solidFill>
                <a:latin typeface="Arial" panose="020B0604020202090204" pitchFamily="34" charset="0"/>
                <a:cs typeface="Arial" panose="020B0604020202090204" pitchFamily="34" charset="0"/>
              </a:rPr>
              <a:t>  Observed AUROC: 0.980</a:t>
            </a:r>
            <a:endParaRPr lang="en-US" altLang="en-US" sz="900" dirty="0">
              <a:solidFill>
                <a:srgbClr val="2C3E50"/>
              </a:solidFill>
              <a:latin typeface="Arial" panose="020B0604020202090204" pitchFamily="34" charset="0"/>
              <a:cs typeface="Arial" panose="020B0604020202090204" pitchFamily="34" charset="0"/>
            </a:endParaRPr>
          </a:p>
          <a:p>
            <a:pPr marL="0" indent="0" algn="l">
              <a:lnSpc>
                <a:spcPts val="1285"/>
              </a:lnSpc>
              <a:spcAft>
                <a:spcPts val="400"/>
              </a:spcAft>
              <a:buNone/>
            </a:pPr>
            <a:r>
              <a:rPr lang="en-US" altLang="en-US" sz="900" dirty="0">
                <a:solidFill>
                  <a:srgbClr val="2C3E50"/>
                </a:solidFill>
                <a:latin typeface="Arial" panose="020B0604020202090204" pitchFamily="34" charset="0"/>
                <a:cs typeface="Arial" panose="020B0604020202090204" pitchFamily="34" charset="0"/>
              </a:rPr>
              <a:t>  Null mean AUROC: 0.509 ± 0.099</a:t>
            </a:r>
            <a:endParaRPr lang="en-US" altLang="en-US" sz="900" dirty="0">
              <a:solidFill>
                <a:srgbClr val="2C3E50"/>
              </a:solidFill>
              <a:latin typeface="Arial" panose="020B0604020202090204" pitchFamily="34" charset="0"/>
              <a:cs typeface="Arial" panose="020B0604020202090204" pitchFamily="34" charset="0"/>
            </a:endParaRPr>
          </a:p>
          <a:p>
            <a:pPr marL="0" indent="0" algn="l">
              <a:lnSpc>
                <a:spcPts val="1285"/>
              </a:lnSpc>
              <a:spcAft>
                <a:spcPts val="400"/>
              </a:spcAft>
              <a:buNone/>
            </a:pPr>
            <a:r>
              <a:rPr lang="en-US" altLang="en-US" sz="900" dirty="0">
                <a:solidFill>
                  <a:srgbClr val="2C3E50"/>
                </a:solidFill>
                <a:latin typeface="Arial" panose="020B0604020202090204" pitchFamily="34" charset="0"/>
                <a:cs typeface="Arial" panose="020B0604020202090204" pitchFamily="34" charset="0"/>
              </a:rPr>
              <a:t>  p-value: 0.0010</a:t>
            </a:r>
            <a:endParaRPr lang="en-US" altLang="en-US" sz="900" dirty="0">
              <a:solidFill>
                <a:srgbClr val="2C3E50"/>
              </a:solidFill>
              <a:latin typeface="Arial" panose="020B0604020202090204" pitchFamily="34" charset="0"/>
              <a:cs typeface="Arial" panose="020B060402020209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descr="centroid_dispersion_style_adjusted"/>
          <p:cNvPicPr>
            <a:picLocks noChangeAspect="1"/>
          </p:cNvPicPr>
          <p:nvPr/>
        </p:nvPicPr>
        <p:blipFill>
          <a:blip r:embed="rId1"/>
          <a:stretch>
            <a:fillRect/>
          </a:stretch>
        </p:blipFill>
        <p:spPr>
          <a:xfrm>
            <a:off x="138430" y="1122045"/>
            <a:ext cx="6054090" cy="3682365"/>
          </a:xfrm>
          <a:prstGeom prst="rect">
            <a:avLst/>
          </a:prstGeom>
        </p:spPr>
      </p:pic>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169495"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Style-adjusted centroid dispersion analysis</a:t>
            </a:r>
            <a:endParaRPr lang="en-US" sz="2000" dirty="0"/>
          </a:p>
        </p:txBody>
      </p:sp>
      <p:sp>
        <p:nvSpPr>
          <p:cNvPr id="4" name="Text 2"/>
          <p:cNvSpPr/>
          <p:nvPr/>
        </p:nvSpPr>
        <p:spPr>
          <a:xfrm>
            <a:off x="475565" y="754767"/>
            <a:ext cx="8290661" cy="171450"/>
          </a:xfrm>
          <a:prstGeom prst="rect">
            <a:avLst/>
          </a:prstGeom>
          <a:noFill/>
        </p:spPr>
        <p:txBody>
          <a:bodyPr wrap="square" lIns="0" tIns="0" rIns="0" bIns="0" rtlCol="0" anchor="t"/>
          <a:lstStyle/>
          <a:p>
            <a:pPr marL="0" indent="0" algn="l">
              <a:spcAft>
                <a:spcPts val="600"/>
              </a:spcAft>
              <a:buNone/>
            </a:pPr>
            <a:r>
              <a:rPr lang="en-US" alt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After removing the embedding components predictable from style features, do we still see separation?</a:t>
            </a:r>
            <a:endParaRPr lang="en-US" sz="1200" dirty="0"/>
          </a:p>
        </p:txBody>
      </p:sp>
      <p:sp>
        <p:nvSpPr>
          <p:cNvPr id="5" name="Text 3"/>
          <p:cNvSpPr/>
          <p:nvPr/>
        </p:nvSpPr>
        <p:spPr>
          <a:xfrm>
            <a:off x="475565" y="1002417"/>
            <a:ext cx="444401" cy="25301"/>
          </a:xfrm>
          <a:prstGeom prst="rect">
            <a:avLst/>
          </a:prstGeom>
          <a:solidFill>
            <a:srgbClr val="E8505B"/>
          </a:solidFill>
        </p:spPr>
        <p:txBody>
          <a:bodyPr wrap="square" rtlCol="0" anchor="ctr"/>
          <a:lstStyle/>
          <a:p>
            <a:pPr marL="0" indent="0">
              <a:buNone/>
            </a:pPr>
            <a:endParaRPr lang="en-US" dirty="0"/>
          </a:p>
        </p:txBody>
      </p:sp>
      <p:sp>
        <p:nvSpPr>
          <p:cNvPr id="8" name="Shape 6"/>
          <p:cNvSpPr/>
          <p:nvPr/>
        </p:nvSpPr>
        <p:spPr>
          <a:xfrm>
            <a:off x="6384290" y="1272540"/>
            <a:ext cx="2402840" cy="635"/>
          </a:xfrm>
          <a:prstGeom prst="line">
            <a:avLst/>
          </a:prstGeom>
          <a:noFill/>
          <a:ln w="38100">
            <a:solidFill>
              <a:srgbClr val="2E86AB"/>
            </a:solidFill>
            <a:prstDash val="solid"/>
          </a:ln>
        </p:spPr>
      </p:sp>
      <p:sp>
        <p:nvSpPr>
          <p:cNvPr id="9" name="Text 7"/>
          <p:cNvSpPr/>
          <p:nvPr/>
        </p:nvSpPr>
        <p:spPr>
          <a:xfrm>
            <a:off x="6384925" y="1350010"/>
            <a:ext cx="2322830"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Style-adjusted centroid dispersion</a:t>
            </a:r>
            <a:endParaRPr lang="en-US" sz="1050" dirty="0"/>
          </a:p>
        </p:txBody>
      </p:sp>
      <p:sp>
        <p:nvSpPr>
          <p:cNvPr id="10" name="Text 8"/>
          <p:cNvSpPr/>
          <p:nvPr/>
        </p:nvSpPr>
        <p:spPr>
          <a:xfrm>
            <a:off x="6384925" y="1619250"/>
            <a:ext cx="2606675" cy="499745"/>
          </a:xfrm>
          <a:prstGeom prst="rect">
            <a:avLst/>
          </a:prstGeom>
          <a:noFill/>
        </p:spPr>
        <p:txBody>
          <a:bodyPr wrap="square" lIns="0" tIns="0" rIns="0" bIns="0" rtlCol="0" anchor="t"/>
          <a:lstStyle/>
          <a:p>
            <a:pPr marL="0" indent="0" algn="l">
              <a:lnSpc>
                <a:spcPts val="1285"/>
              </a:lnSpc>
              <a:spcAft>
                <a:spcPts val="400"/>
              </a:spcAft>
              <a:buNone/>
            </a:pPr>
            <a:r>
              <a:rPr lang="en-US" altLang="en-US" sz="900" dirty="0">
                <a:solidFill>
                  <a:srgbClr val="2C3E50"/>
                </a:solidFill>
                <a:latin typeface="Arial" panose="020B0604020202090204" pitchFamily="34" charset="0"/>
                <a:cs typeface="Arial" panose="020B0604020202090204" pitchFamily="34" charset="0"/>
              </a:rPr>
              <a:t>We compute each proposal’s distance-to-its-group-centroid (y_raw). Fit a simple linear model: y_raw ~ (style features). Subtract the model’s prediction from y_raw to get a residual. Add back the overall mean (just to keep numbers on a similar scale).</a:t>
            </a:r>
            <a:endParaRPr lang="en-US" altLang="en-US" sz="900" dirty="0">
              <a:solidFill>
                <a:srgbClr val="2C3E50"/>
              </a:solidFill>
              <a:latin typeface="Arial" panose="020B0604020202090204" pitchFamily="34" charset="0"/>
              <a:cs typeface="Arial" panose="020B0604020202090204" pitchFamily="34" charset="0"/>
            </a:endParaRPr>
          </a:p>
          <a:p>
            <a:pPr marL="0" indent="0" algn="l">
              <a:lnSpc>
                <a:spcPts val="1285"/>
              </a:lnSpc>
              <a:spcAft>
                <a:spcPts val="400"/>
              </a:spcAft>
              <a:buNone/>
            </a:pPr>
            <a:r>
              <a:rPr lang="en-US" altLang="en-US" sz="900" dirty="0">
                <a:solidFill>
                  <a:srgbClr val="2C3E50"/>
                </a:solidFill>
                <a:latin typeface="Arial" panose="020B0604020202090204" pitchFamily="34" charset="0"/>
                <a:cs typeface="Arial" panose="020B0604020202090204" pitchFamily="34" charset="0"/>
              </a:rPr>
              <a:t>Result: y_adj = “dispersion after removing what style can explain”.</a:t>
            </a:r>
            <a:endParaRPr lang="en-US" altLang="en-US" sz="900" dirty="0">
              <a:solidFill>
                <a:srgbClr val="2C3E50"/>
              </a:solidFill>
              <a:latin typeface="Arial" panose="020B0604020202090204" pitchFamily="34" charset="0"/>
              <a:cs typeface="Arial" panose="020B0604020202090204" pitchFamily="34" charset="0"/>
            </a:endParaRPr>
          </a:p>
          <a:p>
            <a:pPr marL="0" indent="0" algn="l">
              <a:lnSpc>
                <a:spcPts val="1285"/>
              </a:lnSpc>
              <a:spcAft>
                <a:spcPts val="400"/>
              </a:spcAft>
              <a:buNone/>
            </a:pPr>
            <a:endParaRPr lang="en-US" altLang="en-US" sz="900" dirty="0">
              <a:solidFill>
                <a:srgbClr val="2C3E50"/>
              </a:solidFill>
              <a:latin typeface="Arial" panose="020B0604020202090204" pitchFamily="34" charset="0"/>
              <a:cs typeface="Arial" panose="020B0604020202090204" pitchFamily="34" charset="0"/>
            </a:endParaRPr>
          </a:p>
          <a:p>
            <a:pPr marL="0" indent="0" algn="l">
              <a:lnSpc>
                <a:spcPts val="1285"/>
              </a:lnSpc>
              <a:spcAft>
                <a:spcPts val="400"/>
              </a:spcAft>
              <a:buNone/>
            </a:pPr>
            <a:endParaRPr lang="en-US" altLang="en-US" sz="900" dirty="0">
              <a:solidFill>
                <a:srgbClr val="2C3E50"/>
              </a:solidFill>
              <a:latin typeface="Arial" panose="020B0604020202090204" pitchFamily="34" charset="0"/>
              <a:cs typeface="Arial" panose="020B0604020202090204" pitchFamily="34" charset="0"/>
            </a:endParaRPr>
          </a:p>
        </p:txBody>
      </p:sp>
      <p:pic>
        <p:nvPicPr>
          <p:cNvPr id="11" name="Picture 10" descr="Screenshot 2026-02-18 at 10.36.20 AM"/>
          <p:cNvPicPr>
            <a:picLocks noChangeAspect="1"/>
          </p:cNvPicPr>
          <p:nvPr/>
        </p:nvPicPr>
        <p:blipFill>
          <a:blip r:embed="rId2"/>
          <a:stretch>
            <a:fillRect/>
          </a:stretch>
        </p:blipFill>
        <p:spPr>
          <a:xfrm>
            <a:off x="6347460" y="3851275"/>
            <a:ext cx="2607310" cy="971550"/>
          </a:xfrm>
          <a:prstGeom prst="rect">
            <a:avLst/>
          </a:prstGeom>
        </p:spPr>
      </p:pic>
      <p:sp>
        <p:nvSpPr>
          <p:cNvPr id="20" name="Text 8"/>
          <p:cNvSpPr/>
          <p:nvPr/>
        </p:nvSpPr>
        <p:spPr>
          <a:xfrm>
            <a:off x="6347460" y="2936875"/>
            <a:ext cx="2570480" cy="499745"/>
          </a:xfrm>
          <a:prstGeom prst="rect">
            <a:avLst/>
          </a:prstGeom>
          <a:noFill/>
        </p:spPr>
        <p:txBody>
          <a:bodyPr wrap="square" lIns="0" tIns="0" rIns="0" bIns="0" rtlCol="0" anchor="t"/>
          <a:lstStyle/>
          <a:p>
            <a:pPr marL="0" indent="0" algn="l">
              <a:lnSpc>
                <a:spcPts val="1285"/>
              </a:lnSpc>
              <a:spcAft>
                <a:spcPts val="400"/>
              </a:spcAft>
              <a:buNone/>
            </a:pPr>
            <a:r>
              <a:rPr lang="en-US" altLang="en-US" sz="900" b="1" dirty="0">
                <a:solidFill>
                  <a:srgbClr val="E8505B"/>
                </a:solidFill>
                <a:latin typeface="Arial Bold" panose="020B0604020202090204" charset="0"/>
                <a:cs typeface="Arial Bold" panose="020B0604020202090204" charset="0"/>
              </a:rPr>
              <a:t>A meaningful chunk of the unadjusted centroid-dispersion differences was driven by style, but not all of it: after controlling for measured style, Claude still looks genuinely more variable, thoufh effect size is negligible</a:t>
            </a:r>
            <a:endParaRPr lang="en-US" altLang="en-US" sz="900" b="1" dirty="0">
              <a:solidFill>
                <a:srgbClr val="E8505B"/>
              </a:solidFill>
              <a:latin typeface="Arial Bold" panose="020B0604020202090204" charset="0"/>
              <a:cs typeface="Arial Bold" panose="020B0604020202090204" charset="0"/>
            </a:endParaRPr>
          </a:p>
          <a:p>
            <a:pPr marL="0" indent="0" algn="l">
              <a:lnSpc>
                <a:spcPts val="1285"/>
              </a:lnSpc>
              <a:spcAft>
                <a:spcPts val="400"/>
              </a:spcAft>
              <a:buNone/>
            </a:pPr>
            <a:endParaRPr lang="en-US" altLang="en-US" sz="900" dirty="0">
              <a:solidFill>
                <a:srgbClr val="2C3E50"/>
              </a:solidFill>
              <a:latin typeface="Arial" panose="020B0604020202090204" pitchFamily="34" charset="0"/>
              <a:cs typeface="Arial" panose="020B060402020209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169495"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Style-adjusted NN and outlier analysis</a:t>
            </a:r>
            <a:endParaRPr lang="en-US" sz="2000" dirty="0"/>
          </a:p>
        </p:txBody>
      </p:sp>
      <p:sp>
        <p:nvSpPr>
          <p:cNvPr id="8" name="Shape 6"/>
          <p:cNvSpPr/>
          <p:nvPr/>
        </p:nvSpPr>
        <p:spPr>
          <a:xfrm>
            <a:off x="4791710" y="1054735"/>
            <a:ext cx="2402840" cy="635"/>
          </a:xfrm>
          <a:prstGeom prst="line">
            <a:avLst/>
          </a:prstGeom>
          <a:noFill/>
          <a:ln w="38100">
            <a:solidFill>
              <a:srgbClr val="2E86AB"/>
            </a:solidFill>
            <a:prstDash val="solid"/>
          </a:ln>
        </p:spPr>
      </p:sp>
      <p:sp>
        <p:nvSpPr>
          <p:cNvPr id="9" name="Text 7"/>
          <p:cNvSpPr/>
          <p:nvPr/>
        </p:nvSpPr>
        <p:spPr>
          <a:xfrm>
            <a:off x="4791710" y="801370"/>
            <a:ext cx="2322830"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Style-adjusted NN and outlier</a:t>
            </a:r>
            <a:endParaRPr lang="en-US" sz="1050" dirty="0"/>
          </a:p>
        </p:txBody>
      </p:sp>
      <p:sp>
        <p:nvSpPr>
          <p:cNvPr id="10" name="Text 8"/>
          <p:cNvSpPr/>
          <p:nvPr/>
        </p:nvSpPr>
        <p:spPr>
          <a:xfrm>
            <a:off x="4791710" y="1156335"/>
            <a:ext cx="3111500" cy="499745"/>
          </a:xfrm>
          <a:prstGeom prst="rect">
            <a:avLst/>
          </a:prstGeom>
          <a:noFill/>
        </p:spPr>
        <p:txBody>
          <a:bodyPr wrap="square" lIns="0" tIns="0" rIns="0" bIns="0" rtlCol="0" anchor="t"/>
          <a:lstStyle/>
          <a:p>
            <a:pPr marL="0" indent="0" algn="l">
              <a:lnSpc>
                <a:spcPts val="1285"/>
              </a:lnSpc>
              <a:spcAft>
                <a:spcPts val="400"/>
              </a:spcAft>
              <a:buNone/>
            </a:pPr>
            <a:r>
              <a:rPr lang="en-US" altLang="en-US" sz="900" b="1" dirty="0">
                <a:solidFill>
                  <a:srgbClr val="1B2A4A"/>
                </a:solidFill>
                <a:latin typeface="Arial" panose="020B0604020202090204" pitchFamily="34" charset="0"/>
                <a:ea typeface="Arial" panose="020B0604020202090204" pitchFamily="34" charset="-122"/>
                <a:cs typeface="Arial" panose="020B0604020202090204" pitchFamily="34" charset="-120"/>
                <a:sym typeface="+mn-ea"/>
              </a:rPr>
              <a:t>If we remove the parts of embeddings that can be predicted from writing style, who is still most isolated from their nearest neighbor?</a:t>
            </a:r>
            <a:endParaRPr lang="en-US" altLang="en-US" sz="900" dirty="0">
              <a:solidFill>
                <a:srgbClr val="2C3E50"/>
              </a:solidFill>
              <a:latin typeface="Arial" panose="020B0604020202090204" pitchFamily="34" charset="0"/>
              <a:cs typeface="Arial" panose="020B0604020202090204" pitchFamily="34" charset="0"/>
            </a:endParaRPr>
          </a:p>
        </p:txBody>
      </p:sp>
      <p:sp>
        <p:nvSpPr>
          <p:cNvPr id="20" name="Text 8"/>
          <p:cNvSpPr/>
          <p:nvPr/>
        </p:nvSpPr>
        <p:spPr>
          <a:xfrm>
            <a:off x="4791710" y="1723390"/>
            <a:ext cx="3996055" cy="499745"/>
          </a:xfrm>
          <a:prstGeom prst="rect">
            <a:avLst/>
          </a:prstGeom>
          <a:noFill/>
        </p:spPr>
        <p:txBody>
          <a:bodyPr wrap="square" lIns="0" tIns="0" rIns="0" bIns="0" rtlCol="0" anchor="t"/>
          <a:lstStyle/>
          <a:p>
            <a:pPr marL="0" indent="0" algn="l">
              <a:lnSpc>
                <a:spcPts val="1285"/>
              </a:lnSpc>
              <a:spcAft>
                <a:spcPts val="400"/>
              </a:spcAft>
              <a:buNone/>
            </a:pPr>
            <a:r>
              <a:rPr lang="en-US" altLang="en-US" sz="900" b="1" dirty="0">
                <a:solidFill>
                  <a:srgbClr val="E8505B"/>
                </a:solidFill>
                <a:latin typeface="Arial Bold" panose="020B0604020202090204" charset="0"/>
                <a:cs typeface="Arial Bold" panose="020B0604020202090204" charset="0"/>
              </a:rPr>
              <a:t>Claude proposals become more isolated in the residual space → they look more “content-different” from their nearest neighbors (or at least less similar under the residual embedding geometry).</a:t>
            </a:r>
            <a:endParaRPr lang="en-US" altLang="en-US" sz="900" b="1" dirty="0">
              <a:solidFill>
                <a:srgbClr val="E8505B"/>
              </a:solidFill>
              <a:latin typeface="Arial Bold" panose="020B0604020202090204" charset="0"/>
              <a:cs typeface="Arial Bold" panose="020B0604020202090204" charset="0"/>
            </a:endParaRPr>
          </a:p>
          <a:p>
            <a:pPr marL="0" indent="0" algn="l">
              <a:lnSpc>
                <a:spcPts val="1285"/>
              </a:lnSpc>
              <a:spcAft>
                <a:spcPts val="400"/>
              </a:spcAft>
              <a:buNone/>
            </a:pPr>
            <a:r>
              <a:rPr lang="en-US" altLang="en-US" sz="900" b="1" dirty="0">
                <a:solidFill>
                  <a:srgbClr val="E8505B"/>
                </a:solidFill>
                <a:latin typeface="Arial Bold" panose="020B0604020202090204" charset="0"/>
                <a:cs typeface="Arial Bold" panose="020B0604020202090204" charset="0"/>
              </a:rPr>
              <a:t>GPT‑5.2 becomes less isolated after style is removed → its previous “outlier-ness” in the raw embedding space was partly driven by stylistic embedding components. </a:t>
            </a:r>
            <a:endParaRPr lang="en-US" altLang="en-US" sz="900" b="1" dirty="0">
              <a:solidFill>
                <a:srgbClr val="E8505B"/>
              </a:solidFill>
              <a:latin typeface="Arial Bold" panose="020B0604020202090204" charset="0"/>
              <a:cs typeface="Arial Bold" panose="020B0604020202090204" charset="0"/>
            </a:endParaRPr>
          </a:p>
          <a:p>
            <a:pPr marL="0" indent="0" algn="l">
              <a:lnSpc>
                <a:spcPts val="1285"/>
              </a:lnSpc>
              <a:spcAft>
                <a:spcPts val="400"/>
              </a:spcAft>
              <a:buNone/>
            </a:pPr>
            <a:endParaRPr lang="en-US" altLang="en-US" sz="900" dirty="0">
              <a:solidFill>
                <a:srgbClr val="2C3E50"/>
              </a:solidFill>
              <a:latin typeface="Arial" panose="020B0604020202090204" pitchFamily="34" charset="0"/>
              <a:cs typeface="Arial" panose="020B0604020202090204" pitchFamily="34" charset="0"/>
            </a:endParaRPr>
          </a:p>
        </p:txBody>
      </p:sp>
      <p:sp>
        <p:nvSpPr>
          <p:cNvPr id="6" name="Text 2"/>
          <p:cNvSpPr/>
          <p:nvPr/>
        </p:nvSpPr>
        <p:spPr>
          <a:xfrm>
            <a:off x="169495" y="782022"/>
            <a:ext cx="3650751"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Outlier Rates (top 10% NN distance)</a:t>
            </a:r>
            <a:endParaRPr lang="en-US" sz="1200" dirty="0"/>
          </a:p>
        </p:txBody>
      </p:sp>
      <p:sp>
        <p:nvSpPr>
          <p:cNvPr id="12" name="Text 3"/>
          <p:cNvSpPr/>
          <p:nvPr/>
        </p:nvSpPr>
        <p:spPr>
          <a:xfrm>
            <a:off x="169495" y="1029672"/>
            <a:ext cx="444401" cy="25301"/>
          </a:xfrm>
          <a:prstGeom prst="rect">
            <a:avLst/>
          </a:prstGeom>
          <a:solidFill>
            <a:srgbClr val="E8505B"/>
          </a:solidFill>
        </p:spPr>
        <p:txBody>
          <a:bodyPr wrap="square" rtlCol="0" anchor="ctr"/>
          <a:lstStyle/>
          <a:p>
            <a:pPr marL="0" indent="0">
              <a:buNone/>
            </a:pPr>
            <a:endParaRPr lang="en-US" dirty="0"/>
          </a:p>
        </p:txBody>
      </p:sp>
      <p:sp>
        <p:nvSpPr>
          <p:cNvPr id="13" name="Shape 5"/>
          <p:cNvSpPr/>
          <p:nvPr/>
        </p:nvSpPr>
        <p:spPr>
          <a:xfrm>
            <a:off x="169495" y="1787356"/>
            <a:ext cx="1738759" cy="0"/>
          </a:xfrm>
          <a:prstGeom prst="line">
            <a:avLst/>
          </a:prstGeom>
          <a:noFill/>
          <a:ln w="38100">
            <a:solidFill>
              <a:srgbClr val="E74C3C"/>
            </a:solidFill>
            <a:prstDash val="solid"/>
          </a:ln>
        </p:spPr>
      </p:sp>
      <p:sp>
        <p:nvSpPr>
          <p:cNvPr id="14" name="Text 6"/>
          <p:cNvSpPr/>
          <p:nvPr/>
        </p:nvSpPr>
        <p:spPr>
          <a:xfrm>
            <a:off x="255639" y="1270774"/>
            <a:ext cx="1566473" cy="264021"/>
          </a:xfrm>
          <a:prstGeom prst="rect">
            <a:avLst/>
          </a:prstGeom>
          <a:noFill/>
        </p:spPr>
        <p:txBody>
          <a:bodyPr wrap="square" lIns="0" tIns="0" rIns="0" bIns="0" rtlCol="0" anchor="t"/>
          <a:lstStyle/>
          <a:p>
            <a:pPr marL="0" indent="0" algn="ctr">
              <a:lnSpc>
                <a:spcPts val="2080"/>
              </a:lnSpc>
              <a:buNone/>
            </a:pPr>
            <a:r>
              <a:rPr lang="en-US" sz="1600" b="1" dirty="0">
                <a:solidFill>
                  <a:srgbClr val="1B2A4A"/>
                </a:solidFill>
                <a:latin typeface="Arial" panose="020B0604020202090204" pitchFamily="34" charset="0"/>
                <a:ea typeface="Arial" panose="020B0604020202090204" pitchFamily="34" charset="-122"/>
                <a:cs typeface="Arial" panose="020B0604020202090204" pitchFamily="34" charset="-120"/>
              </a:rPr>
              <a:t>13.0%</a:t>
            </a:r>
            <a:endParaRPr lang="en-US" sz="1600" dirty="0"/>
          </a:p>
        </p:txBody>
      </p:sp>
      <p:sp>
        <p:nvSpPr>
          <p:cNvPr id="15" name="Text 7"/>
          <p:cNvSpPr/>
          <p:nvPr/>
        </p:nvSpPr>
        <p:spPr>
          <a:xfrm>
            <a:off x="255639" y="1560096"/>
            <a:ext cx="1566473" cy="132011"/>
          </a:xfrm>
          <a:prstGeom prst="rect">
            <a:avLst/>
          </a:prstGeom>
          <a:noFill/>
        </p:spPr>
        <p:txBody>
          <a:bodyPr wrap="square" lIns="0" tIns="0" rIns="0" bIns="0" rtlCol="0" anchor="t"/>
          <a:lstStyle/>
          <a:p>
            <a:pPr marL="0" indent="0" algn="ctr">
              <a:lnSpc>
                <a:spcPts val="1040"/>
              </a:lnSpc>
              <a:spcBef>
                <a:spcPts val="200"/>
              </a:spcBef>
              <a:buNone/>
            </a:pPr>
            <a:r>
              <a:rPr lang="en-US" sz="800" dirty="0">
                <a:solidFill>
                  <a:srgbClr val="5D6D7E"/>
                </a:solidFill>
                <a:latin typeface="Arial" panose="020B0604020202090204" pitchFamily="34" charset="0"/>
                <a:ea typeface="Arial" panose="020B0604020202090204" pitchFamily="34" charset="-122"/>
                <a:cs typeface="Arial" panose="020B0604020202090204" pitchFamily="34" charset="-120"/>
              </a:rPr>
              <a:t>Human</a:t>
            </a:r>
            <a:endParaRPr lang="en-US" sz="800" dirty="0"/>
          </a:p>
        </p:txBody>
      </p:sp>
      <p:sp>
        <p:nvSpPr>
          <p:cNvPr id="16" name="Shape 9"/>
          <p:cNvSpPr/>
          <p:nvPr/>
        </p:nvSpPr>
        <p:spPr>
          <a:xfrm>
            <a:off x="2009755" y="1787356"/>
            <a:ext cx="1738908" cy="0"/>
          </a:xfrm>
          <a:prstGeom prst="line">
            <a:avLst/>
          </a:prstGeom>
          <a:noFill/>
          <a:ln w="38100">
            <a:solidFill>
              <a:srgbClr val="5D6D7E"/>
            </a:solidFill>
            <a:prstDash val="solid"/>
          </a:ln>
        </p:spPr>
      </p:sp>
      <p:sp>
        <p:nvSpPr>
          <p:cNvPr id="17" name="Text 10"/>
          <p:cNvSpPr/>
          <p:nvPr/>
        </p:nvSpPr>
        <p:spPr>
          <a:xfrm>
            <a:off x="2095897" y="1270774"/>
            <a:ext cx="1566624" cy="264021"/>
          </a:xfrm>
          <a:prstGeom prst="rect">
            <a:avLst/>
          </a:prstGeom>
          <a:noFill/>
        </p:spPr>
        <p:txBody>
          <a:bodyPr wrap="square" lIns="0" tIns="0" rIns="0" bIns="0" rtlCol="0" anchor="t"/>
          <a:lstStyle/>
          <a:p>
            <a:pPr marL="0" indent="0" algn="ctr">
              <a:lnSpc>
                <a:spcPts val="2080"/>
              </a:lnSpc>
              <a:buNone/>
            </a:pPr>
            <a:r>
              <a:rPr lang="en-US" sz="1600" b="1" dirty="0">
                <a:solidFill>
                  <a:schemeClr val="bg2">
                    <a:lumMod val="50000"/>
                  </a:schemeClr>
                </a:solidFill>
                <a:latin typeface="Arial" panose="020B0604020202090204" pitchFamily="34" charset="0"/>
                <a:ea typeface="Arial" panose="020B0604020202090204" pitchFamily="34" charset="-122"/>
                <a:cs typeface="Arial" panose="020B0604020202090204" pitchFamily="34" charset="-120"/>
              </a:rPr>
              <a:t>0.0% -&gt;</a:t>
            </a:r>
            <a:r>
              <a:rPr lang="en-US" sz="1600" b="1" dirty="0">
                <a:solidFill>
                  <a:srgbClr val="1B2A4A"/>
                </a:solidFill>
                <a:latin typeface="Arial" panose="020B0604020202090204" pitchFamily="34" charset="0"/>
                <a:ea typeface="Arial" panose="020B0604020202090204" pitchFamily="34" charset="-122"/>
                <a:cs typeface="Arial" panose="020B0604020202090204" pitchFamily="34" charset="-120"/>
              </a:rPr>
              <a:t> 30.4%</a:t>
            </a:r>
            <a:endParaRPr lang="en-US" sz="1600" dirty="0"/>
          </a:p>
        </p:txBody>
      </p:sp>
      <p:sp>
        <p:nvSpPr>
          <p:cNvPr id="18" name="Text 11"/>
          <p:cNvSpPr/>
          <p:nvPr/>
        </p:nvSpPr>
        <p:spPr>
          <a:xfrm>
            <a:off x="2095897" y="1560096"/>
            <a:ext cx="1566624" cy="132011"/>
          </a:xfrm>
          <a:prstGeom prst="rect">
            <a:avLst/>
          </a:prstGeom>
          <a:noFill/>
        </p:spPr>
        <p:txBody>
          <a:bodyPr wrap="square" lIns="0" tIns="0" rIns="0" bIns="0" rtlCol="0" anchor="t"/>
          <a:lstStyle/>
          <a:p>
            <a:pPr marL="0" indent="0" algn="ctr">
              <a:lnSpc>
                <a:spcPts val="1040"/>
              </a:lnSpc>
              <a:spcBef>
                <a:spcPts val="200"/>
              </a:spcBef>
              <a:buNone/>
            </a:pPr>
            <a:r>
              <a:rPr lang="en-US" sz="800" dirty="0">
                <a:solidFill>
                  <a:srgbClr val="5D6D7E"/>
                </a:solidFill>
                <a:latin typeface="Arial" panose="020B0604020202090204" pitchFamily="34" charset="0"/>
                <a:ea typeface="Arial" panose="020B0604020202090204" pitchFamily="34" charset="-122"/>
                <a:cs typeface="Arial" panose="020B0604020202090204" pitchFamily="34" charset="-120"/>
              </a:rPr>
              <a:t>Claude</a:t>
            </a:r>
            <a:endParaRPr lang="en-US" sz="800" dirty="0"/>
          </a:p>
        </p:txBody>
      </p:sp>
      <p:sp>
        <p:nvSpPr>
          <p:cNvPr id="19" name="Shape 13"/>
          <p:cNvSpPr/>
          <p:nvPr/>
        </p:nvSpPr>
        <p:spPr>
          <a:xfrm>
            <a:off x="169495" y="2475389"/>
            <a:ext cx="1738759" cy="0"/>
          </a:xfrm>
          <a:prstGeom prst="line">
            <a:avLst/>
          </a:prstGeom>
          <a:noFill/>
          <a:ln w="38100">
            <a:solidFill>
              <a:srgbClr val="8E44AD"/>
            </a:solidFill>
            <a:prstDash val="solid"/>
          </a:ln>
        </p:spPr>
      </p:sp>
      <p:sp>
        <p:nvSpPr>
          <p:cNvPr id="21" name="Text 14"/>
          <p:cNvSpPr/>
          <p:nvPr/>
        </p:nvSpPr>
        <p:spPr>
          <a:xfrm>
            <a:off x="255639" y="1958806"/>
            <a:ext cx="1566473" cy="264021"/>
          </a:xfrm>
          <a:prstGeom prst="rect">
            <a:avLst/>
          </a:prstGeom>
          <a:noFill/>
        </p:spPr>
        <p:txBody>
          <a:bodyPr wrap="square" lIns="0" tIns="0" rIns="0" bIns="0" rtlCol="0" anchor="t"/>
          <a:lstStyle/>
          <a:p>
            <a:pPr marL="0" indent="0" algn="ctr">
              <a:lnSpc>
                <a:spcPts val="2080"/>
              </a:lnSpc>
              <a:buNone/>
            </a:pPr>
            <a:r>
              <a:rPr lang="en-US" sz="1600" b="1" dirty="0">
                <a:solidFill>
                  <a:schemeClr val="bg2">
                    <a:lumMod val="50000"/>
                  </a:schemeClr>
                </a:solidFill>
                <a:latin typeface="Arial" panose="020B0604020202090204" pitchFamily="34" charset="0"/>
                <a:ea typeface="Arial" panose="020B0604020202090204" pitchFamily="34" charset="-122"/>
                <a:cs typeface="Arial" panose="020B0604020202090204" pitchFamily="34" charset="-120"/>
              </a:rPr>
              <a:t>4.3% -&gt;</a:t>
            </a:r>
            <a:r>
              <a:rPr lang="en-US" sz="1600" b="1" dirty="0">
                <a:solidFill>
                  <a:srgbClr val="1B2A4A"/>
                </a:solidFill>
                <a:latin typeface="Arial" panose="020B0604020202090204" pitchFamily="34" charset="0"/>
                <a:ea typeface="Arial" panose="020B0604020202090204" pitchFamily="34" charset="-122"/>
                <a:cs typeface="Arial" panose="020B0604020202090204" pitchFamily="34" charset="-120"/>
              </a:rPr>
              <a:t> 0%</a:t>
            </a:r>
            <a:endParaRPr lang="en-US" sz="1600" dirty="0"/>
          </a:p>
        </p:txBody>
      </p:sp>
      <p:sp>
        <p:nvSpPr>
          <p:cNvPr id="22" name="Text 15"/>
          <p:cNvSpPr/>
          <p:nvPr/>
        </p:nvSpPr>
        <p:spPr>
          <a:xfrm>
            <a:off x="255639" y="2248128"/>
            <a:ext cx="1566473" cy="132011"/>
          </a:xfrm>
          <a:prstGeom prst="rect">
            <a:avLst/>
          </a:prstGeom>
          <a:noFill/>
        </p:spPr>
        <p:txBody>
          <a:bodyPr wrap="square" lIns="0" tIns="0" rIns="0" bIns="0" rtlCol="0" anchor="t"/>
          <a:lstStyle/>
          <a:p>
            <a:pPr marL="0" indent="0" algn="ctr">
              <a:lnSpc>
                <a:spcPts val="1040"/>
              </a:lnSpc>
              <a:spcBef>
                <a:spcPts val="200"/>
              </a:spcBef>
              <a:buNone/>
            </a:pPr>
            <a:r>
              <a:rPr lang="en-US" sz="800" dirty="0">
                <a:solidFill>
                  <a:srgbClr val="5D6D7E"/>
                </a:solidFill>
                <a:latin typeface="Arial" panose="020B0604020202090204" pitchFamily="34" charset="0"/>
                <a:ea typeface="Arial" panose="020B0604020202090204" pitchFamily="34" charset="-122"/>
                <a:cs typeface="Arial" panose="020B0604020202090204" pitchFamily="34" charset="-120"/>
              </a:rPr>
              <a:t>Gemini</a:t>
            </a:r>
            <a:endParaRPr lang="en-US" sz="800" dirty="0"/>
          </a:p>
        </p:txBody>
      </p:sp>
      <p:sp>
        <p:nvSpPr>
          <p:cNvPr id="23" name="Shape 17"/>
          <p:cNvSpPr/>
          <p:nvPr/>
        </p:nvSpPr>
        <p:spPr>
          <a:xfrm>
            <a:off x="2009755" y="2475389"/>
            <a:ext cx="1738908" cy="0"/>
          </a:xfrm>
          <a:prstGeom prst="line">
            <a:avLst/>
          </a:prstGeom>
          <a:noFill/>
          <a:ln w="38100">
            <a:solidFill>
              <a:srgbClr val="E67E22"/>
            </a:solidFill>
            <a:prstDash val="solid"/>
          </a:ln>
        </p:spPr>
      </p:sp>
      <p:sp>
        <p:nvSpPr>
          <p:cNvPr id="24" name="Text 18"/>
          <p:cNvSpPr/>
          <p:nvPr/>
        </p:nvSpPr>
        <p:spPr>
          <a:xfrm>
            <a:off x="2095897" y="1958806"/>
            <a:ext cx="1566624" cy="264021"/>
          </a:xfrm>
          <a:prstGeom prst="rect">
            <a:avLst/>
          </a:prstGeom>
          <a:noFill/>
        </p:spPr>
        <p:txBody>
          <a:bodyPr wrap="square" lIns="0" tIns="0" rIns="0" bIns="0" rtlCol="0" anchor="t"/>
          <a:lstStyle/>
          <a:p>
            <a:pPr marL="0" indent="0" algn="ctr">
              <a:lnSpc>
                <a:spcPts val="2080"/>
              </a:lnSpc>
              <a:buNone/>
            </a:pPr>
            <a:r>
              <a:rPr lang="en-US" sz="1600" b="1" dirty="0">
                <a:solidFill>
                  <a:schemeClr val="bg2">
                    <a:lumMod val="50000"/>
                  </a:schemeClr>
                </a:solidFill>
                <a:latin typeface="Arial" panose="020B0604020202090204" pitchFamily="34" charset="0"/>
                <a:ea typeface="Arial" panose="020B0604020202090204" pitchFamily="34" charset="-122"/>
                <a:cs typeface="Arial" panose="020B0604020202090204" pitchFamily="34" charset="-120"/>
              </a:rPr>
              <a:t>26.1% -&gt;</a:t>
            </a:r>
            <a:r>
              <a:rPr lang="en-US" sz="1600" b="1" dirty="0">
                <a:solidFill>
                  <a:srgbClr val="1B2A4A"/>
                </a:solidFill>
                <a:latin typeface="Arial" panose="020B0604020202090204" pitchFamily="34" charset="0"/>
                <a:ea typeface="Arial" panose="020B0604020202090204" pitchFamily="34" charset="-122"/>
                <a:cs typeface="Arial" panose="020B0604020202090204" pitchFamily="34" charset="-120"/>
              </a:rPr>
              <a:t> 0%</a:t>
            </a:r>
            <a:endParaRPr lang="en-US" sz="1600" dirty="0"/>
          </a:p>
        </p:txBody>
      </p:sp>
      <p:sp>
        <p:nvSpPr>
          <p:cNvPr id="25" name="Text 19"/>
          <p:cNvSpPr/>
          <p:nvPr/>
        </p:nvSpPr>
        <p:spPr>
          <a:xfrm>
            <a:off x="2095897" y="2248128"/>
            <a:ext cx="1566624" cy="132011"/>
          </a:xfrm>
          <a:prstGeom prst="rect">
            <a:avLst/>
          </a:prstGeom>
          <a:noFill/>
        </p:spPr>
        <p:txBody>
          <a:bodyPr wrap="square" lIns="0" tIns="0" rIns="0" bIns="0" rtlCol="0" anchor="t"/>
          <a:lstStyle/>
          <a:p>
            <a:pPr marL="0" indent="0" algn="ctr">
              <a:lnSpc>
                <a:spcPts val="1040"/>
              </a:lnSpc>
              <a:spcBef>
                <a:spcPts val="200"/>
              </a:spcBef>
              <a:buNone/>
            </a:pPr>
            <a:r>
              <a:rPr lang="en-US" sz="800" dirty="0">
                <a:solidFill>
                  <a:srgbClr val="5D6D7E"/>
                </a:solidFill>
                <a:latin typeface="Arial" panose="020B0604020202090204" pitchFamily="34" charset="0"/>
                <a:ea typeface="Arial" panose="020B0604020202090204" pitchFamily="34" charset="-122"/>
                <a:cs typeface="Arial" panose="020B0604020202090204" pitchFamily="34" charset="-120"/>
              </a:rPr>
              <a:t>GPT-5.2</a:t>
            </a:r>
            <a:endParaRPr lang="en-US" sz="800" dirty="0"/>
          </a:p>
        </p:txBody>
      </p:sp>
      <p:pic>
        <p:nvPicPr>
          <p:cNvPr id="26" name="Picture 25" descr="nearest_neighbor_by_model_style_adjusted"/>
          <p:cNvPicPr>
            <a:picLocks noChangeAspect="1"/>
          </p:cNvPicPr>
          <p:nvPr/>
        </p:nvPicPr>
        <p:blipFill>
          <a:blip r:embed="rId1"/>
          <a:stretch>
            <a:fillRect/>
          </a:stretch>
        </p:blipFill>
        <p:spPr>
          <a:xfrm>
            <a:off x="169545" y="2924175"/>
            <a:ext cx="5879465" cy="20777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Key Findings</a:t>
            </a:r>
            <a:endParaRPr lang="en-US" sz="2000" dirty="0"/>
          </a:p>
        </p:txBody>
      </p:sp>
      <p:sp>
        <p:nvSpPr>
          <p:cNvPr id="4" name="Text 2"/>
          <p:cNvSpPr/>
          <p:nvPr/>
        </p:nvSpPr>
        <p:spPr>
          <a:xfrm>
            <a:off x="507950" y="853827"/>
            <a:ext cx="3937099" cy="1050000"/>
          </a:xfrm>
          <a:prstGeom prst="roundRect">
            <a:avLst>
              <a:gd name="adj" fmla="val 3645"/>
            </a:avLst>
          </a:prstGeom>
          <a:solidFill>
            <a:srgbClr val="FDF8F8"/>
          </a:solidFill>
        </p:spPr>
        <p:txBody>
          <a:bodyPr wrap="square" rtlCol="0" anchor="ctr"/>
          <a:lstStyle/>
          <a:p>
            <a:pPr marL="0" indent="0">
              <a:buNone/>
            </a:pPr>
            <a:endParaRPr lang="en-US" dirty="0"/>
          </a:p>
        </p:txBody>
      </p:sp>
      <p:sp>
        <p:nvSpPr>
          <p:cNvPr id="5" name="Shape 3"/>
          <p:cNvSpPr/>
          <p:nvPr/>
        </p:nvSpPr>
        <p:spPr>
          <a:xfrm>
            <a:off x="507950" y="872877"/>
            <a:ext cx="3937099" cy="0"/>
          </a:xfrm>
          <a:prstGeom prst="line">
            <a:avLst/>
          </a:prstGeom>
          <a:noFill/>
          <a:ln w="38100">
            <a:solidFill>
              <a:srgbClr val="E8505B"/>
            </a:solidFill>
            <a:prstDash val="solid"/>
          </a:ln>
        </p:spPr>
      </p:sp>
      <p:sp>
        <p:nvSpPr>
          <p:cNvPr id="6" name="Text 4"/>
          <p:cNvSpPr/>
          <p:nvPr/>
        </p:nvSpPr>
        <p:spPr>
          <a:xfrm>
            <a:off x="507950" y="928757"/>
            <a:ext cx="3707099" cy="308521"/>
          </a:xfrm>
          <a:prstGeom prst="rect">
            <a:avLst/>
          </a:prstGeom>
          <a:noFill/>
        </p:spPr>
        <p:txBody>
          <a:bodyPr wrap="square" lIns="0" tIns="0" rIns="0" bIns="0" rtlCol="0" anchor="t"/>
          <a:lstStyle/>
          <a:p>
            <a:pPr marL="0" indent="0" algn="l">
              <a:lnSpc>
                <a:spcPts val="2430"/>
              </a:lnSpc>
              <a:spcAft>
                <a:spcPts val="400"/>
              </a:spcAft>
              <a:buNone/>
            </a:pPr>
            <a:r>
              <a:rPr lang="en-US" sz="1800" b="1" dirty="0">
                <a:solidFill>
                  <a:srgbClr val="E8505B"/>
                </a:solidFill>
                <a:latin typeface="Arial" panose="020B0604020202090204" pitchFamily="34" charset="0"/>
                <a:ea typeface="Arial" panose="020B0604020202090204" pitchFamily="34" charset="-122"/>
                <a:cs typeface="Arial" panose="020B0604020202090204" pitchFamily="34" charset="-120"/>
              </a:rPr>
              <a:t>1</a:t>
            </a:r>
            <a:endParaRPr lang="en-US" sz="1800" dirty="0"/>
          </a:p>
        </p:txBody>
      </p:sp>
      <p:sp>
        <p:nvSpPr>
          <p:cNvPr id="7" name="Text 5"/>
          <p:cNvSpPr/>
          <p:nvPr/>
        </p:nvSpPr>
        <p:spPr>
          <a:xfrm>
            <a:off x="737820" y="999827"/>
            <a:ext cx="3707099"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Model-specific diversity varies dramatically</a:t>
            </a:r>
            <a:endParaRPr lang="en-US" sz="1050" dirty="0"/>
          </a:p>
        </p:txBody>
      </p:sp>
      <p:sp>
        <p:nvSpPr>
          <p:cNvPr id="8" name="Text 6"/>
          <p:cNvSpPr/>
          <p:nvPr/>
        </p:nvSpPr>
        <p:spPr>
          <a:xfrm>
            <a:off x="507950" y="1324607"/>
            <a:ext cx="3707099" cy="42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Claude is more diverse than humans (d = +0.25, pairwise). GPT-5.2 shows mode collapse (d = −1.00). Gemini is intermediate (d = −0.73). There is no single “AI diversity” story.</a:t>
            </a:r>
            <a:endParaRPr lang="en-US" sz="900" dirty="0"/>
          </a:p>
        </p:txBody>
      </p:sp>
      <p:sp>
        <p:nvSpPr>
          <p:cNvPr id="10" name="Shape 8"/>
          <p:cNvSpPr/>
          <p:nvPr/>
        </p:nvSpPr>
        <p:spPr>
          <a:xfrm>
            <a:off x="4698950" y="872877"/>
            <a:ext cx="3937099" cy="0"/>
          </a:xfrm>
          <a:prstGeom prst="line">
            <a:avLst/>
          </a:prstGeom>
          <a:noFill/>
          <a:ln w="38100">
            <a:solidFill>
              <a:srgbClr val="2E86AB"/>
            </a:solidFill>
            <a:prstDash val="solid"/>
          </a:ln>
        </p:spPr>
      </p:sp>
      <p:sp>
        <p:nvSpPr>
          <p:cNvPr id="11" name="Text 9"/>
          <p:cNvSpPr/>
          <p:nvPr/>
        </p:nvSpPr>
        <p:spPr>
          <a:xfrm>
            <a:off x="4698950" y="932567"/>
            <a:ext cx="3707099" cy="308521"/>
          </a:xfrm>
          <a:prstGeom prst="rect">
            <a:avLst/>
          </a:prstGeom>
          <a:noFill/>
        </p:spPr>
        <p:txBody>
          <a:bodyPr wrap="square" lIns="0" tIns="0" rIns="0" bIns="0" rtlCol="0" anchor="t"/>
          <a:lstStyle/>
          <a:p>
            <a:pPr marL="0" indent="0" algn="l">
              <a:lnSpc>
                <a:spcPts val="2430"/>
              </a:lnSpc>
              <a:spcAft>
                <a:spcPts val="400"/>
              </a:spcAft>
              <a:buNone/>
            </a:pPr>
            <a:r>
              <a:rPr lang="en-US" sz="1800" b="1" dirty="0">
                <a:solidFill>
                  <a:srgbClr val="2E86AB"/>
                </a:solidFill>
                <a:latin typeface="Arial" panose="020B0604020202090204" pitchFamily="34" charset="0"/>
                <a:ea typeface="Arial" panose="020B0604020202090204" pitchFamily="34" charset="-122"/>
                <a:cs typeface="Arial" panose="020B0604020202090204" pitchFamily="34" charset="-120"/>
              </a:rPr>
              <a:t>2</a:t>
            </a:r>
            <a:endParaRPr lang="en-US" sz="1800" dirty="0"/>
          </a:p>
        </p:txBody>
      </p:sp>
      <p:sp>
        <p:nvSpPr>
          <p:cNvPr id="12" name="Text 10"/>
          <p:cNvSpPr/>
          <p:nvPr/>
        </p:nvSpPr>
        <p:spPr>
          <a:xfrm>
            <a:off x="4971365" y="1025227"/>
            <a:ext cx="3707099"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Human proposals are more novel than AI</a:t>
            </a:r>
            <a:endParaRPr lang="en-US" sz="1050" dirty="0"/>
          </a:p>
        </p:txBody>
      </p:sp>
      <p:sp>
        <p:nvSpPr>
          <p:cNvPr id="13" name="Text 11"/>
          <p:cNvSpPr/>
          <p:nvPr/>
        </p:nvSpPr>
        <p:spPr>
          <a:xfrm>
            <a:off x="4698950" y="1300477"/>
            <a:ext cx="3707099" cy="42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Human mean novelty 0.151 vs AI 0.117 (d = −0.34, medium). Claude’s novelty is closest to human (not significant), while GPT-5.2 and Gemini are significantly less novel — their output stays close to published literature.</a:t>
            </a:r>
            <a:endParaRPr lang="en-US" sz="900" dirty="0"/>
          </a:p>
        </p:txBody>
      </p:sp>
      <p:sp>
        <p:nvSpPr>
          <p:cNvPr id="15" name="Shape 13"/>
          <p:cNvSpPr/>
          <p:nvPr/>
        </p:nvSpPr>
        <p:spPr>
          <a:xfrm>
            <a:off x="507950" y="2069050"/>
            <a:ext cx="3937099" cy="0"/>
          </a:xfrm>
          <a:prstGeom prst="line">
            <a:avLst/>
          </a:prstGeom>
          <a:noFill/>
          <a:ln w="38100">
            <a:solidFill>
              <a:srgbClr val="2E86AB"/>
            </a:solidFill>
            <a:prstDash val="solid"/>
          </a:ln>
        </p:spPr>
      </p:sp>
      <p:sp>
        <p:nvSpPr>
          <p:cNvPr id="16" name="Text 14"/>
          <p:cNvSpPr/>
          <p:nvPr/>
        </p:nvSpPr>
        <p:spPr>
          <a:xfrm>
            <a:off x="507950" y="2206210"/>
            <a:ext cx="3707099" cy="308521"/>
          </a:xfrm>
          <a:prstGeom prst="rect">
            <a:avLst/>
          </a:prstGeom>
          <a:noFill/>
        </p:spPr>
        <p:txBody>
          <a:bodyPr wrap="square" lIns="0" tIns="0" rIns="0" bIns="0" rtlCol="0" anchor="t"/>
          <a:lstStyle/>
          <a:p>
            <a:pPr marL="0" indent="0" algn="l">
              <a:lnSpc>
                <a:spcPts val="2430"/>
              </a:lnSpc>
              <a:spcAft>
                <a:spcPts val="400"/>
              </a:spcAft>
              <a:buNone/>
            </a:pPr>
            <a:r>
              <a:rPr lang="en-US" sz="1800" b="1" dirty="0">
                <a:solidFill>
                  <a:srgbClr val="2E86AB"/>
                </a:solidFill>
                <a:latin typeface="Arial" panose="020B0604020202090204" pitchFamily="34" charset="0"/>
                <a:ea typeface="Arial" panose="020B0604020202090204" pitchFamily="34" charset="-122"/>
                <a:cs typeface="Arial" panose="020B0604020202090204" pitchFamily="34" charset="-120"/>
              </a:rPr>
              <a:t>3</a:t>
            </a:r>
            <a:endParaRPr lang="en-US" sz="1800" dirty="0"/>
          </a:p>
        </p:txBody>
      </p:sp>
      <p:sp>
        <p:nvSpPr>
          <p:cNvPr id="17" name="Text 15"/>
          <p:cNvSpPr/>
          <p:nvPr/>
        </p:nvSpPr>
        <p:spPr>
          <a:xfrm>
            <a:off x="737820" y="2284900"/>
            <a:ext cx="3707099"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Human and AI occupy different semantic territory</a:t>
            </a:r>
            <a:endParaRPr lang="en-US" sz="1050" dirty="0"/>
          </a:p>
        </p:txBody>
      </p:sp>
      <p:sp>
        <p:nvSpPr>
          <p:cNvPr id="18" name="Text 16"/>
          <p:cNvSpPr/>
          <p:nvPr/>
        </p:nvSpPr>
        <p:spPr>
          <a:xfrm>
            <a:off x="507950" y="2603965"/>
            <a:ext cx="3707099" cy="42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100% of AI nearest neighbors are other AI proposals. GMM clustering: 2 of 3 clusters are AI-only (NMI = 0.20, p &lt; 0.0001). LDA: complete topic separation. Humans and AI generate fundamentally different kinds of ideas.</a:t>
            </a:r>
            <a:endParaRPr lang="en-US" sz="900" dirty="0"/>
          </a:p>
        </p:txBody>
      </p:sp>
      <p:sp>
        <p:nvSpPr>
          <p:cNvPr id="19" name="Text 17"/>
          <p:cNvSpPr/>
          <p:nvPr/>
        </p:nvSpPr>
        <p:spPr>
          <a:xfrm>
            <a:off x="4698950" y="2050000"/>
            <a:ext cx="3937099" cy="1050000"/>
          </a:xfrm>
          <a:prstGeom prst="roundRect">
            <a:avLst>
              <a:gd name="adj" fmla="val 3645"/>
            </a:avLst>
          </a:prstGeom>
          <a:solidFill>
            <a:srgbClr val="F0F4F8"/>
          </a:solidFill>
        </p:spPr>
        <p:txBody>
          <a:bodyPr wrap="square" rtlCol="0" anchor="ctr"/>
          <a:lstStyle/>
          <a:p>
            <a:pPr marL="0" indent="0">
              <a:buNone/>
            </a:pPr>
            <a:endParaRPr lang="en-US" dirty="0"/>
          </a:p>
        </p:txBody>
      </p:sp>
      <p:sp>
        <p:nvSpPr>
          <p:cNvPr id="20" name="Shape 18"/>
          <p:cNvSpPr/>
          <p:nvPr/>
        </p:nvSpPr>
        <p:spPr>
          <a:xfrm>
            <a:off x="4698950" y="2069050"/>
            <a:ext cx="3937099" cy="0"/>
          </a:xfrm>
          <a:prstGeom prst="line">
            <a:avLst/>
          </a:prstGeom>
          <a:noFill/>
          <a:ln w="38100">
            <a:solidFill>
              <a:srgbClr val="16A085"/>
            </a:solidFill>
            <a:prstDash val="solid"/>
          </a:ln>
        </p:spPr>
      </p:sp>
      <p:sp>
        <p:nvSpPr>
          <p:cNvPr id="21" name="Text 19"/>
          <p:cNvSpPr/>
          <p:nvPr/>
        </p:nvSpPr>
        <p:spPr>
          <a:xfrm>
            <a:off x="4698950" y="2195415"/>
            <a:ext cx="3707099" cy="308521"/>
          </a:xfrm>
          <a:prstGeom prst="rect">
            <a:avLst/>
          </a:prstGeom>
          <a:noFill/>
        </p:spPr>
        <p:txBody>
          <a:bodyPr wrap="square" lIns="0" tIns="0" rIns="0" bIns="0" rtlCol="0" anchor="t"/>
          <a:lstStyle/>
          <a:p>
            <a:pPr marL="0" indent="0" algn="l">
              <a:lnSpc>
                <a:spcPts val="2430"/>
              </a:lnSpc>
              <a:spcAft>
                <a:spcPts val="400"/>
              </a:spcAft>
              <a:buNone/>
            </a:pPr>
            <a:r>
              <a:rPr lang="en-US" sz="1800" b="1" dirty="0">
                <a:solidFill>
                  <a:srgbClr val="16A085"/>
                </a:solidFill>
                <a:latin typeface="Arial" panose="020B0604020202090204" pitchFamily="34" charset="0"/>
                <a:ea typeface="Arial" panose="020B0604020202090204" pitchFamily="34" charset="-122"/>
                <a:cs typeface="Arial" panose="020B0604020202090204" pitchFamily="34" charset="-120"/>
              </a:rPr>
              <a:t>4</a:t>
            </a:r>
            <a:endParaRPr lang="en-US" sz="1800" dirty="0"/>
          </a:p>
        </p:txBody>
      </p:sp>
      <p:sp>
        <p:nvSpPr>
          <p:cNvPr id="22" name="Text 20"/>
          <p:cNvSpPr/>
          <p:nvPr/>
        </p:nvSpPr>
        <p:spPr>
          <a:xfrm>
            <a:off x="4971365" y="2288710"/>
            <a:ext cx="3707099" cy="152400"/>
          </a:xfrm>
          <a:prstGeom prst="rect">
            <a:avLst/>
          </a:prstGeom>
          <a:noFill/>
        </p:spPr>
        <p:txBody>
          <a:bodyPr wrap="square" lIns="0" tIns="0" rIns="0" bIns="0" rtlCol="0" anchor="t"/>
          <a:lstStyle/>
          <a:p>
            <a:pPr marL="0" indent="0" algn="l">
              <a:lnSpc>
                <a:spcPts val="1285"/>
              </a:lnSpc>
              <a:spcAft>
                <a:spcPts val="400"/>
              </a:spcAft>
              <a:buNone/>
            </a:pPr>
            <a:r>
              <a:rPr lang="en-US" sz="1050" b="1" dirty="0">
                <a:solidFill>
                  <a:srgbClr val="1B2A4A"/>
                </a:solidFill>
                <a:latin typeface="Arial" panose="020B0604020202090204" pitchFamily="34" charset="0"/>
                <a:ea typeface="Arial" panose="020B0604020202090204" pitchFamily="34" charset="-122"/>
                <a:cs typeface="Arial" panose="020B0604020202090204" pitchFamily="34" charset="-120"/>
              </a:rPr>
              <a:t>Diversity does not equal novelty</a:t>
            </a:r>
            <a:endParaRPr lang="en-US" sz="1050" dirty="0"/>
          </a:p>
        </p:txBody>
      </p:sp>
      <p:sp>
        <p:nvSpPr>
          <p:cNvPr id="23" name="Text 21"/>
          <p:cNvSpPr/>
          <p:nvPr/>
        </p:nvSpPr>
        <p:spPr>
          <a:xfrm>
            <a:off x="4698950" y="2603965"/>
            <a:ext cx="3707099" cy="42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Claude produces the most diverse proposals, but they are only moderately novel. Human proposals are moderately diverse but most novel. High diversity within AI space may reflect variation among training-data-typical framings, not genuinely new ideas.</a:t>
            </a:r>
            <a:endParaRPr lang="en-US" sz="900" dirty="0"/>
          </a:p>
        </p:txBody>
      </p:sp>
      <p:sp>
        <p:nvSpPr>
          <p:cNvPr id="24" name="Text 22"/>
          <p:cNvSpPr/>
          <p:nvPr/>
        </p:nvSpPr>
        <p:spPr>
          <a:xfrm>
            <a:off x="355550" y="3620040"/>
            <a:ext cx="8128099" cy="650000"/>
          </a:xfrm>
          <a:prstGeom prst="roundRect">
            <a:avLst>
              <a:gd name="adj" fmla="val 5000"/>
            </a:avLst>
          </a:prstGeom>
          <a:solidFill>
            <a:srgbClr val="F5F5F5"/>
          </a:solidFill>
        </p:spPr>
        <p:txBody>
          <a:bodyPr wrap="square" rtlCol="0" anchor="ctr"/>
          <a:lstStyle/>
          <a:p>
            <a:pPr marL="0" indent="0">
              <a:buNone/>
            </a:pPr>
            <a:endParaRPr lang="en-US" dirty="0"/>
          </a:p>
        </p:txBody>
      </p:sp>
      <p:sp>
        <p:nvSpPr>
          <p:cNvPr id="25" name="Text 23"/>
          <p:cNvSpPr/>
          <p:nvPr/>
        </p:nvSpPr>
        <p:spPr>
          <a:xfrm>
            <a:off x="507950" y="3700040"/>
            <a:ext cx="7900000" cy="200000"/>
          </a:xfrm>
          <a:prstGeom prst="rect">
            <a:avLst/>
          </a:prstGeom>
          <a:noFill/>
        </p:spPr>
        <p:txBody>
          <a:bodyPr wrap="square" lIns="0" tIns="0" rIns="0" bIns="0" rtlCol="0" anchor="t"/>
          <a:lstStyle/>
          <a:p>
            <a:pPr marL="0" indent="0" algn="l">
              <a:lnSpc>
                <a:spcPts val="1285"/>
              </a:lnSpc>
              <a:spcAft>
                <a:spcPts val="400"/>
              </a:spcAft>
              <a:buNone/>
            </a:pPr>
            <a:r>
              <a:rPr lang="en-US" sz="1100" b="1" dirty="0">
                <a:solidFill>
                  <a:srgbClr val="1B2A4A"/>
                </a:solidFill>
                <a:latin typeface="Arial" panose="020B0604020202090204" pitchFamily="34" charset="0"/>
                <a:ea typeface="Arial" panose="020B0604020202090204" pitchFamily="34" charset="-122"/>
                <a:cs typeface="Arial" panose="020B0604020202090204" pitchFamily="34" charset="-120"/>
              </a:rPr>
              <a:t>Overarching narrative</a:t>
            </a:r>
            <a:endParaRPr lang="en-US" sz="1100" dirty="0"/>
          </a:p>
        </p:txBody>
      </p:sp>
      <p:sp>
        <p:nvSpPr>
          <p:cNvPr id="26" name="Text 24"/>
          <p:cNvSpPr/>
          <p:nvPr/>
        </p:nvSpPr>
        <p:spPr>
          <a:xfrm>
            <a:off x="507950" y="3930040"/>
            <a:ext cx="7900000" cy="300000"/>
          </a:xfrm>
          <a:prstGeom prst="rect">
            <a:avLst/>
          </a:prstGeom>
          <a:noFill/>
        </p:spPr>
        <p:txBody>
          <a:bodyPr wrap="square" lIns="0" tIns="0" rIns="0" bIns="0" rtlCol="0" anchor="t"/>
          <a:lstStyle/>
          <a:p>
            <a:pPr marL="0" indent="0" algn="l">
              <a:lnSpc>
                <a:spcPts val="1285"/>
              </a:lnSpc>
              <a:spcAft>
                <a:spcPts val="400"/>
              </a:spcAft>
              <a:buNone/>
            </a:pPr>
            <a:r>
              <a:rPr lang="en-US" sz="900" dirty="0">
                <a:solidFill>
                  <a:srgbClr val="2C3E50"/>
                </a:solidFill>
                <a:latin typeface="Arial" panose="020B0604020202090204" pitchFamily="34" charset="0"/>
                <a:ea typeface="Arial" panose="020B0604020202090204" pitchFamily="34" charset="-122"/>
                <a:cs typeface="Arial" panose="020B0604020202090204" pitchFamily="34" charset="-120"/>
              </a:rPr>
              <a:t>AI models can produce diverse proposals on paper, but that diversity operates within a different conceptual space than humans. Human scientists bring genuinely novel perspectives — ideas further from published literature and outside the semantic territory AI models inhabit. This suggests AI is better positioned as an ideation complement to, rather than replacement for, human researchers.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0677"/>
          </a:xfrm>
          <a:prstGeom prst="rect">
            <a:avLst/>
          </a:prstGeom>
          <a:solidFill>
            <a:srgbClr val="1B2A4A"/>
          </a:solidFill>
        </p:spPr>
        <p:txBody>
          <a:bodyPr wrap="square" rtlCol="0" anchor="ctr"/>
          <a:lstStyle/>
          <a:p>
            <a:pPr marL="0" indent="0">
              <a:buNone/>
            </a:pPr>
            <a:endParaRPr lang="en-US" dirty="0"/>
          </a:p>
        </p:txBody>
      </p:sp>
      <p:sp>
        <p:nvSpPr>
          <p:cNvPr id="3" name="Text 1"/>
          <p:cNvSpPr/>
          <p:nvPr/>
        </p:nvSpPr>
        <p:spPr>
          <a:xfrm>
            <a:off x="507950" y="177701"/>
            <a:ext cx="8290661" cy="295275"/>
          </a:xfrm>
          <a:prstGeom prst="rect">
            <a:avLst/>
          </a:prstGeom>
          <a:noFill/>
        </p:spPr>
        <p:txBody>
          <a:bodyPr wrap="square" lIns="0" tIns="0" rIns="0" bIns="0" rtlCol="0" anchor="t"/>
          <a:lstStyle/>
          <a:p>
            <a:pPr marL="0" indent="0" algn="l">
              <a:buNone/>
            </a:pPr>
            <a:r>
              <a:rPr lang="en-US" sz="2000" b="1" dirty="0">
                <a:solidFill>
                  <a:srgbClr val="FFFFFF"/>
                </a:solidFill>
                <a:latin typeface="Arial" panose="020B0604020202090204" pitchFamily="34" charset="0"/>
                <a:ea typeface="Arial" panose="020B0604020202090204" pitchFamily="34" charset="-122"/>
                <a:cs typeface="Arial" panose="020B0604020202090204" pitchFamily="34" charset="-120"/>
              </a:rPr>
              <a:t>Implications &amp; Limitations</a:t>
            </a:r>
            <a:endParaRPr lang="en-US" sz="2000" dirty="0"/>
          </a:p>
        </p:txBody>
      </p:sp>
      <p:sp>
        <p:nvSpPr>
          <p:cNvPr id="4" name="Text 2"/>
          <p:cNvSpPr/>
          <p:nvPr/>
        </p:nvSpPr>
        <p:spPr>
          <a:xfrm>
            <a:off x="507950" y="853827"/>
            <a:ext cx="8290661" cy="171450"/>
          </a:xfrm>
          <a:prstGeom prst="rect">
            <a:avLst/>
          </a:prstGeom>
          <a:noFill/>
        </p:spPr>
        <p:txBody>
          <a:bodyPr wrap="square" lIns="0" tIns="0" rIns="0" bIns="0" rtlCol="0" anchor="t"/>
          <a:lstStyle/>
          <a:p>
            <a:pPr marL="0" indent="0" algn="l">
              <a:spcAft>
                <a:spcPts val="600"/>
              </a:spcAft>
              <a:buNone/>
            </a:pPr>
            <a:r>
              <a:rPr lang="en-US" sz="1200" b="1" dirty="0">
                <a:solidFill>
                  <a:srgbClr val="1B2A4A"/>
                </a:solidFill>
                <a:latin typeface="Arial" panose="020B0604020202090204" pitchFamily="34" charset="0"/>
                <a:ea typeface="Arial" panose="020B0604020202090204" pitchFamily="34" charset="-122"/>
                <a:cs typeface="Arial" panose="020B0604020202090204" pitchFamily="34" charset="-120"/>
              </a:rPr>
              <a:t>What This Means</a:t>
            </a:r>
            <a:endParaRPr lang="en-US" sz="1200" dirty="0"/>
          </a:p>
        </p:txBody>
      </p:sp>
      <p:sp>
        <p:nvSpPr>
          <p:cNvPr id="5" name="Text 3"/>
          <p:cNvSpPr/>
          <p:nvPr/>
        </p:nvSpPr>
        <p:spPr>
          <a:xfrm>
            <a:off x="507950" y="1101477"/>
            <a:ext cx="444401" cy="25301"/>
          </a:xfrm>
          <a:prstGeom prst="rect">
            <a:avLst/>
          </a:prstGeom>
          <a:solidFill>
            <a:srgbClr val="E8505B"/>
          </a:solidFill>
        </p:spPr>
        <p:txBody>
          <a:bodyPr wrap="square" rtlCol="0" anchor="ctr"/>
          <a:lstStyle/>
          <a:p>
            <a:pPr marL="0" indent="0">
              <a:buNone/>
            </a:pPr>
            <a:endParaRPr lang="en-US" dirty="0"/>
          </a:p>
        </p:txBody>
      </p:sp>
      <p:sp>
        <p:nvSpPr>
          <p:cNvPr id="6" name="Text 4"/>
          <p:cNvSpPr/>
          <p:nvPr/>
        </p:nvSpPr>
        <p:spPr>
          <a:xfrm>
            <a:off x="507950" y="1253728"/>
            <a:ext cx="3962400" cy="900000"/>
          </a:xfrm>
          <a:prstGeom prst="rect">
            <a:avLst/>
          </a:prstGeom>
          <a:solidFill>
            <a:srgbClr val="F7F9FC"/>
          </a:solidFill>
        </p:spPr>
        <p:txBody>
          <a:bodyPr wrap="square" rtlCol="0" anchor="ctr"/>
          <a:lstStyle/>
          <a:p>
            <a:pPr marL="0" indent="0">
              <a:buNone/>
            </a:pPr>
            <a:endParaRPr lang="en-US" dirty="0"/>
          </a:p>
        </p:txBody>
      </p:sp>
      <p:sp>
        <p:nvSpPr>
          <p:cNvPr id="7" name="Shape 5"/>
          <p:cNvSpPr/>
          <p:nvPr/>
        </p:nvSpPr>
        <p:spPr>
          <a:xfrm>
            <a:off x="527000" y="1253728"/>
            <a:ext cx="0" cy="900000"/>
          </a:xfrm>
          <a:prstGeom prst="line">
            <a:avLst/>
          </a:prstGeom>
          <a:noFill/>
          <a:ln w="38100">
            <a:solidFill>
              <a:srgbClr val="2E86AB"/>
            </a:solidFill>
            <a:prstDash val="solid"/>
          </a:ln>
        </p:spPr>
      </p:sp>
      <p:sp>
        <p:nvSpPr>
          <p:cNvPr id="8" name="Text 6"/>
          <p:cNvSpPr/>
          <p:nvPr/>
        </p:nvSpPr>
        <p:spPr>
          <a:xfrm>
            <a:off x="698450" y="1329928"/>
            <a:ext cx="3682400" cy="171301"/>
          </a:xfrm>
          <a:prstGeom prst="rect">
            <a:avLst/>
          </a:prstGeom>
          <a:noFill/>
        </p:spPr>
        <p:txBody>
          <a:bodyPr wrap="square" lIns="0" tIns="0" rIns="0" bIns="0" rtlCol="0" anchor="t"/>
          <a:lstStyle/>
          <a:p>
            <a:pPr marL="0" indent="0" algn="l">
              <a:lnSpc>
                <a:spcPts val="1350"/>
              </a:lnSpc>
              <a:spcAft>
                <a:spcPts val="400"/>
              </a:spcAft>
              <a:buNone/>
            </a:pPr>
            <a:r>
              <a:rPr lang="en-US" sz="1000" b="1" dirty="0">
                <a:solidFill>
                  <a:srgbClr val="2C3E50"/>
                </a:solidFill>
                <a:latin typeface="Arial" panose="020B0604020202090204" pitchFamily="34" charset="0"/>
                <a:ea typeface="Arial" panose="020B0604020202090204" pitchFamily="34" charset="-122"/>
                <a:cs typeface="Arial" panose="020B0604020202090204" pitchFamily="34" charset="-120"/>
              </a:rPr>
              <a:t>AI models are not interchangeable for scientific ideation</a:t>
            </a:r>
            <a:endParaRPr lang="en-US" sz="1000" dirty="0"/>
          </a:p>
        </p:txBody>
      </p:sp>
      <p:sp>
        <p:nvSpPr>
          <p:cNvPr id="9" name="Text 7"/>
          <p:cNvSpPr/>
          <p:nvPr/>
        </p:nvSpPr>
        <p:spPr>
          <a:xfrm>
            <a:off x="698450" y="1543728"/>
            <a:ext cx="3682400" cy="550000"/>
          </a:xfrm>
          <a:prstGeom prst="rect">
            <a:avLst/>
          </a:prstGeom>
          <a:noFill/>
        </p:spPr>
        <p:txBody>
          <a:bodyPr wrap="square" lIns="0" tIns="0" rIns="0" bIns="0" rtlCol="0" anchor="t"/>
          <a:lstStyle/>
          <a:p>
            <a:pPr marL="0" indent="0" algn="l">
              <a:lnSpc>
                <a:spcPts val="1150"/>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GPT-5.2’s mode collapse vs Claude’s subcluster diversity means model choice drastically affects the space of ideas. Researchers should test multiple models and evaluate outputs comparatively, not assume one model represents “AI.”</a:t>
            </a:r>
            <a:endParaRPr lang="en-US" sz="850" dirty="0"/>
          </a:p>
        </p:txBody>
      </p:sp>
      <p:sp>
        <p:nvSpPr>
          <p:cNvPr id="10" name="Text 8"/>
          <p:cNvSpPr/>
          <p:nvPr/>
        </p:nvSpPr>
        <p:spPr>
          <a:xfrm>
            <a:off x="507950" y="2270000"/>
            <a:ext cx="3962400" cy="900000"/>
          </a:xfrm>
          <a:prstGeom prst="rect">
            <a:avLst/>
          </a:prstGeom>
          <a:solidFill>
            <a:srgbClr val="F7F9FC"/>
          </a:solidFill>
        </p:spPr>
        <p:txBody>
          <a:bodyPr wrap="square" rtlCol="0" anchor="ctr"/>
          <a:lstStyle/>
          <a:p>
            <a:pPr marL="0" indent="0">
              <a:buNone/>
            </a:pPr>
            <a:endParaRPr lang="en-US" dirty="0"/>
          </a:p>
        </p:txBody>
      </p:sp>
      <p:sp>
        <p:nvSpPr>
          <p:cNvPr id="11" name="Shape 9"/>
          <p:cNvSpPr/>
          <p:nvPr/>
        </p:nvSpPr>
        <p:spPr>
          <a:xfrm>
            <a:off x="527000" y="2270000"/>
            <a:ext cx="0" cy="900000"/>
          </a:xfrm>
          <a:prstGeom prst="line">
            <a:avLst/>
          </a:prstGeom>
          <a:noFill/>
          <a:ln w="38100">
            <a:solidFill>
              <a:srgbClr val="16A085"/>
            </a:solidFill>
            <a:prstDash val="solid"/>
          </a:ln>
        </p:spPr>
      </p:sp>
      <p:sp>
        <p:nvSpPr>
          <p:cNvPr id="12" name="Text 10"/>
          <p:cNvSpPr/>
          <p:nvPr/>
        </p:nvSpPr>
        <p:spPr>
          <a:xfrm>
            <a:off x="698450" y="2346200"/>
            <a:ext cx="3682400" cy="171301"/>
          </a:xfrm>
          <a:prstGeom prst="rect">
            <a:avLst/>
          </a:prstGeom>
          <a:noFill/>
        </p:spPr>
        <p:txBody>
          <a:bodyPr wrap="square" lIns="0" tIns="0" rIns="0" bIns="0" rtlCol="0" anchor="t"/>
          <a:lstStyle/>
          <a:p>
            <a:pPr marL="0" indent="0" algn="l">
              <a:lnSpc>
                <a:spcPts val="1350"/>
              </a:lnSpc>
              <a:spcAft>
                <a:spcPts val="400"/>
              </a:spcAft>
              <a:buNone/>
            </a:pPr>
            <a:r>
              <a:rPr lang="en-US" sz="1000" b="1" dirty="0">
                <a:solidFill>
                  <a:srgbClr val="2C3E50"/>
                </a:solidFill>
                <a:latin typeface="Arial" panose="020B0604020202090204" pitchFamily="34" charset="0"/>
                <a:ea typeface="Arial" panose="020B0604020202090204" pitchFamily="34" charset="-122"/>
                <a:cs typeface="Arial" panose="020B0604020202090204" pitchFamily="34" charset="-120"/>
              </a:rPr>
              <a:t>Human novelty advantage suggests complementary roles</a:t>
            </a:r>
            <a:endParaRPr lang="en-US" sz="1000" dirty="0"/>
          </a:p>
        </p:txBody>
      </p:sp>
      <p:sp>
        <p:nvSpPr>
          <p:cNvPr id="13" name="Text 11"/>
          <p:cNvSpPr/>
          <p:nvPr/>
        </p:nvSpPr>
        <p:spPr>
          <a:xfrm>
            <a:off x="698450" y="2560000"/>
            <a:ext cx="3682400" cy="550000"/>
          </a:xfrm>
          <a:prstGeom prst="rect">
            <a:avLst/>
          </a:prstGeom>
          <a:noFill/>
        </p:spPr>
        <p:txBody>
          <a:bodyPr wrap="square" lIns="0" tIns="0" rIns="0" bIns="0" rtlCol="0" anchor="t"/>
          <a:lstStyle/>
          <a:p>
            <a:pPr marL="0" indent="0" algn="l">
              <a:lnSpc>
                <a:spcPts val="1150"/>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Human proposals venture further from published literature, indicating that human scientists bring perspectives not derivable from training data alone. AI may be most valuable for extending existing lines of inquiry, while humans contribute genuinely novel framings.</a:t>
            </a:r>
            <a:endParaRPr lang="en-US" sz="850" dirty="0"/>
          </a:p>
        </p:txBody>
      </p:sp>
      <p:sp>
        <p:nvSpPr>
          <p:cNvPr id="14" name="Text 12"/>
          <p:cNvSpPr/>
          <p:nvPr/>
        </p:nvSpPr>
        <p:spPr>
          <a:xfrm>
            <a:off x="507950" y="3290000"/>
            <a:ext cx="3962400" cy="900000"/>
          </a:xfrm>
          <a:prstGeom prst="rect">
            <a:avLst/>
          </a:prstGeom>
          <a:solidFill>
            <a:srgbClr val="F0F4F8"/>
          </a:solidFill>
        </p:spPr>
        <p:txBody>
          <a:bodyPr wrap="square" rtlCol="0" anchor="ctr"/>
          <a:lstStyle/>
          <a:p>
            <a:pPr marL="0" indent="0">
              <a:buNone/>
            </a:pPr>
            <a:endParaRPr lang="en-US" dirty="0"/>
          </a:p>
        </p:txBody>
      </p:sp>
      <p:sp>
        <p:nvSpPr>
          <p:cNvPr id="15" name="Shape 13"/>
          <p:cNvSpPr/>
          <p:nvPr/>
        </p:nvSpPr>
        <p:spPr>
          <a:xfrm>
            <a:off x="527000" y="3346515"/>
            <a:ext cx="0" cy="900000"/>
          </a:xfrm>
          <a:prstGeom prst="line">
            <a:avLst/>
          </a:prstGeom>
          <a:noFill/>
          <a:ln w="38100">
            <a:solidFill>
              <a:srgbClr val="8E44AD"/>
            </a:solidFill>
            <a:prstDash val="solid"/>
          </a:ln>
        </p:spPr>
      </p:sp>
      <p:sp>
        <p:nvSpPr>
          <p:cNvPr id="16" name="Text 14"/>
          <p:cNvSpPr/>
          <p:nvPr/>
        </p:nvSpPr>
        <p:spPr>
          <a:xfrm>
            <a:off x="698450" y="3309050"/>
            <a:ext cx="3682400" cy="171301"/>
          </a:xfrm>
          <a:prstGeom prst="rect">
            <a:avLst/>
          </a:prstGeom>
          <a:noFill/>
        </p:spPr>
        <p:txBody>
          <a:bodyPr wrap="square" lIns="0" tIns="0" rIns="0" bIns="0" rtlCol="0" anchor="t"/>
          <a:lstStyle/>
          <a:p>
            <a:pPr marL="0" indent="0" algn="l">
              <a:lnSpc>
                <a:spcPts val="1350"/>
              </a:lnSpc>
              <a:spcAft>
                <a:spcPts val="400"/>
              </a:spcAft>
              <a:buNone/>
            </a:pPr>
            <a:r>
              <a:rPr lang="en-US" sz="1000" b="1" dirty="0">
                <a:solidFill>
                  <a:srgbClr val="2C3E50"/>
                </a:solidFill>
                <a:latin typeface="Arial" panose="020B0604020202090204" pitchFamily="34" charset="0"/>
                <a:ea typeface="Arial" panose="020B0604020202090204" pitchFamily="34" charset="-122"/>
                <a:cs typeface="Arial" panose="020B0604020202090204" pitchFamily="34" charset="-120"/>
              </a:rPr>
              <a:t>Semantic segregation raises questions about AI’s “idea space”</a:t>
            </a:r>
            <a:endParaRPr lang="en-US" sz="1000" dirty="0"/>
          </a:p>
        </p:txBody>
      </p:sp>
      <p:sp>
        <p:nvSpPr>
          <p:cNvPr id="17" name="Text 15"/>
          <p:cNvSpPr/>
          <p:nvPr/>
        </p:nvSpPr>
        <p:spPr>
          <a:xfrm>
            <a:off x="698450" y="3679060"/>
            <a:ext cx="3682400" cy="550000"/>
          </a:xfrm>
          <a:prstGeom prst="rect">
            <a:avLst/>
          </a:prstGeom>
          <a:noFill/>
        </p:spPr>
        <p:txBody>
          <a:bodyPr wrap="square" lIns="0" tIns="0" rIns="0" bIns="0" rtlCol="0" anchor="t"/>
          <a:lstStyle/>
          <a:p>
            <a:pPr marL="0" indent="0" algn="l">
              <a:lnSpc>
                <a:spcPts val="1150"/>
              </a:lnSpc>
              <a:spcAft>
                <a:spcPts val="400"/>
              </a:spcAft>
              <a:buNone/>
            </a:pPr>
            <a:r>
              <a:rPr lang="en-US" sz="850" dirty="0">
                <a:solidFill>
                  <a:srgbClr val="5D6D7E"/>
                </a:solidFill>
                <a:latin typeface="Arial" panose="020B0604020202090204" pitchFamily="34" charset="0"/>
                <a:ea typeface="Arial" panose="020B0604020202090204" pitchFamily="34" charset="-122"/>
                <a:cs typeface="Arial" panose="020B0604020202090204" pitchFamily="34" charset="-120"/>
              </a:rPr>
              <a:t>The consistent finding that AI and human proposals occupy distinct territories — confirmed by NN, LDA, and GMM analyses — suggests systematic differences in how AI frames research. This may limit AI’s ability to surface truly unconventional ideas.</a:t>
            </a:r>
            <a:endParaRPr lang="en-US" sz="850" dirty="0"/>
          </a:p>
        </p:txBody>
      </p:sp>
      <p:sp>
        <p:nvSpPr>
          <p:cNvPr id="19" name="Shape 17"/>
          <p:cNvSpPr/>
          <p:nvPr/>
        </p:nvSpPr>
        <p:spPr>
          <a:xfrm>
            <a:off x="4692551" y="1253728"/>
            <a:ext cx="0" cy="2800000"/>
          </a:xfrm>
          <a:prstGeom prst="line">
            <a:avLst/>
          </a:prstGeom>
          <a:noFill/>
          <a:ln w="38100">
            <a:solidFill>
              <a:srgbClr val="E8505B"/>
            </a:solidFill>
            <a:prstDash val="solid"/>
          </a:ln>
        </p:spPr>
      </p:sp>
      <p:sp>
        <p:nvSpPr>
          <p:cNvPr id="20" name="Text 18"/>
          <p:cNvSpPr/>
          <p:nvPr/>
        </p:nvSpPr>
        <p:spPr>
          <a:xfrm>
            <a:off x="4864001" y="1350000"/>
            <a:ext cx="3600000" cy="200000"/>
          </a:xfrm>
          <a:prstGeom prst="rect">
            <a:avLst/>
          </a:prstGeom>
          <a:noFill/>
        </p:spPr>
        <p:txBody>
          <a:bodyPr wrap="square" lIns="0" tIns="0" rIns="0" bIns="0" rtlCol="0" anchor="t"/>
          <a:lstStyle/>
          <a:p>
            <a:pPr marL="0" indent="0" algn="l">
              <a:lnSpc>
                <a:spcPts val="1600"/>
              </a:lnSpc>
              <a:spcAft>
                <a:spcPts val="400"/>
              </a:spcAft>
              <a:buNone/>
            </a:pPr>
            <a:r>
              <a:rPr lang="en-US" sz="1200" b="1" dirty="0">
                <a:solidFill>
                  <a:srgbClr val="E8505B"/>
                </a:solidFill>
                <a:latin typeface="Arial" panose="020B0604020202090204" pitchFamily="34" charset="0"/>
                <a:ea typeface="Arial" panose="020B0604020202090204" pitchFamily="34" charset="-122"/>
                <a:cs typeface="Arial" panose="020B0604020202090204" pitchFamily="34" charset="-120"/>
              </a:rPr>
              <a:t>Limitations</a:t>
            </a:r>
            <a:endParaRPr lang="en-US" sz="1200" dirty="0"/>
          </a:p>
        </p:txBody>
      </p:sp>
      <p:sp>
        <p:nvSpPr>
          <p:cNvPr id="21" name="Text 19"/>
          <p:cNvSpPr/>
          <p:nvPr/>
        </p:nvSpPr>
        <p:spPr>
          <a:xfrm>
            <a:off x="4864001" y="1600000"/>
            <a:ext cx="3600000" cy="20000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Single funding call (NCEMS) — generalizability is unknown.</a:t>
            </a:r>
            <a:endParaRPr lang="en-US" sz="800" dirty="0"/>
          </a:p>
        </p:txBody>
      </p:sp>
      <p:sp>
        <p:nvSpPr>
          <p:cNvPr id="22" name="Text 19"/>
          <p:cNvSpPr/>
          <p:nvPr/>
        </p:nvSpPr>
        <p:spPr>
          <a:xfrm>
            <a:off x="4864100" y="1807210"/>
            <a:ext cx="3599815" cy="202565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Small, unbalanced sample (23 human vs. 69 AI). Power is limited for subtle effects.</a:t>
            </a:r>
            <a:endPar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endParaRPr>
          </a:p>
          <a:p>
            <a:pPr marL="0" indent="0" algn="l">
              <a:lnSpc>
                <a:spcPts val="1050"/>
              </a:lnSpc>
              <a:spcAft>
                <a:spcPts val="400"/>
              </a:spcAft>
              <a:buNone/>
            </a:pPr>
            <a:endParaRPr lang="en-US" sz="800" dirty="0"/>
          </a:p>
          <a:p>
            <a:pPr marL="0" indent="0" algn="l">
              <a:lnSpc>
                <a:spcPts val="1050"/>
              </a:lnSpc>
              <a:spcAft>
                <a:spcPts val="400"/>
              </a:spcAft>
              <a:buNone/>
            </a:pPr>
            <a:endParaRPr lang="en-US" sz="800" dirty="0"/>
          </a:p>
        </p:txBody>
      </p:sp>
      <p:sp>
        <p:nvSpPr>
          <p:cNvPr id="23" name="Text 19"/>
          <p:cNvSpPr/>
          <p:nvPr/>
        </p:nvSpPr>
        <p:spPr>
          <a:xfrm>
            <a:off x="4864001" y="2113965"/>
            <a:ext cx="3600000" cy="20000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Embedding distance ≠ conceptual diversity. BioLinkBERT may conflate stylistic with semantic differences. Expert validation is needed.</a:t>
            </a:r>
            <a:endParaRPr lang="en-US" sz="800" dirty="0"/>
          </a:p>
        </p:txBody>
      </p:sp>
      <p:sp>
        <p:nvSpPr>
          <p:cNvPr id="24" name="Text 19"/>
          <p:cNvSpPr/>
          <p:nvPr/>
        </p:nvSpPr>
        <p:spPr>
          <a:xfrm>
            <a:off x="4864001" y="2470325"/>
            <a:ext cx="3600000" cy="20000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Novelty score conflates novelty with incoherence. High distance from literature could mean a genuinely new idea OR a poorly formulated one.</a:t>
            </a:r>
            <a:endParaRPr lang="en-US" sz="800" dirty="0"/>
          </a:p>
        </p:txBody>
      </p:sp>
      <p:sp>
        <p:nvSpPr>
          <p:cNvPr id="25" name="Text 19"/>
          <p:cNvSpPr/>
          <p:nvPr/>
        </p:nvSpPr>
        <p:spPr>
          <a:xfrm>
            <a:off x="4864001" y="2810810"/>
            <a:ext cx="3600000" cy="20000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Topic separation may be an artifact of writing style or prompt templating, not genuine thematic differences. LDA results are exploratory.</a:t>
            </a:r>
            <a:endParaRPr lang="en-US" sz="800" dirty="0"/>
          </a:p>
        </p:txBody>
      </p:sp>
      <p:sp>
        <p:nvSpPr>
          <p:cNvPr id="26" name="Text 19"/>
          <p:cNvSpPr/>
          <p:nvPr/>
        </p:nvSpPr>
        <p:spPr>
          <a:xfrm>
            <a:off x="4864001" y="3158915"/>
            <a:ext cx="3600000" cy="20000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Population mismatch: humans wrote under real funding stakes; AI under zero stakes. This confounds any comparison of quality or effort.</a:t>
            </a:r>
            <a:endParaRPr lang="en-US" sz="800" dirty="0"/>
          </a:p>
        </p:txBody>
      </p:sp>
      <p:sp>
        <p:nvSpPr>
          <p:cNvPr id="27" name="Text 19"/>
          <p:cNvSpPr/>
          <p:nvPr/>
        </p:nvSpPr>
        <p:spPr>
          <a:xfrm>
            <a:off x="4864001" y="3479080"/>
            <a:ext cx="3600000" cy="200000"/>
          </a:xfrm>
          <a:prstGeom prst="rect">
            <a:avLst/>
          </a:prstGeom>
          <a:noFill/>
        </p:spPr>
        <p:txBody>
          <a:bodyPr wrap="square" lIns="0" tIns="0" rIns="0" bIns="0" rtlCol="0" anchor="t"/>
          <a:lstStyle/>
          <a:p>
            <a:pPr marL="0" indent="0" algn="l">
              <a:lnSpc>
                <a:spcPts val="1050"/>
              </a:lnSpc>
              <a:spcAft>
                <a:spcPts val="400"/>
              </a:spcAft>
              <a:buNone/>
            </a:pPr>
            <a:r>
              <a:rPr lang="en-US" sz="800" dirty="0">
                <a:solidFill>
                  <a:srgbClr val="2C3E50"/>
                </a:solidFill>
                <a:latin typeface="Arial" panose="020B0604020202090204" pitchFamily="34" charset="0"/>
                <a:ea typeface="Arial" panose="020B0604020202090204" pitchFamily="34" charset="-122"/>
                <a:cs typeface="Arial" panose="020B0604020202090204" pitchFamily="34" charset="-120"/>
              </a:rPr>
              <a:t>• No quality evaluation yet — diversity and novelty do not imply good science. Human expert review (planned) is the critical missing piece.</a:t>
            </a:r>
            <a:endParaRPr lang="en-US" sz="800" dirty="0"/>
          </a:p>
        </p:txBody>
      </p:sp>
      <p:sp>
        <p:nvSpPr>
          <p:cNvPr id="30" name="Text 28"/>
          <p:cNvSpPr/>
          <p:nvPr/>
        </p:nvSpPr>
        <p:spPr>
          <a:xfrm>
            <a:off x="476835" y="4570205"/>
            <a:ext cx="8128099" cy="380000"/>
          </a:xfrm>
          <a:prstGeom prst="roundRect">
            <a:avLst>
              <a:gd name="adj" fmla="val 3000"/>
            </a:avLst>
          </a:prstGeom>
          <a:solidFill>
            <a:srgbClr val="1B2A4A"/>
          </a:solidFill>
        </p:spPr>
        <p:txBody>
          <a:bodyPr wrap="square" rtlCol="0" anchor="ctr"/>
          <a:lstStyle/>
          <a:p>
            <a:pPr marL="0" indent="0">
              <a:buNone/>
            </a:pPr>
            <a:endParaRPr lang="en-US" dirty="0"/>
          </a:p>
        </p:txBody>
      </p:sp>
      <p:sp>
        <p:nvSpPr>
          <p:cNvPr id="31" name="Text 29"/>
          <p:cNvSpPr/>
          <p:nvPr/>
        </p:nvSpPr>
        <p:spPr>
          <a:xfrm>
            <a:off x="563830" y="4599725"/>
            <a:ext cx="7900000" cy="260000"/>
          </a:xfrm>
          <a:prstGeom prst="rect">
            <a:avLst/>
          </a:prstGeom>
          <a:noFill/>
        </p:spPr>
        <p:txBody>
          <a:bodyPr wrap="square" lIns="0" tIns="0" rIns="0" bIns="0" rtlCol="0" anchor="t"/>
          <a:lstStyle/>
          <a:p>
            <a:pPr marL="0" indent="0" algn="l">
              <a:lnSpc>
                <a:spcPts val="1200"/>
              </a:lnSpc>
              <a:spcAft>
                <a:spcPts val="400"/>
              </a:spcAft>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Next steps: (1) Human expert evaluation of proposal quality; (2) Augmented conditions (literature-enriched, persona-based prompts); (3) Construct validation of embedding metrics; (4) Larger sample sizes across multiple funding calls.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20256</Words>
  <Application>WPS Presentation</Application>
  <PresentationFormat>On-screen Show (16:9)</PresentationFormat>
  <Paragraphs>459</Paragraphs>
  <Slides>19</Slides>
  <Notes>10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19</vt:i4>
      </vt:variant>
    </vt:vector>
  </HeadingPairs>
  <TitlesOfParts>
    <vt:vector size="33" baseType="lpstr">
      <vt:lpstr>Arial</vt:lpstr>
      <vt:lpstr>SimSun</vt:lpstr>
      <vt:lpstr>Wingdings</vt:lpstr>
      <vt:lpstr>Arial</vt:lpstr>
      <vt:lpstr>Arial</vt:lpstr>
      <vt:lpstr>Arial</vt:lpstr>
      <vt:lpstr>Calibri</vt:lpstr>
      <vt:lpstr>Helvetica Neue</vt:lpstr>
      <vt:lpstr>Microsoft YaHei</vt:lpstr>
      <vt:lpstr>汉仪旗黑</vt:lpstr>
      <vt:lpstr>Arial Unicode MS</vt:lpstr>
      <vt:lpstr>汉仪书宋二KW</vt:lpstr>
      <vt:lpstr>Arial 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vs Human Research Proposal Diversity Analysis</dc:title>
  <dc:creator>Diversity Analysis</dc:creator>
  <dc:subject>PptxGenJS Presentation</dc:subject>
  <cp:lastModifiedBy>evey</cp:lastModifiedBy>
  <cp:revision>12</cp:revision>
  <dcterms:created xsi:type="dcterms:W3CDTF">2026-02-18T20:48:56Z</dcterms:created>
  <dcterms:modified xsi:type="dcterms:W3CDTF">2026-02-18T20:48:56Z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FC05F9E07865875A12F58B69795AEE2A_42</vt:lpwstr>
  </property>
  <property fmtid="{D5CDD505-2E9C-101B-9397-08002B2CF9AE}" pid="3" name="KSOProductBuildVer">
    <vt:lpwstr>1033-12.1.23141.23141</vt:lpwstr>
  </property>
</Properties>
</file>